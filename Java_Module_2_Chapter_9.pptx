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8" r:id="rId2"/>
    <p:sldId id="267" r:id="rId3"/>
    <p:sldId id="268" r:id="rId4"/>
    <p:sldId id="269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60" r:id="rId13"/>
    <p:sldId id="266" r:id="rId14"/>
    <p:sldId id="263" r:id="rId15"/>
    <p:sldId id="27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827A0-67AE-4C1C-B6DF-BD079FEF1B0D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A2680-8BF1-4901-B07D-5B5A43B9D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163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7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988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483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69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44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81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06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6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74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877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1325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650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3907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323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413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51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2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0C2F-B4B2-7DF3-8150-527D23627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978" y="842683"/>
            <a:ext cx="9908894" cy="3163734"/>
          </a:xfrm>
        </p:spPr>
        <p:txBody>
          <a:bodyPr>
            <a:normAutofit/>
          </a:bodyPr>
          <a:lstStyle/>
          <a:p>
            <a:r>
              <a:rPr lang="en-IN" b="1" dirty="0"/>
              <a:t>OOP</a:t>
            </a:r>
            <a:r>
              <a:rPr lang="en-IN" sz="4800" b="1" dirty="0"/>
              <a:t>s  with Java</a:t>
            </a:r>
            <a:br>
              <a:rPr lang="en-IN" sz="4800" b="1" dirty="0"/>
            </a:br>
            <a:r>
              <a:rPr lang="en-IN" sz="4800" b="1" dirty="0"/>
              <a:t>Chapter 9 Interface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A476A-7C1D-BE23-D0F4-71547039F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b="1" dirty="0" err="1"/>
              <a:t>Dr.</a:t>
            </a:r>
            <a:r>
              <a:rPr lang="en-IN" sz="2800" b="1" dirty="0"/>
              <a:t> Ganga Holi </a:t>
            </a:r>
          </a:p>
          <a:p>
            <a:r>
              <a:rPr lang="en-IN" sz="2800" b="1" dirty="0"/>
              <a:t>Professor &amp; Head, Dept of CSE(ICB)</a:t>
            </a:r>
          </a:p>
        </p:txBody>
      </p:sp>
    </p:spTree>
    <p:extLst>
      <p:ext uri="{BB962C8B-B14F-4D97-AF65-F5344CB8AC3E}">
        <p14:creationId xmlns:p14="http://schemas.microsoft.com/office/powerpoint/2010/main" val="157561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B7C6-EE39-E245-ADC4-8A6643BB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673" y="404664"/>
            <a:ext cx="6589199" cy="1280890"/>
          </a:xfrm>
        </p:spPr>
        <p:txBody>
          <a:bodyPr/>
          <a:lstStyle/>
          <a:p>
            <a:pPr>
              <a:defRPr/>
            </a:pPr>
            <a:r>
              <a:rPr lang="en-US" dirty="0"/>
              <a:t>INTERFACES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A1782-029C-F18A-2739-F20D880C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777" y="1196752"/>
            <a:ext cx="10454326" cy="525658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  <a:defRPr/>
            </a:pPr>
            <a:r>
              <a:rPr lang="en-US" sz="2400" b="1" dirty="0"/>
              <a:t>Multiple inheritance is not possible in java programming language but we can achieve the feature through interfaces. </a:t>
            </a:r>
          </a:p>
          <a:p>
            <a:pPr>
              <a:buFont typeface="Wingdings" panose="05000000000000000000" pitchFamily="2" charset="2"/>
              <a:buChar char="v"/>
              <a:defRPr/>
            </a:pPr>
            <a:endParaRPr lang="en-US" sz="1100" b="1" dirty="0"/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lang="en-US" sz="2400" b="1" dirty="0"/>
              <a:t>An interface is basically a kind of class. Like class it contain method and variables with the difference that an interface can contain only abstract method and abstract classes. </a:t>
            </a:r>
          </a:p>
          <a:p>
            <a:pPr>
              <a:buFont typeface="Wingdings" panose="05000000000000000000" pitchFamily="2" charset="2"/>
              <a:buChar char="v"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lang="en-US" sz="2400" b="1" dirty="0"/>
              <a:t>They cannot contain any code.</a:t>
            </a:r>
          </a:p>
          <a:p>
            <a:pPr>
              <a:buFont typeface="Wingdings" panose="05000000000000000000" pitchFamily="2" charset="2"/>
              <a:buChar char="v"/>
              <a:defRPr/>
            </a:pPr>
            <a:endParaRPr lang="en-US" sz="2000" b="1" dirty="0"/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lang="en-US" sz="2400" b="1" dirty="0"/>
              <a:t> This is the responsibility of the class that implements an interface to define the code for implementation of these methods.   </a:t>
            </a:r>
            <a:endParaRPr lang="en-IN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7EED-543B-7F44-9469-78901130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373" y="403104"/>
            <a:ext cx="8610600" cy="113121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	Difference between class and interface.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B648F-2249-3E5A-CEC9-061461964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1188" y="1214438"/>
            <a:ext cx="4291012" cy="639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CLASS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B7891-2C8F-F47D-C3E4-D8CD34215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3632" y="1869432"/>
            <a:ext cx="5825765" cy="4988568"/>
          </a:xfrm>
          <a:ln w="381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just">
              <a:buNone/>
              <a:defRPr/>
            </a:pPr>
            <a:r>
              <a:rPr lang="en-US" sz="2400" b="1" dirty="0"/>
              <a:t>1.The member of  a class can be constant or variables.</a:t>
            </a:r>
          </a:p>
          <a:p>
            <a:pPr algn="just">
              <a:buNone/>
              <a:defRPr/>
            </a:pPr>
            <a:r>
              <a:rPr lang="en-US" sz="2400" b="1" dirty="0"/>
              <a:t>2.The class definitions can contain code for each of its methods.</a:t>
            </a:r>
          </a:p>
          <a:p>
            <a:pPr algn="just">
              <a:buNone/>
              <a:defRPr/>
            </a:pPr>
            <a:r>
              <a:rPr lang="en-US" sz="2400" b="1" dirty="0"/>
              <a:t>3.It can be instantiated by declaring objects.</a:t>
            </a:r>
          </a:p>
          <a:p>
            <a:pPr algn="just">
              <a:buNone/>
              <a:defRPr/>
            </a:pPr>
            <a:r>
              <a:rPr lang="en-US" sz="2400" b="1" dirty="0"/>
              <a:t>4.It can use various access specifies like public , private or protected.</a:t>
            </a:r>
            <a:endParaRPr lang="en-IN" sz="24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F668F8-65EC-2B8D-11A6-26C018F38D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75400" y="1143001"/>
            <a:ext cx="4292600" cy="6397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INTERFACE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A1D90-26DC-1089-CBE3-2BE1D33D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5400" y="1831289"/>
            <a:ext cx="5294984" cy="5026711"/>
          </a:xfrm>
          <a:ln w="38100">
            <a:solidFill>
              <a:srgbClr val="0070C0"/>
            </a:solidFill>
            <a:miter lim="800000"/>
          </a:ln>
          <a:scene3d>
            <a:camera prst="obliqueTopLeft"/>
            <a:lightRig rig="threePt" dir="t"/>
          </a:scene3d>
        </p:spPr>
        <p:txBody>
          <a:bodyPr>
            <a:normAutofit/>
          </a:bodyPr>
          <a:lstStyle/>
          <a:p>
            <a:pPr algn="just">
              <a:buNone/>
              <a:defRPr/>
            </a:pPr>
            <a:r>
              <a:rPr lang="en-US" sz="2400" b="1" dirty="0"/>
              <a:t>1.The members of an interface are always declared as constant.</a:t>
            </a:r>
          </a:p>
          <a:p>
            <a:pPr algn="just">
              <a:buNone/>
              <a:defRPr/>
            </a:pPr>
            <a:r>
              <a:rPr lang="en-US" sz="2400" b="1" dirty="0"/>
              <a:t>2.The methods in an interface are abstract in nature.</a:t>
            </a:r>
          </a:p>
          <a:p>
            <a:pPr algn="just">
              <a:buNone/>
              <a:defRPr/>
            </a:pPr>
            <a:r>
              <a:rPr lang="en-US" sz="2400" b="1" dirty="0"/>
              <a:t>3.It cannot be used to declare objects, It can be only inherit by class.</a:t>
            </a:r>
          </a:p>
          <a:p>
            <a:pPr algn="just">
              <a:buNone/>
              <a:defRPr/>
            </a:pPr>
            <a:r>
              <a:rPr lang="en-US" sz="2400" b="1" dirty="0"/>
              <a:t>4. It can only use the public access specify.</a:t>
            </a:r>
            <a:endParaRPr lang="en-IN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EE1F-6770-C268-388B-AAA542345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Defining an Interface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26BC6-E8A1-715C-41FF-454B323FD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708525"/>
          </a:xfrm>
        </p:spPr>
        <p:txBody>
          <a:bodyPr>
            <a:normAutofit/>
          </a:bodyPr>
          <a:lstStyle/>
          <a:p>
            <a:pPr marL="457200" lvl="1" indent="0"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Interface</a:t>
            </a:r>
            <a:r>
              <a:rPr lang="en-US" sz="2400" b="1" dirty="0"/>
              <a:t> is a keyword and </a:t>
            </a:r>
            <a:r>
              <a:rPr lang="en-US" sz="2400" b="1" dirty="0" err="1"/>
              <a:t>shapre</a:t>
            </a:r>
            <a:r>
              <a:rPr lang="en-US" sz="2400" b="1" dirty="0"/>
              <a:t> is any valid java variable .</a:t>
            </a:r>
          </a:p>
          <a:p>
            <a:pPr marL="400050" lvl="1" indent="0">
              <a:buNone/>
              <a:defRPr/>
            </a:pPr>
            <a:r>
              <a:rPr lang="en-US" sz="2400" b="1" u="sng" dirty="0"/>
              <a:t>Syntax:</a:t>
            </a:r>
          </a:p>
          <a:p>
            <a:pPr marL="400050" lvl="1" indent="0">
              <a:buNone/>
              <a:defRPr/>
            </a:pPr>
            <a:r>
              <a:rPr lang="en-US" sz="2400" b="1" dirty="0"/>
              <a:t>Interface </a:t>
            </a:r>
            <a:r>
              <a:rPr lang="en-US" sz="2400" b="1" dirty="0" err="1"/>
              <a:t>shapre</a:t>
            </a:r>
            <a:endParaRPr lang="en-US" sz="2400" b="1" dirty="0"/>
          </a:p>
          <a:p>
            <a:pPr marL="400050" lvl="1" indent="0">
              <a:buNone/>
              <a:defRPr/>
            </a:pPr>
            <a:r>
              <a:rPr lang="en-US" sz="2400" b="1" dirty="0"/>
              <a:t>{</a:t>
            </a:r>
          </a:p>
          <a:p>
            <a:pPr marL="400050" lvl="1" indent="0">
              <a:buNone/>
              <a:defRPr/>
            </a:pPr>
            <a:r>
              <a:rPr lang="en-US" sz="2400" b="1" dirty="0"/>
              <a:t>		Variable Declaration;</a:t>
            </a:r>
          </a:p>
          <a:p>
            <a:pPr marL="400050" lvl="1" indent="0">
              <a:buNone/>
              <a:defRPr/>
            </a:pPr>
            <a:r>
              <a:rPr lang="en-US" sz="2400" b="1" dirty="0"/>
              <a:t>		Methods Declaration;</a:t>
            </a:r>
          </a:p>
          <a:p>
            <a:pPr marL="400050" lvl="1" indent="0">
              <a:buNone/>
              <a:defRPr/>
            </a:pPr>
            <a:r>
              <a:rPr lang="en-US" sz="2400" b="1" dirty="0"/>
              <a:t>}</a:t>
            </a:r>
          </a:p>
          <a:p>
            <a:pPr marL="400050" lvl="1" indent="0">
              <a:buNone/>
              <a:defRPr/>
            </a:pPr>
            <a:endParaRPr lang="en-US" sz="2400" b="1" u="sng" dirty="0"/>
          </a:p>
          <a:p>
            <a:pPr marL="400050" lvl="1" indent="0">
              <a:buNone/>
              <a:defRPr/>
            </a:pPr>
            <a:endParaRPr lang="en-US" sz="2400" b="1" u="s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42D4-6DDE-D59D-9C62-DB517F62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Rules for implementing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00C8D-49C0-90E0-BCE4-DDE86A253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764" y="2133600"/>
            <a:ext cx="10048973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b="1" dirty="0"/>
              <a:t>An interface defines a set of methods but does not implement them.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400" b="1" dirty="0"/>
          </a:p>
          <a:p>
            <a:pPr>
              <a:lnSpc>
                <a:spcPct val="90000"/>
              </a:lnSpc>
            </a:pPr>
            <a:r>
              <a:rPr lang="en-US" altLang="en-US" sz="2400" b="1" dirty="0"/>
              <a:t>A class that implements the interface agrees to implement all the methods defined in the interface, thereby agreeing to certain behavior.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400" b="1" dirty="0"/>
          </a:p>
          <a:p>
            <a:pPr>
              <a:lnSpc>
                <a:spcPct val="90000"/>
              </a:lnSpc>
            </a:pPr>
            <a:r>
              <a:rPr lang="en-US" altLang="en-US" sz="2400" b="1" dirty="0"/>
              <a:t>An </a:t>
            </a:r>
            <a:r>
              <a:rPr lang="en-US" altLang="en-US" sz="2400" b="1" i="1" dirty="0"/>
              <a:t>interface</a:t>
            </a:r>
            <a:r>
              <a:rPr lang="en-US" altLang="en-US" sz="2400" b="1" dirty="0"/>
              <a:t> is a named collection of method declarations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b="1" dirty="0"/>
              <a:t> (a method without implementations).</a:t>
            </a:r>
          </a:p>
          <a:p>
            <a:pPr>
              <a:lnSpc>
                <a:spcPct val="90000"/>
              </a:lnSpc>
            </a:pPr>
            <a:endParaRPr lang="en-US" altLang="en-US" sz="2400" b="1" dirty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9806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F3A7-45CF-D974-D812-64947A911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Rules for implementing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A7FB-C9B1-BAEC-1C9F-B8D62AF70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277" y="1630837"/>
            <a:ext cx="9455084" cy="4958499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Methods declared in an interface are always </a:t>
            </a:r>
            <a:r>
              <a:rPr lang="en-US" altLang="en-US" sz="2400" b="1" dirty="0">
                <a:solidFill>
                  <a:srgbClr val="FF0000"/>
                </a:solidFill>
              </a:rPr>
              <a:t>public by default.</a:t>
            </a:r>
          </a:p>
          <a:p>
            <a:r>
              <a:rPr lang="en-US" altLang="en-US" sz="2400" b="1" dirty="0"/>
              <a:t>Static methods cannot be declared </a:t>
            </a:r>
            <a:r>
              <a:rPr lang="en-US" altLang="en-US" sz="2400" dirty="0"/>
              <a:t>in the interfaces – these methods are never abstract and do not express behavior of objects.</a:t>
            </a:r>
          </a:p>
          <a:p>
            <a:r>
              <a:rPr lang="en-US" altLang="en-US" sz="2400" b="1" dirty="0"/>
              <a:t>Variables can be declared in the interfaces. They can only be declared as </a:t>
            </a:r>
            <a:r>
              <a:rPr lang="en-US" altLang="en-US" sz="2400" b="1" dirty="0">
                <a:solidFill>
                  <a:srgbClr val="FF0000"/>
                </a:solidFill>
              </a:rPr>
              <a:t>static and final</a:t>
            </a:r>
            <a:r>
              <a:rPr lang="en-US" altLang="en-US" sz="2400" dirty="0"/>
              <a:t>. – Both keyword are assumed by </a:t>
            </a:r>
            <a:r>
              <a:rPr lang="en-US" altLang="en-US" sz="2400" b="1" dirty="0"/>
              <a:t>default</a:t>
            </a:r>
            <a:r>
              <a:rPr lang="en-US" altLang="en-US" sz="2400" dirty="0"/>
              <a:t> and can be safely omitted.</a:t>
            </a:r>
          </a:p>
          <a:p>
            <a:r>
              <a:rPr lang="en-US" altLang="en-US" sz="2400" b="1" dirty="0"/>
              <a:t>Sometimes interfaces declare only constants </a:t>
            </a:r>
            <a:r>
              <a:rPr lang="en-US" altLang="en-US" sz="2400" dirty="0"/>
              <a:t>– be used to effectively import sets of related constants.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99146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C8CB-1FAB-0CD7-5D06-8387B95D6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9576" y="0"/>
            <a:ext cx="7772400" cy="11521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Extending Interfaces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92818-08C2-05E7-3629-44906D63D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9440" y="1463676"/>
            <a:ext cx="10048240" cy="50590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1" dirty="0"/>
              <a:t>Like classes, Interfaces can also be extended. </a:t>
            </a:r>
          </a:p>
          <a:p>
            <a:pPr>
              <a:defRPr/>
            </a:pPr>
            <a:r>
              <a:rPr lang="en-US" sz="2400" b="1" dirty="0"/>
              <a:t>That is  an interface can be sub interfaced from other interfaces by using the keyword </a:t>
            </a:r>
            <a:r>
              <a:rPr lang="en-US" sz="2400" b="1" u="sng" dirty="0"/>
              <a:t>extends.</a:t>
            </a:r>
          </a:p>
          <a:p>
            <a:pPr>
              <a:defRPr/>
            </a:pPr>
            <a:r>
              <a:rPr lang="en-US" sz="2400" b="1" u="sng" dirty="0"/>
              <a:t>Syntax:</a:t>
            </a:r>
          </a:p>
          <a:p>
            <a:pPr>
              <a:defRPr/>
            </a:pPr>
            <a:r>
              <a:rPr lang="en-US" sz="2400" b="1" dirty="0"/>
              <a:t>Interface name1 extends name2</a:t>
            </a:r>
          </a:p>
          <a:p>
            <a:pPr>
              <a:defRPr/>
            </a:pPr>
            <a:r>
              <a:rPr lang="en-US" sz="2400" b="1" dirty="0"/>
              <a:t>{</a:t>
            </a:r>
          </a:p>
          <a:p>
            <a:pPr>
              <a:defRPr/>
            </a:pPr>
            <a:r>
              <a:rPr lang="en-US" sz="2400" b="1" dirty="0"/>
              <a:t>	Body of name 2</a:t>
            </a:r>
          </a:p>
          <a:p>
            <a:pPr>
              <a:defRPr/>
            </a:pPr>
            <a:r>
              <a:rPr lang="en-US" sz="2400" b="1" dirty="0"/>
              <a:t>}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IN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5EB8-6AC5-0747-82FB-D8794D97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355" y="203101"/>
            <a:ext cx="8911687" cy="4498446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Interface Area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{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	final static float pi=3.14f;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	int compute(int x, int y);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}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class Rectangle implements Area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{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public</a:t>
            </a:r>
            <a:r>
              <a:rPr lang="en-US" sz="2400" b="1" dirty="0">
                <a:latin typeface="+mj-lt"/>
              </a:rPr>
              <a:t> float compute(float x, float y)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	{   return(x*y);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	}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+mj-lt"/>
              </a:rPr>
              <a:t>}</a:t>
            </a:r>
          </a:p>
          <a:p>
            <a:pPr marL="0" indent="0">
              <a:buNone/>
              <a:defRPr/>
            </a:pPr>
            <a:endParaRPr lang="en-US" sz="2400" b="1" dirty="0">
              <a:latin typeface="+mj-lt"/>
            </a:endParaRPr>
          </a:p>
          <a:p>
            <a:pPr marL="0" indent="0">
              <a:buNone/>
              <a:defRPr/>
            </a:pPr>
            <a:endParaRPr lang="en-IN" sz="2400" b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A09B5-4392-F5BC-9EC2-BE0E144427F5}"/>
              </a:ext>
            </a:extLst>
          </p:cNvPr>
          <p:cNvSpPr txBox="1"/>
          <p:nvPr/>
        </p:nvSpPr>
        <p:spPr>
          <a:xfrm>
            <a:off x="1619250" y="5664884"/>
            <a:ext cx="96964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none" strike="noStrike" baseline="0" dirty="0">
                <a:solidFill>
                  <a:srgbClr val="002060"/>
                </a:solidFill>
                <a:latin typeface="DINMittelEFOP-Bold"/>
              </a:rPr>
              <a:t>REMEMBER</a:t>
            </a:r>
            <a:r>
              <a:rPr lang="en-IN" sz="2800" b="1" i="1" u="none" strike="noStrike" baseline="0" dirty="0">
                <a:solidFill>
                  <a:schemeClr val="accent1"/>
                </a:solidFill>
                <a:latin typeface="DINMittelEFOP-Bold"/>
              </a:rPr>
              <a:t> </a:t>
            </a:r>
            <a:r>
              <a:rPr lang="en-IN" sz="3200" b="1" i="1" u="none" strike="noStrike" baseline="0" dirty="0">
                <a:solidFill>
                  <a:schemeClr val="accent1"/>
                </a:solidFill>
                <a:latin typeface="ITCFranklinGothicStd-BkCd"/>
              </a:rPr>
              <a:t>When you implement an interface method,</a:t>
            </a:r>
          </a:p>
          <a:p>
            <a:r>
              <a:rPr lang="en-IN" sz="3200" b="1" i="1" u="none" strike="noStrike" baseline="0" dirty="0">
                <a:solidFill>
                  <a:schemeClr val="accent1"/>
                </a:solidFill>
                <a:latin typeface="ITCFranklinGothicStd-BkCd"/>
              </a:rPr>
              <a:t>it must be declared as </a:t>
            </a:r>
            <a:r>
              <a:rPr lang="en-IN" sz="3200" b="1" i="1" u="sng" strike="noStrike" baseline="0" dirty="0">
                <a:solidFill>
                  <a:schemeClr val="accent1"/>
                </a:solidFill>
                <a:latin typeface="ITCFranklinGothicStd-DmCd"/>
              </a:rPr>
              <a:t>public</a:t>
            </a:r>
            <a:r>
              <a:rPr lang="en-IN" sz="3200" b="1" i="1" u="sng" strike="noStrike" baseline="0" dirty="0">
                <a:solidFill>
                  <a:schemeClr val="accent1"/>
                </a:solidFill>
                <a:latin typeface="ITCFranklinGothicStd-BkCd"/>
              </a:rPr>
              <a:t>.</a:t>
            </a:r>
            <a:endParaRPr lang="en-IN" sz="3200" b="1" i="1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92B482CF-6D22-8CFF-2EDC-762C54448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1124744"/>
            <a:ext cx="8961119" cy="4615656"/>
          </a:xfrm>
        </p:spPr>
        <p:txBody>
          <a:bodyPr>
            <a:norm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b="1" dirty="0"/>
              <a:t>Class circle implements Area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b="1" dirty="0"/>
              <a:t>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b="1" dirty="0"/>
              <a:t>	</a:t>
            </a:r>
            <a:r>
              <a:rPr lang="en-US" altLang="en-US" sz="2800" b="1" dirty="0">
                <a:solidFill>
                  <a:srgbClr val="FF0000"/>
                </a:solidFill>
              </a:rPr>
              <a:t>public</a:t>
            </a:r>
            <a:r>
              <a:rPr lang="en-US" altLang="en-US" sz="2800" b="1" dirty="0"/>
              <a:t> float compute(float x, float y)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b="1" dirty="0"/>
              <a:t>	{     return(pi*x*x);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b="1" dirty="0"/>
              <a:t>	}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b="1" dirty="0"/>
              <a:t>}</a:t>
            </a:r>
            <a:endParaRPr lang="en-IN" alt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1AE62-1D1A-F590-7B73-7BB4CDF878C8}"/>
              </a:ext>
            </a:extLst>
          </p:cNvPr>
          <p:cNvSpPr txBox="1"/>
          <p:nvPr/>
        </p:nvSpPr>
        <p:spPr>
          <a:xfrm>
            <a:off x="447675" y="5417234"/>
            <a:ext cx="108680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none" strike="noStrike" baseline="0" dirty="0">
                <a:solidFill>
                  <a:srgbClr val="002060"/>
                </a:solidFill>
                <a:latin typeface="DINMittelEFOP-Bold"/>
              </a:rPr>
              <a:t>REMEMBER</a:t>
            </a:r>
            <a:r>
              <a:rPr lang="en-IN" sz="2800" b="1" i="1" u="none" strike="noStrike" baseline="0" dirty="0">
                <a:solidFill>
                  <a:schemeClr val="accent1"/>
                </a:solidFill>
                <a:latin typeface="DINMittelEFOP-Bold"/>
              </a:rPr>
              <a:t> </a:t>
            </a:r>
            <a:r>
              <a:rPr lang="en-IN" sz="3200" b="1" i="1" u="none" strike="noStrike" baseline="0" dirty="0">
                <a:solidFill>
                  <a:schemeClr val="accent1"/>
                </a:solidFill>
                <a:latin typeface="ITCFranklinGothicStd-BkCd"/>
              </a:rPr>
              <a:t>When you implement an interface method,</a:t>
            </a:r>
          </a:p>
          <a:p>
            <a:r>
              <a:rPr lang="en-IN" sz="3200" b="1" i="1" u="none" strike="noStrike" baseline="0" dirty="0">
                <a:solidFill>
                  <a:schemeClr val="accent1"/>
                </a:solidFill>
                <a:latin typeface="ITCFranklinGothicStd-BkCd"/>
              </a:rPr>
              <a:t>it must be declared as </a:t>
            </a:r>
            <a:r>
              <a:rPr lang="en-IN" sz="3200" b="1" i="1" u="sng" strike="noStrike" baseline="0" dirty="0">
                <a:solidFill>
                  <a:schemeClr val="accent1"/>
                </a:solidFill>
                <a:latin typeface="ITCFranklinGothicStd-DmCd"/>
              </a:rPr>
              <a:t>public</a:t>
            </a:r>
            <a:r>
              <a:rPr lang="en-IN" sz="3200" b="1" i="1" u="sng" strike="noStrike" baseline="0" dirty="0">
                <a:solidFill>
                  <a:schemeClr val="accent1"/>
                </a:solidFill>
                <a:latin typeface="ITCFranklinGothicStd-BkCd"/>
              </a:rPr>
              <a:t>.</a:t>
            </a:r>
            <a:endParaRPr lang="en-IN" sz="3200" b="1" i="1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4AA1-5830-B2C0-147D-6FBA7306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0" y="404665"/>
            <a:ext cx="10637520" cy="662605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b="1" dirty="0"/>
              <a:t>class test</a:t>
            </a:r>
          </a:p>
          <a:p>
            <a:pPr marL="0" indent="0">
              <a:buNone/>
              <a:defRPr/>
            </a:pPr>
            <a:r>
              <a:rPr lang="en-US" sz="2400" b="1" dirty="0"/>
              <a:t>{ 	public static void main(String </a:t>
            </a:r>
            <a:r>
              <a:rPr lang="en-US" sz="2400" b="1" dirty="0" err="1"/>
              <a:t>arg</a:t>
            </a:r>
            <a:r>
              <a:rPr lang="en-US" sz="2400" b="1" dirty="0"/>
              <a:t>[])</a:t>
            </a:r>
          </a:p>
          <a:p>
            <a:pPr marL="0" indent="0">
              <a:buNone/>
              <a:defRPr/>
            </a:pPr>
            <a:r>
              <a:rPr lang="en-US" sz="2400" b="1" dirty="0"/>
              <a:t>	{ 	Rectangle r1= new Rectangle(); </a:t>
            </a:r>
          </a:p>
          <a:p>
            <a:pPr marL="0" indent="0">
              <a:buNone/>
              <a:defRPr/>
            </a:pPr>
            <a:r>
              <a:rPr lang="en-US" sz="2400" b="1" dirty="0"/>
              <a:t>		circle  c1= new circle(); </a:t>
            </a:r>
          </a:p>
          <a:p>
            <a:pPr marL="0" indent="0">
              <a:buNone/>
              <a:defRPr/>
            </a:pPr>
            <a:r>
              <a:rPr lang="en-US" sz="2400" b="1" dirty="0"/>
              <a:t>      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(“Area of a rectangle=“ + r1.compute(20,20));</a:t>
            </a:r>
          </a:p>
          <a:p>
            <a:pPr marL="0" indent="0">
              <a:buNone/>
              <a:defRPr/>
            </a:pPr>
            <a:r>
              <a:rPr lang="en-US" sz="2400" b="1" dirty="0"/>
              <a:t>		 </a:t>
            </a:r>
            <a:r>
              <a:rPr lang="en-US" sz="2400" b="1" dirty="0" err="1"/>
              <a:t>System.out.println</a:t>
            </a:r>
            <a:r>
              <a:rPr lang="en-US" sz="2400" b="1" dirty="0"/>
              <a:t>(“Area of a square=“  +   c1.compute(20,0));</a:t>
            </a:r>
          </a:p>
          <a:p>
            <a:pPr marL="0" indent="0">
              <a:buNone/>
              <a:defRPr/>
            </a:pPr>
            <a:r>
              <a:rPr lang="en-US" sz="2400" b="1" dirty="0"/>
              <a:t>		Area  a;//</a:t>
            </a:r>
          </a:p>
          <a:p>
            <a:pPr marL="0" indent="0">
              <a:buNone/>
              <a:defRPr/>
            </a:pPr>
            <a:r>
              <a:rPr lang="en-US" sz="2400" b="1" dirty="0"/>
              <a:t>		a=r1;</a:t>
            </a:r>
          </a:p>
          <a:p>
            <a:pPr marL="0" indent="0">
              <a:buNone/>
              <a:defRPr/>
            </a:pPr>
            <a:r>
              <a:rPr lang="en-US" sz="2400" b="1" dirty="0"/>
              <a:t>		</a:t>
            </a:r>
            <a:r>
              <a:rPr lang="en-US" sz="2400" b="1" dirty="0" err="1"/>
              <a:t>System.out.println</a:t>
            </a:r>
            <a:r>
              <a:rPr lang="en-US" sz="2400" b="1" dirty="0"/>
              <a:t>(“Area of a rectangle=“ + </a:t>
            </a:r>
            <a:r>
              <a:rPr lang="en-US" sz="2400" b="1" dirty="0" err="1"/>
              <a:t>a.compute</a:t>
            </a:r>
            <a:r>
              <a:rPr lang="en-US" sz="2400" b="1" dirty="0"/>
              <a:t>(10,20));</a:t>
            </a:r>
          </a:p>
          <a:p>
            <a:pPr marL="0" indent="0">
              <a:buNone/>
              <a:defRPr/>
            </a:pPr>
            <a:r>
              <a:rPr lang="en-US" sz="2400" b="1" dirty="0"/>
              <a:t> 		a=c1;</a:t>
            </a:r>
          </a:p>
          <a:p>
            <a:pPr marL="0" indent="0">
              <a:buNone/>
              <a:defRPr/>
            </a:pPr>
            <a:r>
              <a:rPr lang="en-US" sz="2400" b="1" dirty="0"/>
              <a:t>		</a:t>
            </a:r>
            <a:r>
              <a:rPr lang="en-US" sz="2400" b="1" dirty="0" err="1"/>
              <a:t>System.out.println</a:t>
            </a:r>
            <a:r>
              <a:rPr lang="en-US" sz="2400" b="1" dirty="0"/>
              <a:t>(“Area of a square=“  +   </a:t>
            </a:r>
            <a:r>
              <a:rPr lang="en-US" sz="2400" b="1" dirty="0" err="1"/>
              <a:t>a.compute</a:t>
            </a:r>
            <a:r>
              <a:rPr lang="en-US" sz="2400" b="1" dirty="0"/>
              <a:t>(10,0));</a:t>
            </a:r>
          </a:p>
          <a:p>
            <a:pPr marL="0" indent="0">
              <a:buNone/>
              <a:defRPr/>
            </a:pPr>
            <a:r>
              <a:rPr lang="en-US" sz="2400" b="1" dirty="0"/>
              <a:t>	}</a:t>
            </a:r>
          </a:p>
          <a:p>
            <a:pPr marL="0" indent="0">
              <a:buNone/>
              <a:defRPr/>
            </a:pPr>
            <a:r>
              <a:rPr lang="en-US" sz="2400" b="1" dirty="0"/>
              <a:t>}</a:t>
            </a:r>
          </a:p>
          <a:p>
            <a:pPr marL="0" indent="0">
              <a:buNone/>
              <a:defRPr/>
            </a:pPr>
            <a:endParaRPr lang="en-US" sz="2400" b="1" dirty="0"/>
          </a:p>
          <a:p>
            <a:pPr marL="0" indent="0">
              <a:buNone/>
              <a:defRPr/>
            </a:pPr>
            <a:endParaRPr lang="en-IN" sz="2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6F74238-4814-4376-75DD-5CBD752D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F87E2-23B8-4280-8D10-3321D5C4307B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BC06CC68-4C71-51EA-AFC0-DC2F9189C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Interface vs. Abstract Class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313B62C-40FA-92D7-A67E-723D32958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9520" y="1631628"/>
            <a:ext cx="10346372" cy="4982531"/>
          </a:xfrm>
        </p:spPr>
        <p:txBody>
          <a:bodyPr>
            <a:normAutofit/>
          </a:bodyPr>
          <a:lstStyle/>
          <a:p>
            <a:r>
              <a:rPr lang="en-US" altLang="en-US" sz="2400" b="1" dirty="0"/>
              <a:t>An interface is simply a list of unimplemented collection of methods, and abstract can contain both abstract methods and non abstract methods.</a:t>
            </a:r>
          </a:p>
          <a:p>
            <a:pPr marL="0" indent="0">
              <a:buNone/>
            </a:pPr>
            <a:endParaRPr lang="en-US" altLang="en-US" sz="2400" b="1" dirty="0"/>
          </a:p>
          <a:p>
            <a:r>
              <a:rPr lang="en-US" altLang="en-US" sz="2400" b="1" dirty="0"/>
              <a:t>An interface cannot implement any methods, whereas an abstract class can. </a:t>
            </a:r>
          </a:p>
          <a:p>
            <a:endParaRPr lang="en-US" altLang="en-US" sz="2400" b="1" dirty="0"/>
          </a:p>
          <a:p>
            <a:r>
              <a:rPr lang="en-US" altLang="en-US" sz="2400" b="1" dirty="0"/>
              <a:t>A class can implement many interfaces but can have only one superclass.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AE3A-F968-CC12-E134-868E7609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i="0" u="none" strike="noStrike" baseline="0" dirty="0">
                <a:latin typeface="DINMittelEFOP-Bold"/>
              </a:rPr>
              <a:t>Partial Implementations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1D0B-CE51-A5E5-6907-257A7BECE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984" y="2133600"/>
            <a:ext cx="10103766" cy="3777622"/>
          </a:xfrm>
        </p:spPr>
        <p:txBody>
          <a:bodyPr>
            <a:normAutofit/>
          </a:bodyPr>
          <a:lstStyle/>
          <a:p>
            <a:pPr algn="l"/>
            <a:r>
              <a:rPr lang="en-IN" sz="2800" b="0" i="0" u="none" strike="noStrike" baseline="0" dirty="0">
                <a:latin typeface="NewBaskervilleStd-Roman"/>
              </a:rPr>
              <a:t>If a class includes an interface but does not fully implement the methods required by that interface, then that class must be declared as </a:t>
            </a:r>
            <a:r>
              <a:rPr lang="en-IN" sz="2800" b="1" i="0" u="none" strike="noStrike" baseline="0" dirty="0">
                <a:latin typeface="NewBaskervilleStd-Bold"/>
              </a:rPr>
              <a:t>abstract</a:t>
            </a:r>
            <a:r>
              <a:rPr lang="en-IN" sz="2800" b="0" i="0" u="none" strike="noStrike" baseline="0" dirty="0">
                <a:latin typeface="NewBaskervilleStd-Roman"/>
              </a:rPr>
              <a:t>. 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For example:</a:t>
            </a:r>
          </a:p>
          <a:p>
            <a:pPr marL="0" indent="0">
              <a:buNone/>
            </a:pPr>
            <a:r>
              <a:rPr lang="en-IN" sz="2400" b="1" i="0" u="none" strike="noStrike" baseline="0" dirty="0">
                <a:latin typeface="CourierStd"/>
              </a:rPr>
              <a:t>abstract class Incomplete implements Callback </a:t>
            </a:r>
          </a:p>
          <a:p>
            <a:pPr marL="0" indent="0">
              <a:buNone/>
            </a:pPr>
            <a:r>
              <a:rPr lang="en-IN" sz="2400" b="1" i="0" u="none" strike="noStrike" baseline="0" dirty="0">
                <a:latin typeface="CourierStd"/>
              </a:rPr>
              <a:t>{</a:t>
            </a:r>
            <a:r>
              <a:rPr lang="en-IN" sz="2400" b="1" dirty="0">
                <a:latin typeface="CourierStd"/>
              </a:rPr>
              <a:t>  </a:t>
            </a:r>
            <a:r>
              <a:rPr lang="en-IN" sz="2400" b="1" i="0" u="none" strike="noStrike" baseline="0" dirty="0">
                <a:latin typeface="CourierStd"/>
              </a:rPr>
              <a:t>int a, b;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335905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00BE2-F697-BC58-3AA0-5AD2DA5F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666" y="160256"/>
            <a:ext cx="9722946" cy="5750966"/>
          </a:xfrm>
        </p:spPr>
        <p:txBody>
          <a:bodyPr>
            <a:normAutofit/>
          </a:bodyPr>
          <a:lstStyle/>
          <a:p>
            <a:r>
              <a:rPr lang="en-IN" sz="2000" b="1" dirty="0"/>
              <a:t>Java 9 introduced private methods and private static method in interfaces. In Java 9 and later versions, an interface can have six different things:</a:t>
            </a:r>
          </a:p>
          <a:p>
            <a:endParaRPr lang="en-IN" sz="2000" b="1" dirty="0"/>
          </a:p>
          <a:p>
            <a:r>
              <a:rPr lang="en-IN" sz="2000" b="1" dirty="0"/>
              <a:t>Constant variables</a:t>
            </a:r>
          </a:p>
          <a:p>
            <a:r>
              <a:rPr lang="en-IN" sz="2000" b="1" dirty="0"/>
              <a:t>Abstract methods</a:t>
            </a:r>
          </a:p>
          <a:p>
            <a:r>
              <a:rPr lang="en-IN" sz="2000" b="1" dirty="0"/>
              <a:t>Default methods</a:t>
            </a:r>
          </a:p>
          <a:p>
            <a:r>
              <a:rPr lang="en-IN" sz="2000" b="1" dirty="0"/>
              <a:t>Static methods</a:t>
            </a:r>
          </a:p>
          <a:p>
            <a:r>
              <a:rPr lang="en-IN" sz="2000" b="1" dirty="0"/>
              <a:t>Private methods</a:t>
            </a:r>
          </a:p>
          <a:p>
            <a:r>
              <a:rPr lang="en-IN" sz="2000" b="1" dirty="0"/>
              <a:t>Private Static methods</a:t>
            </a:r>
          </a:p>
          <a:p>
            <a:pPr marL="0" indent="0">
              <a:buNone/>
            </a:pPr>
            <a:r>
              <a:rPr lang="en-IN" sz="2000" b="1" dirty="0"/>
              <a:t>These private methods will improve code re-usability inside interfaces and will provide choice to expose only our intended methods implementations to users. </a:t>
            </a:r>
          </a:p>
          <a:p>
            <a:pPr marL="0" indent="0">
              <a:buNone/>
            </a:pPr>
            <a:r>
              <a:rPr lang="en-IN" sz="2000" b="1" dirty="0"/>
              <a:t>These methods are only accessible within that interface only and cannot be accessed or inherited from an interface to another interface or class.</a:t>
            </a:r>
          </a:p>
        </p:txBody>
      </p:sp>
    </p:spTree>
    <p:extLst>
      <p:ext uri="{BB962C8B-B14F-4D97-AF65-F5344CB8AC3E}">
        <p14:creationId xmlns:p14="http://schemas.microsoft.com/office/powerpoint/2010/main" val="3290073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D63BF-6D8B-F24E-35D9-9B9DA058E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897" y="188536"/>
            <a:ext cx="9430715" cy="70135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// Java 9 program to illustrate </a:t>
            </a:r>
          </a:p>
          <a:p>
            <a:pPr marL="0" indent="0">
              <a:buNone/>
            </a:pPr>
            <a:r>
              <a:rPr lang="en-IN" sz="2000" b="1" dirty="0"/>
              <a:t>// private methods in interfaces </a:t>
            </a:r>
          </a:p>
          <a:p>
            <a:pPr marL="0" indent="0">
              <a:buNone/>
            </a:pPr>
            <a:r>
              <a:rPr lang="en-IN" sz="2000" b="1" dirty="0"/>
              <a:t>public interface </a:t>
            </a:r>
            <a:r>
              <a:rPr lang="en-IN" sz="2000" b="1" dirty="0" err="1"/>
              <a:t>TempI</a:t>
            </a:r>
            <a:r>
              <a:rPr lang="en-IN" sz="2000" b="1" dirty="0"/>
              <a:t> { </a:t>
            </a:r>
          </a:p>
          <a:p>
            <a:pPr marL="0" indent="0">
              <a:buNone/>
            </a:pPr>
            <a:r>
              <a:rPr lang="en-IN" sz="2000" b="1" dirty="0"/>
              <a:t>	public abstract void </a:t>
            </a:r>
            <a:r>
              <a:rPr lang="en-IN" sz="2000" b="1" dirty="0" err="1"/>
              <a:t>mul</a:t>
            </a:r>
            <a:r>
              <a:rPr lang="en-IN" sz="2000" b="1" dirty="0"/>
              <a:t>(int a, int b); </a:t>
            </a:r>
          </a:p>
          <a:p>
            <a:pPr marL="0" indent="0">
              <a:buNone/>
            </a:pPr>
            <a:r>
              <a:rPr lang="en-IN" sz="2000" b="1" dirty="0"/>
              <a:t>	public default void add(int a, int b) </a:t>
            </a:r>
          </a:p>
          <a:p>
            <a:pPr marL="0" indent="0">
              <a:buNone/>
            </a:pPr>
            <a:r>
              <a:rPr lang="en-IN" sz="2000" b="1" dirty="0"/>
              <a:t>	{      // private method inside default method </a:t>
            </a:r>
          </a:p>
          <a:p>
            <a:pPr marL="0" indent="0">
              <a:buNone/>
            </a:pPr>
            <a:r>
              <a:rPr lang="en-IN" sz="2000" b="1" dirty="0"/>
              <a:t>		sub(a, b); </a:t>
            </a:r>
          </a:p>
          <a:p>
            <a:pPr marL="0" indent="0">
              <a:buNone/>
            </a:pPr>
            <a:r>
              <a:rPr lang="en-IN" sz="2000" b="1" dirty="0"/>
              <a:t>		// static method inside other non-static method </a:t>
            </a:r>
          </a:p>
          <a:p>
            <a:pPr marL="0" indent="0">
              <a:buNone/>
            </a:pPr>
            <a:r>
              <a:rPr lang="en-IN" sz="2000" b="1" dirty="0"/>
              <a:t>		div(a, b); </a:t>
            </a:r>
          </a:p>
          <a:p>
            <a:pPr marL="0" indent="0">
              <a:buNone/>
            </a:pPr>
            <a:r>
              <a:rPr lang="en-IN" sz="2000" b="1" dirty="0"/>
              <a:t>		</a:t>
            </a:r>
            <a:r>
              <a:rPr lang="en-IN" sz="2000" b="1" dirty="0" err="1"/>
              <a:t>System.out.print</a:t>
            </a:r>
            <a:r>
              <a:rPr lang="en-IN" sz="2000" b="1" dirty="0"/>
              <a:t>("Answer by Default method = "); </a:t>
            </a:r>
          </a:p>
          <a:p>
            <a:pPr marL="0" indent="0">
              <a:buNone/>
            </a:pPr>
            <a:r>
              <a:rPr lang="en-IN" sz="2000" b="1" dirty="0"/>
              <a:t>		</a:t>
            </a:r>
            <a:r>
              <a:rPr lang="en-IN" sz="2000" b="1" dirty="0" err="1"/>
              <a:t>System.out.println</a:t>
            </a:r>
            <a:r>
              <a:rPr lang="en-IN" sz="2000" b="1" dirty="0"/>
              <a:t>(a + b); </a:t>
            </a:r>
          </a:p>
          <a:p>
            <a:pPr marL="0" indent="0">
              <a:buNone/>
            </a:pPr>
            <a:r>
              <a:rPr lang="en-IN" sz="2000" b="1" dirty="0"/>
              <a:t>	} </a:t>
            </a:r>
          </a:p>
          <a:p>
            <a:pPr marL="0" indent="0">
              <a:buNone/>
            </a:pPr>
            <a:r>
              <a:rPr lang="en-IN" sz="2000" b="1" dirty="0"/>
              <a:t>} 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07658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7B60C-8A31-FA55-5E75-895806EF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9055" y="160255"/>
            <a:ext cx="9251606" cy="50628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	public static void mod(int a, int b) </a:t>
            </a:r>
          </a:p>
          <a:p>
            <a:pPr marL="0" indent="0">
              <a:buNone/>
            </a:pPr>
            <a:r>
              <a:rPr lang="en-IN" sz="2000" b="1" dirty="0"/>
              <a:t>	{	div(a, b); // static method inside other static method </a:t>
            </a:r>
          </a:p>
          <a:p>
            <a:pPr marL="0" indent="0">
              <a:buNone/>
            </a:pPr>
            <a:r>
              <a:rPr lang="en-IN" sz="2000" b="1" dirty="0"/>
              <a:t>		</a:t>
            </a:r>
            <a:r>
              <a:rPr lang="en-IN" sz="2000" b="1" dirty="0" err="1"/>
              <a:t>System.out.print</a:t>
            </a:r>
            <a:r>
              <a:rPr lang="en-IN" sz="2000" b="1" dirty="0"/>
              <a:t>("Answer by Static method = "); </a:t>
            </a:r>
          </a:p>
          <a:p>
            <a:pPr marL="0" indent="0">
              <a:buNone/>
            </a:pPr>
            <a:r>
              <a:rPr lang="en-IN" sz="2000" b="1" dirty="0"/>
              <a:t>		</a:t>
            </a:r>
            <a:r>
              <a:rPr lang="en-IN" sz="2000" b="1" dirty="0" err="1"/>
              <a:t>System.out.println</a:t>
            </a:r>
            <a:r>
              <a:rPr lang="en-IN" sz="2000" b="1" dirty="0"/>
              <a:t>(a % b); </a:t>
            </a:r>
          </a:p>
          <a:p>
            <a:pPr marL="0" indent="0">
              <a:buNone/>
            </a:pPr>
            <a:r>
              <a:rPr lang="en-IN" sz="2000" b="1" dirty="0"/>
              <a:t>	}</a:t>
            </a:r>
          </a:p>
          <a:p>
            <a:pPr marL="0" indent="0">
              <a:buNone/>
            </a:pPr>
            <a:r>
              <a:rPr lang="en-IN" sz="2000" b="1" dirty="0"/>
              <a:t>	private void sub(int a, int b) </a:t>
            </a:r>
          </a:p>
          <a:p>
            <a:pPr marL="0" indent="0">
              <a:buNone/>
            </a:pPr>
            <a:r>
              <a:rPr lang="en-IN" sz="2000" b="1" dirty="0"/>
              <a:t>	{ 	</a:t>
            </a:r>
            <a:r>
              <a:rPr lang="en-IN" sz="2000" b="1" dirty="0" err="1"/>
              <a:t>System.out.print</a:t>
            </a:r>
            <a:r>
              <a:rPr lang="en-IN" sz="2000" b="1" dirty="0"/>
              <a:t>("Answer by Private method = "); </a:t>
            </a:r>
          </a:p>
          <a:p>
            <a:pPr marL="0" indent="0">
              <a:buNone/>
            </a:pPr>
            <a:r>
              <a:rPr lang="en-IN" sz="2000" b="1" dirty="0"/>
              <a:t>		</a:t>
            </a:r>
            <a:r>
              <a:rPr lang="en-IN" sz="2000" b="1" dirty="0" err="1"/>
              <a:t>System.out.println</a:t>
            </a:r>
            <a:r>
              <a:rPr lang="en-IN" sz="2000" b="1" dirty="0"/>
              <a:t>(a - b); </a:t>
            </a:r>
          </a:p>
          <a:p>
            <a:pPr marL="0" indent="0">
              <a:buNone/>
            </a:pPr>
            <a:r>
              <a:rPr lang="en-IN" sz="2000" b="1" dirty="0"/>
              <a:t>	} </a:t>
            </a:r>
          </a:p>
          <a:p>
            <a:pPr marL="0" indent="0">
              <a:buNone/>
            </a:pPr>
            <a:r>
              <a:rPr lang="en-IN" sz="2000" b="1" dirty="0"/>
              <a:t>	private static void div(int a, int b) </a:t>
            </a:r>
          </a:p>
          <a:p>
            <a:pPr marL="0" indent="0">
              <a:buNone/>
            </a:pPr>
            <a:r>
              <a:rPr lang="en-IN" sz="2000" b="1" dirty="0"/>
              <a:t>	{ 	</a:t>
            </a:r>
            <a:r>
              <a:rPr lang="en-IN" sz="2000" b="1" dirty="0" err="1"/>
              <a:t>System.out.print</a:t>
            </a:r>
            <a:r>
              <a:rPr lang="en-IN" sz="2000" b="1" dirty="0"/>
              <a:t>("Answer by Private static method = "); </a:t>
            </a:r>
          </a:p>
          <a:p>
            <a:pPr marL="0" indent="0">
              <a:buNone/>
            </a:pPr>
            <a:r>
              <a:rPr lang="en-IN" sz="2000" b="1" dirty="0"/>
              <a:t>		</a:t>
            </a:r>
            <a:r>
              <a:rPr lang="en-IN" sz="2000" b="1" dirty="0" err="1"/>
              <a:t>System.out.println</a:t>
            </a:r>
            <a:r>
              <a:rPr lang="en-IN" sz="2000" b="1" dirty="0"/>
              <a:t>(a / b); </a:t>
            </a:r>
          </a:p>
          <a:p>
            <a:pPr marL="0" indent="0">
              <a:buNone/>
            </a:pPr>
            <a:r>
              <a:rPr lang="en-IN" sz="2000" b="1" dirty="0"/>
              <a:t>	} </a:t>
            </a:r>
          </a:p>
          <a:p>
            <a:pPr marL="0" indent="0">
              <a:buNone/>
            </a:pPr>
            <a:r>
              <a:rPr lang="en-IN" sz="2000" b="1" dirty="0"/>
              <a:t>} </a:t>
            </a:r>
          </a:p>
          <a:p>
            <a:pPr marL="0" indent="0">
              <a:buNone/>
            </a:pPr>
            <a:r>
              <a:rPr lang="en-IN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197856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4892</TotalTime>
  <Words>1092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Calibri</vt:lpstr>
      <vt:lpstr>Century Gothic</vt:lpstr>
      <vt:lpstr>CourierStd</vt:lpstr>
      <vt:lpstr>DINMittelEFOP-Bold</vt:lpstr>
      <vt:lpstr>ITCFranklinGothicStd-BkCd</vt:lpstr>
      <vt:lpstr>ITCFranklinGothicStd-DmCd</vt:lpstr>
      <vt:lpstr>NewBaskervilleStd-Bold</vt:lpstr>
      <vt:lpstr>NewBaskervilleStd-Roman</vt:lpstr>
      <vt:lpstr>Wingdings</vt:lpstr>
      <vt:lpstr>Wingdings 2</vt:lpstr>
      <vt:lpstr>Wingdings 3</vt:lpstr>
      <vt:lpstr>Wisp</vt:lpstr>
      <vt:lpstr>OOPs  with Java Chapter 9 Interface</vt:lpstr>
      <vt:lpstr>INTERFACES</vt:lpstr>
      <vt:lpstr> Difference between class and interface.</vt:lpstr>
      <vt:lpstr>Defining an Interface</vt:lpstr>
      <vt:lpstr>Rules for implementing Interface</vt:lpstr>
      <vt:lpstr>Rules for implementing Interface</vt:lpstr>
      <vt:lpstr>Extending Interfaces</vt:lpstr>
      <vt:lpstr>PowerPoint Presentation</vt:lpstr>
      <vt:lpstr>PowerPoint Presentation</vt:lpstr>
      <vt:lpstr>PowerPoint Presentation</vt:lpstr>
      <vt:lpstr>Interface vs. Abstract Class</vt:lpstr>
      <vt:lpstr>Partial Implementations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ganga holi</dc:creator>
  <cp:lastModifiedBy>ganga holi</cp:lastModifiedBy>
  <cp:revision>35</cp:revision>
  <dcterms:created xsi:type="dcterms:W3CDTF">2024-09-02T09:39:45Z</dcterms:created>
  <dcterms:modified xsi:type="dcterms:W3CDTF">2024-10-27T12:16:40Z</dcterms:modified>
</cp:coreProperties>
</file>