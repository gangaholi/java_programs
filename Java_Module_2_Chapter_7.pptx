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2" r:id="rId14"/>
    <p:sldId id="273" r:id="rId15"/>
    <p:sldId id="274" r:id="rId16"/>
    <p:sldId id="275" r:id="rId17"/>
    <p:sldId id="278" r:id="rId18"/>
    <p:sldId id="279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5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7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98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48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69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44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8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06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6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7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87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1325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50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3907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323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413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51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EA703-9F6E-46A4-992F-501DD36524E4}" type="datetimeFigureOut">
              <a:rPr lang="en-IN" smtClean="0"/>
              <a:t>27-10-2024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884F238-93B7-4037-810F-989180BC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32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0C2F-B4B2-7DF3-8150-527D23627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3978" y="842683"/>
            <a:ext cx="9908894" cy="3163734"/>
          </a:xfrm>
        </p:spPr>
        <p:txBody>
          <a:bodyPr>
            <a:normAutofit/>
          </a:bodyPr>
          <a:lstStyle/>
          <a:p>
            <a:r>
              <a:rPr lang="en-IN" b="1" dirty="0"/>
              <a:t>OOP</a:t>
            </a:r>
            <a:r>
              <a:rPr lang="en-IN" sz="4800" b="1" dirty="0"/>
              <a:t>s  with Java</a:t>
            </a:r>
            <a:br>
              <a:rPr lang="en-IN" sz="4800" b="1" dirty="0"/>
            </a:br>
            <a:r>
              <a:rPr lang="en-IN" sz="4800" b="1"/>
              <a:t>Chapter 7 Class </a:t>
            </a:r>
            <a:r>
              <a:rPr lang="en-IN" sz="4800" b="1" dirty="0"/>
              <a:t>and Objects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A476A-7C1D-BE23-D0F4-71547039F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 err="1"/>
              <a:t>Dr.</a:t>
            </a:r>
            <a:r>
              <a:rPr lang="en-IN" sz="2800" b="1" dirty="0"/>
              <a:t> Ganga Holi </a:t>
            </a:r>
          </a:p>
          <a:p>
            <a:r>
              <a:rPr lang="en-IN" sz="2800" b="1" dirty="0"/>
              <a:t>Professor &amp; Head, Dept of CSE(ICB)</a:t>
            </a:r>
          </a:p>
        </p:txBody>
      </p:sp>
    </p:spTree>
    <p:extLst>
      <p:ext uri="{BB962C8B-B14F-4D97-AF65-F5344CB8AC3E}">
        <p14:creationId xmlns:p14="http://schemas.microsoft.com/office/powerpoint/2010/main" val="157561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56726-2952-08C7-3E75-67C732CE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B28D-6B02-626F-AD67-8288D74CC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56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EE68-2136-43B1-3748-E74C82F2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0C243-A0EB-B210-9945-6174ED9C0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75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2C5B-D84F-B1BD-B752-1073F144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Understanding static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EFFF-2BF6-B35B-DEDD-2248D15D7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765" y="1508289"/>
            <a:ext cx="10250847" cy="440293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800" b="0" i="0" u="none" strike="noStrike" baseline="0" dirty="0">
                <a:latin typeface="NewBaskervilleStd-Roman"/>
              </a:rPr>
              <a:t>Instance variables declared as </a:t>
            </a:r>
            <a:r>
              <a:rPr lang="en-IN" sz="2800" b="1" i="0" u="none" strike="noStrike" baseline="0" dirty="0">
                <a:latin typeface="NewBaskervilleStd-Bold"/>
              </a:rPr>
              <a:t>static </a:t>
            </a:r>
            <a:r>
              <a:rPr lang="en-IN" sz="2800" b="0" i="0" u="none" strike="noStrike" baseline="0" dirty="0">
                <a:latin typeface="NewBaskervilleStd-Roman"/>
              </a:rPr>
              <a:t>are, essentially, global variables. When objects of its class are declared, no copy of a </a:t>
            </a:r>
            <a:r>
              <a:rPr lang="en-IN" sz="2800" b="1" i="0" u="none" strike="noStrike" baseline="0" dirty="0">
                <a:latin typeface="NewBaskervilleStd-Bold"/>
              </a:rPr>
              <a:t>static </a:t>
            </a:r>
            <a:r>
              <a:rPr lang="en-IN" sz="2800" b="0" i="0" u="none" strike="noStrike" baseline="0" dirty="0">
                <a:latin typeface="NewBaskervilleStd-Roman"/>
              </a:rPr>
              <a:t>variable is made. Instead, all instances of the class share the same </a:t>
            </a:r>
            <a:r>
              <a:rPr lang="en-IN" sz="2800" b="1" i="0" u="none" strike="noStrike" baseline="0" dirty="0">
                <a:latin typeface="NewBaskervilleStd-Bold"/>
              </a:rPr>
              <a:t>static </a:t>
            </a:r>
            <a:r>
              <a:rPr lang="en-IN" sz="2800" b="0" i="0" u="none" strike="noStrike" baseline="0" dirty="0">
                <a:latin typeface="NewBaskervilleStd-Roman"/>
              </a:rPr>
              <a:t>variable.</a:t>
            </a:r>
          </a:p>
          <a:p>
            <a:pPr marL="0" indent="0" algn="l">
              <a:buNone/>
            </a:pPr>
            <a:r>
              <a:rPr lang="en-IN" sz="3200" b="0" i="1" u="none" strike="noStrike" baseline="0" dirty="0">
                <a:solidFill>
                  <a:srgbClr val="C00000"/>
                </a:solidFill>
                <a:latin typeface="NewBaskervilleStd-Roman"/>
              </a:rPr>
              <a:t>Methods declared as </a:t>
            </a:r>
            <a:r>
              <a:rPr lang="en-IN" sz="3200" b="1" i="1" u="none" strike="noStrike" baseline="0" dirty="0">
                <a:solidFill>
                  <a:srgbClr val="C00000"/>
                </a:solidFill>
                <a:latin typeface="NewBaskervilleStd-Bold"/>
              </a:rPr>
              <a:t>static </a:t>
            </a:r>
            <a:r>
              <a:rPr lang="en-IN" sz="3200" b="0" i="1" u="none" strike="noStrike" baseline="0" dirty="0">
                <a:solidFill>
                  <a:srgbClr val="C00000"/>
                </a:solidFill>
                <a:latin typeface="NewBaskervilleStd-Roman"/>
              </a:rPr>
              <a:t>have several restrictions:</a:t>
            </a:r>
          </a:p>
          <a:p>
            <a:pPr marL="0" indent="0" algn="l">
              <a:buNone/>
            </a:pPr>
            <a:r>
              <a:rPr lang="en-IN" sz="2800" b="0" i="0" u="none" strike="noStrike" baseline="0" dirty="0">
                <a:latin typeface="NewBaskervilleStd-Roman"/>
              </a:rPr>
              <a:t>• </a:t>
            </a:r>
            <a:r>
              <a:rPr lang="en-IN" sz="2800" b="0" i="1" u="none" strike="noStrike" baseline="0" dirty="0">
                <a:latin typeface="NewBaskervilleStd-Roman"/>
              </a:rPr>
              <a:t>They can only directly call other </a:t>
            </a:r>
            <a:r>
              <a:rPr lang="en-IN" sz="2800" b="1" i="1" u="none" strike="noStrike" baseline="0" dirty="0">
                <a:latin typeface="NewBaskervilleStd-Bold"/>
              </a:rPr>
              <a:t>static </a:t>
            </a:r>
            <a:r>
              <a:rPr lang="en-IN" sz="2800" b="0" i="1" u="none" strike="noStrike" baseline="0" dirty="0">
                <a:latin typeface="NewBaskervilleStd-Roman"/>
              </a:rPr>
              <a:t>methods.</a:t>
            </a:r>
          </a:p>
          <a:p>
            <a:pPr marL="0" indent="0" algn="l">
              <a:buNone/>
            </a:pPr>
            <a:r>
              <a:rPr lang="en-IN" sz="2800" b="0" i="1" u="none" strike="noStrike" baseline="0" dirty="0">
                <a:latin typeface="NewBaskervilleStd-Roman"/>
              </a:rPr>
              <a:t>• They can only directly access </a:t>
            </a:r>
            <a:r>
              <a:rPr lang="en-IN" sz="2800" b="1" i="1" u="none" strike="noStrike" baseline="0" dirty="0">
                <a:latin typeface="NewBaskervilleStd-Bold"/>
              </a:rPr>
              <a:t>static </a:t>
            </a:r>
            <a:r>
              <a:rPr lang="en-IN" sz="2800" b="0" i="1" u="none" strike="noStrike" baseline="0" dirty="0">
                <a:latin typeface="NewBaskervilleStd-Roman"/>
              </a:rPr>
              <a:t>data.</a:t>
            </a:r>
          </a:p>
          <a:p>
            <a:pPr marL="0" indent="0" algn="l">
              <a:buNone/>
            </a:pPr>
            <a:r>
              <a:rPr lang="en-IN" sz="2800" b="0" i="1" u="none" strike="noStrike" baseline="0" dirty="0">
                <a:latin typeface="NewBaskervilleStd-Roman"/>
              </a:rPr>
              <a:t>• They cannot refer to </a:t>
            </a:r>
            <a:r>
              <a:rPr lang="en-IN" sz="2800" b="1" i="1" u="none" strike="noStrike" baseline="0" dirty="0">
                <a:latin typeface="NewBaskervilleStd-Bold"/>
              </a:rPr>
              <a:t>this </a:t>
            </a:r>
            <a:r>
              <a:rPr lang="en-IN" sz="2800" b="0" i="1" u="none" strike="noStrike" baseline="0" dirty="0">
                <a:latin typeface="NewBaskervilleStd-Roman"/>
              </a:rPr>
              <a:t>or </a:t>
            </a:r>
            <a:r>
              <a:rPr lang="en-IN" sz="2800" b="1" i="1" u="none" strike="noStrike" baseline="0" dirty="0">
                <a:latin typeface="NewBaskervilleStd-Bold"/>
              </a:rPr>
              <a:t>super </a:t>
            </a:r>
            <a:r>
              <a:rPr lang="en-IN" sz="2800" b="0" i="1" u="none" strike="noStrike" baseline="0" dirty="0">
                <a:latin typeface="NewBaskervilleStd-Roman"/>
              </a:rPr>
              <a:t>in any way.</a:t>
            </a:r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374498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9DCD-002D-1786-FDCC-AE4A070E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935F2-4D1C-3375-E6AD-B8BFED5B4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6190" y="1574276"/>
            <a:ext cx="9468422" cy="4336946"/>
          </a:xfrm>
        </p:spPr>
        <p:txBody>
          <a:bodyPr>
            <a:norm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If you need to do computation in order to initialize your </a:t>
            </a:r>
            <a:r>
              <a:rPr lang="en-IN" sz="2400" b="1" i="0" u="none" strike="noStrike" baseline="0" dirty="0">
                <a:latin typeface="NewBaskervilleStd-Bold"/>
              </a:rPr>
              <a:t>static </a:t>
            </a:r>
            <a:r>
              <a:rPr lang="en-IN" sz="2400" b="0" i="0" u="none" strike="noStrike" baseline="0" dirty="0">
                <a:latin typeface="NewBaskervilleStd-Roman"/>
              </a:rPr>
              <a:t>variables, you can declare a </a:t>
            </a:r>
            <a:r>
              <a:rPr lang="en-IN" sz="2400" b="1" i="0" u="none" strike="noStrike" baseline="0" dirty="0">
                <a:latin typeface="NewBaskervilleStd-Bold"/>
              </a:rPr>
              <a:t>static </a:t>
            </a:r>
            <a:r>
              <a:rPr lang="en-IN" sz="2400" b="0" i="0" u="none" strike="noStrike" baseline="0" dirty="0">
                <a:latin typeface="NewBaskervilleStd-Roman"/>
              </a:rPr>
              <a:t>block that gets executed exactly once, when the class is first loaded. 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The</a:t>
            </a:r>
            <a:r>
              <a:rPr lang="en-IN" sz="2400" dirty="0">
                <a:latin typeface="NewBaskervilleStd-Roman"/>
              </a:rPr>
              <a:t>  </a:t>
            </a:r>
            <a:r>
              <a:rPr lang="en-IN" sz="2400" b="0" i="0" u="none" strike="noStrike" baseline="0" dirty="0">
                <a:latin typeface="NewBaskervilleStd-Roman"/>
              </a:rPr>
              <a:t>following example shows a class that has a </a:t>
            </a:r>
            <a:r>
              <a:rPr lang="en-IN" sz="2400" b="1" i="0" u="none" strike="noStrike" baseline="0" dirty="0">
                <a:latin typeface="NewBaskervilleStd-Bold"/>
              </a:rPr>
              <a:t>static </a:t>
            </a:r>
            <a:r>
              <a:rPr lang="en-IN" sz="2400" b="0" i="0" u="none" strike="noStrike" baseline="0" dirty="0">
                <a:latin typeface="NewBaskervilleStd-Roman"/>
              </a:rPr>
              <a:t>method, some </a:t>
            </a:r>
            <a:r>
              <a:rPr lang="en-IN" sz="2400" b="1" i="0" u="none" strike="noStrike" baseline="0" dirty="0">
                <a:latin typeface="NewBaskervilleStd-Bold"/>
              </a:rPr>
              <a:t>static </a:t>
            </a:r>
            <a:r>
              <a:rPr lang="en-IN" sz="2400" b="0" i="0" u="none" strike="noStrike" baseline="0" dirty="0">
                <a:latin typeface="NewBaskervilleStd-Roman"/>
              </a:rPr>
              <a:t>variables, and a </a:t>
            </a:r>
            <a:r>
              <a:rPr lang="en-IN" sz="2400" b="1" i="0" u="none" strike="noStrike" baseline="0" dirty="0">
                <a:latin typeface="NewBaskervilleStd-Bold"/>
              </a:rPr>
              <a:t>static </a:t>
            </a:r>
            <a:r>
              <a:rPr lang="en-IN" sz="2400" b="0" i="0" u="none" strike="noStrike" baseline="0" dirty="0">
                <a:latin typeface="NewBaskervilleStd-Roman"/>
              </a:rPr>
              <a:t>initialization block: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5150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F059-ABD3-C532-BF5A-90391B8B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520" y="226243"/>
            <a:ext cx="8911687" cy="6938128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  <a:t>// Demonstrate static variables, methods, and blocks.</a:t>
            </a:r>
            <a:br>
              <a:rPr lang="en-IN" sz="2000" b="1" dirty="0">
                <a:solidFill>
                  <a:srgbClr val="E65D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a = 3;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b;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</a:t>
            </a:r>
            <a:r>
              <a:rPr lang="en-IN" sz="2000" b="1" dirty="0" err="1">
                <a:solidFill>
                  <a:srgbClr val="00A000"/>
                </a:solidFill>
                <a:latin typeface="Courier New" panose="02070309020205020404" pitchFamily="49" charset="0"/>
              </a:rPr>
              <a:t>InsideConstructor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....."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meth(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x)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{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"x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x);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"a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a);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"b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b);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0876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916D8-C79F-0D9F-73C2-E790F99A8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590" y="1404594"/>
            <a:ext cx="10953345" cy="53853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400" b="1" dirty="0">
                <a:solidFill>
                  <a:srgbClr val="00A000"/>
                </a:solidFill>
                <a:latin typeface="Courier New" panose="02070309020205020404" pitchFamily="49" charset="0"/>
              </a:rPr>
              <a:t>"Static block initialized a="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+a+</a:t>
            </a:r>
            <a:r>
              <a:rPr lang="en-IN" sz="2400" b="1" dirty="0">
                <a:solidFill>
                  <a:srgbClr val="00A000"/>
                </a:solidFill>
                <a:latin typeface="Courier New" panose="02070309020205020404" pitchFamily="49" charset="0"/>
              </a:rPr>
              <a:t>" b="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+b);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b = a * 4;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400" b="1" dirty="0">
                <a:solidFill>
                  <a:srgbClr val="00A000"/>
                </a:solidFill>
                <a:latin typeface="Courier New" panose="02070309020205020404" pitchFamily="49" charset="0"/>
              </a:rPr>
              <a:t>"After updating a &amp; b--&gt; a="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+a+</a:t>
            </a:r>
            <a:r>
              <a:rPr lang="en-IN" sz="2400" b="1" dirty="0">
                <a:solidFill>
                  <a:srgbClr val="00A000"/>
                </a:solidFill>
                <a:latin typeface="Courier New" panose="02070309020205020404" pitchFamily="49" charset="0"/>
              </a:rPr>
              <a:t>" b="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+b);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}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void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[]) 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{  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UseStatic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IN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UseStatic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 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meth(42);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ob.meth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(777);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ob.display</a:t>
            </a: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}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br>
              <a:rPr lang="en-IN" sz="24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76265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11D1-8ED1-3790-865E-90ED15DE5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7909" y="838986"/>
            <a:ext cx="9496703" cy="5072236"/>
          </a:xfrm>
        </p:spPr>
        <p:txBody>
          <a:bodyPr>
            <a:normAutofit/>
          </a:bodyPr>
          <a:lstStyle/>
          <a:p>
            <a:pPr algn="l"/>
            <a:r>
              <a:rPr lang="en-IN" sz="2800" b="0" i="0" u="none" strike="noStrike" baseline="0" dirty="0">
                <a:latin typeface="NewBaskervilleStd-Roman"/>
              </a:rPr>
              <a:t>Outside of the class in which they are defined, </a:t>
            </a:r>
            <a:r>
              <a:rPr lang="en-IN" sz="2800" b="1" i="0" u="none" strike="noStrike" baseline="0" dirty="0">
                <a:latin typeface="NewBaskervilleStd-Bold"/>
              </a:rPr>
              <a:t>static </a:t>
            </a:r>
            <a:r>
              <a:rPr lang="en-IN" sz="2800" b="0" i="0" u="none" strike="noStrike" baseline="0" dirty="0">
                <a:latin typeface="NewBaskervilleStd-Roman"/>
              </a:rPr>
              <a:t>methods and variables can be used independently of any object. </a:t>
            </a:r>
          </a:p>
          <a:p>
            <a:pPr algn="l"/>
            <a:r>
              <a:rPr lang="en-IN" sz="2800" b="0" i="0" u="none" strike="noStrike" baseline="0" dirty="0">
                <a:latin typeface="NewBaskervilleStd-Roman"/>
              </a:rPr>
              <a:t>To do so, you need only specify the name of their class followed by the dot operator. For example, if you wish to call a </a:t>
            </a:r>
            <a:r>
              <a:rPr lang="en-IN" sz="2800" b="1" i="0" u="none" strike="noStrike" baseline="0" dirty="0">
                <a:latin typeface="NewBaskervilleStd-Bold"/>
              </a:rPr>
              <a:t>static </a:t>
            </a:r>
            <a:r>
              <a:rPr lang="en-IN" sz="2800" b="0" i="0" u="none" strike="noStrike" baseline="0" dirty="0">
                <a:latin typeface="NewBaskervilleStd-Roman"/>
              </a:rPr>
              <a:t>method from outside its class, you can do so using the following general form:</a:t>
            </a:r>
          </a:p>
          <a:p>
            <a:pPr algn="l"/>
            <a:r>
              <a:rPr lang="en-IN" sz="2800" b="0" i="1" u="none" strike="noStrike" baseline="0" dirty="0" err="1">
                <a:latin typeface="NewBaskervilleStd-Italic"/>
              </a:rPr>
              <a:t>classname.method</a:t>
            </a:r>
            <a:r>
              <a:rPr lang="en-IN" sz="2800" b="0" i="0" u="none" strike="noStrike" baseline="0" dirty="0">
                <a:latin typeface="NewBaskervilleStd-Roman"/>
              </a:rPr>
              <a:t>( )</a:t>
            </a:r>
          </a:p>
          <a:p>
            <a:pPr algn="l"/>
            <a:endParaRPr lang="en-IN" sz="2800" b="0" i="0" u="none" strike="noStrike" baseline="0" dirty="0">
              <a:latin typeface="NewBaskervilleStd-Roman"/>
            </a:endParaRPr>
          </a:p>
          <a:p>
            <a:pPr algn="l"/>
            <a:r>
              <a:rPr lang="en-IN" sz="2800" b="0" i="0" u="none" strike="noStrike" baseline="0" dirty="0">
                <a:latin typeface="NewBaskervilleStd-Roman"/>
              </a:rPr>
              <a:t>Here, </a:t>
            </a:r>
            <a:r>
              <a:rPr lang="en-IN" sz="2800" b="0" i="1" u="none" strike="noStrike" baseline="0" dirty="0" err="1">
                <a:latin typeface="NewBaskervilleStd-Italic"/>
              </a:rPr>
              <a:t>classname</a:t>
            </a:r>
            <a:r>
              <a:rPr lang="en-IN" sz="2800" b="0" i="1" u="none" strike="noStrike" baseline="0" dirty="0">
                <a:latin typeface="NewBaskervilleStd-Italic"/>
              </a:rPr>
              <a:t> </a:t>
            </a:r>
            <a:r>
              <a:rPr lang="en-IN" sz="2800" b="0" i="0" u="none" strike="noStrike" baseline="0" dirty="0">
                <a:latin typeface="NewBaskervilleStd-Roman"/>
              </a:rPr>
              <a:t>is the name of the class in which the </a:t>
            </a:r>
            <a:r>
              <a:rPr lang="en-IN" sz="2800" b="1" i="0" u="none" strike="noStrike" baseline="0" dirty="0">
                <a:latin typeface="NewBaskervilleStd-Bold"/>
              </a:rPr>
              <a:t>static </a:t>
            </a:r>
            <a:r>
              <a:rPr lang="en-IN" sz="2800" b="0" i="0" u="none" strike="noStrike" baseline="0" dirty="0">
                <a:latin typeface="NewBaskervilleStd-Roman"/>
              </a:rPr>
              <a:t>method is declared.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3487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57C29-5719-AEE9-84AB-89AD046F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259" y="145915"/>
            <a:ext cx="9549353" cy="6613104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StaticUsage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a = 42;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b = 99;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callme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"a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a);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"++b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(++b));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StaticByNameDemo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 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square(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n)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{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n*n;     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N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void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main(String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args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[])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{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StaticUsage.callme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"b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StaticUsage.b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StaticUsage.callme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();  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"b = 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StaticUsage.b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"Square of 5="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+square(5));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"Square of 6=“);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00A000"/>
                </a:solidFill>
                <a:latin typeface="Courier New" panose="02070309020205020404" pitchFamily="49" charset="0"/>
              </a:rPr>
              <a:t>      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System.out.println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N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StaticByNameDemo.square</a:t>
            </a: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(6));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IN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841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52FB-84EA-965E-B290-E43421D7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Introducing final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094F1-6CE5-0914-9993-5442419EC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934" y="1338605"/>
            <a:ext cx="10316066" cy="5260157"/>
          </a:xfrm>
        </p:spPr>
        <p:txBody>
          <a:bodyPr>
            <a:normAutofit/>
          </a:bodyPr>
          <a:lstStyle/>
          <a:p>
            <a:pPr algn="l"/>
            <a:r>
              <a:rPr lang="en-IN" sz="2400" b="0" i="0" u="none" strike="noStrike" baseline="0" dirty="0">
                <a:latin typeface="NewBaskervilleStd-Roman"/>
              </a:rPr>
              <a:t>A field can be declared as </a:t>
            </a:r>
            <a:r>
              <a:rPr lang="en-IN" sz="2400" b="1" i="0" u="none" strike="noStrike" baseline="0" dirty="0">
                <a:latin typeface="NewBaskervilleStd-Bold"/>
              </a:rPr>
              <a:t>final</a:t>
            </a:r>
            <a:r>
              <a:rPr lang="en-IN" sz="2400" b="0" i="0" u="none" strike="noStrike" baseline="0" dirty="0">
                <a:latin typeface="NewBaskervilleStd-Roman"/>
              </a:rPr>
              <a:t>. Doing so prevents its contents from being modified, making it, essentially, a constant. 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We must initialize a </a:t>
            </a:r>
            <a:r>
              <a:rPr lang="en-IN" sz="2400" b="1" i="0" u="none" strike="noStrike" baseline="0" dirty="0">
                <a:latin typeface="NewBaskervilleStd-Bold"/>
              </a:rPr>
              <a:t>final </a:t>
            </a:r>
            <a:r>
              <a:rPr lang="en-IN" sz="2400" b="0" i="0" u="none" strike="noStrike" baseline="0" dirty="0">
                <a:latin typeface="NewBaskervilleStd-Roman"/>
              </a:rPr>
              <a:t>field when it is declared. </a:t>
            </a:r>
          </a:p>
          <a:p>
            <a:pPr algn="l"/>
            <a:r>
              <a:rPr lang="en-IN" sz="2400" b="0" i="0" u="none" strike="noStrike" baseline="0" dirty="0">
                <a:latin typeface="NewBaskervilleStd-Roman"/>
              </a:rPr>
              <a:t>We can do this in one of two ways: </a:t>
            </a:r>
          </a:p>
          <a:p>
            <a:pPr lvl="1"/>
            <a:r>
              <a:rPr lang="en-IN" sz="2200" b="0" i="0" u="none" strike="noStrike" baseline="0" dirty="0">
                <a:latin typeface="NewBaskervilleStd-Roman"/>
              </a:rPr>
              <a:t>First, you can give it a value when it is declared. </a:t>
            </a:r>
          </a:p>
          <a:p>
            <a:pPr lvl="1"/>
            <a:r>
              <a:rPr lang="en-IN" sz="2200" b="0" i="0" u="none" strike="noStrike" baseline="0" dirty="0">
                <a:latin typeface="NewBaskervilleStd-Roman"/>
              </a:rPr>
              <a:t>Second, you can assign it a value within a constructor. The first approach is the most common.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final int FILE_NEW = 1;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final int FILE_OPEN = 2;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final int FILE_SAVE = 3;</a:t>
            </a:r>
          </a:p>
          <a:p>
            <a:pPr algn="l"/>
            <a:r>
              <a:rPr lang="en-IN" sz="2000" b="1" i="0" u="none" strike="noStrike" baseline="0" dirty="0">
                <a:latin typeface="CourierStd"/>
              </a:rPr>
              <a:t>final int FILE_SAVEAS = 4;</a:t>
            </a:r>
          </a:p>
          <a:p>
            <a:pPr algn="l"/>
            <a:r>
              <a:rPr lang="fr-FR" sz="2000" b="1" i="0" u="none" strike="noStrike" baseline="0" dirty="0">
                <a:latin typeface="CourierStd"/>
              </a:rPr>
              <a:t>final </a:t>
            </a:r>
            <a:r>
              <a:rPr lang="fr-FR" sz="2000" b="1" i="0" u="none" strike="noStrike" baseline="0" dirty="0" err="1">
                <a:latin typeface="CourierStd"/>
              </a:rPr>
              <a:t>int</a:t>
            </a:r>
            <a:r>
              <a:rPr lang="fr-FR" sz="2000" b="1" i="0" u="none" strike="noStrike" baseline="0" dirty="0">
                <a:latin typeface="CourierStd"/>
              </a:rPr>
              <a:t> FILE_QUIT = 5;</a:t>
            </a:r>
            <a:endParaRPr lang="en-IN" sz="2800" b="1" i="0" u="none" strike="noStrike" baseline="0" dirty="0">
              <a:latin typeface="NewBaskerville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59138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CF78-92AF-F08F-B9A2-391A2811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BA68-409B-690F-4B7E-739C6F865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451728"/>
            <a:ext cx="9675812" cy="4459494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// This program demonstrates the length array member.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class Length {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public static void main(String </a:t>
            </a:r>
            <a:r>
              <a:rPr lang="en-IN" sz="3200" b="1" i="0" u="none" strike="noStrike" baseline="-25000" dirty="0" err="1">
                <a:latin typeface="CourierStd"/>
              </a:rPr>
              <a:t>args</a:t>
            </a:r>
            <a:r>
              <a:rPr lang="en-IN" sz="3200" b="1" i="0" u="none" strike="noStrike" baseline="-25000" dirty="0">
                <a:latin typeface="CourierStd"/>
              </a:rPr>
              <a:t>[]) {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	int a1[] = new int[10];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	int a2[] = {3, 5, 7, 1, 8, 99, 44, -10};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	int a3[] = {4, 3, 2, 1};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	</a:t>
            </a:r>
            <a:r>
              <a:rPr lang="en-IN" sz="3200" b="1" i="0" u="none" strike="noStrike" baseline="-25000" dirty="0" err="1">
                <a:latin typeface="CourierStd"/>
              </a:rPr>
              <a:t>System.out.println</a:t>
            </a:r>
            <a:r>
              <a:rPr lang="en-IN" sz="3200" b="1" i="0" u="none" strike="noStrike" baseline="-25000" dirty="0">
                <a:latin typeface="CourierStd"/>
              </a:rPr>
              <a:t>("length of a1 is " + a1.length);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	</a:t>
            </a:r>
            <a:r>
              <a:rPr lang="en-IN" sz="3200" b="1" i="0" u="none" strike="noStrike" baseline="-25000" dirty="0" err="1">
                <a:latin typeface="CourierStd"/>
              </a:rPr>
              <a:t>System.out.println</a:t>
            </a:r>
            <a:r>
              <a:rPr lang="en-IN" sz="3200" b="1" i="0" u="none" strike="noStrike" baseline="-25000" dirty="0">
                <a:latin typeface="CourierStd"/>
              </a:rPr>
              <a:t>("length of a2 is " + a2.length);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	</a:t>
            </a:r>
            <a:r>
              <a:rPr lang="en-IN" sz="3200" b="1" i="0" u="none" strike="noStrike" baseline="-25000" dirty="0" err="1">
                <a:latin typeface="CourierStd"/>
              </a:rPr>
              <a:t>System.out.println</a:t>
            </a:r>
            <a:r>
              <a:rPr lang="en-IN" sz="3200" b="1" i="0" u="none" strike="noStrike" baseline="-25000" dirty="0">
                <a:latin typeface="CourierStd"/>
              </a:rPr>
              <a:t>("length of a3 is " + a3.length);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	}</a:t>
            </a:r>
          </a:p>
          <a:p>
            <a:pPr marL="0" indent="0" algn="l">
              <a:buNone/>
            </a:pPr>
            <a:r>
              <a:rPr lang="en-IN" sz="3200" b="1" i="0" u="none" strike="noStrike" baseline="-25000" dirty="0">
                <a:latin typeface="CourierStd"/>
              </a:rPr>
              <a:t>}</a:t>
            </a:r>
            <a:endParaRPr lang="en-IN" sz="3200" b="1" baseline="-25000" dirty="0"/>
          </a:p>
        </p:txBody>
      </p:sp>
    </p:spTree>
    <p:extLst>
      <p:ext uri="{BB962C8B-B14F-4D97-AF65-F5344CB8AC3E}">
        <p14:creationId xmlns:p14="http://schemas.microsoft.com/office/powerpoint/2010/main" val="3176649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DA7A-A0E4-3918-6341-4BF75190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Nested  Class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8E2A-FCD1-506C-0849-ED5E90A92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202" y="1905000"/>
            <a:ext cx="9910831" cy="3777622"/>
          </a:xfrm>
        </p:spPr>
        <p:txBody>
          <a:bodyPr>
            <a:normAutofit/>
          </a:bodyPr>
          <a:lstStyle/>
          <a:p>
            <a:r>
              <a:rPr lang="en-IN" sz="2800" dirty="0"/>
              <a:t>Inner class or nested class is a class that is declared inside the class or interface.</a:t>
            </a:r>
          </a:p>
          <a:p>
            <a:r>
              <a:rPr lang="en-IN" sz="2800" dirty="0"/>
              <a:t>We use inner classes to logically group classes and interfaces in one place to be more readable and maintainable. </a:t>
            </a:r>
          </a:p>
          <a:p>
            <a:r>
              <a:rPr lang="en-IN" sz="2800" dirty="0"/>
              <a:t>It can access all the members of the outer class, including private data members and methods.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37644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BB478-E936-41D3-78B3-8F76FC5E4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of Inner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9ABB-BB5D-E230-D20D-9C34701C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387" y="1540189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class </a:t>
            </a:r>
            <a:r>
              <a:rPr lang="en-US" sz="2800" dirty="0" err="1"/>
              <a:t>Java_Outer_class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{  </a:t>
            </a:r>
          </a:p>
          <a:p>
            <a:pPr marL="0" indent="0">
              <a:buNone/>
            </a:pPr>
            <a:r>
              <a:rPr lang="en-US" sz="2800" dirty="0"/>
              <a:t>	 //code  </a:t>
            </a:r>
          </a:p>
          <a:p>
            <a:pPr marL="0" indent="0">
              <a:buNone/>
            </a:pPr>
            <a:r>
              <a:rPr lang="en-US" sz="2800" dirty="0"/>
              <a:t>	 class </a:t>
            </a:r>
            <a:r>
              <a:rPr lang="en-US" sz="2800" dirty="0" err="1"/>
              <a:t>Java_Inner_class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{  </a:t>
            </a:r>
          </a:p>
          <a:p>
            <a:pPr marL="0" indent="0">
              <a:buNone/>
            </a:pPr>
            <a:r>
              <a:rPr lang="en-US" sz="2800" dirty="0"/>
              <a:t>  		//code  </a:t>
            </a:r>
          </a:p>
          <a:p>
            <a:pPr marL="0" indent="0">
              <a:buNone/>
            </a:pPr>
            <a:r>
              <a:rPr lang="en-US" sz="2800" dirty="0"/>
              <a:t> 	}	  </a:t>
            </a:r>
          </a:p>
          <a:p>
            <a:pPr marL="0" indent="0">
              <a:buNone/>
            </a:pPr>
            <a:r>
              <a:rPr lang="en-US" sz="2800" dirty="0"/>
              <a:t>}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18277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7B3D6-7861-121F-E411-82CCF35D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 of Java inner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2B3F-79D0-0C0C-CDB0-F3CAB79B1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909" y="1540189"/>
            <a:ext cx="9998379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Three advantages of inner classes in Java.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Nested classes represent a particular type of relationship that is it can access all the members (data members and methods) of the outer class, including private.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Nested classes are used to develop more readable and maintainable code because it logically group classes and interfaces in one place only.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b="1" dirty="0"/>
              <a:t>Code Optimization: It requires less code to write.</a:t>
            </a:r>
          </a:p>
        </p:txBody>
      </p:sp>
    </p:spTree>
    <p:extLst>
      <p:ext uri="{BB962C8B-B14F-4D97-AF65-F5344CB8AC3E}">
        <p14:creationId xmlns:p14="http://schemas.microsoft.com/office/powerpoint/2010/main" val="296649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B051-5F2A-977B-3D84-D86E94208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4443" y="290876"/>
            <a:ext cx="9476362" cy="6804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// Demonstrate an inner class.</a:t>
            </a:r>
          </a:p>
          <a:p>
            <a:pPr marL="0" indent="0">
              <a:buNone/>
            </a:pPr>
            <a:r>
              <a:rPr lang="en-IN" sz="2400" b="1" dirty="0"/>
              <a:t>class Outer </a:t>
            </a:r>
          </a:p>
          <a:p>
            <a:pPr marL="0" indent="0">
              <a:buNone/>
            </a:pPr>
            <a:r>
              <a:rPr lang="en-IN" sz="2400" b="1" dirty="0"/>
              <a:t>{       int </a:t>
            </a:r>
            <a:r>
              <a:rPr lang="en-IN" sz="2400" b="1" dirty="0" err="1"/>
              <a:t>outer_x</a:t>
            </a:r>
            <a:r>
              <a:rPr lang="en-IN" sz="2400" b="1" dirty="0"/>
              <a:t> = 100;</a:t>
            </a:r>
          </a:p>
          <a:p>
            <a:pPr marL="0" indent="0">
              <a:buNone/>
            </a:pPr>
            <a:r>
              <a:rPr lang="en-IN" sz="2400" b="1" dirty="0"/>
              <a:t>        void  test() </a:t>
            </a:r>
          </a:p>
          <a:p>
            <a:pPr marL="0" indent="0">
              <a:buNone/>
            </a:pPr>
            <a:r>
              <a:rPr lang="en-IN" sz="2400" b="1" dirty="0"/>
              <a:t>        {         Inner </a:t>
            </a:r>
            <a:r>
              <a:rPr lang="en-IN" sz="2400" b="1" dirty="0" err="1"/>
              <a:t>inner</a:t>
            </a:r>
            <a:r>
              <a:rPr lang="en-IN" sz="2400" b="1" dirty="0"/>
              <a:t> = new Inner();</a:t>
            </a:r>
          </a:p>
          <a:p>
            <a:pPr marL="0" indent="0">
              <a:buNone/>
            </a:pPr>
            <a:r>
              <a:rPr lang="en-IN" sz="2400" b="1" dirty="0"/>
              <a:t>                  </a:t>
            </a:r>
            <a:r>
              <a:rPr lang="en-IN" sz="2400" b="1" dirty="0" err="1"/>
              <a:t>inner.display</a:t>
            </a:r>
            <a:r>
              <a:rPr lang="en-IN" sz="2400" b="1" dirty="0"/>
              <a:t>();</a:t>
            </a:r>
          </a:p>
          <a:p>
            <a:pPr marL="0" indent="0">
              <a:buNone/>
            </a:pPr>
            <a:r>
              <a:rPr lang="en-IN" sz="2400" b="1" dirty="0"/>
              <a:t>        }</a:t>
            </a:r>
          </a:p>
          <a:p>
            <a:pPr marL="0" indent="0">
              <a:buNone/>
            </a:pPr>
            <a:r>
              <a:rPr lang="en-IN" sz="2400" b="1" dirty="0"/>
              <a:t>        // this is an inner class</a:t>
            </a:r>
          </a:p>
          <a:p>
            <a:pPr marL="0" indent="0">
              <a:buNone/>
            </a:pPr>
            <a:r>
              <a:rPr lang="en-IN" sz="2400" b="1" dirty="0"/>
              <a:t>        class Inner </a:t>
            </a:r>
          </a:p>
          <a:p>
            <a:pPr marL="0" indent="0">
              <a:buNone/>
            </a:pPr>
            <a:r>
              <a:rPr lang="en-IN" sz="2400" b="1" dirty="0"/>
              <a:t>       {       void display()</a:t>
            </a:r>
          </a:p>
          <a:p>
            <a:pPr marL="0" indent="0">
              <a:buNone/>
            </a:pPr>
            <a:r>
              <a:rPr lang="en-IN" sz="2400" b="1" dirty="0"/>
              <a:t>	   {    </a:t>
            </a:r>
            <a:r>
              <a:rPr lang="en-IN" sz="2400" b="1" dirty="0" err="1"/>
              <a:t>System.out.println</a:t>
            </a:r>
            <a:r>
              <a:rPr lang="en-IN" sz="2400" b="1" dirty="0"/>
              <a:t>("display: </a:t>
            </a:r>
            <a:r>
              <a:rPr lang="en-IN" sz="2400" b="1" dirty="0" err="1"/>
              <a:t>outer_x</a:t>
            </a:r>
            <a:r>
              <a:rPr lang="en-IN" sz="2400" b="1" dirty="0"/>
              <a:t> = " + </a:t>
            </a:r>
            <a:r>
              <a:rPr lang="en-IN" sz="2400" b="1" dirty="0" err="1"/>
              <a:t>outer_x</a:t>
            </a:r>
            <a:r>
              <a:rPr lang="en-IN" sz="2400" b="1" dirty="0"/>
              <a:t>);</a:t>
            </a:r>
          </a:p>
          <a:p>
            <a:pPr marL="0" indent="0">
              <a:buNone/>
            </a:pPr>
            <a:r>
              <a:rPr lang="en-IN" sz="2400" b="1" dirty="0"/>
              <a:t>	   }</a:t>
            </a:r>
          </a:p>
          <a:p>
            <a:pPr marL="0" indent="0">
              <a:buNone/>
            </a:pPr>
            <a:r>
              <a:rPr lang="en-I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4822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9C4D5-5CD5-FE8E-ED3C-901C7B417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816" y="785719"/>
            <a:ext cx="92404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class </a:t>
            </a:r>
            <a:r>
              <a:rPr lang="en-IN" sz="2400" b="1" dirty="0" err="1"/>
              <a:t>InnerClassDemo</a:t>
            </a:r>
            <a:r>
              <a:rPr lang="en-IN" sz="2400" b="1" dirty="0"/>
              <a:t> </a:t>
            </a:r>
          </a:p>
          <a:p>
            <a:pPr marL="0" indent="0">
              <a:buNone/>
            </a:pPr>
            <a:r>
              <a:rPr lang="en-IN" sz="2400" b="1" dirty="0"/>
              <a:t>{</a:t>
            </a:r>
          </a:p>
          <a:p>
            <a:pPr marL="0" indent="0">
              <a:buNone/>
            </a:pPr>
            <a:r>
              <a:rPr lang="en-IN" sz="2400" b="1" dirty="0"/>
              <a:t>	public static void main(String </a:t>
            </a:r>
            <a:r>
              <a:rPr lang="en-IN" sz="2400" b="1" dirty="0" err="1"/>
              <a:t>args</a:t>
            </a:r>
            <a:r>
              <a:rPr lang="en-IN" sz="2400" b="1" dirty="0"/>
              <a:t>[]) </a:t>
            </a:r>
          </a:p>
          <a:p>
            <a:pPr marL="0" indent="0">
              <a:buNone/>
            </a:pPr>
            <a:r>
              <a:rPr lang="en-IN" sz="2400" b="1" dirty="0"/>
              <a:t>	{</a:t>
            </a:r>
          </a:p>
          <a:p>
            <a:pPr marL="0" indent="0">
              <a:buNone/>
            </a:pPr>
            <a:r>
              <a:rPr lang="en-IN" sz="2400" b="1" dirty="0"/>
              <a:t>		Outer </a:t>
            </a:r>
            <a:r>
              <a:rPr lang="en-IN" sz="2400" b="1" dirty="0" err="1"/>
              <a:t>outer</a:t>
            </a:r>
            <a:r>
              <a:rPr lang="en-IN" sz="2400" b="1" dirty="0"/>
              <a:t> = new Outer();</a:t>
            </a:r>
          </a:p>
          <a:p>
            <a:pPr marL="0" indent="0">
              <a:buNone/>
            </a:pPr>
            <a:r>
              <a:rPr lang="en-IN" sz="2400" b="1" dirty="0"/>
              <a:t>		</a:t>
            </a:r>
            <a:r>
              <a:rPr lang="en-IN" sz="2400" b="1" dirty="0" err="1"/>
              <a:t>outer.test</a:t>
            </a:r>
            <a:r>
              <a:rPr lang="en-IN" sz="2400" b="1" dirty="0"/>
              <a:t>();</a:t>
            </a:r>
          </a:p>
          <a:p>
            <a:pPr marL="0" indent="0">
              <a:buNone/>
            </a:pPr>
            <a:r>
              <a:rPr lang="en-IN" sz="2400" b="1" dirty="0"/>
              <a:t>	}</a:t>
            </a:r>
          </a:p>
          <a:p>
            <a:pPr marL="0" indent="0">
              <a:buNone/>
            </a:pPr>
            <a:r>
              <a:rPr lang="en-I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9052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52678-7E6B-4E3F-F2ED-11CDA02A5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843" y="489785"/>
            <a:ext cx="11049000" cy="1028700"/>
          </a:xfrm>
        </p:spPr>
        <p:txBody>
          <a:bodyPr>
            <a:noAutofit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Is it possible to declare inner in block scope?</a:t>
            </a:r>
            <a:br>
              <a:rPr lang="en-US" dirty="0"/>
            </a:br>
            <a:br>
              <a:rPr lang="en-US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DB17E-82B1-872D-7844-9C85DF266F06}"/>
              </a:ext>
            </a:extLst>
          </p:cNvPr>
          <p:cNvSpPr txBox="1"/>
          <p:nvPr/>
        </p:nvSpPr>
        <p:spPr>
          <a:xfrm>
            <a:off x="1608483" y="3046944"/>
            <a:ext cx="101133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u="none" strike="noStrike" baseline="0" dirty="0">
                <a:latin typeface="NewBaskervilleStd-Roman"/>
              </a:rPr>
              <a:t>  Yes it is possible to define inner classes within any   </a:t>
            </a:r>
          </a:p>
          <a:p>
            <a:r>
              <a:rPr lang="en-IN" sz="3600" dirty="0">
                <a:latin typeface="NewBaskervilleStd-Roman"/>
              </a:rPr>
              <a:t>  </a:t>
            </a:r>
            <a:r>
              <a:rPr lang="en-IN" sz="3600" b="0" i="0" u="none" strike="noStrike" baseline="0" dirty="0">
                <a:latin typeface="NewBaskervilleStd-Roman"/>
              </a:rPr>
              <a:t>block scope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7532810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9EC64-71D6-32E8-2EFE-397E5197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9150" y="119062"/>
            <a:ext cx="11001982" cy="6619875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// Define an inner class within a </a:t>
            </a:r>
            <a:r>
              <a:rPr lang="en-IN" sz="2400" b="1" i="0" u="none" strike="noStrike" baseline="0" dirty="0">
                <a:solidFill>
                  <a:srgbClr val="FFFF00"/>
                </a:solidFill>
                <a:latin typeface="CourierStd"/>
              </a:rPr>
              <a:t>for loop.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class Outer {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int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100;</a:t>
            </a:r>
          </a:p>
          <a:p>
            <a:pPr marL="0" indent="0" algn="l">
              <a:buNone/>
            </a:pPr>
            <a:r>
              <a:rPr lang="en-IN" sz="2400" b="1" dirty="0">
                <a:latin typeface="CourierStd"/>
              </a:rPr>
              <a:t>    </a:t>
            </a:r>
            <a:r>
              <a:rPr lang="en-IN" sz="2400" b="1" i="0" u="none" strike="noStrike" baseline="0" dirty="0">
                <a:latin typeface="CourierStd"/>
              </a:rPr>
              <a:t>void test()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{   </a:t>
            </a:r>
            <a:r>
              <a:rPr lang="nn-NO" sz="2400" b="1" i="0" u="none" strike="noStrike" baseline="0" dirty="0">
                <a:latin typeface="CourierStd"/>
              </a:rPr>
              <a:t>for(int i=0; i&lt;10; i++) </a:t>
            </a:r>
          </a:p>
          <a:p>
            <a:pPr marL="0" indent="0" algn="l">
              <a:buNone/>
            </a:pPr>
            <a:r>
              <a:rPr lang="nn-NO" sz="2400" b="1" i="0" u="none" strike="noStrike" baseline="0" dirty="0">
                <a:latin typeface="CourierStd"/>
              </a:rPr>
              <a:t>        {  </a:t>
            </a:r>
            <a:r>
              <a:rPr lang="en-IN" sz="2400" b="1" i="0" u="none" strike="noStrike" baseline="0" dirty="0">
                <a:latin typeface="CourierStd"/>
              </a:rPr>
              <a:t>class Inner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  {  void display()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     { </a:t>
            </a:r>
            <a:r>
              <a:rPr lang="en-IN" sz="2400" b="1" i="0" u="none" strike="noStrike" baseline="0" dirty="0" err="1">
                <a:latin typeface="CourierStd"/>
              </a:rPr>
              <a:t>System.out.println</a:t>
            </a:r>
            <a:r>
              <a:rPr lang="en-IN" sz="2400" b="1" i="0" u="none" strike="noStrike" baseline="0" dirty="0">
                <a:latin typeface="CourierStd"/>
              </a:rPr>
              <a:t>("</a:t>
            </a:r>
            <a:r>
              <a:rPr lang="en-IN" sz="1900" b="1" i="0" u="none" strike="noStrike" baseline="0" dirty="0">
                <a:latin typeface="CourierStd"/>
              </a:rPr>
              <a:t>display: </a:t>
            </a:r>
            <a:r>
              <a:rPr lang="en-IN" sz="1900" b="1" i="0" u="none" strike="noStrike" baseline="0" dirty="0" err="1">
                <a:latin typeface="CourierStd"/>
              </a:rPr>
              <a:t>outer_x</a:t>
            </a:r>
            <a:r>
              <a:rPr lang="en-IN" sz="1900" b="1" i="0" u="none" strike="noStrike" baseline="0" dirty="0">
                <a:latin typeface="CourierStd"/>
              </a:rPr>
              <a:t> = " + </a:t>
            </a:r>
            <a:r>
              <a:rPr lang="en-IN" sz="1900" b="1" i="0" u="none" strike="noStrike" baseline="0" dirty="0" err="1">
                <a:latin typeface="CourierStd"/>
              </a:rPr>
              <a:t>outer_x</a:t>
            </a:r>
            <a:r>
              <a:rPr lang="en-IN" sz="1900" b="1" i="0" u="none" strike="noStrike" baseline="0" dirty="0">
                <a:latin typeface="CourierStd"/>
              </a:rPr>
              <a:t>);</a:t>
            </a:r>
            <a:endParaRPr lang="en-IN" sz="2400" b="1" i="0" u="none" strike="noStrike" baseline="0" dirty="0">
              <a:latin typeface="CourierStd"/>
            </a:endParaRP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     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  } 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  Inner </a:t>
            </a:r>
            <a:r>
              <a:rPr lang="en-IN" sz="2400" b="1" i="0" u="none" strike="noStrike" baseline="0" dirty="0" err="1">
                <a:latin typeface="CourierStd"/>
              </a:rPr>
              <a:t>inner</a:t>
            </a:r>
            <a:r>
              <a:rPr lang="en-IN" sz="2400" b="1" i="0" u="none" strike="noStrike" baseline="0" dirty="0">
                <a:latin typeface="CourierStd"/>
              </a:rPr>
              <a:t> = new Inner();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   </a:t>
            </a:r>
            <a:r>
              <a:rPr lang="en-IN" sz="2400" b="1" i="0" u="none" strike="noStrike" baseline="0" dirty="0" err="1">
                <a:latin typeface="CourierStd"/>
              </a:rPr>
              <a:t>inner.display</a:t>
            </a:r>
            <a:r>
              <a:rPr lang="en-IN" sz="2400" b="1" i="0" u="none" strike="noStrike" baseline="0" dirty="0">
                <a:latin typeface="CourierStd"/>
              </a:rPr>
              <a:t>();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        }  // for loop</a:t>
            </a:r>
          </a:p>
          <a:p>
            <a:pPr marL="0" indent="0" algn="l">
              <a:buNone/>
            </a:pPr>
            <a:r>
              <a:rPr lang="en-IN" sz="2400" b="1" dirty="0">
                <a:latin typeface="CourierStd"/>
              </a:rPr>
              <a:t>    </a:t>
            </a:r>
            <a:r>
              <a:rPr lang="en-IN" sz="2400" b="1" i="0" u="none" strike="noStrike" baseline="0" dirty="0">
                <a:latin typeface="CourierStd"/>
              </a:rPr>
              <a:t>}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}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044964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651E-4375-4BEF-5FBA-A84B34638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9757" y="105383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i="1" dirty="0"/>
              <a:t>class </a:t>
            </a:r>
            <a:r>
              <a:rPr lang="en-IN" sz="2400" b="1" i="1" dirty="0" err="1"/>
              <a:t>InnerClassDemo</a:t>
            </a:r>
            <a:r>
              <a:rPr lang="en-IN" sz="2400" b="1" i="1" dirty="0"/>
              <a:t> </a:t>
            </a:r>
          </a:p>
          <a:p>
            <a:pPr marL="0" indent="0">
              <a:buNone/>
            </a:pPr>
            <a:r>
              <a:rPr lang="en-IN" sz="2400" b="1" i="1" dirty="0"/>
              <a:t>{     public static void main(String </a:t>
            </a:r>
            <a:r>
              <a:rPr lang="en-IN" sz="2400" b="1" i="1" dirty="0" err="1"/>
              <a:t>args</a:t>
            </a:r>
            <a:r>
              <a:rPr lang="en-IN" sz="2400" b="1" i="1" dirty="0"/>
              <a:t>[])</a:t>
            </a:r>
          </a:p>
          <a:p>
            <a:pPr marL="0" indent="0">
              <a:buNone/>
            </a:pPr>
            <a:r>
              <a:rPr lang="en-IN" sz="2400" b="1" i="1" dirty="0"/>
              <a:t>     {     Outer </a:t>
            </a:r>
            <a:r>
              <a:rPr lang="en-IN" sz="2400" b="1" i="1" dirty="0" err="1"/>
              <a:t>outer</a:t>
            </a:r>
            <a:r>
              <a:rPr lang="en-IN" sz="2400" b="1" i="1" dirty="0"/>
              <a:t> = new Outer();</a:t>
            </a:r>
          </a:p>
          <a:p>
            <a:pPr marL="0" indent="0">
              <a:buNone/>
            </a:pPr>
            <a:r>
              <a:rPr lang="en-IN" sz="2400" b="1" i="1" dirty="0"/>
              <a:t>            </a:t>
            </a:r>
            <a:r>
              <a:rPr lang="en-IN" sz="2400" b="1" i="1" dirty="0" err="1"/>
              <a:t>outer.test</a:t>
            </a:r>
            <a:r>
              <a:rPr lang="en-IN" sz="2400" b="1" i="1" dirty="0"/>
              <a:t>();</a:t>
            </a:r>
          </a:p>
          <a:p>
            <a:pPr marL="0" indent="0">
              <a:buNone/>
            </a:pPr>
            <a:r>
              <a:rPr lang="en-IN" sz="2400" b="1" i="1" dirty="0"/>
              <a:t>     }</a:t>
            </a:r>
          </a:p>
          <a:p>
            <a:pPr marL="0" indent="0">
              <a:buNone/>
            </a:pPr>
            <a:r>
              <a:rPr lang="en-IN" sz="2400" b="1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7738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34D8-69B5-7C5A-0E7C-DA3A28EE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6FFBA-FEC5-7CF8-BA73-CF46015E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179" y="1264555"/>
            <a:ext cx="9218612" cy="377762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400" b="1" i="0" u="none" strike="noStrike" baseline="0" dirty="0">
                <a:latin typeface="NewBaskervilleStd-Roman"/>
              </a:rPr>
              <a:t>The output from this version of the program is shown here: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</a:p>
          <a:p>
            <a:pPr marL="0" indent="0" algn="l">
              <a:buNone/>
            </a:pPr>
            <a:r>
              <a:rPr lang="en-IN" sz="2400" b="1" i="0" u="none" strike="noStrike" baseline="0" dirty="0">
                <a:latin typeface="CourierStd"/>
              </a:rPr>
              <a:t>display: </a:t>
            </a:r>
            <a:r>
              <a:rPr lang="en-IN" sz="2400" b="1" i="0" u="none" strike="noStrike" baseline="0" dirty="0" err="1">
                <a:latin typeface="CourierStd"/>
              </a:rPr>
              <a:t>outer_x</a:t>
            </a:r>
            <a:r>
              <a:rPr lang="en-IN" sz="2400" b="1" i="0" u="none" strike="noStrike" baseline="0" dirty="0">
                <a:latin typeface="CourierStd"/>
              </a:rPr>
              <a:t> = 100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75090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1197</TotalTime>
  <Words>1410</Words>
  <Application>Microsoft Office PowerPoint</Application>
  <PresentationFormat>Widescreen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Century Gothic</vt:lpstr>
      <vt:lpstr>Courier New</vt:lpstr>
      <vt:lpstr>CourierStd</vt:lpstr>
      <vt:lpstr>NewBaskervilleStd-Bold</vt:lpstr>
      <vt:lpstr>NewBaskervilleStd-Italic</vt:lpstr>
      <vt:lpstr>NewBaskervilleStd-Roman</vt:lpstr>
      <vt:lpstr>Wingdings 3</vt:lpstr>
      <vt:lpstr>Wisp</vt:lpstr>
      <vt:lpstr>OOPs  with Java Chapter 7 Class and Objects</vt:lpstr>
      <vt:lpstr>Constructor Overloading</vt:lpstr>
      <vt:lpstr>Method Overloading</vt:lpstr>
      <vt:lpstr>Understanding static</vt:lpstr>
      <vt:lpstr>Static block</vt:lpstr>
      <vt:lpstr>PowerPoint Presentation</vt:lpstr>
      <vt:lpstr>PowerPoint Presentation</vt:lpstr>
      <vt:lpstr>PowerPoint Presentation</vt:lpstr>
      <vt:lpstr>PowerPoint Presentation</vt:lpstr>
      <vt:lpstr>Introducing final </vt:lpstr>
      <vt:lpstr>Arrays Revisited</vt:lpstr>
      <vt:lpstr>Nested  Class</vt:lpstr>
      <vt:lpstr>Syntax of Inner class</vt:lpstr>
      <vt:lpstr>Advantage of Java inner classes</vt:lpstr>
      <vt:lpstr>PowerPoint Presentation</vt:lpstr>
      <vt:lpstr>PowerPoint Presentation</vt:lpstr>
      <vt:lpstr>       Is it possible to declare inner in block scope?   </vt:lpstr>
      <vt:lpstr>PowerPoint Presentation</vt:lpstr>
      <vt:lpstr>PowerPoint Presentation</vt:lpstr>
      <vt:lpstr>Output 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 holi</dc:creator>
  <cp:lastModifiedBy>ganga holi</cp:lastModifiedBy>
  <cp:revision>11</cp:revision>
  <dcterms:created xsi:type="dcterms:W3CDTF">2024-09-02T09:39:45Z</dcterms:created>
  <dcterms:modified xsi:type="dcterms:W3CDTF">2024-10-27T12:15:02Z</dcterms:modified>
</cp:coreProperties>
</file>