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324" r:id="rId1"/>
  </p:sldMasterIdLst>
  <p:notesMasterIdLst>
    <p:notesMasterId r:id="rId64"/>
  </p:notesMasterIdLst>
  <p:sldIdLst>
    <p:sldId id="256" r:id="rId2"/>
    <p:sldId id="311" r:id="rId3"/>
    <p:sldId id="312" r:id="rId4"/>
    <p:sldId id="313" r:id="rId5"/>
    <p:sldId id="314" r:id="rId6"/>
    <p:sldId id="315" r:id="rId7"/>
    <p:sldId id="316" r:id="rId8"/>
    <p:sldId id="317" r:id="rId9"/>
    <p:sldId id="318" r:id="rId10"/>
    <p:sldId id="330" r:id="rId11"/>
    <p:sldId id="331" r:id="rId12"/>
    <p:sldId id="335" r:id="rId13"/>
    <p:sldId id="339" r:id="rId14"/>
    <p:sldId id="324" r:id="rId15"/>
    <p:sldId id="337" r:id="rId16"/>
    <p:sldId id="340" r:id="rId17"/>
    <p:sldId id="343" r:id="rId18"/>
    <p:sldId id="342" r:id="rId19"/>
    <p:sldId id="336" r:id="rId20"/>
    <p:sldId id="345" r:id="rId21"/>
    <p:sldId id="341" r:id="rId22"/>
    <p:sldId id="344" r:id="rId23"/>
    <p:sldId id="346" r:id="rId24"/>
    <p:sldId id="347" r:id="rId25"/>
    <p:sldId id="349" r:id="rId26"/>
    <p:sldId id="350" r:id="rId27"/>
    <p:sldId id="351" r:id="rId28"/>
    <p:sldId id="352" r:id="rId29"/>
    <p:sldId id="353" r:id="rId30"/>
    <p:sldId id="354" r:id="rId31"/>
    <p:sldId id="355" r:id="rId32"/>
    <p:sldId id="356" r:id="rId33"/>
    <p:sldId id="357" r:id="rId34"/>
    <p:sldId id="358" r:id="rId35"/>
    <p:sldId id="359" r:id="rId36"/>
    <p:sldId id="319" r:id="rId37"/>
    <p:sldId id="360" r:id="rId38"/>
    <p:sldId id="364" r:id="rId39"/>
    <p:sldId id="365" r:id="rId40"/>
    <p:sldId id="366" r:id="rId41"/>
    <p:sldId id="368" r:id="rId42"/>
    <p:sldId id="367" r:id="rId43"/>
    <p:sldId id="370" r:id="rId44"/>
    <p:sldId id="371" r:id="rId45"/>
    <p:sldId id="361" r:id="rId46"/>
    <p:sldId id="362" r:id="rId47"/>
    <p:sldId id="369" r:id="rId48"/>
    <p:sldId id="373" r:id="rId49"/>
    <p:sldId id="374" r:id="rId50"/>
    <p:sldId id="375" r:id="rId51"/>
    <p:sldId id="376" r:id="rId52"/>
    <p:sldId id="377" r:id="rId53"/>
    <p:sldId id="378" r:id="rId54"/>
    <p:sldId id="379" r:id="rId55"/>
    <p:sldId id="380" r:id="rId56"/>
    <p:sldId id="293" r:id="rId57"/>
    <p:sldId id="372" r:id="rId58"/>
    <p:sldId id="263" r:id="rId59"/>
    <p:sldId id="264" r:id="rId60"/>
    <p:sldId id="266" r:id="rId61"/>
    <p:sldId id="296" r:id="rId62"/>
    <p:sldId id="320" r:id="rId63"/>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p:defaultTextStyle>
  <p:extLst>
    <p:ext uri="{521415D9-36F7-43E2-AB2F-B90AF26B5E84}">
      <p14:sectionLst xmlns:p14="http://schemas.microsoft.com/office/powerpoint/2010/main">
        <p14:section name="Default Section" id="{01538B7B-6F26-4C9A-946D-EF2A41289E22}">
          <p14:sldIdLst>
            <p14:sldId id="256"/>
            <p14:sldId id="311"/>
            <p14:sldId id="312"/>
            <p14:sldId id="313"/>
            <p14:sldId id="314"/>
            <p14:sldId id="315"/>
            <p14:sldId id="316"/>
            <p14:sldId id="317"/>
            <p14:sldId id="318"/>
            <p14:sldId id="330"/>
            <p14:sldId id="331"/>
            <p14:sldId id="335"/>
            <p14:sldId id="339"/>
            <p14:sldId id="324"/>
            <p14:sldId id="337"/>
            <p14:sldId id="340"/>
            <p14:sldId id="343"/>
            <p14:sldId id="342"/>
            <p14:sldId id="336"/>
            <p14:sldId id="345"/>
            <p14:sldId id="341"/>
            <p14:sldId id="344"/>
          </p14:sldIdLst>
        </p14:section>
        <p14:section name="Untitled Section" id="{D8C91D09-E4EA-4B1A-AA37-BB7CAEB97FD2}">
          <p14:sldIdLst>
            <p14:sldId id="346"/>
            <p14:sldId id="347"/>
            <p14:sldId id="349"/>
            <p14:sldId id="350"/>
            <p14:sldId id="351"/>
            <p14:sldId id="352"/>
            <p14:sldId id="353"/>
            <p14:sldId id="354"/>
            <p14:sldId id="355"/>
            <p14:sldId id="356"/>
            <p14:sldId id="357"/>
            <p14:sldId id="358"/>
            <p14:sldId id="359"/>
            <p14:sldId id="319"/>
            <p14:sldId id="360"/>
            <p14:sldId id="364"/>
            <p14:sldId id="365"/>
            <p14:sldId id="366"/>
            <p14:sldId id="368"/>
            <p14:sldId id="367"/>
            <p14:sldId id="370"/>
            <p14:sldId id="371"/>
            <p14:sldId id="361"/>
            <p14:sldId id="362"/>
            <p14:sldId id="369"/>
            <p14:sldId id="373"/>
            <p14:sldId id="374"/>
            <p14:sldId id="375"/>
            <p14:sldId id="376"/>
            <p14:sldId id="377"/>
            <p14:sldId id="378"/>
            <p14:sldId id="379"/>
            <p14:sldId id="380"/>
            <p14:sldId id="293"/>
            <p14:sldId id="372"/>
            <p14:sldId id="263"/>
            <p14:sldId id="264"/>
            <p14:sldId id="266"/>
            <p14:sldId id="296"/>
            <p14:sldId id="32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33" autoAdjust="0"/>
    <p:restoredTop sz="71362" autoAdjust="0"/>
  </p:normalViewPr>
  <p:slideViewPr>
    <p:cSldViewPr>
      <p:cViewPr varScale="1">
        <p:scale>
          <a:sx n="98" d="100"/>
          <a:sy n="98" d="100"/>
        </p:scale>
        <p:origin x="92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4CA4301-43DD-94F5-D6A9-B963DDD6485E}"/>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US" altLang="en-US"/>
          </a:p>
        </p:txBody>
      </p:sp>
      <p:sp>
        <p:nvSpPr>
          <p:cNvPr id="40963" name="Rectangle 3">
            <a:extLst>
              <a:ext uri="{FF2B5EF4-FFF2-40B4-BE49-F238E27FC236}">
                <a16:creationId xmlns:a16="http://schemas.microsoft.com/office/drawing/2014/main" id="{6DC8E9F2-9027-BE46-8215-01C4BC8C5D64}"/>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US" altLang="en-US"/>
          </a:p>
        </p:txBody>
      </p:sp>
      <p:sp>
        <p:nvSpPr>
          <p:cNvPr id="8196" name="Rectangle 4">
            <a:extLst>
              <a:ext uri="{FF2B5EF4-FFF2-40B4-BE49-F238E27FC236}">
                <a16:creationId xmlns:a16="http://schemas.microsoft.com/office/drawing/2014/main" id="{5FA26F1A-5F2A-70FE-380C-73F08A5C873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5" name="Rectangle 5">
            <a:extLst>
              <a:ext uri="{FF2B5EF4-FFF2-40B4-BE49-F238E27FC236}">
                <a16:creationId xmlns:a16="http://schemas.microsoft.com/office/drawing/2014/main" id="{0E11627B-FA92-8674-D5D6-843C7F05E2D7}"/>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0966" name="Rectangle 6">
            <a:extLst>
              <a:ext uri="{FF2B5EF4-FFF2-40B4-BE49-F238E27FC236}">
                <a16:creationId xmlns:a16="http://schemas.microsoft.com/office/drawing/2014/main" id="{2346F914-6722-BF59-539F-172CD68115A4}"/>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US" altLang="en-US"/>
          </a:p>
        </p:txBody>
      </p:sp>
      <p:sp>
        <p:nvSpPr>
          <p:cNvPr id="40967" name="Rectangle 7">
            <a:extLst>
              <a:ext uri="{FF2B5EF4-FFF2-40B4-BE49-F238E27FC236}">
                <a16:creationId xmlns:a16="http://schemas.microsoft.com/office/drawing/2014/main" id="{815CE918-D35E-860E-FE4F-37CBDEF88346}"/>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BC271672-6EAC-4235-BBCB-535B03BB055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CC038FDE-F1FF-5FCE-FF61-06C6B0459EB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fontAlgn="base">
              <a:spcBef>
                <a:spcPct val="0"/>
              </a:spcBef>
              <a:spcAft>
                <a:spcPct val="0"/>
              </a:spcAft>
            </a:pPr>
            <a:fld id="{14679783-C687-417C-BA0A-00A825BA7AF6}" type="slidenum">
              <a:rPr lang="en-US" altLang="en-US" smtClean="0">
                <a:latin typeface="Arial" panose="020B0604020202020204" pitchFamily="34" charset="0"/>
                <a:cs typeface="Arial" panose="020B0604020202020204" pitchFamily="34" charset="0"/>
              </a:rPr>
              <a:pPr fontAlgn="base">
                <a:spcBef>
                  <a:spcPct val="0"/>
                </a:spcBef>
                <a:spcAft>
                  <a:spcPct val="0"/>
                </a:spcAft>
              </a:pPr>
              <a:t>1</a:t>
            </a:fld>
            <a:endParaRPr lang="en-US" altLang="en-US">
              <a:latin typeface="Arial" panose="020B0604020202020204" pitchFamily="34" charset="0"/>
              <a:cs typeface="Arial" panose="020B0604020202020204" pitchFamily="34" charset="0"/>
            </a:endParaRPr>
          </a:p>
        </p:txBody>
      </p:sp>
      <p:sp>
        <p:nvSpPr>
          <p:cNvPr id="10243" name="Rectangle 2">
            <a:extLst>
              <a:ext uri="{FF2B5EF4-FFF2-40B4-BE49-F238E27FC236}">
                <a16:creationId xmlns:a16="http://schemas.microsoft.com/office/drawing/2014/main" id="{E6FEC204-3065-89A4-56AB-915610DD162A}"/>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61624A17-F0F5-274A-A810-21D8388F0BC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Notes for title slide</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C3-HD-BTM.png">
            <a:extLst>
              <a:ext uri="{FF2B5EF4-FFF2-40B4-BE49-F238E27FC236}">
                <a16:creationId xmlns:a16="http://schemas.microsoft.com/office/drawing/2014/main" id="{6EF0FD85-37A1-8BDF-EAAB-B0D80FA55E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914400" y="1803405"/>
            <a:ext cx="7315200" cy="1825096"/>
          </a:xfrm>
        </p:spPr>
        <p:txBody>
          <a:bodyPr anchor="b"/>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36E6B39C-0B59-3EA7-0384-B5420E586B72}"/>
              </a:ext>
            </a:extLst>
          </p:cNvPr>
          <p:cNvSpPr>
            <a:spLocks noGrp="1"/>
          </p:cNvSpPr>
          <p:nvPr>
            <p:ph type="dt" sz="half" idx="10"/>
          </p:nvPr>
        </p:nvSpPr>
        <p:spPr>
          <a:xfrm>
            <a:off x="5932488" y="4324350"/>
            <a:ext cx="2297112" cy="365125"/>
          </a:xfrm>
        </p:spPr>
        <p:txBody>
          <a:bodyPr/>
          <a:lstStyle>
            <a:lvl1pPr>
              <a:defRPr/>
            </a:lvl1pPr>
          </a:lstStyle>
          <a:p>
            <a:pPr>
              <a:defRPr/>
            </a:pPr>
            <a:fld id="{B56A1DBE-A80E-4CE5-B825-63E6F02B81A9}" type="datetime1">
              <a:rPr lang="en-US" altLang="en-US"/>
              <a:pPr>
                <a:defRPr/>
              </a:pPr>
              <a:t>8/26/2024</a:t>
            </a:fld>
            <a:endParaRPr lang="en-US" altLang="en-US"/>
          </a:p>
        </p:txBody>
      </p:sp>
      <p:sp>
        <p:nvSpPr>
          <p:cNvPr id="6" name="Footer Placeholder 4">
            <a:extLst>
              <a:ext uri="{FF2B5EF4-FFF2-40B4-BE49-F238E27FC236}">
                <a16:creationId xmlns:a16="http://schemas.microsoft.com/office/drawing/2014/main" id="{F51DEC99-64CC-979A-A7C0-9600C5F63E54}"/>
              </a:ext>
            </a:extLst>
          </p:cNvPr>
          <p:cNvSpPr>
            <a:spLocks noGrp="1"/>
          </p:cNvSpPr>
          <p:nvPr>
            <p:ph type="ftr" sz="quarter" idx="11"/>
          </p:nvPr>
        </p:nvSpPr>
        <p:spPr>
          <a:xfrm>
            <a:off x="914400" y="4324350"/>
            <a:ext cx="4879975" cy="365125"/>
          </a:xfrm>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106EFBEB-EA81-C9E9-7794-B75E43D1E01B}"/>
              </a:ext>
            </a:extLst>
          </p:cNvPr>
          <p:cNvSpPr>
            <a:spLocks noGrp="1"/>
          </p:cNvSpPr>
          <p:nvPr>
            <p:ph type="sldNum" sz="quarter" idx="12"/>
          </p:nvPr>
        </p:nvSpPr>
        <p:spPr>
          <a:xfrm>
            <a:off x="6057900" y="1430338"/>
            <a:ext cx="2171700" cy="365125"/>
          </a:xfrm>
        </p:spPr>
        <p:txBody>
          <a:bodyPr/>
          <a:lstStyle>
            <a:lvl1pPr>
              <a:defRPr/>
            </a:lvl1pPr>
          </a:lstStyle>
          <a:p>
            <a:pPr>
              <a:defRPr/>
            </a:pPr>
            <a:fld id="{A83E0CE5-B51E-4ECF-943A-C4CF6A6C7403}" type="slidenum">
              <a:rPr lang="en-US" altLang="en-US"/>
              <a:pPr>
                <a:defRPr/>
              </a:pPr>
              <a:t>‹#›</a:t>
            </a:fld>
            <a:endParaRPr lang="en-US" altLang="en-US"/>
          </a:p>
        </p:txBody>
      </p:sp>
    </p:spTree>
    <p:extLst>
      <p:ext uri="{BB962C8B-B14F-4D97-AF65-F5344CB8AC3E}">
        <p14:creationId xmlns:p14="http://schemas.microsoft.com/office/powerpoint/2010/main" val="3639498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ACA8FF3-E76F-1D8A-A60D-E7CED6F2825C}"/>
              </a:ext>
            </a:extLst>
          </p:cNvPr>
          <p:cNvSpPr>
            <a:spLocks noGrp="1"/>
          </p:cNvSpPr>
          <p:nvPr>
            <p:ph type="dt" sz="half" idx="10"/>
          </p:nvPr>
        </p:nvSpPr>
        <p:spPr/>
        <p:txBody>
          <a:bodyPr/>
          <a:lstStyle>
            <a:lvl1pPr>
              <a:defRPr/>
            </a:lvl1pPr>
          </a:lstStyle>
          <a:p>
            <a:pPr>
              <a:defRPr/>
            </a:pPr>
            <a:fld id="{E5190A90-CA48-40A0-A485-EB12331BA3A3}"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90B4982F-AC57-7A0C-6125-1D21BBCEBEBC}"/>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C6217AD1-DF09-A1FF-5C79-24472FD58ACC}"/>
              </a:ext>
            </a:extLst>
          </p:cNvPr>
          <p:cNvSpPr>
            <a:spLocks noGrp="1"/>
          </p:cNvSpPr>
          <p:nvPr>
            <p:ph type="sldNum" sz="quarter" idx="12"/>
          </p:nvPr>
        </p:nvSpPr>
        <p:spPr/>
        <p:txBody>
          <a:bodyPr/>
          <a:lstStyle>
            <a:lvl1pPr>
              <a:defRPr/>
            </a:lvl1pPr>
          </a:lstStyle>
          <a:p>
            <a:pPr>
              <a:defRPr/>
            </a:pPr>
            <a:fld id="{846AEF8D-D938-433D-BBFD-44F2BB354120}" type="slidenum">
              <a:rPr lang="en-US" altLang="en-US"/>
              <a:pPr>
                <a:defRPr/>
              </a:pPr>
              <a:t>‹#›</a:t>
            </a:fld>
            <a:endParaRPr lang="en-US" altLang="en-US"/>
          </a:p>
        </p:txBody>
      </p:sp>
    </p:spTree>
    <p:extLst>
      <p:ext uri="{BB962C8B-B14F-4D97-AF65-F5344CB8AC3E}">
        <p14:creationId xmlns:p14="http://schemas.microsoft.com/office/powerpoint/2010/main" val="2055893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4" name="Picture 6" descr="C3-HD-BTM.png">
            <a:extLst>
              <a:ext uri="{FF2B5EF4-FFF2-40B4-BE49-F238E27FC236}">
                <a16:creationId xmlns:a16="http://schemas.microsoft.com/office/drawing/2014/main" id="{A2713C12-78BA-A799-CAA0-F0D80ED18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94360" y="753534"/>
            <a:ext cx="7955280" cy="2801935"/>
          </a:xfrm>
        </p:spPr>
        <p:txBody>
          <a:bodyPr anchor="b"/>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A6C8C3FE-9072-D2C4-F334-AD76BD3D3B35}"/>
              </a:ext>
            </a:extLst>
          </p:cNvPr>
          <p:cNvSpPr>
            <a:spLocks noGrp="1"/>
          </p:cNvSpPr>
          <p:nvPr>
            <p:ph type="dt" sz="half" idx="10"/>
          </p:nvPr>
        </p:nvSpPr>
        <p:spPr>
          <a:xfrm>
            <a:off x="5562600" y="381000"/>
            <a:ext cx="2182813" cy="365125"/>
          </a:xfrm>
        </p:spPr>
        <p:txBody>
          <a:bodyPr/>
          <a:lstStyle>
            <a:lvl1pPr algn="r">
              <a:defRPr/>
            </a:lvl1pPr>
          </a:lstStyle>
          <a:p>
            <a:pPr>
              <a:defRPr/>
            </a:pPr>
            <a:fld id="{EAFF060A-1DC2-4818-AE06-E2BF714A8DA0}" type="datetime1">
              <a:rPr lang="en-US" altLang="en-US"/>
              <a:pPr>
                <a:defRPr/>
              </a:pPr>
              <a:t>8/26/2024</a:t>
            </a:fld>
            <a:endParaRPr lang="en-US" altLang="en-US"/>
          </a:p>
        </p:txBody>
      </p:sp>
      <p:sp>
        <p:nvSpPr>
          <p:cNvPr id="6" name="Footer Placeholder 4">
            <a:extLst>
              <a:ext uri="{FF2B5EF4-FFF2-40B4-BE49-F238E27FC236}">
                <a16:creationId xmlns:a16="http://schemas.microsoft.com/office/drawing/2014/main" id="{FA8AD528-9F89-996B-DCF3-1ACEF18518D9}"/>
              </a:ext>
            </a:extLst>
          </p:cNvPr>
          <p:cNvSpPr>
            <a:spLocks noGrp="1"/>
          </p:cNvSpPr>
          <p:nvPr>
            <p:ph type="ftr" sz="quarter" idx="11"/>
          </p:nvPr>
        </p:nvSpPr>
        <p:spPr>
          <a:xfrm>
            <a:off x="593725" y="381000"/>
            <a:ext cx="4830763" cy="365125"/>
          </a:xfrm>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8571CBE8-7D40-B56F-9538-88481450275B}"/>
              </a:ext>
            </a:extLst>
          </p:cNvPr>
          <p:cNvSpPr>
            <a:spLocks noGrp="1"/>
          </p:cNvSpPr>
          <p:nvPr>
            <p:ph type="sldNum" sz="quarter" idx="12"/>
          </p:nvPr>
        </p:nvSpPr>
        <p:spPr>
          <a:xfrm>
            <a:off x="7881938" y="381000"/>
            <a:ext cx="668337" cy="365125"/>
          </a:xfrm>
        </p:spPr>
        <p:txBody>
          <a:bodyPr/>
          <a:lstStyle>
            <a:lvl1pPr>
              <a:defRPr/>
            </a:lvl1pPr>
          </a:lstStyle>
          <a:p>
            <a:pPr>
              <a:defRPr/>
            </a:pPr>
            <a:fld id="{C2A5C82A-012C-482F-A64A-2638F07AC31A}" type="slidenum">
              <a:rPr lang="en-US" altLang="en-US"/>
              <a:pPr>
                <a:defRPr/>
              </a:pPr>
              <a:t>‹#›</a:t>
            </a:fld>
            <a:endParaRPr lang="en-US" altLang="en-US"/>
          </a:p>
        </p:txBody>
      </p:sp>
    </p:spTree>
    <p:extLst>
      <p:ext uri="{BB962C8B-B14F-4D97-AF65-F5344CB8AC3E}">
        <p14:creationId xmlns:p14="http://schemas.microsoft.com/office/powerpoint/2010/main" val="1478172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4BAA85BA-D1FF-080A-44E9-AF34C8A249FD}"/>
              </a:ext>
            </a:extLst>
          </p:cNvPr>
          <p:cNvSpPr>
            <a:spLocks noGrp="1"/>
          </p:cNvSpPr>
          <p:nvPr>
            <p:ph type="dt" sz="half" idx="10"/>
          </p:nvPr>
        </p:nvSpPr>
        <p:spPr/>
        <p:txBody>
          <a:bodyPr/>
          <a:lstStyle>
            <a:lvl1pPr>
              <a:defRPr/>
            </a:lvl1pPr>
          </a:lstStyle>
          <a:p>
            <a:pPr>
              <a:defRPr/>
            </a:pPr>
            <a:fld id="{933940B2-D237-4367-9171-E5A4AF793BEE}" type="datetime1">
              <a:rPr lang="en-US" altLang="en-US"/>
              <a:pPr>
                <a:defRPr/>
              </a:pPr>
              <a:t>8/26/2024</a:t>
            </a:fld>
            <a:endParaRPr lang="en-US" altLang="en-US"/>
          </a:p>
        </p:txBody>
      </p:sp>
      <p:sp>
        <p:nvSpPr>
          <p:cNvPr id="6" name="Footer Placeholder 4">
            <a:extLst>
              <a:ext uri="{FF2B5EF4-FFF2-40B4-BE49-F238E27FC236}">
                <a16:creationId xmlns:a16="http://schemas.microsoft.com/office/drawing/2014/main" id="{8F294460-8565-349C-5FA7-5D5177313F0E}"/>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4DAD94E9-086E-4D95-5CEC-7B182720D43A}"/>
              </a:ext>
            </a:extLst>
          </p:cNvPr>
          <p:cNvSpPr>
            <a:spLocks noGrp="1"/>
          </p:cNvSpPr>
          <p:nvPr>
            <p:ph type="sldNum" sz="quarter" idx="12"/>
          </p:nvPr>
        </p:nvSpPr>
        <p:spPr/>
        <p:txBody>
          <a:bodyPr/>
          <a:lstStyle>
            <a:lvl1pPr>
              <a:defRPr/>
            </a:lvl1pPr>
          </a:lstStyle>
          <a:p>
            <a:pPr>
              <a:defRPr/>
            </a:pPr>
            <a:fld id="{27DCC53F-28C4-498E-AD46-688D0854332C}" type="slidenum">
              <a:rPr lang="en-US" altLang="en-US"/>
              <a:pPr>
                <a:defRPr/>
              </a:pPr>
              <a:t>‹#›</a:t>
            </a:fld>
            <a:endParaRPr lang="en-US" altLang="en-US"/>
          </a:p>
        </p:txBody>
      </p:sp>
    </p:spTree>
    <p:extLst>
      <p:ext uri="{BB962C8B-B14F-4D97-AF65-F5344CB8AC3E}">
        <p14:creationId xmlns:p14="http://schemas.microsoft.com/office/powerpoint/2010/main" val="592327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3104B1B5-202F-C56D-FEC4-3DC806595EA6}"/>
              </a:ext>
            </a:extLst>
          </p:cNvPr>
          <p:cNvSpPr>
            <a:spLocks noGrp="1"/>
          </p:cNvSpPr>
          <p:nvPr>
            <p:ph type="dt" sz="half" idx="10"/>
          </p:nvPr>
        </p:nvSpPr>
        <p:spPr/>
        <p:txBody>
          <a:bodyPr/>
          <a:lstStyle>
            <a:lvl1pPr>
              <a:defRPr/>
            </a:lvl1pPr>
          </a:lstStyle>
          <a:p>
            <a:pPr>
              <a:defRPr/>
            </a:pPr>
            <a:fld id="{9A53AFA7-36F8-48AF-BE89-2F419054DE24}" type="datetime1">
              <a:rPr lang="en-US" altLang="en-US"/>
              <a:pPr>
                <a:defRPr/>
              </a:pPr>
              <a:t>8/26/2024</a:t>
            </a:fld>
            <a:endParaRPr lang="en-US" altLang="en-US"/>
          </a:p>
        </p:txBody>
      </p:sp>
      <p:sp>
        <p:nvSpPr>
          <p:cNvPr id="8" name="Footer Placeholder 4">
            <a:extLst>
              <a:ext uri="{FF2B5EF4-FFF2-40B4-BE49-F238E27FC236}">
                <a16:creationId xmlns:a16="http://schemas.microsoft.com/office/drawing/2014/main" id="{432B0650-1E41-F8AE-D459-A9F407D6D8A7}"/>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9" name="Slide Number Placeholder 5">
            <a:extLst>
              <a:ext uri="{FF2B5EF4-FFF2-40B4-BE49-F238E27FC236}">
                <a16:creationId xmlns:a16="http://schemas.microsoft.com/office/drawing/2014/main" id="{A3533D00-2C2F-EDC8-9806-2959839E61CB}"/>
              </a:ext>
            </a:extLst>
          </p:cNvPr>
          <p:cNvSpPr>
            <a:spLocks noGrp="1"/>
          </p:cNvSpPr>
          <p:nvPr>
            <p:ph type="sldNum" sz="quarter" idx="12"/>
          </p:nvPr>
        </p:nvSpPr>
        <p:spPr/>
        <p:txBody>
          <a:bodyPr/>
          <a:lstStyle>
            <a:lvl1pPr>
              <a:defRPr/>
            </a:lvl1pPr>
          </a:lstStyle>
          <a:p>
            <a:pPr>
              <a:defRPr/>
            </a:pPr>
            <a:fld id="{022C800C-EC17-4D45-858B-A26BB8325909}" type="slidenum">
              <a:rPr lang="en-US" altLang="en-US"/>
              <a:pPr>
                <a:defRPr/>
              </a:pPr>
              <a:t>‹#›</a:t>
            </a:fld>
            <a:endParaRPr lang="en-US" altLang="en-US"/>
          </a:p>
        </p:txBody>
      </p:sp>
    </p:spTree>
    <p:extLst>
      <p:ext uri="{BB962C8B-B14F-4D97-AF65-F5344CB8AC3E}">
        <p14:creationId xmlns:p14="http://schemas.microsoft.com/office/powerpoint/2010/main" val="3016399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350DA42-9DFA-2987-3677-1E05E63967BC}"/>
              </a:ext>
            </a:extLst>
          </p:cNvPr>
          <p:cNvSpPr>
            <a:spLocks noGrp="1"/>
          </p:cNvSpPr>
          <p:nvPr>
            <p:ph type="dt" sz="half" idx="10"/>
          </p:nvPr>
        </p:nvSpPr>
        <p:spPr/>
        <p:txBody>
          <a:bodyPr/>
          <a:lstStyle>
            <a:lvl1pPr>
              <a:defRPr/>
            </a:lvl1pPr>
          </a:lstStyle>
          <a:p>
            <a:pPr>
              <a:defRPr/>
            </a:pPr>
            <a:fld id="{CFB39155-39F1-4AB1-82D5-40CFD3933306}" type="datetime1">
              <a:rPr lang="en-US" altLang="en-US"/>
              <a:pPr>
                <a:defRPr/>
              </a:pPr>
              <a:t>8/26/2024</a:t>
            </a:fld>
            <a:endParaRPr lang="en-US" altLang="en-US"/>
          </a:p>
        </p:txBody>
      </p:sp>
      <p:sp>
        <p:nvSpPr>
          <p:cNvPr id="4" name="Footer Placeholder 4">
            <a:extLst>
              <a:ext uri="{FF2B5EF4-FFF2-40B4-BE49-F238E27FC236}">
                <a16:creationId xmlns:a16="http://schemas.microsoft.com/office/drawing/2014/main" id="{2CAC6658-F64C-17F8-9829-091121F8C1B1}"/>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5" name="Slide Number Placeholder 5">
            <a:extLst>
              <a:ext uri="{FF2B5EF4-FFF2-40B4-BE49-F238E27FC236}">
                <a16:creationId xmlns:a16="http://schemas.microsoft.com/office/drawing/2014/main" id="{8C90E6E4-F8BC-CB12-886C-99ED13CCC100}"/>
              </a:ext>
            </a:extLst>
          </p:cNvPr>
          <p:cNvSpPr>
            <a:spLocks noGrp="1"/>
          </p:cNvSpPr>
          <p:nvPr>
            <p:ph type="sldNum" sz="quarter" idx="12"/>
          </p:nvPr>
        </p:nvSpPr>
        <p:spPr/>
        <p:txBody>
          <a:bodyPr/>
          <a:lstStyle>
            <a:lvl1pPr>
              <a:defRPr/>
            </a:lvl1pPr>
          </a:lstStyle>
          <a:p>
            <a:pPr>
              <a:defRPr/>
            </a:pPr>
            <a:fld id="{BE6D28F1-3CE8-4A5F-9697-867A1F075A50}" type="slidenum">
              <a:rPr lang="en-US" altLang="en-US"/>
              <a:pPr>
                <a:defRPr/>
              </a:pPr>
              <a:t>‹#›</a:t>
            </a:fld>
            <a:endParaRPr lang="en-US" altLang="en-US"/>
          </a:p>
        </p:txBody>
      </p:sp>
    </p:spTree>
    <p:extLst>
      <p:ext uri="{BB962C8B-B14F-4D97-AF65-F5344CB8AC3E}">
        <p14:creationId xmlns:p14="http://schemas.microsoft.com/office/powerpoint/2010/main" val="4212278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6BC40DE-9902-0E15-B379-ACFE3FC5636B}"/>
              </a:ext>
            </a:extLst>
          </p:cNvPr>
          <p:cNvSpPr>
            <a:spLocks noGrp="1"/>
          </p:cNvSpPr>
          <p:nvPr>
            <p:ph type="dt" sz="half" idx="10"/>
          </p:nvPr>
        </p:nvSpPr>
        <p:spPr/>
        <p:txBody>
          <a:bodyPr/>
          <a:lstStyle>
            <a:lvl1pPr>
              <a:defRPr/>
            </a:lvl1pPr>
          </a:lstStyle>
          <a:p>
            <a:pPr>
              <a:defRPr/>
            </a:pPr>
            <a:fld id="{30AA33B8-624A-465A-BAF2-99114C81FCE1}" type="datetime1">
              <a:rPr lang="en-US" altLang="en-US"/>
              <a:pPr>
                <a:defRPr/>
              </a:pPr>
              <a:t>8/26/2024</a:t>
            </a:fld>
            <a:endParaRPr lang="en-US" altLang="en-US"/>
          </a:p>
        </p:txBody>
      </p:sp>
      <p:sp>
        <p:nvSpPr>
          <p:cNvPr id="3" name="Footer Placeholder 4">
            <a:extLst>
              <a:ext uri="{FF2B5EF4-FFF2-40B4-BE49-F238E27FC236}">
                <a16:creationId xmlns:a16="http://schemas.microsoft.com/office/drawing/2014/main" id="{EE15F603-3D6E-7A00-3B16-5D2225C18801}"/>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4" name="Slide Number Placeholder 5">
            <a:extLst>
              <a:ext uri="{FF2B5EF4-FFF2-40B4-BE49-F238E27FC236}">
                <a16:creationId xmlns:a16="http://schemas.microsoft.com/office/drawing/2014/main" id="{32AAFE1F-D163-C14A-F247-2E18098ECEEB}"/>
              </a:ext>
            </a:extLst>
          </p:cNvPr>
          <p:cNvSpPr>
            <a:spLocks noGrp="1"/>
          </p:cNvSpPr>
          <p:nvPr>
            <p:ph type="sldNum" sz="quarter" idx="12"/>
          </p:nvPr>
        </p:nvSpPr>
        <p:spPr/>
        <p:txBody>
          <a:bodyPr/>
          <a:lstStyle>
            <a:lvl1pPr>
              <a:defRPr/>
            </a:lvl1pPr>
          </a:lstStyle>
          <a:p>
            <a:pPr>
              <a:defRPr/>
            </a:pPr>
            <a:fld id="{5AF2355E-148F-4308-8D50-2102B5C23800}" type="slidenum">
              <a:rPr lang="en-US" altLang="en-US"/>
              <a:pPr>
                <a:defRPr/>
              </a:pPr>
              <a:t>‹#›</a:t>
            </a:fld>
            <a:endParaRPr lang="en-US" altLang="en-US"/>
          </a:p>
        </p:txBody>
      </p:sp>
    </p:spTree>
    <p:extLst>
      <p:ext uri="{BB962C8B-B14F-4D97-AF65-F5344CB8AC3E}">
        <p14:creationId xmlns:p14="http://schemas.microsoft.com/office/powerpoint/2010/main" val="2258027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53049BD4-94C1-4BA9-DE87-B1FFF511BE0B}"/>
              </a:ext>
            </a:extLst>
          </p:cNvPr>
          <p:cNvSpPr>
            <a:spLocks noGrp="1"/>
          </p:cNvSpPr>
          <p:nvPr>
            <p:ph type="dt" sz="half" idx="10"/>
          </p:nvPr>
        </p:nvSpPr>
        <p:spPr/>
        <p:txBody>
          <a:bodyPr/>
          <a:lstStyle>
            <a:lvl1pPr>
              <a:defRPr/>
            </a:lvl1pPr>
          </a:lstStyle>
          <a:p>
            <a:pPr>
              <a:defRPr/>
            </a:pPr>
            <a:fld id="{A5B66917-883E-453E-96AC-3B4FA76AB7F7}" type="datetime1">
              <a:rPr lang="en-US" altLang="en-US"/>
              <a:pPr>
                <a:defRPr/>
              </a:pPr>
              <a:t>8/26/2024</a:t>
            </a:fld>
            <a:endParaRPr lang="en-US" altLang="en-US"/>
          </a:p>
        </p:txBody>
      </p:sp>
      <p:sp>
        <p:nvSpPr>
          <p:cNvPr id="6" name="Footer Placeholder 4">
            <a:extLst>
              <a:ext uri="{FF2B5EF4-FFF2-40B4-BE49-F238E27FC236}">
                <a16:creationId xmlns:a16="http://schemas.microsoft.com/office/drawing/2014/main" id="{B665F70B-EFD8-1135-F331-EEFEEC9ED7C8}"/>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3BBA794E-33DA-CDA3-D89D-4348EE0588B5}"/>
              </a:ext>
            </a:extLst>
          </p:cNvPr>
          <p:cNvSpPr>
            <a:spLocks noGrp="1"/>
          </p:cNvSpPr>
          <p:nvPr>
            <p:ph type="sldNum" sz="quarter" idx="12"/>
          </p:nvPr>
        </p:nvSpPr>
        <p:spPr/>
        <p:txBody>
          <a:bodyPr/>
          <a:lstStyle>
            <a:lvl1pPr>
              <a:defRPr/>
            </a:lvl1pPr>
          </a:lstStyle>
          <a:p>
            <a:pPr>
              <a:defRPr/>
            </a:pPr>
            <a:fld id="{DB92C3C1-3BF4-4B3A-B4AD-0670A1A9768F}" type="slidenum">
              <a:rPr lang="en-US" altLang="en-US"/>
              <a:pPr>
                <a:defRPr/>
              </a:pPr>
              <a:t>‹#›</a:t>
            </a:fld>
            <a:endParaRPr lang="en-US" altLang="en-US"/>
          </a:p>
        </p:txBody>
      </p:sp>
    </p:spTree>
    <p:extLst>
      <p:ext uri="{BB962C8B-B14F-4D97-AF65-F5344CB8AC3E}">
        <p14:creationId xmlns:p14="http://schemas.microsoft.com/office/powerpoint/2010/main" val="376636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573C0A04-82BD-1215-F92A-464E75FC9845}"/>
              </a:ext>
            </a:extLst>
          </p:cNvPr>
          <p:cNvSpPr>
            <a:spLocks noGrp="1"/>
          </p:cNvSpPr>
          <p:nvPr>
            <p:ph type="dt" sz="half" idx="10"/>
          </p:nvPr>
        </p:nvSpPr>
        <p:spPr/>
        <p:txBody>
          <a:bodyPr/>
          <a:lstStyle>
            <a:lvl1pPr>
              <a:defRPr/>
            </a:lvl1pPr>
          </a:lstStyle>
          <a:p>
            <a:pPr>
              <a:defRPr/>
            </a:pPr>
            <a:fld id="{DD63E134-4868-4539-BD14-A0DE001C079C}" type="datetime1">
              <a:rPr lang="en-US" altLang="en-US"/>
              <a:pPr>
                <a:defRPr/>
              </a:pPr>
              <a:t>8/26/2024</a:t>
            </a:fld>
            <a:endParaRPr lang="en-US" altLang="en-US"/>
          </a:p>
        </p:txBody>
      </p:sp>
      <p:sp>
        <p:nvSpPr>
          <p:cNvPr id="6" name="Footer Placeholder 4">
            <a:extLst>
              <a:ext uri="{FF2B5EF4-FFF2-40B4-BE49-F238E27FC236}">
                <a16:creationId xmlns:a16="http://schemas.microsoft.com/office/drawing/2014/main" id="{C719725F-D7FD-249A-627C-8B90006323EA}"/>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43D4D320-3756-2856-AE05-F7339B4BAFD3}"/>
              </a:ext>
            </a:extLst>
          </p:cNvPr>
          <p:cNvSpPr>
            <a:spLocks noGrp="1"/>
          </p:cNvSpPr>
          <p:nvPr>
            <p:ph type="sldNum" sz="quarter" idx="12"/>
          </p:nvPr>
        </p:nvSpPr>
        <p:spPr/>
        <p:txBody>
          <a:bodyPr/>
          <a:lstStyle>
            <a:lvl1pPr>
              <a:defRPr/>
            </a:lvl1pPr>
          </a:lstStyle>
          <a:p>
            <a:pPr>
              <a:defRPr/>
            </a:pPr>
            <a:fld id="{81CE2A9A-A968-490D-8105-595DE4913617}" type="slidenum">
              <a:rPr lang="en-US" altLang="en-US"/>
              <a:pPr>
                <a:defRPr/>
              </a:pPr>
              <a:t>‹#›</a:t>
            </a:fld>
            <a:endParaRPr lang="en-US" altLang="en-US"/>
          </a:p>
        </p:txBody>
      </p:sp>
    </p:spTree>
    <p:extLst>
      <p:ext uri="{BB962C8B-B14F-4D97-AF65-F5344CB8AC3E}">
        <p14:creationId xmlns:p14="http://schemas.microsoft.com/office/powerpoint/2010/main" val="2754794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5306AA32-770B-8A1D-4692-302295D47DE2}"/>
              </a:ext>
            </a:extLst>
          </p:cNvPr>
          <p:cNvSpPr>
            <a:spLocks noGrp="1"/>
          </p:cNvSpPr>
          <p:nvPr>
            <p:ph type="dt" sz="half" idx="10"/>
          </p:nvPr>
        </p:nvSpPr>
        <p:spPr/>
        <p:txBody>
          <a:bodyPr/>
          <a:lstStyle>
            <a:lvl1pPr>
              <a:defRPr/>
            </a:lvl1pPr>
          </a:lstStyle>
          <a:p>
            <a:pPr>
              <a:defRPr/>
            </a:pPr>
            <a:fld id="{BF8B58F7-6AB4-4128-B3C2-7F4D66B12484}" type="datetime1">
              <a:rPr lang="en-US" altLang="en-US"/>
              <a:pPr>
                <a:defRPr/>
              </a:pPr>
              <a:t>8/26/2024</a:t>
            </a:fld>
            <a:endParaRPr lang="en-US" altLang="en-US"/>
          </a:p>
        </p:txBody>
      </p:sp>
      <p:sp>
        <p:nvSpPr>
          <p:cNvPr id="6" name="Footer Placeholder 4">
            <a:extLst>
              <a:ext uri="{FF2B5EF4-FFF2-40B4-BE49-F238E27FC236}">
                <a16:creationId xmlns:a16="http://schemas.microsoft.com/office/drawing/2014/main" id="{EBC48D49-80C6-8CA7-8D85-92F0C2A578C4}"/>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7351B9AB-097C-9262-ACF8-F4E574F03E96}"/>
              </a:ext>
            </a:extLst>
          </p:cNvPr>
          <p:cNvSpPr>
            <a:spLocks noGrp="1"/>
          </p:cNvSpPr>
          <p:nvPr>
            <p:ph type="sldNum" sz="quarter" idx="12"/>
          </p:nvPr>
        </p:nvSpPr>
        <p:spPr/>
        <p:txBody>
          <a:bodyPr/>
          <a:lstStyle>
            <a:lvl1pPr>
              <a:defRPr/>
            </a:lvl1pPr>
          </a:lstStyle>
          <a:p>
            <a:pPr>
              <a:defRPr/>
            </a:pPr>
            <a:fld id="{E7AEFA7A-9E35-41DA-B7BD-AF5B03F4F5E4}" type="slidenum">
              <a:rPr lang="en-US" altLang="en-US"/>
              <a:pPr>
                <a:defRPr/>
              </a:pPr>
              <a:t>‹#›</a:t>
            </a:fld>
            <a:endParaRPr lang="en-US" altLang="en-US"/>
          </a:p>
        </p:txBody>
      </p:sp>
    </p:spTree>
    <p:extLst>
      <p:ext uri="{BB962C8B-B14F-4D97-AF65-F5344CB8AC3E}">
        <p14:creationId xmlns:p14="http://schemas.microsoft.com/office/powerpoint/2010/main" val="1505330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3" name="Picture 6" descr="C3-HD-BTM.png">
            <a:extLst>
              <a:ext uri="{FF2B5EF4-FFF2-40B4-BE49-F238E27FC236}">
                <a16:creationId xmlns:a16="http://schemas.microsoft.com/office/drawing/2014/main" id="{7C14AA56-4A95-C95F-20DE-B760726D7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94360" y="753533"/>
            <a:ext cx="7955280" cy="2802467"/>
          </a:xfrm>
        </p:spPr>
        <p:txBody>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9A3BE4-A250-69C8-4B97-657073862774}"/>
              </a:ext>
            </a:extLst>
          </p:cNvPr>
          <p:cNvSpPr>
            <a:spLocks noGrp="1"/>
          </p:cNvSpPr>
          <p:nvPr>
            <p:ph type="dt" sz="half" idx="10"/>
          </p:nvPr>
        </p:nvSpPr>
        <p:spPr>
          <a:xfrm>
            <a:off x="5562600" y="381000"/>
            <a:ext cx="2182813" cy="365125"/>
          </a:xfrm>
        </p:spPr>
        <p:txBody>
          <a:bodyPr/>
          <a:lstStyle>
            <a:lvl1pPr algn="r">
              <a:defRPr/>
            </a:lvl1pPr>
          </a:lstStyle>
          <a:p>
            <a:pPr>
              <a:defRPr/>
            </a:pPr>
            <a:fld id="{75ECC977-9947-4ECF-B3D0-A4F647D3C436}" type="datetime1">
              <a:rPr lang="en-US" altLang="en-US"/>
              <a:pPr>
                <a:defRPr/>
              </a:pPr>
              <a:t>8/26/2024</a:t>
            </a:fld>
            <a:endParaRPr lang="en-US" altLang="en-US"/>
          </a:p>
        </p:txBody>
      </p:sp>
      <p:sp>
        <p:nvSpPr>
          <p:cNvPr id="6" name="Footer Placeholder 5">
            <a:extLst>
              <a:ext uri="{FF2B5EF4-FFF2-40B4-BE49-F238E27FC236}">
                <a16:creationId xmlns:a16="http://schemas.microsoft.com/office/drawing/2014/main" id="{6D1FA024-3EBF-BB15-1280-05939078D7DD}"/>
              </a:ext>
            </a:extLst>
          </p:cNvPr>
          <p:cNvSpPr>
            <a:spLocks noGrp="1"/>
          </p:cNvSpPr>
          <p:nvPr>
            <p:ph type="ftr" sz="quarter" idx="11"/>
          </p:nvPr>
        </p:nvSpPr>
        <p:spPr>
          <a:xfrm>
            <a:off x="593725" y="381000"/>
            <a:ext cx="4830763" cy="365125"/>
          </a:xfrm>
        </p:spPr>
        <p:txBody>
          <a:bodyPr/>
          <a:lstStyle>
            <a:lvl1pPr>
              <a:defRPr/>
            </a:lvl1pPr>
          </a:lstStyle>
          <a:p>
            <a:pPr>
              <a:defRPr/>
            </a:pPr>
            <a:r>
              <a:rPr lang="en-IN" altLang="en-US" dirty="0"/>
              <a:t>Object Oriented Programming with Java</a:t>
            </a:r>
            <a:endParaRPr lang="en-US" altLang="en-US" dirty="0"/>
          </a:p>
        </p:txBody>
      </p:sp>
      <p:sp>
        <p:nvSpPr>
          <p:cNvPr id="7" name="Slide Number Placeholder 6">
            <a:extLst>
              <a:ext uri="{FF2B5EF4-FFF2-40B4-BE49-F238E27FC236}">
                <a16:creationId xmlns:a16="http://schemas.microsoft.com/office/drawing/2014/main" id="{CF5E0AFE-AA0E-D351-0A09-D927B54B846B}"/>
              </a:ext>
            </a:extLst>
          </p:cNvPr>
          <p:cNvSpPr>
            <a:spLocks noGrp="1"/>
          </p:cNvSpPr>
          <p:nvPr>
            <p:ph type="sldNum" sz="quarter" idx="12"/>
          </p:nvPr>
        </p:nvSpPr>
        <p:spPr>
          <a:xfrm>
            <a:off x="7881938" y="381000"/>
            <a:ext cx="668337" cy="365125"/>
          </a:xfrm>
        </p:spPr>
        <p:txBody>
          <a:bodyPr/>
          <a:lstStyle>
            <a:lvl1pPr>
              <a:defRPr/>
            </a:lvl1pPr>
          </a:lstStyle>
          <a:p>
            <a:pPr>
              <a:defRPr/>
            </a:pPr>
            <a:fld id="{5C33DF3B-A6D6-4AFC-BFD9-322F4713924C}" type="slidenum">
              <a:rPr lang="en-US" altLang="en-US"/>
              <a:pPr>
                <a:defRPr/>
              </a:pPr>
              <a:t>‹#›</a:t>
            </a:fld>
            <a:endParaRPr lang="en-US" altLang="en-US"/>
          </a:p>
        </p:txBody>
      </p:sp>
    </p:spTree>
    <p:extLst>
      <p:ext uri="{BB962C8B-B14F-4D97-AF65-F5344CB8AC3E}">
        <p14:creationId xmlns:p14="http://schemas.microsoft.com/office/powerpoint/2010/main" val="2969002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3" name="Picture 6" descr="C3-HD-BTM.png">
            <a:extLst>
              <a:ext uri="{FF2B5EF4-FFF2-40B4-BE49-F238E27FC236}">
                <a16:creationId xmlns:a16="http://schemas.microsoft.com/office/drawing/2014/main" id="{C1D6DB40-2892-A823-0FA9-E4C0B68AF4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B9302C5-6FCB-C29A-AC80-8338393A84CD}"/>
              </a:ext>
            </a:extLst>
          </p:cNvPr>
          <p:cNvSpPr txBox="1"/>
          <p:nvPr/>
        </p:nvSpPr>
        <p:spPr>
          <a:xfrm>
            <a:off x="231775" y="808038"/>
            <a:ext cx="4572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eaLnBrk="1" fontAlgn="auto" hangingPunct="1">
              <a:spcAft>
                <a:spcPts val="0"/>
              </a:spcAft>
              <a:defRPr/>
            </a:pPr>
            <a:r>
              <a:rPr lang="en-US" sz="8000" dirty="0">
                <a:effectLst/>
                <a:latin typeface="+mn-lt"/>
              </a:rPr>
              <a:t>“</a:t>
            </a:r>
          </a:p>
        </p:txBody>
      </p:sp>
      <p:sp>
        <p:nvSpPr>
          <p:cNvPr id="6" name="TextBox 5">
            <a:extLst>
              <a:ext uri="{FF2B5EF4-FFF2-40B4-BE49-F238E27FC236}">
                <a16:creationId xmlns:a16="http://schemas.microsoft.com/office/drawing/2014/main" id="{F6A3952E-A008-13F9-BA73-C0C7778C3E90}"/>
              </a:ext>
            </a:extLst>
          </p:cNvPr>
          <p:cNvSpPr txBox="1"/>
          <p:nvPr/>
        </p:nvSpPr>
        <p:spPr>
          <a:xfrm>
            <a:off x="8147050" y="3021013"/>
            <a:ext cx="457200" cy="585787"/>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eaLnBrk="1" fontAlgn="auto" hangingPunct="1">
              <a:spcAft>
                <a:spcPts val="0"/>
              </a:spcAft>
              <a:defRPr/>
            </a:pPr>
            <a:r>
              <a:rPr lang="en-US" sz="8000" dirty="0">
                <a:effectLst/>
                <a:latin typeface="+mn-lt"/>
              </a:rPr>
              <a:t>”</a:t>
            </a:r>
          </a:p>
        </p:txBody>
      </p:sp>
      <p:sp>
        <p:nvSpPr>
          <p:cNvPr id="2" name="Title 1"/>
          <p:cNvSpPr>
            <a:spLocks noGrp="1"/>
          </p:cNvSpPr>
          <p:nvPr>
            <p:ph type="title"/>
          </p:nvPr>
        </p:nvSpPr>
        <p:spPr>
          <a:xfrm>
            <a:off x="768351" y="753534"/>
            <a:ext cx="7613650" cy="2756234"/>
          </a:xfrm>
        </p:spPr>
        <p:txBody>
          <a:bodyP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Date Placeholder 4">
            <a:extLst>
              <a:ext uri="{FF2B5EF4-FFF2-40B4-BE49-F238E27FC236}">
                <a16:creationId xmlns:a16="http://schemas.microsoft.com/office/drawing/2014/main" id="{DFD27C75-023D-791A-07D6-18460C475D79}"/>
              </a:ext>
            </a:extLst>
          </p:cNvPr>
          <p:cNvSpPr>
            <a:spLocks noGrp="1"/>
          </p:cNvSpPr>
          <p:nvPr>
            <p:ph type="dt" sz="half" idx="14"/>
          </p:nvPr>
        </p:nvSpPr>
        <p:spPr>
          <a:xfrm>
            <a:off x="5562600" y="381000"/>
            <a:ext cx="2182813" cy="365125"/>
          </a:xfrm>
        </p:spPr>
        <p:txBody>
          <a:bodyPr/>
          <a:lstStyle>
            <a:lvl1pPr algn="r">
              <a:defRPr/>
            </a:lvl1pPr>
          </a:lstStyle>
          <a:p>
            <a:pPr>
              <a:defRPr/>
            </a:pPr>
            <a:fld id="{A1C2AD79-9D03-4BDD-8166-5D1D80E76AF2}" type="datetime1">
              <a:rPr lang="en-US" altLang="en-US"/>
              <a:pPr>
                <a:defRPr/>
              </a:pPr>
              <a:t>8/26/2024</a:t>
            </a:fld>
            <a:endParaRPr lang="en-US" altLang="en-US"/>
          </a:p>
        </p:txBody>
      </p:sp>
      <p:sp>
        <p:nvSpPr>
          <p:cNvPr id="8" name="Footer Placeholder 5">
            <a:extLst>
              <a:ext uri="{FF2B5EF4-FFF2-40B4-BE49-F238E27FC236}">
                <a16:creationId xmlns:a16="http://schemas.microsoft.com/office/drawing/2014/main" id="{BFC03CD8-BC34-50DF-1E69-D205EE9A1EF9}"/>
              </a:ext>
            </a:extLst>
          </p:cNvPr>
          <p:cNvSpPr>
            <a:spLocks noGrp="1"/>
          </p:cNvSpPr>
          <p:nvPr>
            <p:ph type="ftr" sz="quarter" idx="15"/>
          </p:nvPr>
        </p:nvSpPr>
        <p:spPr>
          <a:xfrm>
            <a:off x="593725" y="379413"/>
            <a:ext cx="4830763" cy="365125"/>
          </a:xfrm>
        </p:spPr>
        <p:txBody>
          <a:bodyPr/>
          <a:lstStyle>
            <a:lvl1pPr>
              <a:defRPr/>
            </a:lvl1pPr>
          </a:lstStyle>
          <a:p>
            <a:pPr>
              <a:defRPr/>
            </a:pPr>
            <a:r>
              <a:rPr lang="en-IN" altLang="en-US" dirty="0"/>
              <a:t>Object Oriented Programming with Java</a:t>
            </a:r>
            <a:endParaRPr lang="en-US" altLang="en-US" dirty="0"/>
          </a:p>
        </p:txBody>
      </p:sp>
      <p:sp>
        <p:nvSpPr>
          <p:cNvPr id="9" name="Slide Number Placeholder 6">
            <a:extLst>
              <a:ext uri="{FF2B5EF4-FFF2-40B4-BE49-F238E27FC236}">
                <a16:creationId xmlns:a16="http://schemas.microsoft.com/office/drawing/2014/main" id="{764F0047-3FDB-D591-B8AA-33C86ED12C26}"/>
              </a:ext>
            </a:extLst>
          </p:cNvPr>
          <p:cNvSpPr>
            <a:spLocks noGrp="1"/>
          </p:cNvSpPr>
          <p:nvPr>
            <p:ph type="sldNum" sz="quarter" idx="16"/>
          </p:nvPr>
        </p:nvSpPr>
        <p:spPr>
          <a:xfrm>
            <a:off x="7881938" y="381000"/>
            <a:ext cx="668337" cy="365125"/>
          </a:xfrm>
        </p:spPr>
        <p:txBody>
          <a:bodyPr/>
          <a:lstStyle>
            <a:lvl1pPr>
              <a:defRPr/>
            </a:lvl1pPr>
          </a:lstStyle>
          <a:p>
            <a:pPr>
              <a:defRPr/>
            </a:pPr>
            <a:fld id="{78B0FB6D-613A-4FB6-A37F-C61B0EE90385}" type="slidenum">
              <a:rPr lang="en-US" altLang="en-US"/>
              <a:pPr>
                <a:defRPr/>
              </a:pPr>
              <a:t>‹#›</a:t>
            </a:fld>
            <a:endParaRPr lang="en-US" altLang="en-US"/>
          </a:p>
        </p:txBody>
      </p:sp>
    </p:spTree>
    <p:extLst>
      <p:ext uri="{BB962C8B-B14F-4D97-AF65-F5344CB8AC3E}">
        <p14:creationId xmlns:p14="http://schemas.microsoft.com/office/powerpoint/2010/main" val="3563527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3" name="Picture 6" descr="C3-HD-BTM.png">
            <a:extLst>
              <a:ext uri="{FF2B5EF4-FFF2-40B4-BE49-F238E27FC236}">
                <a16:creationId xmlns:a16="http://schemas.microsoft.com/office/drawing/2014/main" id="{9B8BE097-D2A0-648E-0193-F148CE3E6D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533C01-55CC-04AC-7A59-77D2BB66DB67}"/>
              </a:ext>
            </a:extLst>
          </p:cNvPr>
          <p:cNvSpPr>
            <a:spLocks noGrp="1"/>
          </p:cNvSpPr>
          <p:nvPr>
            <p:ph type="dt" sz="half" idx="10"/>
          </p:nvPr>
        </p:nvSpPr>
        <p:spPr>
          <a:xfrm>
            <a:off x="5562600" y="379413"/>
            <a:ext cx="2182813" cy="365125"/>
          </a:xfrm>
        </p:spPr>
        <p:txBody>
          <a:bodyPr/>
          <a:lstStyle>
            <a:lvl1pPr algn="r">
              <a:defRPr/>
            </a:lvl1pPr>
          </a:lstStyle>
          <a:p>
            <a:pPr>
              <a:defRPr/>
            </a:pPr>
            <a:fld id="{FED636C1-7E41-467D-905D-F6940743B198}" type="datetime1">
              <a:rPr lang="en-US" altLang="en-US"/>
              <a:pPr>
                <a:defRPr/>
              </a:pPr>
              <a:t>8/26/2024</a:t>
            </a:fld>
            <a:endParaRPr lang="en-US" altLang="en-US"/>
          </a:p>
        </p:txBody>
      </p:sp>
      <p:sp>
        <p:nvSpPr>
          <p:cNvPr id="6" name="Footer Placeholder 5">
            <a:extLst>
              <a:ext uri="{FF2B5EF4-FFF2-40B4-BE49-F238E27FC236}">
                <a16:creationId xmlns:a16="http://schemas.microsoft.com/office/drawing/2014/main" id="{F916F2F4-7560-DACC-A819-1CC1C818FFA2}"/>
              </a:ext>
            </a:extLst>
          </p:cNvPr>
          <p:cNvSpPr>
            <a:spLocks noGrp="1"/>
          </p:cNvSpPr>
          <p:nvPr>
            <p:ph type="ftr" sz="quarter" idx="11"/>
          </p:nvPr>
        </p:nvSpPr>
        <p:spPr>
          <a:xfrm>
            <a:off x="593725" y="379413"/>
            <a:ext cx="4830763" cy="365125"/>
          </a:xfrm>
        </p:spPr>
        <p:txBody>
          <a:bodyPr/>
          <a:lstStyle>
            <a:lvl1pPr>
              <a:defRPr/>
            </a:lvl1pPr>
          </a:lstStyle>
          <a:p>
            <a:pPr>
              <a:defRPr/>
            </a:pPr>
            <a:r>
              <a:rPr lang="en-IN" altLang="en-US" dirty="0"/>
              <a:t>Object Oriented Programming with Java</a:t>
            </a:r>
            <a:endParaRPr lang="en-US" altLang="en-US" dirty="0"/>
          </a:p>
        </p:txBody>
      </p:sp>
      <p:sp>
        <p:nvSpPr>
          <p:cNvPr id="7" name="Slide Number Placeholder 6">
            <a:extLst>
              <a:ext uri="{FF2B5EF4-FFF2-40B4-BE49-F238E27FC236}">
                <a16:creationId xmlns:a16="http://schemas.microsoft.com/office/drawing/2014/main" id="{632A37FC-E19F-1DDC-3A01-983DCA74507B}"/>
              </a:ext>
            </a:extLst>
          </p:cNvPr>
          <p:cNvSpPr>
            <a:spLocks noGrp="1"/>
          </p:cNvSpPr>
          <p:nvPr>
            <p:ph type="sldNum" sz="quarter" idx="12"/>
          </p:nvPr>
        </p:nvSpPr>
        <p:spPr>
          <a:xfrm>
            <a:off x="7881938" y="381000"/>
            <a:ext cx="668337" cy="365125"/>
          </a:xfrm>
        </p:spPr>
        <p:txBody>
          <a:bodyPr/>
          <a:lstStyle>
            <a:lvl1pPr>
              <a:defRPr/>
            </a:lvl1pPr>
          </a:lstStyle>
          <a:p>
            <a:pPr>
              <a:defRPr/>
            </a:pPr>
            <a:fld id="{AE1341A3-84E9-483E-B510-C82E8C6147F8}" type="slidenum">
              <a:rPr lang="en-US" altLang="en-US"/>
              <a:pPr>
                <a:defRPr/>
              </a:pPr>
              <a:t>‹#›</a:t>
            </a:fld>
            <a:endParaRPr lang="en-US" altLang="en-US"/>
          </a:p>
        </p:txBody>
      </p:sp>
    </p:spTree>
    <p:extLst>
      <p:ext uri="{BB962C8B-B14F-4D97-AF65-F5344CB8AC3E}">
        <p14:creationId xmlns:p14="http://schemas.microsoft.com/office/powerpoint/2010/main" val="1276003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Date Placeholder 3">
            <a:extLst>
              <a:ext uri="{FF2B5EF4-FFF2-40B4-BE49-F238E27FC236}">
                <a16:creationId xmlns:a16="http://schemas.microsoft.com/office/drawing/2014/main" id="{CBABCE8E-05C7-5B00-2711-8036E9907111}"/>
              </a:ext>
            </a:extLst>
          </p:cNvPr>
          <p:cNvSpPr>
            <a:spLocks noGrp="1"/>
          </p:cNvSpPr>
          <p:nvPr>
            <p:ph type="dt" sz="half" idx="18"/>
          </p:nvPr>
        </p:nvSpPr>
        <p:spPr/>
        <p:txBody>
          <a:bodyPr/>
          <a:lstStyle>
            <a:lvl1pPr>
              <a:defRPr/>
            </a:lvl1pPr>
          </a:lstStyle>
          <a:p>
            <a:pPr>
              <a:defRPr/>
            </a:pPr>
            <a:fld id="{1CBE02BC-6AA0-4F69-863F-A4CD9EEE2AEC}" type="datetime1">
              <a:rPr lang="en-US" altLang="en-US"/>
              <a:pPr>
                <a:defRPr/>
              </a:pPr>
              <a:t>8/26/2024</a:t>
            </a:fld>
            <a:endParaRPr lang="en-US" altLang="en-US"/>
          </a:p>
        </p:txBody>
      </p:sp>
      <p:sp>
        <p:nvSpPr>
          <p:cNvPr id="3" name="Footer Placeholder 4">
            <a:extLst>
              <a:ext uri="{FF2B5EF4-FFF2-40B4-BE49-F238E27FC236}">
                <a16:creationId xmlns:a16="http://schemas.microsoft.com/office/drawing/2014/main" id="{887E76FB-2792-4DD7-4B96-53AC90FC8EFC}"/>
              </a:ext>
            </a:extLst>
          </p:cNvPr>
          <p:cNvSpPr>
            <a:spLocks noGrp="1"/>
          </p:cNvSpPr>
          <p:nvPr>
            <p:ph type="ftr" sz="quarter" idx="19"/>
          </p:nvPr>
        </p:nvSpPr>
        <p:spPr/>
        <p:txBody>
          <a:bodyPr/>
          <a:lstStyle>
            <a:lvl1pPr>
              <a:defRPr/>
            </a:lvl1pPr>
          </a:lstStyle>
          <a:p>
            <a:pPr>
              <a:defRPr/>
            </a:pPr>
            <a:r>
              <a:rPr lang="en-IN" altLang="en-US" dirty="0"/>
              <a:t>Object Oriented Programming with Java</a:t>
            </a:r>
            <a:endParaRPr lang="en-US" altLang="en-US" dirty="0"/>
          </a:p>
        </p:txBody>
      </p:sp>
      <p:sp>
        <p:nvSpPr>
          <p:cNvPr id="4" name="Slide Number Placeholder 5">
            <a:extLst>
              <a:ext uri="{FF2B5EF4-FFF2-40B4-BE49-F238E27FC236}">
                <a16:creationId xmlns:a16="http://schemas.microsoft.com/office/drawing/2014/main" id="{15EB5E85-6FEE-F92C-E9F1-BBAA01171B74}"/>
              </a:ext>
            </a:extLst>
          </p:cNvPr>
          <p:cNvSpPr>
            <a:spLocks noGrp="1"/>
          </p:cNvSpPr>
          <p:nvPr>
            <p:ph type="sldNum" sz="quarter" idx="20"/>
          </p:nvPr>
        </p:nvSpPr>
        <p:spPr/>
        <p:txBody>
          <a:bodyPr/>
          <a:lstStyle>
            <a:lvl1pPr>
              <a:defRPr/>
            </a:lvl1pPr>
          </a:lstStyle>
          <a:p>
            <a:pPr>
              <a:defRPr/>
            </a:pPr>
            <a:fld id="{0657EC5E-F32E-440D-A8B7-A0225AD40746}" type="slidenum">
              <a:rPr lang="en-US" altLang="en-US"/>
              <a:pPr>
                <a:defRPr/>
              </a:pPr>
              <a:t>‹#›</a:t>
            </a:fld>
            <a:endParaRPr lang="en-US" altLang="en-US"/>
          </a:p>
        </p:txBody>
      </p:sp>
    </p:spTree>
    <p:extLst>
      <p:ext uri="{BB962C8B-B14F-4D97-AF65-F5344CB8AC3E}">
        <p14:creationId xmlns:p14="http://schemas.microsoft.com/office/powerpoint/2010/main" val="1740990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1" name="Text Placeholder 3"/>
          <p:cNvSpPr>
            <a:spLocks noGrp="1"/>
          </p:cNvSpPr>
          <p:nvPr>
            <p:ph type="body" sz="half" idx="18"/>
          </p:nvPr>
        </p:nvSpPr>
        <p:spPr>
          <a:xfrm>
            <a:off x="594360" y="4796103"/>
            <a:ext cx="2560320" cy="1467537"/>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4" name="Text Placeholder 3"/>
          <p:cNvSpPr>
            <a:spLocks noGrp="1"/>
          </p:cNvSpPr>
          <p:nvPr>
            <p:ph type="body" sz="half" idx="19"/>
          </p:nvPr>
        </p:nvSpPr>
        <p:spPr>
          <a:xfrm>
            <a:off x="3290858" y="4796102"/>
            <a:ext cx="2560320" cy="1467537"/>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27" name="Text Placeholder 3"/>
          <p:cNvSpPr>
            <a:spLocks noGrp="1"/>
          </p:cNvSpPr>
          <p:nvPr>
            <p:ph type="body" sz="half" idx="20"/>
          </p:nvPr>
        </p:nvSpPr>
        <p:spPr>
          <a:xfrm>
            <a:off x="5993272" y="4796100"/>
            <a:ext cx="2560320" cy="1467537"/>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Date Placeholder 3">
            <a:extLst>
              <a:ext uri="{FF2B5EF4-FFF2-40B4-BE49-F238E27FC236}">
                <a16:creationId xmlns:a16="http://schemas.microsoft.com/office/drawing/2014/main" id="{FEEFE2DF-FF6E-3A3E-DC4A-EE22AD45A173}"/>
              </a:ext>
            </a:extLst>
          </p:cNvPr>
          <p:cNvSpPr>
            <a:spLocks noGrp="1"/>
          </p:cNvSpPr>
          <p:nvPr>
            <p:ph type="dt" sz="half" idx="23"/>
          </p:nvPr>
        </p:nvSpPr>
        <p:spPr/>
        <p:txBody>
          <a:bodyPr/>
          <a:lstStyle>
            <a:lvl1pPr>
              <a:defRPr/>
            </a:lvl1pPr>
          </a:lstStyle>
          <a:p>
            <a:pPr>
              <a:defRPr/>
            </a:pPr>
            <a:fld id="{012AAD2A-60DE-492F-BA16-1D7AD7D57131}" type="datetime1">
              <a:rPr lang="en-US" altLang="en-US"/>
              <a:pPr>
                <a:defRPr/>
              </a:pPr>
              <a:t>8/26/2024</a:t>
            </a:fld>
            <a:endParaRPr lang="en-US" altLang="en-US"/>
          </a:p>
        </p:txBody>
      </p:sp>
      <p:sp>
        <p:nvSpPr>
          <p:cNvPr id="3" name="Footer Placeholder 4">
            <a:extLst>
              <a:ext uri="{FF2B5EF4-FFF2-40B4-BE49-F238E27FC236}">
                <a16:creationId xmlns:a16="http://schemas.microsoft.com/office/drawing/2014/main" id="{502A95BC-FFEE-9914-012F-9CADF40A5B1E}"/>
              </a:ext>
            </a:extLst>
          </p:cNvPr>
          <p:cNvSpPr>
            <a:spLocks noGrp="1"/>
          </p:cNvSpPr>
          <p:nvPr>
            <p:ph type="ftr" sz="quarter" idx="24"/>
          </p:nvPr>
        </p:nvSpPr>
        <p:spPr/>
        <p:txBody>
          <a:bodyPr/>
          <a:lstStyle>
            <a:lvl1pPr>
              <a:defRPr/>
            </a:lvl1pPr>
          </a:lstStyle>
          <a:p>
            <a:pPr>
              <a:defRPr/>
            </a:pPr>
            <a:r>
              <a:rPr lang="en-IN" altLang="en-US" dirty="0"/>
              <a:t>Object Oriented Programming with Java</a:t>
            </a:r>
            <a:endParaRPr lang="en-US" altLang="en-US" dirty="0"/>
          </a:p>
        </p:txBody>
      </p:sp>
      <p:sp>
        <p:nvSpPr>
          <p:cNvPr id="4" name="Slide Number Placeholder 5">
            <a:extLst>
              <a:ext uri="{FF2B5EF4-FFF2-40B4-BE49-F238E27FC236}">
                <a16:creationId xmlns:a16="http://schemas.microsoft.com/office/drawing/2014/main" id="{89E38D06-10D6-52B8-E0B7-AD52BCFA21EF}"/>
              </a:ext>
            </a:extLst>
          </p:cNvPr>
          <p:cNvSpPr>
            <a:spLocks noGrp="1"/>
          </p:cNvSpPr>
          <p:nvPr>
            <p:ph type="sldNum" sz="quarter" idx="25"/>
          </p:nvPr>
        </p:nvSpPr>
        <p:spPr/>
        <p:txBody>
          <a:bodyPr/>
          <a:lstStyle>
            <a:lvl1pPr>
              <a:defRPr/>
            </a:lvl1pPr>
          </a:lstStyle>
          <a:p>
            <a:pPr>
              <a:defRPr/>
            </a:pPr>
            <a:fld id="{8220ED01-1560-4069-9A24-EF6F949800E6}" type="slidenum">
              <a:rPr lang="en-US" altLang="en-US"/>
              <a:pPr>
                <a:defRPr/>
              </a:pPr>
              <a:t>‹#›</a:t>
            </a:fld>
            <a:endParaRPr lang="en-US" altLang="en-US"/>
          </a:p>
        </p:txBody>
      </p:sp>
    </p:spTree>
    <p:extLst>
      <p:ext uri="{BB962C8B-B14F-4D97-AF65-F5344CB8AC3E}">
        <p14:creationId xmlns:p14="http://schemas.microsoft.com/office/powerpoint/2010/main" val="840165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4F6D42F-874C-F0DB-4C48-2D471FF8789D}"/>
              </a:ext>
            </a:extLst>
          </p:cNvPr>
          <p:cNvSpPr>
            <a:spLocks noGrp="1"/>
          </p:cNvSpPr>
          <p:nvPr>
            <p:ph type="dt" sz="half" idx="10"/>
          </p:nvPr>
        </p:nvSpPr>
        <p:spPr/>
        <p:txBody>
          <a:bodyPr/>
          <a:lstStyle>
            <a:lvl1pPr>
              <a:defRPr/>
            </a:lvl1pPr>
          </a:lstStyle>
          <a:p>
            <a:pPr>
              <a:defRPr/>
            </a:pPr>
            <a:fld id="{017E8F54-AF91-4954-967B-A26858A832B8}"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73ACFC9B-AEF5-2F0A-B17C-77A25997DBDC}"/>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432E6C59-DDB4-913A-35D7-BD134D34BA31}"/>
              </a:ext>
            </a:extLst>
          </p:cNvPr>
          <p:cNvSpPr>
            <a:spLocks noGrp="1"/>
          </p:cNvSpPr>
          <p:nvPr>
            <p:ph type="sldNum" sz="quarter" idx="12"/>
          </p:nvPr>
        </p:nvSpPr>
        <p:spPr/>
        <p:txBody>
          <a:bodyPr/>
          <a:lstStyle>
            <a:lvl1pPr>
              <a:defRPr/>
            </a:lvl1pPr>
          </a:lstStyle>
          <a:p>
            <a:pPr>
              <a:defRPr/>
            </a:pPr>
            <a:fld id="{CC270BF6-4F42-4D73-B785-B86A44692851}" type="slidenum">
              <a:rPr lang="en-US" altLang="en-US"/>
              <a:pPr>
                <a:defRPr/>
              </a:pPr>
              <a:t>‹#›</a:t>
            </a:fld>
            <a:endParaRPr lang="en-US" altLang="en-US"/>
          </a:p>
        </p:txBody>
      </p:sp>
    </p:spTree>
    <p:extLst>
      <p:ext uri="{BB962C8B-B14F-4D97-AF65-F5344CB8AC3E}">
        <p14:creationId xmlns:p14="http://schemas.microsoft.com/office/powerpoint/2010/main" val="16659028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4" name="Picture 6" descr="C3-HD-BTM.png">
            <a:extLst>
              <a:ext uri="{FF2B5EF4-FFF2-40B4-BE49-F238E27FC236}">
                <a16:creationId xmlns:a16="http://schemas.microsoft.com/office/drawing/2014/main" id="{8D18DA70-6092-DDE2-9BF4-F1FC0C2B8C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5863"/>
            <a:ext cx="9144000" cy="186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39793706-E6F3-019C-EAAC-E6E946DD5614}"/>
              </a:ext>
            </a:extLst>
          </p:cNvPr>
          <p:cNvSpPr>
            <a:spLocks noGrp="1"/>
          </p:cNvSpPr>
          <p:nvPr>
            <p:ph type="dt" sz="half" idx="10"/>
          </p:nvPr>
        </p:nvSpPr>
        <p:spPr>
          <a:xfrm>
            <a:off x="5562600" y="381000"/>
            <a:ext cx="2182813" cy="365125"/>
          </a:xfrm>
        </p:spPr>
        <p:txBody>
          <a:bodyPr/>
          <a:lstStyle>
            <a:lvl1pPr algn="r">
              <a:defRPr/>
            </a:lvl1pPr>
          </a:lstStyle>
          <a:p>
            <a:pPr>
              <a:defRPr/>
            </a:pPr>
            <a:fld id="{E5A2C8F8-B444-454B-B7E8-9C10F0FC6726}" type="datetime1">
              <a:rPr lang="en-US" altLang="en-US"/>
              <a:pPr>
                <a:defRPr/>
              </a:pPr>
              <a:t>8/26/2024</a:t>
            </a:fld>
            <a:endParaRPr lang="en-US" altLang="en-US"/>
          </a:p>
        </p:txBody>
      </p:sp>
      <p:sp>
        <p:nvSpPr>
          <p:cNvPr id="6" name="Footer Placeholder 4">
            <a:extLst>
              <a:ext uri="{FF2B5EF4-FFF2-40B4-BE49-F238E27FC236}">
                <a16:creationId xmlns:a16="http://schemas.microsoft.com/office/drawing/2014/main" id="{6711F779-30AA-5049-1CE3-F3F663823BBA}"/>
              </a:ext>
            </a:extLst>
          </p:cNvPr>
          <p:cNvSpPr>
            <a:spLocks noGrp="1"/>
          </p:cNvSpPr>
          <p:nvPr>
            <p:ph type="ftr" sz="quarter" idx="11"/>
          </p:nvPr>
        </p:nvSpPr>
        <p:spPr>
          <a:xfrm>
            <a:off x="593725" y="381000"/>
            <a:ext cx="4830763" cy="365125"/>
          </a:xfrm>
        </p:spPr>
        <p:txBody>
          <a:bodyPr/>
          <a:lstStyle>
            <a:lvl1pPr>
              <a:defRPr/>
            </a:lvl1pPr>
          </a:lstStyle>
          <a:p>
            <a:pPr>
              <a:defRPr/>
            </a:pPr>
            <a:r>
              <a:rPr lang="en-IN" altLang="en-US" dirty="0"/>
              <a:t>Object Oriented Programming with Java</a:t>
            </a:r>
            <a:endParaRPr lang="en-US" altLang="en-US" dirty="0"/>
          </a:p>
        </p:txBody>
      </p:sp>
      <p:sp>
        <p:nvSpPr>
          <p:cNvPr id="7" name="Slide Number Placeholder 5">
            <a:extLst>
              <a:ext uri="{FF2B5EF4-FFF2-40B4-BE49-F238E27FC236}">
                <a16:creationId xmlns:a16="http://schemas.microsoft.com/office/drawing/2014/main" id="{53A460C2-2381-BA2A-89C6-20AFBDD08087}"/>
              </a:ext>
            </a:extLst>
          </p:cNvPr>
          <p:cNvSpPr>
            <a:spLocks noGrp="1"/>
          </p:cNvSpPr>
          <p:nvPr>
            <p:ph type="sldNum" sz="quarter" idx="12"/>
          </p:nvPr>
        </p:nvSpPr>
        <p:spPr>
          <a:xfrm>
            <a:off x="7881938" y="381000"/>
            <a:ext cx="668337" cy="365125"/>
          </a:xfrm>
        </p:spPr>
        <p:txBody>
          <a:bodyPr/>
          <a:lstStyle>
            <a:lvl1pPr>
              <a:defRPr/>
            </a:lvl1pPr>
          </a:lstStyle>
          <a:p>
            <a:pPr>
              <a:defRPr/>
            </a:pPr>
            <a:fld id="{EB729F79-F186-40AE-95CC-14083C2D9CC5}" type="slidenum">
              <a:rPr lang="en-US" altLang="en-US"/>
              <a:pPr>
                <a:defRPr/>
              </a:pPr>
              <a:t>‹#›</a:t>
            </a:fld>
            <a:endParaRPr lang="en-US" altLang="en-US"/>
          </a:p>
        </p:txBody>
      </p:sp>
    </p:spTree>
    <p:extLst>
      <p:ext uri="{BB962C8B-B14F-4D97-AF65-F5344CB8AC3E}">
        <p14:creationId xmlns:p14="http://schemas.microsoft.com/office/powerpoint/2010/main" val="38503666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Table Placeholder 2"/>
          <p:cNvSpPr>
            <a:spLocks noGrp="1"/>
          </p:cNvSpPr>
          <p:nvPr>
            <p:ph type="tbl" idx="1"/>
          </p:nvPr>
        </p:nvSpPr>
        <p:spPr>
          <a:xfrm>
            <a:off x="457200" y="1600200"/>
            <a:ext cx="8229600" cy="4525963"/>
          </a:xfrm>
        </p:spPr>
        <p:txBody>
          <a:bodyPr rtlCol="0">
            <a:normAutofit/>
          </a:bodyPr>
          <a:lstStyle/>
          <a:p>
            <a:pPr lvl="0"/>
            <a:endParaRPr lang="en-IN" noProof="0"/>
          </a:p>
        </p:txBody>
      </p:sp>
      <p:sp>
        <p:nvSpPr>
          <p:cNvPr id="4" name="Date Placeholder 3">
            <a:extLst>
              <a:ext uri="{FF2B5EF4-FFF2-40B4-BE49-F238E27FC236}">
                <a16:creationId xmlns:a16="http://schemas.microsoft.com/office/drawing/2014/main" id="{F4EB9F94-34D5-540D-462D-BBB868E35DE6}"/>
              </a:ext>
            </a:extLst>
          </p:cNvPr>
          <p:cNvSpPr>
            <a:spLocks noGrp="1"/>
          </p:cNvSpPr>
          <p:nvPr>
            <p:ph type="dt" sz="half" idx="10"/>
          </p:nvPr>
        </p:nvSpPr>
        <p:spPr/>
        <p:txBody>
          <a:bodyPr/>
          <a:lstStyle>
            <a:lvl1pPr>
              <a:defRPr/>
            </a:lvl1pPr>
          </a:lstStyle>
          <a:p>
            <a:pPr>
              <a:defRPr/>
            </a:pPr>
            <a:fld id="{837BDC84-14DA-4A6B-910A-E960ABC90900}"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21BFB1A4-B27A-B5A0-C173-B5A5018C3B82}"/>
              </a:ext>
            </a:extLst>
          </p:cNvPr>
          <p:cNvSpPr>
            <a:spLocks noGrp="1"/>
          </p:cNvSpPr>
          <p:nvPr>
            <p:ph type="ftr" sz="quarter" idx="11"/>
          </p:nvPr>
        </p:nvSpPr>
        <p:spPr/>
        <p:txBody>
          <a:bodyPr/>
          <a:lstStyle>
            <a:lvl1pPr>
              <a:defRPr/>
            </a:lvl1p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552FABA5-FE2C-F3F5-0390-4D8C9379E683}"/>
              </a:ext>
            </a:extLst>
          </p:cNvPr>
          <p:cNvSpPr>
            <a:spLocks noGrp="1"/>
          </p:cNvSpPr>
          <p:nvPr>
            <p:ph type="sldNum" sz="quarter" idx="12"/>
          </p:nvPr>
        </p:nvSpPr>
        <p:spPr/>
        <p:txBody>
          <a:bodyPr/>
          <a:lstStyle>
            <a:lvl1pPr>
              <a:defRPr/>
            </a:lvl1pPr>
          </a:lstStyle>
          <a:p>
            <a:pPr>
              <a:defRPr/>
            </a:pPr>
            <a:fld id="{85B96778-B250-44F9-B3C9-7C7275DF3B92}" type="slidenum">
              <a:rPr lang="en-US" altLang="en-US"/>
              <a:pPr>
                <a:defRPr/>
              </a:pPr>
              <a:t>‹#›</a:t>
            </a:fld>
            <a:endParaRPr lang="en-US" altLang="en-US"/>
          </a:p>
        </p:txBody>
      </p:sp>
    </p:spTree>
    <p:extLst>
      <p:ext uri="{BB962C8B-B14F-4D97-AF65-F5344CB8AC3E}">
        <p14:creationId xmlns:p14="http://schemas.microsoft.com/office/powerpoint/2010/main" val="268856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C3-HD-TOP.png">
            <a:extLst>
              <a:ext uri="{FF2B5EF4-FFF2-40B4-BE49-F238E27FC236}">
                <a16:creationId xmlns:a16="http://schemas.microsoft.com/office/drawing/2014/main" id="{BC27FEE4-820A-2A3C-8028-894E5DE36477}"/>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91440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a:extLst>
              <a:ext uri="{FF2B5EF4-FFF2-40B4-BE49-F238E27FC236}">
                <a16:creationId xmlns:a16="http://schemas.microsoft.com/office/drawing/2014/main" id="{EF1B7DB0-5664-D93A-C384-E7F37D0E363A}"/>
              </a:ext>
            </a:extLst>
          </p:cNvPr>
          <p:cNvSpPr>
            <a:spLocks noGrp="1"/>
          </p:cNvSpPr>
          <p:nvPr>
            <p:ph type="title"/>
          </p:nvPr>
        </p:nvSpPr>
        <p:spPr>
          <a:xfrm>
            <a:off x="2171700" y="763588"/>
            <a:ext cx="6378575" cy="129381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8" name="Text Placeholder 2">
            <a:extLst>
              <a:ext uri="{FF2B5EF4-FFF2-40B4-BE49-F238E27FC236}">
                <a16:creationId xmlns:a16="http://schemas.microsoft.com/office/drawing/2014/main" id="{53BF9730-39BB-EE3B-788E-338FDBD5686D}"/>
              </a:ext>
            </a:extLst>
          </p:cNvPr>
          <p:cNvSpPr>
            <a:spLocks noGrp="1" noChangeArrowheads="1"/>
          </p:cNvSpPr>
          <p:nvPr>
            <p:ph type="body" idx="1"/>
          </p:nvPr>
        </p:nvSpPr>
        <p:spPr bwMode="auto">
          <a:xfrm>
            <a:off x="593725" y="2193925"/>
            <a:ext cx="7956550" cy="407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2376575-467D-4134-4DDA-83563FB91FBE}"/>
              </a:ext>
            </a:extLst>
          </p:cNvPr>
          <p:cNvSpPr>
            <a:spLocks noGrp="1"/>
          </p:cNvSpPr>
          <p:nvPr>
            <p:ph type="dt" sz="half" idx="2"/>
          </p:nvPr>
        </p:nvSpPr>
        <p:spPr>
          <a:xfrm>
            <a:off x="6411913" y="6356350"/>
            <a:ext cx="2138362" cy="365125"/>
          </a:xfrm>
          <a:prstGeom prst="rect">
            <a:avLst/>
          </a:prstGeom>
        </p:spPr>
        <p:txBody>
          <a:bodyPr vert="horz" lIns="91440" tIns="45720" rIns="91440" bIns="45720" rtlCol="0" anchor="ctr"/>
          <a:lstStyle>
            <a:lvl1pPr algn="r" eaLnBrk="1" fontAlgn="auto" hangingPunct="1">
              <a:spcBef>
                <a:spcPts val="0"/>
              </a:spcBef>
              <a:spcAft>
                <a:spcPts val="0"/>
              </a:spcAft>
              <a:defRPr sz="1050">
                <a:solidFill>
                  <a:schemeClr val="tx1">
                    <a:tint val="75000"/>
                  </a:schemeClr>
                </a:solidFill>
                <a:latin typeface="+mn-lt"/>
              </a:defRPr>
            </a:lvl1pPr>
          </a:lstStyle>
          <a:p>
            <a:pPr>
              <a:defRPr/>
            </a:pPr>
            <a:fld id="{CC10BDB0-C05E-45F9-B4B1-4493E760DD3F}"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CF88653D-228C-CAF9-5CAD-8565B82DF402}"/>
              </a:ext>
            </a:extLst>
          </p:cNvPr>
          <p:cNvSpPr>
            <a:spLocks noGrp="1"/>
          </p:cNvSpPr>
          <p:nvPr>
            <p:ph type="ftr" sz="quarter" idx="3"/>
          </p:nvPr>
        </p:nvSpPr>
        <p:spPr>
          <a:xfrm>
            <a:off x="593725" y="6356350"/>
            <a:ext cx="5681663" cy="365125"/>
          </a:xfrm>
          <a:prstGeom prst="rect">
            <a:avLst/>
          </a:prstGeom>
        </p:spPr>
        <p:txBody>
          <a:bodyPr vert="horz" lIns="91440" tIns="45720" rIns="91440" bIns="45720" rtlCol="0" anchor="ctr"/>
          <a:lstStyle>
            <a:lvl1pPr algn="l" eaLnBrk="1" fontAlgn="auto" hangingPunct="1">
              <a:spcBef>
                <a:spcPts val="0"/>
              </a:spcBef>
              <a:spcAft>
                <a:spcPts val="0"/>
              </a:spcAft>
              <a:defRPr sz="1050">
                <a:solidFill>
                  <a:schemeClr val="tx1">
                    <a:tint val="75000"/>
                  </a:schemeClr>
                </a:solidFill>
                <a:latin typeface="+mn-lt"/>
              </a:defRPr>
            </a:lvl1p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5AE1AE10-941C-6A74-C239-7980AC54F283}"/>
              </a:ext>
            </a:extLst>
          </p:cNvPr>
          <p:cNvSpPr>
            <a:spLocks noGrp="1"/>
          </p:cNvSpPr>
          <p:nvPr>
            <p:ph type="sldNum" sz="quarter" idx="4"/>
          </p:nvPr>
        </p:nvSpPr>
        <p:spPr>
          <a:xfrm>
            <a:off x="6572250" y="381000"/>
            <a:ext cx="1978025" cy="365125"/>
          </a:xfrm>
          <a:prstGeom prst="rect">
            <a:avLst/>
          </a:prstGeom>
        </p:spPr>
        <p:txBody>
          <a:bodyPr vert="horz" lIns="91440" tIns="45720" rIns="91440" bIns="45720" rtlCol="0" anchor="ctr"/>
          <a:lstStyle>
            <a:lvl1pPr algn="r" eaLnBrk="1" fontAlgn="auto" hangingPunct="1">
              <a:spcBef>
                <a:spcPts val="0"/>
              </a:spcBef>
              <a:spcAft>
                <a:spcPts val="0"/>
              </a:spcAft>
              <a:defRPr sz="1050">
                <a:solidFill>
                  <a:schemeClr val="tx1">
                    <a:tint val="75000"/>
                  </a:schemeClr>
                </a:solidFill>
                <a:latin typeface="+mn-lt"/>
              </a:defRPr>
            </a:lvl1pPr>
          </a:lstStyle>
          <a:p>
            <a:pPr>
              <a:defRPr/>
            </a:pPr>
            <a:fld id="{C4169B9E-7175-46AD-9F28-F2A88FD3E23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386" r:id="rId1"/>
    <p:sldLayoutId id="2147484374" r:id="rId2"/>
    <p:sldLayoutId id="2147484387" r:id="rId3"/>
    <p:sldLayoutId id="2147484375" r:id="rId4"/>
    <p:sldLayoutId id="2147484376" r:id="rId5"/>
    <p:sldLayoutId id="2147484377" r:id="rId6"/>
    <p:sldLayoutId id="2147484378" r:id="rId7"/>
    <p:sldLayoutId id="2147484379" r:id="rId8"/>
    <p:sldLayoutId id="2147484380" r:id="rId9"/>
    <p:sldLayoutId id="2147484381" r:id="rId10"/>
    <p:sldLayoutId id="2147484388" r:id="rId11"/>
    <p:sldLayoutId id="2147484389" r:id="rId12"/>
    <p:sldLayoutId id="2147484390" r:id="rId13"/>
    <p:sldLayoutId id="2147484382" r:id="rId14"/>
    <p:sldLayoutId id="2147484383" r:id="rId15"/>
    <p:sldLayoutId id="2147484384" r:id="rId16"/>
    <p:sldLayoutId id="2147484391" r:id="rId17"/>
    <p:sldLayoutId id="2147484385" r:id="rId18"/>
  </p:sldLayoutIdLst>
  <p:hf hdr="0"/>
  <p:txStyles>
    <p:titleStyle>
      <a:lvl1pPr algn="r" rtl="0" eaLnBrk="0" fontAlgn="base" hangingPunct="0">
        <a:lnSpc>
          <a:spcPct val="90000"/>
        </a:lnSpc>
        <a:spcBef>
          <a:spcPct val="0"/>
        </a:spcBef>
        <a:spcAft>
          <a:spcPct val="0"/>
        </a:spcAft>
        <a:defRPr sz="4000" kern="1200" cap="all">
          <a:solidFill>
            <a:schemeClr val="tx1"/>
          </a:solidFill>
          <a:latin typeface="+mj-lt"/>
          <a:ea typeface="+mj-ea"/>
          <a:cs typeface="+mj-cs"/>
        </a:defRPr>
      </a:lvl1pPr>
      <a:lvl2pPr algn="r" rtl="0" eaLnBrk="0" fontAlgn="base" hangingPunct="0">
        <a:lnSpc>
          <a:spcPct val="90000"/>
        </a:lnSpc>
        <a:spcBef>
          <a:spcPct val="0"/>
        </a:spcBef>
        <a:spcAft>
          <a:spcPct val="0"/>
        </a:spcAft>
        <a:defRPr sz="4000">
          <a:solidFill>
            <a:schemeClr val="tx1"/>
          </a:solidFill>
          <a:latin typeface="Century Gothic" panose="020B0502020202020204" pitchFamily="34" charset="0"/>
        </a:defRPr>
      </a:lvl2pPr>
      <a:lvl3pPr algn="r" rtl="0" eaLnBrk="0" fontAlgn="base" hangingPunct="0">
        <a:lnSpc>
          <a:spcPct val="90000"/>
        </a:lnSpc>
        <a:spcBef>
          <a:spcPct val="0"/>
        </a:spcBef>
        <a:spcAft>
          <a:spcPct val="0"/>
        </a:spcAft>
        <a:defRPr sz="4000">
          <a:solidFill>
            <a:schemeClr val="tx1"/>
          </a:solidFill>
          <a:latin typeface="Century Gothic" panose="020B0502020202020204" pitchFamily="34" charset="0"/>
        </a:defRPr>
      </a:lvl3pPr>
      <a:lvl4pPr algn="r" rtl="0" eaLnBrk="0" fontAlgn="base" hangingPunct="0">
        <a:lnSpc>
          <a:spcPct val="90000"/>
        </a:lnSpc>
        <a:spcBef>
          <a:spcPct val="0"/>
        </a:spcBef>
        <a:spcAft>
          <a:spcPct val="0"/>
        </a:spcAft>
        <a:defRPr sz="4000">
          <a:solidFill>
            <a:schemeClr val="tx1"/>
          </a:solidFill>
          <a:latin typeface="Century Gothic" panose="020B0502020202020204" pitchFamily="34" charset="0"/>
        </a:defRPr>
      </a:lvl4pPr>
      <a:lvl5pPr algn="r" rtl="0" eaLnBrk="0" fontAlgn="base" hangingPunct="0">
        <a:lnSpc>
          <a:spcPct val="90000"/>
        </a:lnSpc>
        <a:spcBef>
          <a:spcPct val="0"/>
        </a:spcBef>
        <a:spcAft>
          <a:spcPct val="0"/>
        </a:spcAft>
        <a:defRPr sz="4000">
          <a:solidFill>
            <a:schemeClr val="tx1"/>
          </a:solidFill>
          <a:latin typeface="Century Gothic" panose="020B0502020202020204" pitchFamily="34" charset="0"/>
        </a:defRPr>
      </a:lvl5pPr>
      <a:lvl6pPr marL="457200" algn="r" rtl="0" fontAlgn="base">
        <a:lnSpc>
          <a:spcPct val="90000"/>
        </a:lnSpc>
        <a:spcBef>
          <a:spcPct val="0"/>
        </a:spcBef>
        <a:spcAft>
          <a:spcPct val="0"/>
        </a:spcAft>
        <a:defRPr sz="4000">
          <a:solidFill>
            <a:schemeClr val="tx1"/>
          </a:solidFill>
          <a:latin typeface="Century Gothic" panose="020B0502020202020204" pitchFamily="34" charset="0"/>
        </a:defRPr>
      </a:lvl6pPr>
      <a:lvl7pPr marL="914400" algn="r" rtl="0" fontAlgn="base">
        <a:lnSpc>
          <a:spcPct val="90000"/>
        </a:lnSpc>
        <a:spcBef>
          <a:spcPct val="0"/>
        </a:spcBef>
        <a:spcAft>
          <a:spcPct val="0"/>
        </a:spcAft>
        <a:defRPr sz="4000">
          <a:solidFill>
            <a:schemeClr val="tx1"/>
          </a:solidFill>
          <a:latin typeface="Century Gothic" panose="020B0502020202020204" pitchFamily="34" charset="0"/>
        </a:defRPr>
      </a:lvl7pPr>
      <a:lvl8pPr marL="1371600" algn="r" rtl="0" fontAlgn="base">
        <a:lnSpc>
          <a:spcPct val="90000"/>
        </a:lnSpc>
        <a:spcBef>
          <a:spcPct val="0"/>
        </a:spcBef>
        <a:spcAft>
          <a:spcPct val="0"/>
        </a:spcAft>
        <a:defRPr sz="4000">
          <a:solidFill>
            <a:schemeClr val="tx1"/>
          </a:solidFill>
          <a:latin typeface="Century Gothic" panose="020B0502020202020204" pitchFamily="34" charset="0"/>
        </a:defRPr>
      </a:lvl8pPr>
      <a:lvl9pPr marL="1828800" algn="r" rtl="0" fontAlgn="base">
        <a:lnSpc>
          <a:spcPct val="90000"/>
        </a:lnSpc>
        <a:spcBef>
          <a:spcPct val="0"/>
        </a:spcBef>
        <a:spcAft>
          <a:spcPct val="0"/>
        </a:spcAft>
        <a:defRPr sz="4000">
          <a:solidFill>
            <a:schemeClr val="tx1"/>
          </a:solidFill>
          <a:latin typeface="Century Gothic" panose="020B0502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2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javatpoint.com/embedded-system-tutorial" TargetMode="External"/><Relationship Id="rId2" Type="http://schemas.openxmlformats.org/officeDocument/2006/relationships/hyperlink" Target="https://www.javatpoint.com/james-gosling-father-of-java"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javatpoint.com/sun-microsystems"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s://www.javatpoint.com/encapsulation" TargetMode="External"/><Relationship Id="rId3" Type="http://schemas.openxmlformats.org/officeDocument/2006/relationships/hyperlink" Target="https://www.javatpoint.com/object-and-class-in-java" TargetMode="External"/><Relationship Id="rId7" Type="http://schemas.openxmlformats.org/officeDocument/2006/relationships/hyperlink" Target="https://www.javatpoint.com/abstract-class-in-java" TargetMode="External"/><Relationship Id="rId2" Type="http://schemas.openxmlformats.org/officeDocument/2006/relationships/hyperlink" Target="https://www.javatpoint.com/java-oops-concepts" TargetMode="External"/><Relationship Id="rId1" Type="http://schemas.openxmlformats.org/officeDocument/2006/relationships/slideLayout" Target="../slideLayouts/slideLayout2.xml"/><Relationship Id="rId6" Type="http://schemas.openxmlformats.org/officeDocument/2006/relationships/hyperlink" Target="https://www.javatpoint.com/runtime-polymorphism-in-java" TargetMode="External"/><Relationship Id="rId5" Type="http://schemas.openxmlformats.org/officeDocument/2006/relationships/hyperlink" Target="https://www.javatpoint.com/inheritance-in-java" TargetMode="External"/><Relationship Id="rId4" Type="http://schemas.openxmlformats.org/officeDocument/2006/relationships/hyperlink" Target="https://www.javatpoint.com/object-and-class-in-java#class"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www.javatpoint.com/cpp-tutorial" TargetMode="External"/><Relationship Id="rId2" Type="http://schemas.openxmlformats.org/officeDocument/2006/relationships/hyperlink" Target="https://www.javatpoint.com/c-programming-language-tutorial" TargetMode="Externa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javatpoint.com/command-line-argument"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javatpoint.com/system-out-println-in-java"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9682669-A0B2-6966-CFB4-DA4B9F9E8978}"/>
              </a:ext>
            </a:extLst>
          </p:cNvPr>
          <p:cNvSpPr>
            <a:spLocks noGrp="1" noChangeArrowheads="1"/>
          </p:cNvSpPr>
          <p:nvPr>
            <p:ph type="ctrTitle"/>
          </p:nvPr>
        </p:nvSpPr>
        <p:spPr>
          <a:xfrm>
            <a:off x="2133600" y="685800"/>
            <a:ext cx="7010400" cy="1470025"/>
          </a:xfrm>
        </p:spPr>
        <p:txBody>
          <a:bodyPr anchor="ctr">
            <a:normAutofit fontScale="90000"/>
          </a:bodyPr>
          <a:lstStyle/>
          <a:p>
            <a:pPr eaLnBrk="1" fontAlgn="auto" hangingPunct="1">
              <a:spcAft>
                <a:spcPts val="0"/>
              </a:spcAft>
              <a:defRPr/>
            </a:pPr>
            <a:r>
              <a:rPr lang="en-IN" sz="4400" b="1" dirty="0"/>
              <a:t>Object Oriented Programming with Java</a:t>
            </a:r>
            <a:br>
              <a:rPr lang="en-IN" sz="4400" b="1" dirty="0"/>
            </a:br>
            <a:r>
              <a:rPr lang="en-IN" sz="3600" b="1" i="1" dirty="0">
                <a:solidFill>
                  <a:schemeClr val="accent4">
                    <a:lumMod val="75000"/>
                  </a:schemeClr>
                </a:solidFill>
              </a:rPr>
              <a:t>Course Code : BCS306A </a:t>
            </a:r>
            <a:endParaRPr lang="en-US" altLang="en-US" sz="3600" b="1" i="1" dirty="0">
              <a:solidFill>
                <a:schemeClr val="accent4">
                  <a:lumMod val="75000"/>
                </a:schemeClr>
              </a:solidFill>
            </a:endParaRPr>
          </a:p>
        </p:txBody>
      </p:sp>
      <p:sp>
        <p:nvSpPr>
          <p:cNvPr id="9219" name="Rectangle 3">
            <a:extLst>
              <a:ext uri="{FF2B5EF4-FFF2-40B4-BE49-F238E27FC236}">
                <a16:creationId xmlns:a16="http://schemas.microsoft.com/office/drawing/2014/main" id="{20D15A81-D039-2FE5-1E07-55DD9407D58C}"/>
              </a:ext>
            </a:extLst>
          </p:cNvPr>
          <p:cNvSpPr>
            <a:spLocks noGrp="1" noChangeArrowheads="1"/>
          </p:cNvSpPr>
          <p:nvPr>
            <p:ph type="subTitle" idx="1"/>
          </p:nvPr>
        </p:nvSpPr>
        <p:spPr>
          <a:xfrm>
            <a:off x="1371600" y="2895600"/>
            <a:ext cx="6400800" cy="1752600"/>
          </a:xfrm>
        </p:spPr>
        <p:txBody>
          <a:bodyPr/>
          <a:lstStyle/>
          <a:p>
            <a:pPr eaLnBrk="1" hangingPunct="1"/>
            <a:r>
              <a:rPr lang="en-US" altLang="en-US" sz="3200" b="1">
                <a:solidFill>
                  <a:srgbClr val="C00000"/>
                </a:solidFill>
                <a:latin typeface="Comic Sans MS" panose="030F0702030302020204" pitchFamily="66" charset="0"/>
              </a:rPr>
              <a:t>Dr. Ganga Holi,</a:t>
            </a:r>
          </a:p>
          <a:p>
            <a:pPr eaLnBrk="1" hangingPunct="1"/>
            <a:r>
              <a:rPr lang="en-US" altLang="en-US" sz="3200">
                <a:latin typeface="Arial Rounded MT Bold" panose="020F0704030504030204" pitchFamily="34" charset="0"/>
              </a:rPr>
              <a:t>Professor and Head, Dept of CSE-ICB</a:t>
            </a:r>
          </a:p>
        </p:txBody>
      </p:sp>
    </p:spTree>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85054-8FC6-2D0E-DFD1-9B452CC566D2}"/>
              </a:ext>
            </a:extLst>
          </p:cNvPr>
          <p:cNvSpPr>
            <a:spLocks noGrp="1"/>
          </p:cNvSpPr>
          <p:nvPr>
            <p:ph type="title"/>
          </p:nvPr>
        </p:nvSpPr>
        <p:spPr/>
        <p:txBody>
          <a:bodyPr/>
          <a:lstStyle/>
          <a:p>
            <a:pPr eaLnBrk="1" fontAlgn="auto" hangingPunct="1">
              <a:spcAft>
                <a:spcPts val="0"/>
              </a:spcAft>
              <a:defRPr/>
            </a:pPr>
            <a:r>
              <a:rPr lang="en-IN" dirty="0"/>
              <a:t>Course Information</a:t>
            </a:r>
          </a:p>
        </p:txBody>
      </p:sp>
      <p:sp>
        <p:nvSpPr>
          <p:cNvPr id="3" name="Content Placeholder 2">
            <a:extLst>
              <a:ext uri="{FF2B5EF4-FFF2-40B4-BE49-F238E27FC236}">
                <a16:creationId xmlns:a16="http://schemas.microsoft.com/office/drawing/2014/main" id="{06C645A3-A894-9B49-58CF-6C8046291290}"/>
              </a:ext>
            </a:extLst>
          </p:cNvPr>
          <p:cNvSpPr>
            <a:spLocks noGrp="1"/>
          </p:cNvSpPr>
          <p:nvPr>
            <p:ph idx="1"/>
          </p:nvPr>
        </p:nvSpPr>
        <p:spPr>
          <a:xfrm>
            <a:off x="593725" y="2193925"/>
            <a:ext cx="8169275" cy="4070350"/>
          </a:xfrm>
        </p:spPr>
        <p:txBody>
          <a:bodyPr rtlCol="0">
            <a:normAutofit/>
          </a:bodyPr>
          <a:lstStyle/>
          <a:p>
            <a:pPr eaLnBrk="1" fontAlgn="auto" hangingPunct="1">
              <a:spcAft>
                <a:spcPts val="0"/>
              </a:spcAft>
              <a:defRPr/>
            </a:pPr>
            <a:r>
              <a:rPr lang="en-IN" altLang="en-US" sz="2000" b="1" dirty="0"/>
              <a:t>Object Oriented Programming with JAVA Semester</a:t>
            </a:r>
          </a:p>
          <a:p>
            <a:pPr eaLnBrk="1" fontAlgn="auto" hangingPunct="1">
              <a:spcAft>
                <a:spcPts val="0"/>
              </a:spcAft>
              <a:defRPr/>
            </a:pPr>
            <a:r>
              <a:rPr lang="en-IN" altLang="en-US" sz="2000" b="1" dirty="0"/>
              <a:t>Course Code BCS306A CIE Marks 50  SEE Marks 50</a:t>
            </a:r>
          </a:p>
          <a:p>
            <a:pPr eaLnBrk="1" fontAlgn="auto" hangingPunct="1">
              <a:spcAft>
                <a:spcPts val="0"/>
              </a:spcAft>
              <a:defRPr/>
            </a:pPr>
            <a:r>
              <a:rPr lang="en-IN" altLang="en-US" sz="2000" b="1" dirty="0"/>
              <a:t>Total Hours of Pedagogy 28 Hours of Theory + 20 Hours of Practical</a:t>
            </a:r>
          </a:p>
          <a:p>
            <a:pPr eaLnBrk="1" fontAlgn="auto" hangingPunct="1">
              <a:spcAft>
                <a:spcPts val="0"/>
              </a:spcAft>
              <a:defRPr/>
            </a:pPr>
            <a:r>
              <a:rPr lang="en-IN" altLang="en-US" sz="2000" b="1" dirty="0"/>
              <a:t>Total Marks   : 100</a:t>
            </a:r>
          </a:p>
          <a:p>
            <a:pPr eaLnBrk="1" fontAlgn="auto" hangingPunct="1">
              <a:spcAft>
                <a:spcPts val="0"/>
              </a:spcAft>
              <a:defRPr/>
            </a:pPr>
            <a:r>
              <a:rPr lang="en-IN" altLang="en-US" sz="2000" b="1" dirty="0"/>
              <a:t>Credits 03       Exam Hours 03</a:t>
            </a:r>
          </a:p>
          <a:p>
            <a:pPr eaLnBrk="1" fontAlgn="auto" hangingPunct="1">
              <a:spcAft>
                <a:spcPts val="0"/>
              </a:spcAft>
              <a:defRPr/>
            </a:pPr>
            <a:r>
              <a:rPr lang="en-IN" altLang="en-US" sz="2000" b="1" dirty="0"/>
              <a:t>Examination type (SEE) Theory</a:t>
            </a:r>
          </a:p>
          <a:p>
            <a:pPr marL="0" indent="0" eaLnBrk="1" fontAlgn="auto" hangingPunct="1">
              <a:spcAft>
                <a:spcPts val="0"/>
              </a:spcAft>
              <a:buFont typeface="Arial" panose="020B0604020202020204" pitchFamily="34" charset="0"/>
              <a:buNone/>
              <a:defRPr/>
            </a:pPr>
            <a:endParaRPr lang="en-IN" sz="2000" dirty="0"/>
          </a:p>
        </p:txBody>
      </p:sp>
      <p:sp>
        <p:nvSpPr>
          <p:cNvPr id="4" name="Date Placeholder 3">
            <a:extLst>
              <a:ext uri="{FF2B5EF4-FFF2-40B4-BE49-F238E27FC236}">
                <a16:creationId xmlns:a16="http://schemas.microsoft.com/office/drawing/2014/main" id="{D00D4376-3DA4-6A04-D213-AF620683E228}"/>
              </a:ext>
            </a:extLst>
          </p:cNvPr>
          <p:cNvSpPr>
            <a:spLocks noGrp="1"/>
          </p:cNvSpPr>
          <p:nvPr>
            <p:ph type="dt" sz="quarter" idx="10"/>
          </p:nvPr>
        </p:nvSpPr>
        <p:spPr/>
        <p:txBody>
          <a:bodyPr/>
          <a:lstStyle/>
          <a:p>
            <a:pPr>
              <a:defRPr/>
            </a:pPr>
            <a:fld id="{D34D3059-C5FA-4813-AAC3-24378DA6B675}"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6F35663B-8699-4075-2DFC-62E5EBD1944A}"/>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41C78133-A9A2-BCF8-103B-F12409C58755}"/>
              </a:ext>
            </a:extLst>
          </p:cNvPr>
          <p:cNvSpPr>
            <a:spLocks noGrp="1"/>
          </p:cNvSpPr>
          <p:nvPr>
            <p:ph type="sldNum" sz="quarter" idx="12"/>
          </p:nvPr>
        </p:nvSpPr>
        <p:spPr/>
        <p:txBody>
          <a:bodyPr/>
          <a:lstStyle/>
          <a:p>
            <a:pPr>
              <a:defRPr/>
            </a:pPr>
            <a:fld id="{605FC753-4D38-46E9-9EFD-E76166978A8F}" type="slidenum">
              <a:rPr lang="en-US" altLang="en-US"/>
              <a:pPr>
                <a:defRPr/>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6">
            <a:extLst>
              <a:ext uri="{FF2B5EF4-FFF2-40B4-BE49-F238E27FC236}">
                <a16:creationId xmlns:a16="http://schemas.microsoft.com/office/drawing/2014/main" id="{FA507958-B89C-E0BB-8FED-494A25EB28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57313"/>
            <a:ext cx="8458200"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6D7BAAC9-8F3F-1267-D483-AB6752DC86C2}"/>
              </a:ext>
            </a:extLst>
          </p:cNvPr>
          <p:cNvSpPr>
            <a:spLocks noGrp="1"/>
          </p:cNvSpPr>
          <p:nvPr>
            <p:ph type="title"/>
          </p:nvPr>
        </p:nvSpPr>
        <p:spPr/>
        <p:txBody>
          <a:bodyPr/>
          <a:lstStyle/>
          <a:p>
            <a:pPr eaLnBrk="1" fontAlgn="auto" hangingPunct="1">
              <a:spcAft>
                <a:spcPts val="0"/>
              </a:spcAft>
              <a:defRPr/>
            </a:pPr>
            <a:r>
              <a:rPr lang="en-IN" b="1" dirty="0">
                <a:latin typeface="Cambria,Bold"/>
              </a:rPr>
              <a:t>Course objectives:</a:t>
            </a:r>
            <a:br>
              <a:rPr lang="en-IN" b="1" dirty="0">
                <a:latin typeface="Cambria,Bold"/>
              </a:rPr>
            </a:br>
            <a:endParaRPr lang="en-IN" dirty="0"/>
          </a:p>
        </p:txBody>
      </p:sp>
      <p:sp>
        <p:nvSpPr>
          <p:cNvPr id="3" name="Content Placeholder 2">
            <a:extLst>
              <a:ext uri="{FF2B5EF4-FFF2-40B4-BE49-F238E27FC236}">
                <a16:creationId xmlns:a16="http://schemas.microsoft.com/office/drawing/2014/main" id="{045AB38B-3560-30B0-8F7C-D73C2BE46629}"/>
              </a:ext>
            </a:extLst>
          </p:cNvPr>
          <p:cNvSpPr>
            <a:spLocks noGrp="1"/>
          </p:cNvSpPr>
          <p:nvPr>
            <p:ph idx="1"/>
          </p:nvPr>
        </p:nvSpPr>
        <p:spPr>
          <a:xfrm>
            <a:off x="381000" y="2193925"/>
            <a:ext cx="8169275" cy="3749675"/>
          </a:xfrm>
        </p:spPr>
        <p:txBody>
          <a:bodyPr rtlCol="0">
            <a:normAutofit/>
          </a:bodyPr>
          <a:lstStyle/>
          <a:p>
            <a:pPr eaLnBrk="1" fontAlgn="auto" hangingPunct="1">
              <a:spcAft>
                <a:spcPts val="0"/>
              </a:spcAft>
              <a:defRPr/>
            </a:pPr>
            <a:r>
              <a:rPr lang="en-IN" sz="2400" b="1" dirty="0">
                <a:highlight>
                  <a:srgbClr val="FFFF00"/>
                </a:highlight>
              </a:rPr>
              <a:t>To learn primitive constructs JAVA programming language.</a:t>
            </a:r>
          </a:p>
          <a:p>
            <a:pPr eaLnBrk="1" fontAlgn="auto" hangingPunct="1">
              <a:spcAft>
                <a:spcPts val="0"/>
              </a:spcAft>
              <a:defRPr/>
            </a:pPr>
            <a:r>
              <a:rPr lang="en-IN" sz="2400" b="1" dirty="0">
                <a:highlight>
                  <a:srgbClr val="FFFF00"/>
                </a:highlight>
              </a:rPr>
              <a:t>To understand Object Oriented Programming fundamental Features of JAVA.</a:t>
            </a:r>
          </a:p>
          <a:p>
            <a:pPr eaLnBrk="1" fontAlgn="auto" hangingPunct="1">
              <a:spcAft>
                <a:spcPts val="0"/>
              </a:spcAft>
              <a:defRPr/>
            </a:pPr>
            <a:r>
              <a:rPr lang="en-IN" sz="2400" b="1" dirty="0">
                <a:highlight>
                  <a:srgbClr val="FFFF00"/>
                </a:highlight>
              </a:rPr>
              <a:t>To gain knowledge on: Class, Objects, Inheritance and packages, multithreaded programming and exceptions.</a:t>
            </a:r>
          </a:p>
          <a:p>
            <a:pPr marL="0" indent="0" eaLnBrk="1" fontAlgn="auto" hangingPunct="1">
              <a:spcAft>
                <a:spcPts val="0"/>
              </a:spcAft>
              <a:buFont typeface="Arial" panose="020B0604020202020204" pitchFamily="34" charset="0"/>
              <a:buNone/>
              <a:defRPr/>
            </a:pPr>
            <a:endParaRPr lang="en-IN" dirty="0">
              <a:highlight>
                <a:srgbClr val="FFFF00"/>
              </a:highlight>
            </a:endParaRPr>
          </a:p>
        </p:txBody>
      </p:sp>
      <p:sp>
        <p:nvSpPr>
          <p:cNvPr id="4" name="Date Placeholder 3">
            <a:extLst>
              <a:ext uri="{FF2B5EF4-FFF2-40B4-BE49-F238E27FC236}">
                <a16:creationId xmlns:a16="http://schemas.microsoft.com/office/drawing/2014/main" id="{BD700993-D275-9778-9EC7-02DF1E2C0090}"/>
              </a:ext>
            </a:extLst>
          </p:cNvPr>
          <p:cNvSpPr>
            <a:spLocks noGrp="1"/>
          </p:cNvSpPr>
          <p:nvPr>
            <p:ph type="dt" sz="quarter" idx="10"/>
          </p:nvPr>
        </p:nvSpPr>
        <p:spPr/>
        <p:txBody>
          <a:bodyPr/>
          <a:lstStyle/>
          <a:p>
            <a:pPr>
              <a:defRPr/>
            </a:pPr>
            <a:fld id="{02737914-A3E3-4149-8C03-73E5B6100CC0}"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B9511C7A-87DC-9D3A-0504-357725F2689C}"/>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B0D8CA98-F757-9131-F96A-D88BF299C148}"/>
              </a:ext>
            </a:extLst>
          </p:cNvPr>
          <p:cNvSpPr>
            <a:spLocks noGrp="1"/>
          </p:cNvSpPr>
          <p:nvPr>
            <p:ph type="sldNum" sz="quarter" idx="12"/>
          </p:nvPr>
        </p:nvSpPr>
        <p:spPr/>
        <p:txBody>
          <a:bodyPr/>
          <a:lstStyle/>
          <a:p>
            <a:pPr>
              <a:defRPr/>
            </a:pPr>
            <a:fld id="{4CAD22D3-BB4D-4E98-8A59-3F2E2B2010E9}" type="slidenum">
              <a:rPr lang="en-US" altLang="en-US"/>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12AA3-3D82-DCA0-D67B-BE1A696337B0}"/>
              </a:ext>
            </a:extLst>
          </p:cNvPr>
          <p:cNvSpPr>
            <a:spLocks noGrp="1"/>
          </p:cNvSpPr>
          <p:nvPr>
            <p:ph type="title"/>
          </p:nvPr>
        </p:nvSpPr>
        <p:spPr>
          <a:xfrm>
            <a:off x="152400" y="763588"/>
            <a:ext cx="8397875" cy="1293812"/>
          </a:xfrm>
        </p:spPr>
        <p:txBody>
          <a:bodyPr/>
          <a:lstStyle/>
          <a:p>
            <a:pPr algn="ctr" eaLnBrk="1" fontAlgn="auto" hangingPunct="1">
              <a:spcBef>
                <a:spcPts val="1000"/>
              </a:spcBef>
              <a:spcAft>
                <a:spcPts val="0"/>
              </a:spcAft>
              <a:defRPr/>
            </a:pPr>
            <a:r>
              <a:rPr lang="en-IN" sz="3200" b="1" dirty="0">
                <a:latin typeface="+mn-lt"/>
                <a:ea typeface="+mn-ea"/>
                <a:cs typeface="+mn-cs"/>
              </a:rPr>
              <a:t>Module-1</a:t>
            </a:r>
          </a:p>
        </p:txBody>
      </p:sp>
      <p:sp>
        <p:nvSpPr>
          <p:cNvPr id="3" name="Content Placeholder 2">
            <a:extLst>
              <a:ext uri="{FF2B5EF4-FFF2-40B4-BE49-F238E27FC236}">
                <a16:creationId xmlns:a16="http://schemas.microsoft.com/office/drawing/2014/main" id="{849E0DA3-FBDD-00EE-CFE2-2AA674EFD682}"/>
              </a:ext>
            </a:extLst>
          </p:cNvPr>
          <p:cNvSpPr>
            <a:spLocks noGrp="1"/>
          </p:cNvSpPr>
          <p:nvPr>
            <p:ph idx="1"/>
          </p:nvPr>
        </p:nvSpPr>
        <p:spPr/>
        <p:txBody>
          <a:bodyPr rtlCol="0">
            <a:normAutofit fontScale="40000" lnSpcReduction="20000"/>
          </a:bodyPr>
          <a:lstStyle/>
          <a:p>
            <a:pPr eaLnBrk="1" fontAlgn="auto" hangingPunct="1">
              <a:spcAft>
                <a:spcPts val="0"/>
              </a:spcAft>
              <a:defRPr/>
            </a:pPr>
            <a:endParaRPr lang="en-IN" sz="1800" b="1" dirty="0"/>
          </a:p>
          <a:p>
            <a:pPr eaLnBrk="1" fontAlgn="auto" hangingPunct="1">
              <a:lnSpc>
                <a:spcPct val="110000"/>
              </a:lnSpc>
              <a:spcAft>
                <a:spcPts val="0"/>
              </a:spcAft>
              <a:defRPr/>
            </a:pPr>
            <a:r>
              <a:rPr lang="en-IN" sz="5600" b="1" dirty="0"/>
              <a:t>An Overview of Java: Object-Oriented Programming (Two Paradigms, Abstraction, The Three OOP Principles), Using Blocks of Code, Lexical Issues (</a:t>
            </a:r>
            <a:r>
              <a:rPr lang="en-IN" sz="5500" b="1" dirty="0"/>
              <a:t>Whitespace</a:t>
            </a:r>
            <a:r>
              <a:rPr lang="en-IN" sz="5600" b="1" dirty="0"/>
              <a:t>, Identifiers, Literals, Comments, Separators, The Java Keywords).</a:t>
            </a:r>
          </a:p>
          <a:p>
            <a:pPr eaLnBrk="1" fontAlgn="auto" hangingPunct="1">
              <a:lnSpc>
                <a:spcPct val="110000"/>
              </a:lnSpc>
              <a:spcAft>
                <a:spcPts val="0"/>
              </a:spcAft>
              <a:defRPr/>
            </a:pPr>
            <a:r>
              <a:rPr lang="en-IN" sz="5600" b="1" dirty="0"/>
              <a:t>Data Types, Variables, and Arrays: The Primitive Types (Integers, Floating-Point Types, Characters, Booleans), Variables, Type Conversion and Casting, Automatic Type Promotion in Expressions, Arrays, </a:t>
            </a:r>
            <a:r>
              <a:rPr lang="en-IN" sz="6000" b="1" dirty="0"/>
              <a:t>Introducing Type Inference with Local Variables.</a:t>
            </a:r>
          </a:p>
          <a:p>
            <a:pPr eaLnBrk="1" fontAlgn="auto" hangingPunct="1">
              <a:lnSpc>
                <a:spcPct val="110000"/>
              </a:lnSpc>
              <a:spcAft>
                <a:spcPts val="0"/>
              </a:spcAft>
              <a:defRPr/>
            </a:pPr>
            <a:endParaRPr lang="en-IN" sz="5600" b="1" dirty="0"/>
          </a:p>
        </p:txBody>
      </p:sp>
      <p:sp>
        <p:nvSpPr>
          <p:cNvPr id="4" name="Date Placeholder 3">
            <a:extLst>
              <a:ext uri="{FF2B5EF4-FFF2-40B4-BE49-F238E27FC236}">
                <a16:creationId xmlns:a16="http://schemas.microsoft.com/office/drawing/2014/main" id="{0942DED5-C9D9-50DD-B933-1088DB5130DD}"/>
              </a:ext>
            </a:extLst>
          </p:cNvPr>
          <p:cNvSpPr>
            <a:spLocks noGrp="1"/>
          </p:cNvSpPr>
          <p:nvPr>
            <p:ph type="dt" sz="quarter" idx="10"/>
          </p:nvPr>
        </p:nvSpPr>
        <p:spPr/>
        <p:txBody>
          <a:bodyPr/>
          <a:lstStyle/>
          <a:p>
            <a:pPr>
              <a:defRPr/>
            </a:pPr>
            <a:fld id="{9F33DF84-ECC9-4EEE-B9FA-69AB63224EEF}"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4CD3C396-28AC-907D-FF5E-2B9AA9BF1809}"/>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3EA7D6CD-591D-1C6B-F2F2-47B44C47E4EC}"/>
              </a:ext>
            </a:extLst>
          </p:cNvPr>
          <p:cNvSpPr>
            <a:spLocks noGrp="1"/>
          </p:cNvSpPr>
          <p:nvPr>
            <p:ph type="sldNum" sz="quarter" idx="12"/>
          </p:nvPr>
        </p:nvSpPr>
        <p:spPr/>
        <p:txBody>
          <a:bodyPr/>
          <a:lstStyle/>
          <a:p>
            <a:pPr>
              <a:defRPr/>
            </a:pPr>
            <a:fld id="{DB8DE4CD-8BFD-4F92-B177-AFB8EC5418FC}" type="slidenum">
              <a:rPr lang="en-US" altLang="en-US"/>
              <a:pPr>
                <a:defRPr/>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03F39-2605-81DE-F8A6-AB0BACA9FD31}"/>
              </a:ext>
            </a:extLst>
          </p:cNvPr>
          <p:cNvSpPr>
            <a:spLocks noGrp="1"/>
          </p:cNvSpPr>
          <p:nvPr>
            <p:ph type="title"/>
          </p:nvPr>
        </p:nvSpPr>
        <p:spPr>
          <a:xfrm>
            <a:off x="-76200" y="763588"/>
            <a:ext cx="8626475" cy="1293812"/>
          </a:xfrm>
        </p:spPr>
        <p:txBody>
          <a:bodyPr/>
          <a:lstStyle/>
          <a:p>
            <a:pPr algn="ctr" eaLnBrk="1" fontAlgn="auto" hangingPunct="1">
              <a:spcAft>
                <a:spcPts val="0"/>
              </a:spcAft>
              <a:defRPr/>
            </a:pPr>
            <a:r>
              <a:rPr lang="en-IN" sz="2800" b="1" dirty="0">
                <a:latin typeface="+mn-lt"/>
                <a:ea typeface="+mn-ea"/>
                <a:cs typeface="+mn-cs"/>
              </a:rPr>
              <a:t>Module-1</a:t>
            </a:r>
            <a:endParaRPr lang="en-IN" sz="2400" dirty="0">
              <a:latin typeface="+mn-lt"/>
              <a:ea typeface="+mn-ea"/>
              <a:cs typeface="+mn-cs"/>
            </a:endParaRPr>
          </a:p>
        </p:txBody>
      </p:sp>
      <p:sp>
        <p:nvSpPr>
          <p:cNvPr id="14339" name="Content Placeholder 2">
            <a:extLst>
              <a:ext uri="{FF2B5EF4-FFF2-40B4-BE49-F238E27FC236}">
                <a16:creationId xmlns:a16="http://schemas.microsoft.com/office/drawing/2014/main" id="{B3C0AFF5-D56C-4E86-99C6-CF461911F469}"/>
              </a:ext>
            </a:extLst>
          </p:cNvPr>
          <p:cNvSpPr>
            <a:spLocks noGrp="1" noChangeArrowheads="1"/>
          </p:cNvSpPr>
          <p:nvPr>
            <p:ph idx="1"/>
          </p:nvPr>
        </p:nvSpPr>
        <p:spPr>
          <a:xfrm>
            <a:off x="593724" y="2193925"/>
            <a:ext cx="8321675" cy="4070350"/>
          </a:xfrm>
        </p:spPr>
        <p:txBody>
          <a:bodyPr/>
          <a:lstStyle/>
          <a:p>
            <a:pPr eaLnBrk="1" hangingPunct="1"/>
            <a:r>
              <a:rPr lang="en-IN" altLang="en-US" b="1" dirty="0"/>
              <a:t>Operators: Arithmetic Operators, Relational Operators, Boolean Logical Operators, The Assignment Operator, The ? Operator, Operator Precedence, Using Parentheses.</a:t>
            </a:r>
          </a:p>
          <a:p>
            <a:pPr eaLnBrk="1" hangingPunct="1"/>
            <a:r>
              <a:rPr lang="en-IN" altLang="en-US" b="1" dirty="0"/>
              <a:t>Control Statements: Java’s Selection Statements (if, The Traditional switch), Iteration Statements (while, do-while, for, The For-Each Version of the for Loop, Local Variable Type Inference in a for Loop, Nested Loops), Jump Statements (Using break, Using continue, return).</a:t>
            </a:r>
          </a:p>
          <a:p>
            <a:pPr eaLnBrk="1" hangingPunct="1"/>
            <a:r>
              <a:rPr lang="fr-FR" altLang="en-US" b="1" i="1" dirty="0" err="1"/>
              <a:t>Chapters</a:t>
            </a:r>
            <a:r>
              <a:rPr lang="fr-FR" altLang="en-US" b="1" i="1" dirty="0"/>
              <a:t> 2, 3, 4, 5</a:t>
            </a:r>
            <a:endParaRPr lang="en-IN" altLang="en-US" b="1" i="1" dirty="0"/>
          </a:p>
          <a:p>
            <a:pPr eaLnBrk="1" hangingPunct="1"/>
            <a:endParaRPr lang="en-IN" altLang="en-US" dirty="0"/>
          </a:p>
        </p:txBody>
      </p:sp>
      <p:sp>
        <p:nvSpPr>
          <p:cNvPr id="4" name="Date Placeholder 3">
            <a:extLst>
              <a:ext uri="{FF2B5EF4-FFF2-40B4-BE49-F238E27FC236}">
                <a16:creationId xmlns:a16="http://schemas.microsoft.com/office/drawing/2014/main" id="{3485B260-48A5-655F-D0C4-2D986A748383}"/>
              </a:ext>
            </a:extLst>
          </p:cNvPr>
          <p:cNvSpPr>
            <a:spLocks noGrp="1"/>
          </p:cNvSpPr>
          <p:nvPr>
            <p:ph type="dt" sz="quarter" idx="10"/>
          </p:nvPr>
        </p:nvSpPr>
        <p:spPr/>
        <p:txBody>
          <a:bodyPr/>
          <a:lstStyle/>
          <a:p>
            <a:pPr>
              <a:defRPr/>
            </a:pPr>
            <a:fld id="{9F33DF84-ECC9-4EEE-B9FA-69AB63224EEF}"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C160C8BD-8811-97FD-51E1-42EA08FA6B67}"/>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56C7B5B8-B42C-505E-3644-632D37991424}"/>
              </a:ext>
            </a:extLst>
          </p:cNvPr>
          <p:cNvSpPr>
            <a:spLocks noGrp="1"/>
          </p:cNvSpPr>
          <p:nvPr>
            <p:ph type="sldNum" sz="quarter" idx="12"/>
          </p:nvPr>
        </p:nvSpPr>
        <p:spPr/>
        <p:txBody>
          <a:bodyPr/>
          <a:lstStyle/>
          <a:p>
            <a:pPr>
              <a:defRPr/>
            </a:pPr>
            <a:fld id="{4DDB5CD1-2685-4582-B2C0-85A919DF9288}" type="slidenum">
              <a:rPr lang="en-US" altLang="en-US"/>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17A4-353D-4A3C-19FD-A5782D05605A}"/>
              </a:ext>
            </a:extLst>
          </p:cNvPr>
          <p:cNvSpPr>
            <a:spLocks noGrp="1"/>
          </p:cNvSpPr>
          <p:nvPr>
            <p:ph type="title"/>
          </p:nvPr>
        </p:nvSpPr>
        <p:spPr>
          <a:xfrm>
            <a:off x="-76200" y="763588"/>
            <a:ext cx="8626475" cy="1293812"/>
          </a:xfrm>
        </p:spPr>
        <p:txBody>
          <a:bodyPr/>
          <a:lstStyle/>
          <a:p>
            <a:pPr algn="ctr" eaLnBrk="1" fontAlgn="auto" hangingPunct="1">
              <a:spcAft>
                <a:spcPts val="0"/>
              </a:spcAft>
              <a:defRPr/>
            </a:pPr>
            <a:r>
              <a:rPr lang="en-IN" sz="2800" b="1" dirty="0">
                <a:latin typeface="+mn-lt"/>
                <a:ea typeface="+mn-ea"/>
                <a:cs typeface="+mn-cs"/>
              </a:rPr>
              <a:t>Module-2</a:t>
            </a:r>
            <a:endParaRPr lang="en-IN" sz="2400" dirty="0">
              <a:latin typeface="+mn-lt"/>
              <a:ea typeface="+mn-ea"/>
              <a:cs typeface="+mn-cs"/>
            </a:endParaRPr>
          </a:p>
        </p:txBody>
      </p:sp>
      <p:sp>
        <p:nvSpPr>
          <p:cNvPr id="3" name="Content Placeholder 2">
            <a:extLst>
              <a:ext uri="{FF2B5EF4-FFF2-40B4-BE49-F238E27FC236}">
                <a16:creationId xmlns:a16="http://schemas.microsoft.com/office/drawing/2014/main" id="{F2C44AF5-2443-A2CB-7064-344ACAFB95C6}"/>
              </a:ext>
            </a:extLst>
          </p:cNvPr>
          <p:cNvSpPr>
            <a:spLocks noGrp="1"/>
          </p:cNvSpPr>
          <p:nvPr>
            <p:ph idx="1"/>
          </p:nvPr>
        </p:nvSpPr>
        <p:spPr/>
        <p:txBody>
          <a:bodyPr rtlCol="0">
            <a:normAutofit/>
          </a:bodyPr>
          <a:lstStyle/>
          <a:p>
            <a:pPr eaLnBrk="1" fontAlgn="auto" hangingPunct="1">
              <a:spcAft>
                <a:spcPts val="0"/>
              </a:spcAft>
              <a:defRPr/>
            </a:pPr>
            <a:r>
              <a:rPr lang="en-IN" b="1" dirty="0"/>
              <a:t>Introducing Classes: Class Fundamentals, Declaring Objects, Assigning Object Reference Variables,</a:t>
            </a:r>
          </a:p>
          <a:p>
            <a:pPr eaLnBrk="1" fontAlgn="auto" hangingPunct="1">
              <a:spcAft>
                <a:spcPts val="0"/>
              </a:spcAft>
              <a:defRPr/>
            </a:pPr>
            <a:r>
              <a:rPr lang="en-IN" b="1" dirty="0"/>
              <a:t>Introducing Methods, Constructors, The this Keyword, Garbage Collection.</a:t>
            </a:r>
          </a:p>
          <a:p>
            <a:pPr eaLnBrk="1" fontAlgn="auto" hangingPunct="1">
              <a:spcAft>
                <a:spcPts val="0"/>
              </a:spcAft>
              <a:defRPr/>
            </a:pPr>
            <a:r>
              <a:rPr lang="en-IN" b="1" dirty="0"/>
              <a:t>Methods and Classes: Overloading Methods, Objects as Parameters, Argument Passing, Returning Objects, Recursion, Access Control, Understanding static, Introducing final, Introducing Nested and Inner Classes.</a:t>
            </a:r>
          </a:p>
          <a:p>
            <a:pPr marL="0" indent="0" eaLnBrk="1" fontAlgn="auto" hangingPunct="1">
              <a:spcAft>
                <a:spcPts val="0"/>
              </a:spcAft>
              <a:buFont typeface="Arial" panose="020B0604020202020204" pitchFamily="34" charset="0"/>
              <a:buNone/>
              <a:defRPr/>
            </a:pPr>
            <a:r>
              <a:rPr lang="en-IN" b="1" i="1" dirty="0"/>
              <a:t>Chapter 6, 7</a:t>
            </a:r>
          </a:p>
          <a:p>
            <a:pPr eaLnBrk="1" fontAlgn="auto" hangingPunct="1">
              <a:spcAft>
                <a:spcPts val="0"/>
              </a:spcAft>
              <a:defRPr/>
            </a:pPr>
            <a:endParaRPr lang="en-IN" dirty="0"/>
          </a:p>
        </p:txBody>
      </p:sp>
      <p:sp>
        <p:nvSpPr>
          <p:cNvPr id="4" name="Date Placeholder 3">
            <a:extLst>
              <a:ext uri="{FF2B5EF4-FFF2-40B4-BE49-F238E27FC236}">
                <a16:creationId xmlns:a16="http://schemas.microsoft.com/office/drawing/2014/main" id="{C99FD29C-D35A-3DE9-A2AE-092BBF183091}"/>
              </a:ext>
            </a:extLst>
          </p:cNvPr>
          <p:cNvSpPr>
            <a:spLocks noGrp="1"/>
          </p:cNvSpPr>
          <p:nvPr>
            <p:ph type="dt" sz="quarter" idx="10"/>
          </p:nvPr>
        </p:nvSpPr>
        <p:spPr/>
        <p:txBody>
          <a:bodyPr/>
          <a:lstStyle/>
          <a:p>
            <a:pPr>
              <a:defRPr/>
            </a:pPr>
            <a:fld id="{9F33DF84-ECC9-4EEE-B9FA-69AB63224EEF}"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2C3817ED-DB2C-3820-3E8C-A39914D59025}"/>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860DC91C-177A-2479-0924-F5B5E11CAFBE}"/>
              </a:ext>
            </a:extLst>
          </p:cNvPr>
          <p:cNvSpPr>
            <a:spLocks noGrp="1"/>
          </p:cNvSpPr>
          <p:nvPr>
            <p:ph type="sldNum" sz="quarter" idx="12"/>
          </p:nvPr>
        </p:nvSpPr>
        <p:spPr/>
        <p:txBody>
          <a:bodyPr/>
          <a:lstStyle/>
          <a:p>
            <a:pPr>
              <a:defRPr/>
            </a:pPr>
            <a:fld id="{05AA71FA-B3FA-43DE-9E80-395EBE35CFD1}" type="slidenum">
              <a:rPr lang="en-US" altLang="en-US"/>
              <a:pPr>
                <a:defRPr/>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4B126-B69F-80ED-8AEE-AC4447227716}"/>
              </a:ext>
            </a:extLst>
          </p:cNvPr>
          <p:cNvSpPr>
            <a:spLocks noGrp="1"/>
          </p:cNvSpPr>
          <p:nvPr>
            <p:ph type="title"/>
          </p:nvPr>
        </p:nvSpPr>
        <p:spPr>
          <a:xfrm>
            <a:off x="-76200" y="763588"/>
            <a:ext cx="8626475" cy="1293812"/>
          </a:xfrm>
        </p:spPr>
        <p:txBody>
          <a:bodyPr/>
          <a:lstStyle/>
          <a:p>
            <a:pPr algn="ctr" eaLnBrk="1" fontAlgn="auto" hangingPunct="1">
              <a:spcAft>
                <a:spcPts val="0"/>
              </a:spcAft>
              <a:defRPr/>
            </a:pPr>
            <a:r>
              <a:rPr lang="en-IN" sz="2800" b="1" dirty="0">
                <a:latin typeface="+mn-lt"/>
                <a:ea typeface="+mn-ea"/>
                <a:cs typeface="+mn-cs"/>
              </a:rPr>
              <a:t>Module-3</a:t>
            </a:r>
            <a:endParaRPr lang="en-IN" sz="2400" dirty="0">
              <a:latin typeface="+mn-lt"/>
              <a:ea typeface="+mn-ea"/>
              <a:cs typeface="+mn-cs"/>
            </a:endParaRPr>
          </a:p>
        </p:txBody>
      </p:sp>
      <p:sp>
        <p:nvSpPr>
          <p:cNvPr id="16387" name="Content Placeholder 2">
            <a:extLst>
              <a:ext uri="{FF2B5EF4-FFF2-40B4-BE49-F238E27FC236}">
                <a16:creationId xmlns:a16="http://schemas.microsoft.com/office/drawing/2014/main" id="{03250BA4-0D51-532A-7892-3585DE76A655}"/>
              </a:ext>
            </a:extLst>
          </p:cNvPr>
          <p:cNvSpPr>
            <a:spLocks noGrp="1" noChangeArrowheads="1"/>
          </p:cNvSpPr>
          <p:nvPr>
            <p:ph idx="1"/>
          </p:nvPr>
        </p:nvSpPr>
        <p:spPr/>
        <p:txBody>
          <a:bodyPr/>
          <a:lstStyle/>
          <a:p>
            <a:pPr eaLnBrk="1" hangingPunct="1">
              <a:lnSpc>
                <a:spcPct val="80000"/>
              </a:lnSpc>
            </a:pPr>
            <a:r>
              <a:rPr lang="en-IN" altLang="en-US" sz="2000" b="1" dirty="0"/>
              <a:t>Inheritance: Inheritance Basics, Using super, Creating a Multilevel Hierarchy, When Constructors Are Executed, Method Overriding, Dynamic Method Dispatch, Using Abstract Classes, Using final with Inheritance, Local Variable Type Inference and Inheritance, The Object Class.</a:t>
            </a:r>
          </a:p>
          <a:p>
            <a:pPr eaLnBrk="1" hangingPunct="1">
              <a:lnSpc>
                <a:spcPct val="80000"/>
              </a:lnSpc>
            </a:pPr>
            <a:r>
              <a:rPr lang="en-IN" altLang="en-US" sz="2000" b="1" dirty="0"/>
              <a:t>Interfaces: Interfaces, Default Interface Methods, Use static Methods in an Interface, Private Interface</a:t>
            </a:r>
          </a:p>
          <a:p>
            <a:pPr eaLnBrk="1" hangingPunct="1">
              <a:lnSpc>
                <a:spcPct val="80000"/>
              </a:lnSpc>
            </a:pPr>
            <a:r>
              <a:rPr lang="en-IN" altLang="en-US" sz="2000" b="1" dirty="0"/>
              <a:t>Methods.</a:t>
            </a:r>
          </a:p>
          <a:p>
            <a:pPr eaLnBrk="1" hangingPunct="1">
              <a:lnSpc>
                <a:spcPct val="80000"/>
              </a:lnSpc>
            </a:pPr>
            <a:r>
              <a:rPr lang="en-IN" altLang="en-US" sz="2000" b="1" dirty="0"/>
              <a:t>Chapter 8, 9</a:t>
            </a:r>
          </a:p>
        </p:txBody>
      </p:sp>
      <p:sp>
        <p:nvSpPr>
          <p:cNvPr id="4" name="Date Placeholder 3">
            <a:extLst>
              <a:ext uri="{FF2B5EF4-FFF2-40B4-BE49-F238E27FC236}">
                <a16:creationId xmlns:a16="http://schemas.microsoft.com/office/drawing/2014/main" id="{15FCCBBA-2EFF-A311-C47B-58FDB79271BE}"/>
              </a:ext>
            </a:extLst>
          </p:cNvPr>
          <p:cNvSpPr>
            <a:spLocks noGrp="1"/>
          </p:cNvSpPr>
          <p:nvPr>
            <p:ph type="dt" sz="quarter" idx="10"/>
          </p:nvPr>
        </p:nvSpPr>
        <p:spPr/>
        <p:txBody>
          <a:bodyPr/>
          <a:lstStyle/>
          <a:p>
            <a:pPr>
              <a:defRPr/>
            </a:pPr>
            <a:fld id="{9F33DF84-ECC9-4EEE-B9FA-69AB63224EEF}"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CAC7F5FF-0BCB-DD7B-C86B-B3059EA9DC72}"/>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7CDB7082-EE38-C5E1-0997-DB2DED20F915}"/>
              </a:ext>
            </a:extLst>
          </p:cNvPr>
          <p:cNvSpPr>
            <a:spLocks noGrp="1"/>
          </p:cNvSpPr>
          <p:nvPr>
            <p:ph type="sldNum" sz="quarter" idx="12"/>
          </p:nvPr>
        </p:nvSpPr>
        <p:spPr/>
        <p:txBody>
          <a:bodyPr/>
          <a:lstStyle/>
          <a:p>
            <a:pPr>
              <a:defRPr/>
            </a:pPr>
            <a:fld id="{C4CBBF28-A173-4F2B-97FA-37F1F36DAE70}" type="slidenum">
              <a:rPr lang="en-US" altLang="en-US"/>
              <a:pPr>
                <a:defRPr/>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C66E-3013-2CF8-8818-211FF370D382}"/>
              </a:ext>
            </a:extLst>
          </p:cNvPr>
          <p:cNvSpPr>
            <a:spLocks noGrp="1"/>
          </p:cNvSpPr>
          <p:nvPr>
            <p:ph type="title"/>
          </p:nvPr>
        </p:nvSpPr>
        <p:spPr>
          <a:xfrm>
            <a:off x="-76200" y="763588"/>
            <a:ext cx="8626475" cy="1293812"/>
          </a:xfrm>
        </p:spPr>
        <p:txBody>
          <a:bodyPr/>
          <a:lstStyle/>
          <a:p>
            <a:pPr algn="ctr" eaLnBrk="1" fontAlgn="auto" hangingPunct="1">
              <a:spcAft>
                <a:spcPts val="0"/>
              </a:spcAft>
              <a:defRPr/>
            </a:pPr>
            <a:r>
              <a:rPr lang="en-IN" sz="2800" b="1" dirty="0">
                <a:latin typeface="+mn-lt"/>
                <a:ea typeface="+mn-ea"/>
                <a:cs typeface="+mn-cs"/>
              </a:rPr>
              <a:t>Module- 4</a:t>
            </a:r>
            <a:endParaRPr lang="en-IN" sz="2400" dirty="0">
              <a:latin typeface="+mn-lt"/>
              <a:ea typeface="+mn-ea"/>
              <a:cs typeface="+mn-cs"/>
            </a:endParaRPr>
          </a:p>
        </p:txBody>
      </p:sp>
      <p:sp>
        <p:nvSpPr>
          <p:cNvPr id="17411" name="Content Placeholder 2">
            <a:extLst>
              <a:ext uri="{FF2B5EF4-FFF2-40B4-BE49-F238E27FC236}">
                <a16:creationId xmlns:a16="http://schemas.microsoft.com/office/drawing/2014/main" id="{70883FA4-ECD8-C867-6D8E-B5DA14B1A3CF}"/>
              </a:ext>
            </a:extLst>
          </p:cNvPr>
          <p:cNvSpPr>
            <a:spLocks noGrp="1" noChangeArrowheads="1"/>
          </p:cNvSpPr>
          <p:nvPr>
            <p:ph idx="1"/>
          </p:nvPr>
        </p:nvSpPr>
        <p:spPr/>
        <p:txBody>
          <a:bodyPr/>
          <a:lstStyle/>
          <a:p>
            <a:pPr eaLnBrk="1" hangingPunct="1"/>
            <a:r>
              <a:rPr lang="en-IN" altLang="en-US" b="1" dirty="0"/>
              <a:t>Packages: Packages, Packages and Member Access, Importing Packages.</a:t>
            </a:r>
          </a:p>
          <a:p>
            <a:pPr eaLnBrk="1" hangingPunct="1"/>
            <a:r>
              <a:rPr lang="en-IN" altLang="en-US" b="1" dirty="0"/>
              <a:t>Exceptions: Exception-Handling Fundamentals, Exception </a:t>
            </a:r>
            <a:r>
              <a:rPr lang="en-IN" altLang="en-US" sz="2000" b="1" dirty="0"/>
              <a:t>Types</a:t>
            </a:r>
            <a:r>
              <a:rPr lang="en-IN" altLang="en-US" b="1" dirty="0"/>
              <a:t>, Uncaught Exceptions, Using try and catch, Multiple catch Clauses, Nested try Statements, throw, throws, finally, Java’s Built-in Exceptions,</a:t>
            </a:r>
          </a:p>
          <a:p>
            <a:pPr eaLnBrk="1" hangingPunct="1"/>
            <a:r>
              <a:rPr lang="en-IN" altLang="en-US" b="1" dirty="0"/>
              <a:t>Creating Your Own Exception Subclasses, Chained Exceptions.</a:t>
            </a:r>
          </a:p>
          <a:p>
            <a:pPr eaLnBrk="1" hangingPunct="1"/>
            <a:r>
              <a:rPr lang="en-IN" altLang="en-US" b="1" dirty="0"/>
              <a:t>Chapter 9, 10</a:t>
            </a:r>
            <a:endParaRPr lang="en-IN" altLang="en-US" dirty="0"/>
          </a:p>
        </p:txBody>
      </p:sp>
      <p:sp>
        <p:nvSpPr>
          <p:cNvPr id="4" name="Date Placeholder 3">
            <a:extLst>
              <a:ext uri="{FF2B5EF4-FFF2-40B4-BE49-F238E27FC236}">
                <a16:creationId xmlns:a16="http://schemas.microsoft.com/office/drawing/2014/main" id="{3AFFEC1B-DC46-CF2C-B951-1C7A781BF79A}"/>
              </a:ext>
            </a:extLst>
          </p:cNvPr>
          <p:cNvSpPr>
            <a:spLocks noGrp="1"/>
          </p:cNvSpPr>
          <p:nvPr>
            <p:ph type="dt" sz="quarter" idx="10"/>
          </p:nvPr>
        </p:nvSpPr>
        <p:spPr/>
        <p:txBody>
          <a:bodyPr/>
          <a:lstStyle/>
          <a:p>
            <a:pPr>
              <a:defRPr/>
            </a:pPr>
            <a:fld id="{9F33DF84-ECC9-4EEE-B9FA-69AB63224EEF}"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2F64E0C6-F080-3684-C1C9-2F9B939F7BFA}"/>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3D30E8B3-950A-3B66-3C0D-A53AD473CA18}"/>
              </a:ext>
            </a:extLst>
          </p:cNvPr>
          <p:cNvSpPr>
            <a:spLocks noGrp="1"/>
          </p:cNvSpPr>
          <p:nvPr>
            <p:ph type="sldNum" sz="quarter" idx="12"/>
          </p:nvPr>
        </p:nvSpPr>
        <p:spPr/>
        <p:txBody>
          <a:bodyPr/>
          <a:lstStyle/>
          <a:p>
            <a:pPr>
              <a:defRPr/>
            </a:pPr>
            <a:fld id="{2B2DD987-8C16-4CEE-AC3E-986503312093}" type="slidenum">
              <a:rPr lang="en-US" altLang="en-US"/>
              <a:pPr>
                <a:defRPr/>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FF2F4-F332-87C1-B845-96ADCB7E9653}"/>
              </a:ext>
            </a:extLst>
          </p:cNvPr>
          <p:cNvSpPr>
            <a:spLocks noGrp="1"/>
          </p:cNvSpPr>
          <p:nvPr>
            <p:ph type="title"/>
          </p:nvPr>
        </p:nvSpPr>
        <p:spPr>
          <a:xfrm>
            <a:off x="-76200" y="763588"/>
            <a:ext cx="8626475" cy="1293812"/>
          </a:xfrm>
        </p:spPr>
        <p:txBody>
          <a:bodyPr/>
          <a:lstStyle/>
          <a:p>
            <a:pPr algn="ctr" eaLnBrk="1" fontAlgn="auto" hangingPunct="1">
              <a:spcAft>
                <a:spcPts val="0"/>
              </a:spcAft>
              <a:defRPr/>
            </a:pPr>
            <a:r>
              <a:rPr lang="en-IN" sz="2800" b="1" dirty="0">
                <a:latin typeface="+mn-lt"/>
                <a:ea typeface="+mn-ea"/>
                <a:cs typeface="+mn-cs"/>
              </a:rPr>
              <a:t>Module-5</a:t>
            </a:r>
            <a:endParaRPr lang="en-IN" sz="2400" dirty="0">
              <a:latin typeface="+mn-lt"/>
              <a:ea typeface="+mn-ea"/>
              <a:cs typeface="+mn-cs"/>
            </a:endParaRPr>
          </a:p>
        </p:txBody>
      </p:sp>
      <p:sp>
        <p:nvSpPr>
          <p:cNvPr id="18435" name="Content Placeholder 2">
            <a:extLst>
              <a:ext uri="{FF2B5EF4-FFF2-40B4-BE49-F238E27FC236}">
                <a16:creationId xmlns:a16="http://schemas.microsoft.com/office/drawing/2014/main" id="{7A2294DA-5005-6E46-98CE-6E9F71002470}"/>
              </a:ext>
            </a:extLst>
          </p:cNvPr>
          <p:cNvSpPr>
            <a:spLocks noGrp="1" noChangeArrowheads="1"/>
          </p:cNvSpPr>
          <p:nvPr>
            <p:ph idx="1"/>
          </p:nvPr>
        </p:nvSpPr>
        <p:spPr>
          <a:xfrm>
            <a:off x="685800" y="1752600"/>
            <a:ext cx="7954963" cy="4068763"/>
          </a:xfrm>
        </p:spPr>
        <p:txBody>
          <a:bodyPr/>
          <a:lstStyle/>
          <a:p>
            <a:pPr eaLnBrk="1" hangingPunct="1">
              <a:lnSpc>
                <a:spcPct val="110000"/>
              </a:lnSpc>
            </a:pPr>
            <a:r>
              <a:rPr lang="en-IN" altLang="en-US" sz="2000" b="1" dirty="0"/>
              <a:t>Multithreaded Programming: The Java Thread Model, The Main Thread, Creating a Thread, Creating Multiple Threads, Using </a:t>
            </a:r>
            <a:r>
              <a:rPr lang="en-IN" altLang="en-US" sz="2000" b="1" dirty="0" err="1"/>
              <a:t>isAlive</a:t>
            </a:r>
            <a:r>
              <a:rPr lang="en-IN" altLang="en-US" sz="2000" b="1" dirty="0"/>
              <a:t>() and join(), Thread Priorities, Synchronization, Interthread Communication, Suspending, Resuming, and Stopping Threads, Obtaining a Thread’s State.</a:t>
            </a:r>
          </a:p>
          <a:p>
            <a:pPr eaLnBrk="1" hangingPunct="1">
              <a:lnSpc>
                <a:spcPct val="110000"/>
              </a:lnSpc>
            </a:pPr>
            <a:r>
              <a:rPr lang="en-IN" altLang="en-US" sz="2000" b="1" dirty="0"/>
              <a:t>Enumerations, Type Wrappers and Autoboxing: Enumerations (Enumeration Fundamentals, The</a:t>
            </a:r>
            <a:r>
              <a:rPr lang="en-IN" altLang="en-US" b="1" dirty="0"/>
              <a:t> </a:t>
            </a:r>
            <a:r>
              <a:rPr lang="en-IN" altLang="en-US" sz="2000" b="1" dirty="0"/>
              <a:t>values() and </a:t>
            </a:r>
            <a:r>
              <a:rPr lang="en-IN" altLang="en-US" sz="2000" b="1" dirty="0" err="1"/>
              <a:t>valueOf</a:t>
            </a:r>
            <a:r>
              <a:rPr lang="en-IN" altLang="en-US" sz="2000" b="1" dirty="0"/>
              <a:t>() Methods), Type Wrappers (Character, Boolean, The Numeric Type Wrappers), Autoboxing (Autoboxing and </a:t>
            </a:r>
            <a:r>
              <a:rPr lang="en-IN" altLang="en-US" b="1" dirty="0"/>
              <a:t>Methods</a:t>
            </a:r>
            <a:r>
              <a:rPr lang="en-IN" altLang="en-US" sz="2000" b="1" dirty="0"/>
              <a:t>, Autoboxing/Unboxing Occurs in Expressions, Autoboxing/Unboxing Boolean and Character Values).</a:t>
            </a:r>
          </a:p>
          <a:p>
            <a:pPr eaLnBrk="1" hangingPunct="1">
              <a:lnSpc>
                <a:spcPct val="110000"/>
              </a:lnSpc>
            </a:pPr>
            <a:r>
              <a:rPr lang="en-IN" altLang="en-US" sz="2000" b="1" dirty="0"/>
              <a:t>Chapter 11, 12</a:t>
            </a:r>
          </a:p>
        </p:txBody>
      </p:sp>
      <p:sp>
        <p:nvSpPr>
          <p:cNvPr id="4" name="Date Placeholder 3">
            <a:extLst>
              <a:ext uri="{FF2B5EF4-FFF2-40B4-BE49-F238E27FC236}">
                <a16:creationId xmlns:a16="http://schemas.microsoft.com/office/drawing/2014/main" id="{5515D7FA-196D-CD20-89AC-94B93C43CA5A}"/>
              </a:ext>
            </a:extLst>
          </p:cNvPr>
          <p:cNvSpPr>
            <a:spLocks noGrp="1"/>
          </p:cNvSpPr>
          <p:nvPr>
            <p:ph type="dt" sz="quarter" idx="10"/>
          </p:nvPr>
        </p:nvSpPr>
        <p:spPr/>
        <p:txBody>
          <a:bodyPr/>
          <a:lstStyle/>
          <a:p>
            <a:pPr>
              <a:defRPr/>
            </a:pPr>
            <a:fld id="{9F33DF84-ECC9-4EEE-B9FA-69AB63224EEF}"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0B69CDD4-4EE9-5742-4B1B-3C3586CCAEDE}"/>
              </a:ext>
            </a:extLst>
          </p:cNvPr>
          <p:cNvSpPr>
            <a:spLocks noGrp="1"/>
          </p:cNvSpPr>
          <p:nvPr>
            <p:ph type="ftr" sz="quarter" idx="11"/>
          </p:nvPr>
        </p:nvSpPr>
        <p:spPr/>
        <p:txBody>
          <a:bodyPr/>
          <a:lstStyle/>
          <a:p>
            <a:pPr>
              <a:defRPr/>
            </a:pPr>
            <a:r>
              <a:rPr lang="en-IN" altLang="en-US" dirty="0"/>
              <a:t>Object Oriented Programming with Java </a:t>
            </a:r>
            <a:endParaRPr lang="en-US" altLang="en-US" sz="2000" b="1" dirty="0">
              <a:solidFill>
                <a:schemeClr val="tx1"/>
              </a:solidFill>
            </a:endParaRPr>
          </a:p>
        </p:txBody>
      </p:sp>
      <p:sp>
        <p:nvSpPr>
          <p:cNvPr id="6" name="Slide Number Placeholder 5">
            <a:extLst>
              <a:ext uri="{FF2B5EF4-FFF2-40B4-BE49-F238E27FC236}">
                <a16:creationId xmlns:a16="http://schemas.microsoft.com/office/drawing/2014/main" id="{AC5645B8-B52E-F881-4385-FAC1597B8361}"/>
              </a:ext>
            </a:extLst>
          </p:cNvPr>
          <p:cNvSpPr>
            <a:spLocks noGrp="1"/>
          </p:cNvSpPr>
          <p:nvPr>
            <p:ph type="sldNum" sz="quarter" idx="12"/>
          </p:nvPr>
        </p:nvSpPr>
        <p:spPr/>
        <p:txBody>
          <a:bodyPr/>
          <a:lstStyle/>
          <a:p>
            <a:pPr>
              <a:defRPr/>
            </a:pPr>
            <a:fld id="{00269217-4FC9-46AD-81C3-E5784ADDF368}" type="slidenum">
              <a:rPr lang="en-US" altLang="en-US"/>
              <a:pPr>
                <a:defRPr/>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A2F1F-0681-C9FB-5679-5AC168652D08}"/>
              </a:ext>
            </a:extLst>
          </p:cNvPr>
          <p:cNvSpPr>
            <a:spLocks noGrp="1"/>
          </p:cNvSpPr>
          <p:nvPr>
            <p:ph type="title"/>
          </p:nvPr>
        </p:nvSpPr>
        <p:spPr>
          <a:xfrm>
            <a:off x="381000" y="763588"/>
            <a:ext cx="8610600" cy="1293812"/>
          </a:xfrm>
        </p:spPr>
        <p:txBody>
          <a:bodyPr>
            <a:normAutofit/>
          </a:bodyPr>
          <a:lstStyle/>
          <a:p>
            <a:pPr algn="l"/>
            <a:r>
              <a:rPr lang="en-IN" sz="3200" b="1" i="0" dirty="0">
                <a:solidFill>
                  <a:srgbClr val="333333"/>
                </a:solidFill>
                <a:effectLst/>
                <a:latin typeface="+mn-lt"/>
              </a:rPr>
              <a:t>Process-Oriented Programming</a:t>
            </a:r>
            <a:endParaRPr lang="en-IN" sz="3200" b="1" dirty="0">
              <a:latin typeface="+mn-lt"/>
            </a:endParaRPr>
          </a:p>
        </p:txBody>
      </p:sp>
      <p:sp>
        <p:nvSpPr>
          <p:cNvPr id="4" name="Date Placeholder 3">
            <a:extLst>
              <a:ext uri="{FF2B5EF4-FFF2-40B4-BE49-F238E27FC236}">
                <a16:creationId xmlns:a16="http://schemas.microsoft.com/office/drawing/2014/main" id="{36008245-94FA-D9B5-D1DB-5065216A6375}"/>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CA5ED878-727E-AB7C-B332-5EA867860781}"/>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B5985C85-AB00-07BE-F4A4-C7BA9CBE93D2}"/>
              </a:ext>
            </a:extLst>
          </p:cNvPr>
          <p:cNvSpPr>
            <a:spLocks noGrp="1"/>
          </p:cNvSpPr>
          <p:nvPr>
            <p:ph type="sldNum" sz="quarter" idx="12"/>
          </p:nvPr>
        </p:nvSpPr>
        <p:spPr/>
        <p:txBody>
          <a:bodyPr/>
          <a:lstStyle/>
          <a:p>
            <a:pPr>
              <a:defRPr/>
            </a:pPr>
            <a:fld id="{846AEF8D-D938-433D-BBFD-44F2BB354120}" type="slidenum">
              <a:rPr lang="en-US" altLang="en-US" smtClean="0"/>
              <a:pPr>
                <a:defRPr/>
              </a:pPr>
              <a:t>10</a:t>
            </a:fld>
            <a:endParaRPr lang="en-US" altLang="en-US"/>
          </a:p>
        </p:txBody>
      </p:sp>
      <p:pic>
        <p:nvPicPr>
          <p:cNvPr id="94210" name="Picture 2" descr="Global Data">
            <a:extLst>
              <a:ext uri="{FF2B5EF4-FFF2-40B4-BE49-F238E27FC236}">
                <a16:creationId xmlns:a16="http://schemas.microsoft.com/office/drawing/2014/main" id="{8C93A86D-FE54-2D82-C958-7793E63609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454" y="2074863"/>
            <a:ext cx="6487667" cy="1905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BD0D274-5F2D-0442-A457-C92504E43B91}"/>
              </a:ext>
            </a:extLst>
          </p:cNvPr>
          <p:cNvSpPr txBox="1"/>
          <p:nvPr/>
        </p:nvSpPr>
        <p:spPr>
          <a:xfrm>
            <a:off x="1066800" y="4325034"/>
            <a:ext cx="7151687" cy="369332"/>
          </a:xfrm>
          <a:prstGeom prst="rect">
            <a:avLst/>
          </a:prstGeom>
          <a:noFill/>
        </p:spPr>
        <p:txBody>
          <a:bodyPr wrap="square">
            <a:spAutoFit/>
          </a:bodyPr>
          <a:lstStyle/>
          <a:p>
            <a:r>
              <a:rPr lang="en-IN" b="0" i="0" dirty="0">
                <a:solidFill>
                  <a:srgbClr val="333333"/>
                </a:solidFill>
                <a:effectLst/>
                <a:latin typeface="inter-regular"/>
              </a:rPr>
              <a:t> Data Representation in Process/Procedure-Oriented Programming</a:t>
            </a:r>
            <a:endParaRPr lang="en-IN" dirty="0"/>
          </a:p>
        </p:txBody>
      </p:sp>
    </p:spTree>
    <p:extLst>
      <p:ext uri="{BB962C8B-B14F-4D97-AF65-F5344CB8AC3E}">
        <p14:creationId xmlns:p14="http://schemas.microsoft.com/office/powerpoint/2010/main" val="1881729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A14DD-F375-9074-3133-0CD473789F02}"/>
              </a:ext>
            </a:extLst>
          </p:cNvPr>
          <p:cNvSpPr>
            <a:spLocks noGrp="1"/>
          </p:cNvSpPr>
          <p:nvPr>
            <p:ph type="title"/>
          </p:nvPr>
        </p:nvSpPr>
        <p:spPr>
          <a:xfrm>
            <a:off x="990600" y="763588"/>
            <a:ext cx="7559675" cy="1293812"/>
          </a:xfrm>
        </p:spPr>
        <p:txBody>
          <a:bodyPr/>
          <a:lstStyle/>
          <a:p>
            <a:r>
              <a:rPr lang="en-IN" b="1" i="0" dirty="0">
                <a:solidFill>
                  <a:srgbClr val="333333"/>
                </a:solidFill>
                <a:effectLst/>
                <a:latin typeface="inter-regular"/>
              </a:rPr>
              <a:t>Object-Oriented Programming</a:t>
            </a:r>
            <a:endParaRPr lang="en-IN" b="1" dirty="0"/>
          </a:p>
        </p:txBody>
      </p:sp>
      <p:sp>
        <p:nvSpPr>
          <p:cNvPr id="4" name="Date Placeholder 3">
            <a:extLst>
              <a:ext uri="{FF2B5EF4-FFF2-40B4-BE49-F238E27FC236}">
                <a16:creationId xmlns:a16="http://schemas.microsoft.com/office/drawing/2014/main" id="{ABBAF26C-8EA3-E370-D76E-AE72D72CA4C7}"/>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FB67906B-0FAB-4040-6349-951AE3BD1509}"/>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9E0D200F-9644-2A65-A98A-F5F4CD6FB34B}"/>
              </a:ext>
            </a:extLst>
          </p:cNvPr>
          <p:cNvSpPr>
            <a:spLocks noGrp="1"/>
          </p:cNvSpPr>
          <p:nvPr>
            <p:ph type="sldNum" sz="quarter" idx="12"/>
          </p:nvPr>
        </p:nvSpPr>
        <p:spPr/>
        <p:txBody>
          <a:bodyPr/>
          <a:lstStyle/>
          <a:p>
            <a:pPr>
              <a:defRPr/>
            </a:pPr>
            <a:fld id="{846AEF8D-D938-433D-BBFD-44F2BB354120}" type="slidenum">
              <a:rPr lang="en-US" altLang="en-US" smtClean="0"/>
              <a:pPr>
                <a:defRPr/>
              </a:pPr>
              <a:t>11</a:t>
            </a:fld>
            <a:endParaRPr lang="en-US" altLang="en-US"/>
          </a:p>
        </p:txBody>
      </p:sp>
      <p:pic>
        <p:nvPicPr>
          <p:cNvPr id="95234" name="Picture 2" descr="Object Data">
            <a:extLst>
              <a:ext uri="{FF2B5EF4-FFF2-40B4-BE49-F238E27FC236}">
                <a16:creationId xmlns:a16="http://schemas.microsoft.com/office/drawing/2014/main" id="{186CF916-E2E4-2A27-B5AE-D785875093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06958" y="2074863"/>
            <a:ext cx="5579642" cy="36957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C6DF5BC-B6F7-028D-08B0-A6E4B2871F70}"/>
              </a:ext>
            </a:extLst>
          </p:cNvPr>
          <p:cNvSpPr txBox="1"/>
          <p:nvPr/>
        </p:nvSpPr>
        <p:spPr>
          <a:xfrm>
            <a:off x="1676400" y="5878790"/>
            <a:ext cx="6754812" cy="369332"/>
          </a:xfrm>
          <a:prstGeom prst="rect">
            <a:avLst/>
          </a:prstGeom>
          <a:noFill/>
        </p:spPr>
        <p:txBody>
          <a:bodyPr wrap="square">
            <a:spAutoFit/>
          </a:bodyPr>
          <a:lstStyle/>
          <a:p>
            <a:r>
              <a:rPr lang="en-IN" b="0" i="0" dirty="0">
                <a:solidFill>
                  <a:srgbClr val="333333"/>
                </a:solidFill>
                <a:effectLst/>
                <a:latin typeface="inter-regular"/>
              </a:rPr>
              <a:t>Data Representation in Object-Oriented Programming</a:t>
            </a:r>
            <a:endParaRPr lang="en-IN" dirty="0"/>
          </a:p>
        </p:txBody>
      </p:sp>
    </p:spTree>
    <p:extLst>
      <p:ext uri="{BB962C8B-B14F-4D97-AF65-F5344CB8AC3E}">
        <p14:creationId xmlns:p14="http://schemas.microsoft.com/office/powerpoint/2010/main" val="3386244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2D43C-8B08-6ED2-6D4B-EBECFBFD09EE}"/>
              </a:ext>
            </a:extLst>
          </p:cNvPr>
          <p:cNvSpPr>
            <a:spLocks noGrp="1"/>
          </p:cNvSpPr>
          <p:nvPr>
            <p:ph type="title"/>
          </p:nvPr>
        </p:nvSpPr>
        <p:spPr>
          <a:xfrm>
            <a:off x="2171700" y="304800"/>
            <a:ext cx="6378575" cy="1035050"/>
          </a:xfrm>
        </p:spPr>
        <p:txBody>
          <a:bodyPr>
            <a:normAutofit fontScale="90000"/>
          </a:bodyPr>
          <a:lstStyle/>
          <a:p>
            <a:r>
              <a:rPr lang="en-IN" dirty="0"/>
              <a:t>Object Oriented PROGRamming Concepts</a:t>
            </a:r>
          </a:p>
        </p:txBody>
      </p:sp>
      <p:sp>
        <p:nvSpPr>
          <p:cNvPr id="4" name="Date Placeholder 3">
            <a:extLst>
              <a:ext uri="{FF2B5EF4-FFF2-40B4-BE49-F238E27FC236}">
                <a16:creationId xmlns:a16="http://schemas.microsoft.com/office/drawing/2014/main" id="{8AF234EF-4BC7-AB3A-CDAD-644C5B47B30F}"/>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A1CB8169-637D-4DA8-CFF8-29EC4089BA26}"/>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1354E08F-992F-FC03-CB5B-0E22A184390E}"/>
              </a:ext>
            </a:extLst>
          </p:cNvPr>
          <p:cNvSpPr>
            <a:spLocks noGrp="1"/>
          </p:cNvSpPr>
          <p:nvPr>
            <p:ph type="sldNum" sz="quarter" idx="12"/>
          </p:nvPr>
        </p:nvSpPr>
        <p:spPr/>
        <p:txBody>
          <a:bodyPr/>
          <a:lstStyle/>
          <a:p>
            <a:pPr>
              <a:defRPr/>
            </a:pPr>
            <a:fld id="{846AEF8D-D938-433D-BBFD-44F2BB354120}" type="slidenum">
              <a:rPr lang="en-US" altLang="en-US" smtClean="0"/>
              <a:pPr>
                <a:defRPr/>
              </a:pPr>
              <a:t>12</a:t>
            </a:fld>
            <a:endParaRPr lang="en-US" altLang="en-US"/>
          </a:p>
        </p:txBody>
      </p:sp>
      <p:sp>
        <p:nvSpPr>
          <p:cNvPr id="7" name="Content Placeholder 6">
            <a:extLst>
              <a:ext uri="{FF2B5EF4-FFF2-40B4-BE49-F238E27FC236}">
                <a16:creationId xmlns:a16="http://schemas.microsoft.com/office/drawing/2014/main" id="{B9BC150C-0247-2F5C-23E6-E11E4C76D87F}"/>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19C29C6A-2CDC-1F9C-BE37-24EF6ACC185A}"/>
              </a:ext>
            </a:extLst>
          </p:cNvPr>
          <p:cNvPicPr>
            <a:picLocks noChangeAspect="1"/>
          </p:cNvPicPr>
          <p:nvPr/>
        </p:nvPicPr>
        <p:blipFill>
          <a:blip r:embed="rId2"/>
          <a:stretch>
            <a:fillRect/>
          </a:stretch>
        </p:blipFill>
        <p:spPr>
          <a:xfrm>
            <a:off x="685800" y="1395493"/>
            <a:ext cx="8077200" cy="5090098"/>
          </a:xfrm>
          <a:prstGeom prst="rect">
            <a:avLst/>
          </a:prstGeom>
        </p:spPr>
      </p:pic>
    </p:spTree>
    <p:extLst>
      <p:ext uri="{BB962C8B-B14F-4D97-AF65-F5344CB8AC3E}">
        <p14:creationId xmlns:p14="http://schemas.microsoft.com/office/powerpoint/2010/main" val="2142553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FE129-EDB8-98E9-9632-961CA7D8285D}"/>
              </a:ext>
            </a:extLst>
          </p:cNvPr>
          <p:cNvSpPr>
            <a:spLocks noGrp="1"/>
          </p:cNvSpPr>
          <p:nvPr>
            <p:ph type="title"/>
          </p:nvPr>
        </p:nvSpPr>
        <p:spPr/>
        <p:txBody>
          <a:bodyPr>
            <a:normAutofit fontScale="90000"/>
          </a:bodyPr>
          <a:lstStyle/>
          <a:p>
            <a:r>
              <a:rPr lang="en-IN" dirty="0"/>
              <a:t>Object Oriented PROGRamming Concepts</a:t>
            </a:r>
          </a:p>
        </p:txBody>
      </p:sp>
      <p:sp>
        <p:nvSpPr>
          <p:cNvPr id="3" name="Content Placeholder 2">
            <a:extLst>
              <a:ext uri="{FF2B5EF4-FFF2-40B4-BE49-F238E27FC236}">
                <a16:creationId xmlns:a16="http://schemas.microsoft.com/office/drawing/2014/main" id="{95D8CBF1-5837-13ED-B97E-19B344F768D1}"/>
              </a:ext>
            </a:extLst>
          </p:cNvPr>
          <p:cNvSpPr>
            <a:spLocks noGrp="1"/>
          </p:cNvSpPr>
          <p:nvPr>
            <p:ph idx="1"/>
          </p:nvPr>
        </p:nvSpPr>
        <p:spPr/>
        <p:txBody>
          <a:bodyPr/>
          <a:lstStyle/>
          <a:p>
            <a:pPr algn="l">
              <a:buFont typeface="+mj-lt"/>
              <a:buAutoNum type="arabicPeriod"/>
            </a:pPr>
            <a:r>
              <a:rPr lang="en-IN" sz="2800" b="1" i="0" dirty="0">
                <a:solidFill>
                  <a:srgbClr val="C00000"/>
                </a:solidFill>
                <a:effectLst/>
                <a:highlight>
                  <a:srgbClr val="FFFFFF"/>
                </a:highlight>
                <a:latin typeface="+mj-lt"/>
              </a:rPr>
              <a:t>Object</a:t>
            </a:r>
            <a:endParaRPr lang="en-IN" sz="2800" b="0" i="0" dirty="0">
              <a:solidFill>
                <a:srgbClr val="C00000"/>
              </a:solidFill>
              <a:effectLst/>
              <a:highlight>
                <a:srgbClr val="FFFFFF"/>
              </a:highlight>
              <a:latin typeface="+mj-lt"/>
            </a:endParaRPr>
          </a:p>
          <a:p>
            <a:pPr algn="l">
              <a:buFont typeface="+mj-lt"/>
              <a:buAutoNum type="arabicPeriod"/>
            </a:pPr>
            <a:r>
              <a:rPr lang="en-IN" sz="2800" b="1" i="0" dirty="0">
                <a:solidFill>
                  <a:srgbClr val="C00000"/>
                </a:solidFill>
                <a:effectLst/>
                <a:highlight>
                  <a:srgbClr val="FFFFFF"/>
                </a:highlight>
                <a:latin typeface="+mj-lt"/>
              </a:rPr>
              <a:t>Class</a:t>
            </a:r>
          </a:p>
          <a:p>
            <a:pPr algn="l">
              <a:buFont typeface="+mj-lt"/>
              <a:buAutoNum type="arabicPeriod"/>
            </a:pPr>
            <a:r>
              <a:rPr lang="en-IN" sz="2800" b="1" dirty="0">
                <a:solidFill>
                  <a:srgbClr val="C00000"/>
                </a:solidFill>
                <a:highlight>
                  <a:srgbClr val="FFFFFF"/>
                </a:highlight>
                <a:latin typeface="+mj-lt"/>
              </a:rPr>
              <a:t>Methods</a:t>
            </a:r>
          </a:p>
          <a:p>
            <a:pPr algn="l">
              <a:buFont typeface="+mj-lt"/>
              <a:buAutoNum type="arabicPeriod"/>
            </a:pPr>
            <a:r>
              <a:rPr lang="en-IN" sz="2800" b="1" i="0" dirty="0">
                <a:solidFill>
                  <a:srgbClr val="C00000"/>
                </a:solidFill>
                <a:effectLst/>
                <a:highlight>
                  <a:srgbClr val="FFFFFF"/>
                </a:highlight>
                <a:latin typeface="+mj-lt"/>
              </a:rPr>
              <a:t>Attributes( Data Members)</a:t>
            </a:r>
            <a:endParaRPr lang="en-IN" sz="2800" b="0" i="0" dirty="0">
              <a:solidFill>
                <a:srgbClr val="C00000"/>
              </a:solidFill>
              <a:effectLst/>
              <a:highlight>
                <a:srgbClr val="FFFFFF"/>
              </a:highlight>
              <a:latin typeface="+mj-lt"/>
            </a:endParaRPr>
          </a:p>
          <a:p>
            <a:pPr algn="l">
              <a:buFont typeface="+mj-lt"/>
              <a:buAutoNum type="arabicPeriod"/>
            </a:pPr>
            <a:r>
              <a:rPr lang="en-IN" sz="2800" b="1" i="0" dirty="0">
                <a:solidFill>
                  <a:srgbClr val="C00000"/>
                </a:solidFill>
                <a:effectLst/>
                <a:highlight>
                  <a:srgbClr val="FFFFFF"/>
                </a:highlight>
                <a:latin typeface="+mj-lt"/>
              </a:rPr>
              <a:t>Abstraction</a:t>
            </a:r>
            <a:endParaRPr lang="en-IN" sz="2800" b="0" i="0" dirty="0">
              <a:solidFill>
                <a:srgbClr val="C00000"/>
              </a:solidFill>
              <a:effectLst/>
              <a:highlight>
                <a:srgbClr val="FFFFFF"/>
              </a:highlight>
              <a:latin typeface="+mj-lt"/>
            </a:endParaRPr>
          </a:p>
          <a:p>
            <a:pPr algn="l">
              <a:buFont typeface="+mj-lt"/>
              <a:buAutoNum type="arabicPeriod"/>
            </a:pPr>
            <a:r>
              <a:rPr lang="en-IN" sz="2800" b="1" i="0" dirty="0">
                <a:solidFill>
                  <a:srgbClr val="C00000"/>
                </a:solidFill>
                <a:effectLst/>
                <a:highlight>
                  <a:srgbClr val="FFFFFF"/>
                </a:highlight>
                <a:latin typeface="+mj-lt"/>
              </a:rPr>
              <a:t>Encapsulation</a:t>
            </a:r>
            <a:endParaRPr lang="en-IN" sz="2800" b="0" i="0" dirty="0">
              <a:solidFill>
                <a:srgbClr val="C00000"/>
              </a:solidFill>
              <a:effectLst/>
              <a:highlight>
                <a:srgbClr val="FFFFFF"/>
              </a:highlight>
              <a:latin typeface="+mj-lt"/>
            </a:endParaRPr>
          </a:p>
          <a:p>
            <a:pPr algn="l">
              <a:buFont typeface="+mj-lt"/>
              <a:buAutoNum type="arabicPeriod"/>
            </a:pPr>
            <a:r>
              <a:rPr lang="en-IN" sz="2800" b="1" i="0" dirty="0">
                <a:solidFill>
                  <a:srgbClr val="C00000"/>
                </a:solidFill>
                <a:effectLst/>
                <a:highlight>
                  <a:srgbClr val="FFFFFF"/>
                </a:highlight>
                <a:latin typeface="+mj-lt"/>
              </a:rPr>
              <a:t>Inheritance</a:t>
            </a:r>
            <a:endParaRPr lang="en-IN" sz="2800" b="0" i="0" dirty="0">
              <a:solidFill>
                <a:srgbClr val="C00000"/>
              </a:solidFill>
              <a:effectLst/>
              <a:highlight>
                <a:srgbClr val="FFFFFF"/>
              </a:highlight>
              <a:latin typeface="+mj-lt"/>
            </a:endParaRPr>
          </a:p>
          <a:p>
            <a:pPr algn="l">
              <a:buFont typeface="+mj-lt"/>
              <a:buAutoNum type="arabicPeriod"/>
            </a:pPr>
            <a:r>
              <a:rPr lang="en-IN" sz="2800" b="1" i="0" dirty="0">
                <a:solidFill>
                  <a:srgbClr val="C00000"/>
                </a:solidFill>
                <a:effectLst/>
                <a:highlight>
                  <a:srgbClr val="FFFFFF"/>
                </a:highlight>
                <a:latin typeface="+mj-lt"/>
              </a:rPr>
              <a:t>Polymorphism</a:t>
            </a:r>
            <a:endParaRPr lang="en-IN" sz="2800" b="0" i="0" dirty="0">
              <a:solidFill>
                <a:srgbClr val="C00000"/>
              </a:solidFill>
              <a:effectLst/>
              <a:highlight>
                <a:srgbClr val="FFFFFF"/>
              </a:highlight>
              <a:latin typeface="+mj-lt"/>
            </a:endParaRPr>
          </a:p>
          <a:p>
            <a:endParaRPr lang="en-IN" dirty="0">
              <a:solidFill>
                <a:srgbClr val="C00000"/>
              </a:solidFill>
              <a:latin typeface="+mj-lt"/>
            </a:endParaRPr>
          </a:p>
        </p:txBody>
      </p:sp>
      <p:sp>
        <p:nvSpPr>
          <p:cNvPr id="4" name="Date Placeholder 3">
            <a:extLst>
              <a:ext uri="{FF2B5EF4-FFF2-40B4-BE49-F238E27FC236}">
                <a16:creationId xmlns:a16="http://schemas.microsoft.com/office/drawing/2014/main" id="{DE4F2FA9-0AB1-8974-7A9A-9BF9941C535B}"/>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384FF978-7A88-ED57-47E5-26127BA97FB4}"/>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FE849AEE-23AF-94B7-7ACB-BD6FF43829DC}"/>
              </a:ext>
            </a:extLst>
          </p:cNvPr>
          <p:cNvSpPr>
            <a:spLocks noGrp="1"/>
          </p:cNvSpPr>
          <p:nvPr>
            <p:ph type="sldNum" sz="quarter" idx="12"/>
          </p:nvPr>
        </p:nvSpPr>
        <p:spPr/>
        <p:txBody>
          <a:bodyPr/>
          <a:lstStyle/>
          <a:p>
            <a:pPr>
              <a:defRPr/>
            </a:pPr>
            <a:fld id="{846AEF8D-D938-433D-BBFD-44F2BB354120}" type="slidenum">
              <a:rPr lang="en-US" altLang="en-US" smtClean="0"/>
              <a:pPr>
                <a:defRPr/>
              </a:pPr>
              <a:t>13</a:t>
            </a:fld>
            <a:endParaRPr lang="en-US" altLang="en-US"/>
          </a:p>
        </p:txBody>
      </p:sp>
    </p:spTree>
    <p:extLst>
      <p:ext uri="{BB962C8B-B14F-4D97-AF65-F5344CB8AC3E}">
        <p14:creationId xmlns:p14="http://schemas.microsoft.com/office/powerpoint/2010/main" val="403029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9C11B-BA50-C204-D91A-4C570AF7B921}"/>
              </a:ext>
            </a:extLst>
          </p:cNvPr>
          <p:cNvSpPr>
            <a:spLocks noGrp="1"/>
          </p:cNvSpPr>
          <p:nvPr>
            <p:ph type="title"/>
          </p:nvPr>
        </p:nvSpPr>
        <p:spPr/>
        <p:txBody>
          <a:bodyPr/>
          <a:lstStyle/>
          <a:p>
            <a:r>
              <a:rPr lang="en-IN" dirty="0"/>
              <a:t>OOP Concepts</a:t>
            </a:r>
          </a:p>
        </p:txBody>
      </p:sp>
      <p:sp>
        <p:nvSpPr>
          <p:cNvPr id="4" name="Date Placeholder 3">
            <a:extLst>
              <a:ext uri="{FF2B5EF4-FFF2-40B4-BE49-F238E27FC236}">
                <a16:creationId xmlns:a16="http://schemas.microsoft.com/office/drawing/2014/main" id="{4F6569B4-06EB-DE71-42FD-E421633C8EC0}"/>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EE148D9A-6C15-8728-7666-0EAB20A19842}"/>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5A92DA8C-929F-ECCC-7B92-DA8AD08C06DC}"/>
              </a:ext>
            </a:extLst>
          </p:cNvPr>
          <p:cNvSpPr>
            <a:spLocks noGrp="1"/>
          </p:cNvSpPr>
          <p:nvPr>
            <p:ph type="sldNum" sz="quarter" idx="12"/>
          </p:nvPr>
        </p:nvSpPr>
        <p:spPr/>
        <p:txBody>
          <a:bodyPr/>
          <a:lstStyle/>
          <a:p>
            <a:pPr>
              <a:defRPr/>
            </a:pPr>
            <a:fld id="{846AEF8D-D938-433D-BBFD-44F2BB354120}" type="slidenum">
              <a:rPr lang="en-US" altLang="en-US" smtClean="0"/>
              <a:pPr>
                <a:defRPr/>
              </a:pPr>
              <a:t>14</a:t>
            </a:fld>
            <a:endParaRPr lang="en-US" altLang="en-US"/>
          </a:p>
        </p:txBody>
      </p:sp>
      <p:pic>
        <p:nvPicPr>
          <p:cNvPr id="90118" name="Picture 6" descr="Java Object">
            <a:extLst>
              <a:ext uri="{FF2B5EF4-FFF2-40B4-BE49-F238E27FC236}">
                <a16:creationId xmlns:a16="http://schemas.microsoft.com/office/drawing/2014/main" id="{43CD8FF8-00B1-37CD-4F88-72E4277C7A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2286000"/>
            <a:ext cx="50292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6409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0DDE5-AA68-25F2-9FAC-EF58681EB572}"/>
              </a:ext>
            </a:extLst>
          </p:cNvPr>
          <p:cNvSpPr>
            <a:spLocks noGrp="1"/>
          </p:cNvSpPr>
          <p:nvPr>
            <p:ph type="title"/>
          </p:nvPr>
        </p:nvSpPr>
        <p:spPr/>
        <p:txBody>
          <a:bodyPr/>
          <a:lstStyle/>
          <a:p>
            <a:r>
              <a:rPr lang="en-IN" dirty="0"/>
              <a:t>Class &amp; Objects</a:t>
            </a:r>
          </a:p>
        </p:txBody>
      </p:sp>
      <p:sp>
        <p:nvSpPr>
          <p:cNvPr id="4" name="Date Placeholder 3">
            <a:extLst>
              <a:ext uri="{FF2B5EF4-FFF2-40B4-BE49-F238E27FC236}">
                <a16:creationId xmlns:a16="http://schemas.microsoft.com/office/drawing/2014/main" id="{CE38C796-2B00-89D2-780D-52B730A69C8E}"/>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B4E8C003-C0E6-761E-4259-7F97100BD498}"/>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E997BDBD-A57C-90F9-3D90-A62D1DADD373}"/>
              </a:ext>
            </a:extLst>
          </p:cNvPr>
          <p:cNvSpPr>
            <a:spLocks noGrp="1"/>
          </p:cNvSpPr>
          <p:nvPr>
            <p:ph type="sldNum" sz="quarter" idx="12"/>
          </p:nvPr>
        </p:nvSpPr>
        <p:spPr/>
        <p:txBody>
          <a:bodyPr/>
          <a:lstStyle/>
          <a:p>
            <a:pPr>
              <a:defRPr/>
            </a:pPr>
            <a:fld id="{846AEF8D-D938-433D-BBFD-44F2BB354120}" type="slidenum">
              <a:rPr lang="en-US" altLang="en-US" smtClean="0"/>
              <a:pPr>
                <a:defRPr/>
              </a:pPr>
              <a:t>15</a:t>
            </a:fld>
            <a:endParaRPr lang="en-US" altLang="en-US"/>
          </a:p>
        </p:txBody>
      </p:sp>
      <p:pic>
        <p:nvPicPr>
          <p:cNvPr id="5122" name="Picture 2" descr="Object Example">
            <a:extLst>
              <a:ext uri="{FF2B5EF4-FFF2-40B4-BE49-F238E27FC236}">
                <a16:creationId xmlns:a16="http://schemas.microsoft.com/office/drawing/2014/main" id="{D5068F9E-4209-9EC4-BCE5-F765F88497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817914"/>
            <a:ext cx="6096000" cy="4446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636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FD9B8-E766-F7A4-BF27-380B68A43A70}"/>
              </a:ext>
            </a:extLst>
          </p:cNvPr>
          <p:cNvSpPr>
            <a:spLocks noGrp="1"/>
          </p:cNvSpPr>
          <p:nvPr>
            <p:ph type="title"/>
          </p:nvPr>
        </p:nvSpPr>
        <p:spPr/>
        <p:txBody>
          <a:bodyPr/>
          <a:lstStyle/>
          <a:p>
            <a:r>
              <a:rPr lang="en-IN" dirty="0"/>
              <a:t>Object</a:t>
            </a:r>
          </a:p>
        </p:txBody>
      </p:sp>
      <p:sp>
        <p:nvSpPr>
          <p:cNvPr id="3" name="Content Placeholder 2">
            <a:extLst>
              <a:ext uri="{FF2B5EF4-FFF2-40B4-BE49-F238E27FC236}">
                <a16:creationId xmlns:a16="http://schemas.microsoft.com/office/drawing/2014/main" id="{CFEECC03-7010-DBD9-4689-1905DF4BC51C}"/>
              </a:ext>
            </a:extLst>
          </p:cNvPr>
          <p:cNvSpPr>
            <a:spLocks noGrp="1"/>
          </p:cNvSpPr>
          <p:nvPr>
            <p:ph idx="1"/>
          </p:nvPr>
        </p:nvSpPr>
        <p:spPr/>
        <p:txBody>
          <a:bodyPr/>
          <a:lstStyle/>
          <a:p>
            <a:r>
              <a:rPr lang="en-IN" b="1" dirty="0"/>
              <a:t>An Object is a real-time entity having some state and behavior. </a:t>
            </a:r>
          </a:p>
          <a:p>
            <a:endParaRPr lang="en-IN" b="1" dirty="0"/>
          </a:p>
          <a:p>
            <a:r>
              <a:rPr lang="en-IN" b="1" dirty="0"/>
              <a:t>In Java, an Object is an instance of the class having instance variables (state) and methods (behavior). </a:t>
            </a:r>
          </a:p>
          <a:p>
            <a:endParaRPr lang="en-IN" b="1" dirty="0"/>
          </a:p>
          <a:p>
            <a:r>
              <a:rPr lang="en-IN" b="1" dirty="0"/>
              <a:t>The object of a class can be created by using the new keyword in the Java Programming language.</a:t>
            </a:r>
          </a:p>
        </p:txBody>
      </p:sp>
      <p:sp>
        <p:nvSpPr>
          <p:cNvPr id="4" name="Date Placeholder 3">
            <a:extLst>
              <a:ext uri="{FF2B5EF4-FFF2-40B4-BE49-F238E27FC236}">
                <a16:creationId xmlns:a16="http://schemas.microsoft.com/office/drawing/2014/main" id="{E09B8DAE-2E4B-947E-5504-B7002F2967DE}"/>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43AFA934-1DDD-998C-4D4C-38C956C77462}"/>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8E89D89C-C232-AA73-85D1-1B95E7825593}"/>
              </a:ext>
            </a:extLst>
          </p:cNvPr>
          <p:cNvSpPr>
            <a:spLocks noGrp="1"/>
          </p:cNvSpPr>
          <p:nvPr>
            <p:ph type="sldNum" sz="quarter" idx="12"/>
          </p:nvPr>
        </p:nvSpPr>
        <p:spPr/>
        <p:txBody>
          <a:bodyPr/>
          <a:lstStyle/>
          <a:p>
            <a:pPr>
              <a:defRPr/>
            </a:pPr>
            <a:fld id="{846AEF8D-D938-433D-BBFD-44F2BB354120}" type="slidenum">
              <a:rPr lang="en-US" altLang="en-US" smtClean="0"/>
              <a:pPr>
                <a:defRPr/>
              </a:pPr>
              <a:t>16</a:t>
            </a:fld>
            <a:endParaRPr lang="en-US" altLang="en-US"/>
          </a:p>
        </p:txBody>
      </p:sp>
    </p:spTree>
    <p:extLst>
      <p:ext uri="{BB962C8B-B14F-4D97-AF65-F5344CB8AC3E}">
        <p14:creationId xmlns:p14="http://schemas.microsoft.com/office/powerpoint/2010/main" val="1396082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1626B-7565-3F9E-AA14-5B656BD96887}"/>
              </a:ext>
            </a:extLst>
          </p:cNvPr>
          <p:cNvSpPr>
            <a:spLocks noGrp="1"/>
          </p:cNvSpPr>
          <p:nvPr>
            <p:ph type="title"/>
          </p:nvPr>
        </p:nvSpPr>
        <p:spPr/>
        <p:txBody>
          <a:bodyPr/>
          <a:lstStyle/>
          <a:p>
            <a:r>
              <a:rPr lang="en-IN" dirty="0"/>
              <a:t>Objects</a:t>
            </a:r>
          </a:p>
        </p:txBody>
      </p:sp>
      <p:sp>
        <p:nvSpPr>
          <p:cNvPr id="3" name="Content Placeholder 2">
            <a:extLst>
              <a:ext uri="{FF2B5EF4-FFF2-40B4-BE49-F238E27FC236}">
                <a16:creationId xmlns:a16="http://schemas.microsoft.com/office/drawing/2014/main" id="{8E537EDD-548B-5D1B-ED79-A87B07947BA8}"/>
              </a:ext>
            </a:extLst>
          </p:cNvPr>
          <p:cNvSpPr>
            <a:spLocks noGrp="1"/>
          </p:cNvSpPr>
          <p:nvPr>
            <p:ph idx="1"/>
          </p:nvPr>
        </p:nvSpPr>
        <p:spPr/>
        <p:txBody>
          <a:bodyPr/>
          <a:lstStyle/>
          <a:p>
            <a:pPr marL="0" indent="0" algn="l">
              <a:buNone/>
            </a:pPr>
            <a:r>
              <a:rPr lang="en-IN" sz="2400" b="1" i="0" dirty="0">
                <a:solidFill>
                  <a:srgbClr val="000000"/>
                </a:solidFill>
                <a:effectLst/>
                <a:highlight>
                  <a:srgbClr val="FFFFFF"/>
                </a:highlight>
              </a:rPr>
              <a:t>Various Definitions of an Object:</a:t>
            </a:r>
          </a:p>
          <a:p>
            <a:pPr algn="l">
              <a:buFont typeface="+mj-lt"/>
              <a:buAutoNum type="arabicPeriod"/>
            </a:pPr>
            <a:r>
              <a:rPr lang="en-IN" sz="2400" b="1" i="0" dirty="0">
                <a:solidFill>
                  <a:srgbClr val="000000"/>
                </a:solidFill>
                <a:effectLst/>
                <a:highlight>
                  <a:srgbClr val="FFFFFF"/>
                </a:highlight>
              </a:rPr>
              <a:t>An object is a real-world entity.</a:t>
            </a:r>
          </a:p>
          <a:p>
            <a:pPr algn="l">
              <a:buFont typeface="+mj-lt"/>
              <a:buAutoNum type="arabicPeriod"/>
            </a:pPr>
            <a:r>
              <a:rPr lang="en-IN" sz="2400" b="1" i="0" dirty="0">
                <a:solidFill>
                  <a:srgbClr val="000000"/>
                </a:solidFill>
                <a:effectLst/>
                <a:highlight>
                  <a:srgbClr val="FFFFFF"/>
                </a:highlight>
              </a:rPr>
              <a:t>An object is a runtime entity.</a:t>
            </a:r>
          </a:p>
          <a:p>
            <a:pPr algn="l">
              <a:buFont typeface="+mj-lt"/>
              <a:buAutoNum type="arabicPeriod"/>
            </a:pPr>
            <a:r>
              <a:rPr lang="en-IN" sz="2400" b="1" i="0" dirty="0">
                <a:solidFill>
                  <a:srgbClr val="000000"/>
                </a:solidFill>
                <a:effectLst/>
                <a:highlight>
                  <a:srgbClr val="FFFFFF"/>
                </a:highlight>
              </a:rPr>
              <a:t>An object is an entity that has a state and behavior.</a:t>
            </a:r>
          </a:p>
          <a:p>
            <a:pPr algn="l">
              <a:buFont typeface="+mj-lt"/>
              <a:buAutoNum type="arabicPeriod"/>
            </a:pPr>
            <a:r>
              <a:rPr lang="en-IN" sz="2400" b="1" i="0" dirty="0">
                <a:solidFill>
                  <a:srgbClr val="000000"/>
                </a:solidFill>
                <a:effectLst/>
                <a:highlight>
                  <a:srgbClr val="FFFFFF"/>
                </a:highlight>
              </a:rPr>
              <a:t>An object is an instance of a class.</a:t>
            </a:r>
          </a:p>
          <a:p>
            <a:endParaRPr lang="en-IN" sz="2400" b="1" dirty="0"/>
          </a:p>
        </p:txBody>
      </p:sp>
      <p:sp>
        <p:nvSpPr>
          <p:cNvPr id="4" name="Date Placeholder 3">
            <a:extLst>
              <a:ext uri="{FF2B5EF4-FFF2-40B4-BE49-F238E27FC236}">
                <a16:creationId xmlns:a16="http://schemas.microsoft.com/office/drawing/2014/main" id="{6AAF328E-F27D-269D-A188-EB65B86B06A8}"/>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F7800E07-8130-FC03-7BC6-F10AA8B1C1A2}"/>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B8D6C3BB-C00A-FB23-C00C-B3173C626F7A}"/>
              </a:ext>
            </a:extLst>
          </p:cNvPr>
          <p:cNvSpPr>
            <a:spLocks noGrp="1"/>
          </p:cNvSpPr>
          <p:nvPr>
            <p:ph type="sldNum" sz="quarter" idx="12"/>
          </p:nvPr>
        </p:nvSpPr>
        <p:spPr/>
        <p:txBody>
          <a:bodyPr/>
          <a:lstStyle/>
          <a:p>
            <a:pPr>
              <a:defRPr/>
            </a:pPr>
            <a:fld id="{846AEF8D-D938-433D-BBFD-44F2BB354120}" type="slidenum">
              <a:rPr lang="en-US" altLang="en-US" smtClean="0"/>
              <a:pPr>
                <a:defRPr/>
              </a:pPr>
              <a:t>17</a:t>
            </a:fld>
            <a:endParaRPr lang="en-US" altLang="en-US"/>
          </a:p>
        </p:txBody>
      </p:sp>
    </p:spTree>
    <p:extLst>
      <p:ext uri="{BB962C8B-B14F-4D97-AF65-F5344CB8AC3E}">
        <p14:creationId xmlns:p14="http://schemas.microsoft.com/office/powerpoint/2010/main" val="1512663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CD285-9FFE-22A9-25F9-8A184A662E1E}"/>
              </a:ext>
            </a:extLst>
          </p:cNvPr>
          <p:cNvSpPr>
            <a:spLocks noGrp="1"/>
          </p:cNvSpPr>
          <p:nvPr>
            <p:ph type="title"/>
          </p:nvPr>
        </p:nvSpPr>
        <p:spPr/>
        <p:txBody>
          <a:bodyPr/>
          <a:lstStyle/>
          <a:p>
            <a:r>
              <a:rPr lang="en-IN" dirty="0"/>
              <a:t>Class</a:t>
            </a:r>
          </a:p>
        </p:txBody>
      </p:sp>
      <p:sp>
        <p:nvSpPr>
          <p:cNvPr id="3" name="Content Placeholder 2">
            <a:extLst>
              <a:ext uri="{FF2B5EF4-FFF2-40B4-BE49-F238E27FC236}">
                <a16:creationId xmlns:a16="http://schemas.microsoft.com/office/drawing/2014/main" id="{21052A59-BB93-4445-6AA1-1FD07361BAB6}"/>
              </a:ext>
            </a:extLst>
          </p:cNvPr>
          <p:cNvSpPr>
            <a:spLocks noGrp="1"/>
          </p:cNvSpPr>
          <p:nvPr>
            <p:ph idx="1"/>
          </p:nvPr>
        </p:nvSpPr>
        <p:spPr/>
        <p:txBody>
          <a:bodyPr/>
          <a:lstStyle/>
          <a:p>
            <a:r>
              <a:rPr lang="en-IN" b="1" i="0" dirty="0">
                <a:solidFill>
                  <a:srgbClr val="000000"/>
                </a:solidFill>
                <a:effectLst/>
                <a:highlight>
                  <a:srgbClr val="FFFFFF"/>
                </a:highlight>
              </a:rPr>
              <a:t>A class is a template or blueprint from which objects are created. </a:t>
            </a:r>
          </a:p>
          <a:p>
            <a:r>
              <a:rPr lang="en-IN" b="1" dirty="0">
                <a:solidFill>
                  <a:srgbClr val="000000"/>
                </a:solidFill>
                <a:highlight>
                  <a:srgbClr val="FFFFFF"/>
                </a:highlight>
              </a:rPr>
              <a:t>A</a:t>
            </a:r>
            <a:r>
              <a:rPr lang="en-IN" b="1" i="0" dirty="0">
                <a:solidFill>
                  <a:srgbClr val="000000"/>
                </a:solidFill>
                <a:effectLst/>
                <a:highlight>
                  <a:srgbClr val="FFFFFF"/>
                </a:highlight>
              </a:rPr>
              <a:t>n object is the instance (result) of a class.</a:t>
            </a:r>
          </a:p>
          <a:p>
            <a:pPr marL="0" indent="0">
              <a:buNone/>
            </a:pPr>
            <a:r>
              <a:rPr lang="en-IN" dirty="0"/>
              <a:t>Student  Class</a:t>
            </a:r>
            <a:endParaRPr lang="en-IN" b="1" dirty="0"/>
          </a:p>
          <a:p>
            <a:pPr marL="0" indent="0">
              <a:buNone/>
            </a:pPr>
            <a:endParaRPr lang="en-IN" b="1" dirty="0"/>
          </a:p>
          <a:p>
            <a:pPr marL="0" indent="0">
              <a:buNone/>
            </a:pPr>
            <a:endParaRPr lang="en-IN" b="1" dirty="0"/>
          </a:p>
          <a:p>
            <a:pPr marL="0" indent="0">
              <a:buNone/>
            </a:pPr>
            <a:endParaRPr lang="en-IN" b="1" dirty="0"/>
          </a:p>
        </p:txBody>
      </p:sp>
      <p:sp>
        <p:nvSpPr>
          <p:cNvPr id="4" name="Date Placeholder 3">
            <a:extLst>
              <a:ext uri="{FF2B5EF4-FFF2-40B4-BE49-F238E27FC236}">
                <a16:creationId xmlns:a16="http://schemas.microsoft.com/office/drawing/2014/main" id="{D13D213F-6CF3-167E-1289-E41DD08F881C}"/>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9CE7AB4B-A842-912D-1401-8ACEEE65F0A5}"/>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D892DF5A-F1CF-861A-EE9A-A3A4EFBE8602}"/>
              </a:ext>
            </a:extLst>
          </p:cNvPr>
          <p:cNvSpPr>
            <a:spLocks noGrp="1"/>
          </p:cNvSpPr>
          <p:nvPr>
            <p:ph type="sldNum" sz="quarter" idx="12"/>
          </p:nvPr>
        </p:nvSpPr>
        <p:spPr/>
        <p:txBody>
          <a:bodyPr/>
          <a:lstStyle/>
          <a:p>
            <a:pPr>
              <a:defRPr/>
            </a:pPr>
            <a:fld id="{846AEF8D-D938-433D-BBFD-44F2BB354120}" type="slidenum">
              <a:rPr lang="en-US" altLang="en-US" smtClean="0"/>
              <a:pPr>
                <a:defRPr/>
              </a:pPr>
              <a:t>18</a:t>
            </a:fld>
            <a:endParaRPr lang="en-US" altLang="en-US"/>
          </a:p>
        </p:txBody>
      </p:sp>
      <p:graphicFrame>
        <p:nvGraphicFramePr>
          <p:cNvPr id="7" name="Table 6">
            <a:extLst>
              <a:ext uri="{FF2B5EF4-FFF2-40B4-BE49-F238E27FC236}">
                <a16:creationId xmlns:a16="http://schemas.microsoft.com/office/drawing/2014/main" id="{ABAFC0AC-24EC-D6B8-0E21-66489B207607}"/>
              </a:ext>
            </a:extLst>
          </p:cNvPr>
          <p:cNvGraphicFramePr>
            <a:graphicFrameLocks noGrp="1"/>
          </p:cNvGraphicFramePr>
          <p:nvPr>
            <p:extLst>
              <p:ext uri="{D42A27DB-BD31-4B8C-83A1-F6EECF244321}">
                <p14:modId xmlns:p14="http://schemas.microsoft.com/office/powerpoint/2010/main" val="1610247046"/>
              </p:ext>
            </p:extLst>
          </p:nvPr>
        </p:nvGraphicFramePr>
        <p:xfrm>
          <a:off x="914400" y="3810000"/>
          <a:ext cx="6629400" cy="212344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826170283"/>
                    </a:ext>
                  </a:extLst>
                </a:gridCol>
                <a:gridCol w="3010852">
                  <a:extLst>
                    <a:ext uri="{9D8B030D-6E8A-4147-A177-3AD203B41FA5}">
                      <a16:colId xmlns:a16="http://schemas.microsoft.com/office/drawing/2014/main" val="2049230993"/>
                    </a:ext>
                  </a:extLst>
                </a:gridCol>
                <a:gridCol w="1408748">
                  <a:extLst>
                    <a:ext uri="{9D8B030D-6E8A-4147-A177-3AD203B41FA5}">
                      <a16:colId xmlns:a16="http://schemas.microsoft.com/office/drawing/2014/main" val="1450830353"/>
                    </a:ext>
                  </a:extLst>
                </a:gridCol>
              </a:tblGrid>
              <a:tr h="370840">
                <a:tc>
                  <a:txBody>
                    <a:bodyPr/>
                    <a:lstStyle/>
                    <a:p>
                      <a:r>
                        <a:rPr lang="en-IN" dirty="0"/>
                        <a:t>Name</a:t>
                      </a:r>
                    </a:p>
                  </a:txBody>
                  <a:tcPr/>
                </a:tc>
                <a:tc>
                  <a:txBody>
                    <a:bodyPr/>
                    <a:lstStyle/>
                    <a:p>
                      <a:r>
                        <a:rPr lang="en-IN" dirty="0"/>
                        <a:t> USN</a:t>
                      </a:r>
                    </a:p>
                  </a:txBody>
                  <a:tcPr/>
                </a:tc>
                <a:tc>
                  <a:txBody>
                    <a:bodyPr/>
                    <a:lstStyle/>
                    <a:p>
                      <a:r>
                        <a:rPr lang="en-IN" dirty="0"/>
                        <a:t>Phone Number</a:t>
                      </a:r>
                    </a:p>
                  </a:txBody>
                  <a:tcPr/>
                </a:tc>
                <a:extLst>
                  <a:ext uri="{0D108BD9-81ED-4DB2-BD59-A6C34878D82A}">
                    <a16:rowId xmlns:a16="http://schemas.microsoft.com/office/drawing/2014/main" val="4291454044"/>
                  </a:ext>
                </a:extLst>
              </a:tr>
              <a:tr h="370840">
                <a:tc>
                  <a:txBody>
                    <a:bodyPr/>
                    <a:lstStyle/>
                    <a:p>
                      <a:pPr algn="ctr" rtl="0" fontAlgn="ctr"/>
                      <a:r>
                        <a:rPr lang="en-IN" sz="2000" b="0" dirty="0">
                          <a:effectLst/>
                          <a:latin typeface="Cambria" panose="02040503050406030204" pitchFamily="18" charset="0"/>
                        </a:rPr>
                        <a:t>1KS23IC001</a:t>
                      </a:r>
                    </a:p>
                  </a:txBody>
                  <a:tcPr marL="22860" marR="22860" marT="0" marB="0" anchor="ctr"/>
                </a:tc>
                <a:tc>
                  <a:txBody>
                    <a:bodyPr/>
                    <a:lstStyle/>
                    <a:p>
                      <a:pPr rtl="0" fontAlgn="ctr"/>
                      <a:r>
                        <a:rPr lang="en-IN" sz="2000" b="0" dirty="0">
                          <a:effectLst/>
                          <a:latin typeface="Cambria" panose="02040503050406030204" pitchFamily="18" charset="0"/>
                        </a:rPr>
                        <a:t>ADITHI S BHARADWAJ</a:t>
                      </a:r>
                    </a:p>
                  </a:txBody>
                  <a:tcPr marL="22860" marR="22860" marT="0" marB="0" anchor="ctr"/>
                </a:tc>
                <a:tc>
                  <a:txBody>
                    <a:bodyPr/>
                    <a:lstStyle/>
                    <a:p>
                      <a:r>
                        <a:rPr lang="en-IN" dirty="0"/>
                        <a:t>99228822</a:t>
                      </a:r>
                    </a:p>
                  </a:txBody>
                  <a:tcPr/>
                </a:tc>
                <a:extLst>
                  <a:ext uri="{0D108BD9-81ED-4DB2-BD59-A6C34878D82A}">
                    <a16:rowId xmlns:a16="http://schemas.microsoft.com/office/drawing/2014/main" val="2336655787"/>
                  </a:ext>
                </a:extLst>
              </a:tr>
              <a:tr h="370840">
                <a:tc>
                  <a:txBody>
                    <a:bodyPr/>
                    <a:lstStyle/>
                    <a:p>
                      <a:pPr algn="ctr" rtl="0" fontAlgn="ctr"/>
                      <a:r>
                        <a:rPr lang="en-IN" sz="2000" b="0" dirty="0">
                          <a:effectLst/>
                          <a:latin typeface="Cambria" panose="02040503050406030204" pitchFamily="18" charset="0"/>
                        </a:rPr>
                        <a:t>1KS23IC002</a:t>
                      </a:r>
                    </a:p>
                  </a:txBody>
                  <a:tcPr marL="22860" marR="22860" marT="0" marB="0" anchor="ctr"/>
                </a:tc>
                <a:tc>
                  <a:txBody>
                    <a:bodyPr/>
                    <a:lstStyle/>
                    <a:p>
                      <a:pPr rtl="0" fontAlgn="ctr"/>
                      <a:r>
                        <a:rPr lang="en-IN" sz="2000" b="0" dirty="0">
                          <a:effectLst/>
                          <a:latin typeface="Cambria" panose="02040503050406030204" pitchFamily="18" charset="0"/>
                        </a:rPr>
                        <a:t>ADITYA KUMAR B</a:t>
                      </a:r>
                    </a:p>
                  </a:txBody>
                  <a:tcPr marL="22860" marR="22860" marT="0" marB="0" anchor="ctr"/>
                </a:tc>
                <a:tc>
                  <a:txBody>
                    <a:bodyPr/>
                    <a:lstStyle/>
                    <a:p>
                      <a:r>
                        <a:rPr lang="en-IN" dirty="0"/>
                        <a:t>94948494</a:t>
                      </a:r>
                    </a:p>
                  </a:txBody>
                  <a:tcPr/>
                </a:tc>
                <a:extLst>
                  <a:ext uri="{0D108BD9-81ED-4DB2-BD59-A6C34878D82A}">
                    <a16:rowId xmlns:a16="http://schemas.microsoft.com/office/drawing/2014/main" val="2902539288"/>
                  </a:ext>
                </a:extLst>
              </a:tr>
              <a:tr h="370840">
                <a:tc>
                  <a:txBody>
                    <a:bodyPr/>
                    <a:lstStyle/>
                    <a:p>
                      <a:pPr algn="ctr" rtl="0" fontAlgn="ctr"/>
                      <a:r>
                        <a:rPr lang="en-IN" sz="2000" b="0" dirty="0">
                          <a:effectLst/>
                          <a:latin typeface="Cambria" panose="02040503050406030204" pitchFamily="18" charset="0"/>
                        </a:rPr>
                        <a:t>1KS23IC003</a:t>
                      </a:r>
                    </a:p>
                  </a:txBody>
                  <a:tcPr marL="22860" marR="22860" marT="0" marB="0" anchor="ctr"/>
                </a:tc>
                <a:tc>
                  <a:txBody>
                    <a:bodyPr/>
                    <a:lstStyle/>
                    <a:p>
                      <a:pPr rtl="0" fontAlgn="ctr"/>
                      <a:r>
                        <a:rPr lang="en-IN" sz="2000" b="0" dirty="0">
                          <a:effectLst/>
                          <a:latin typeface="Cambria" panose="02040503050406030204" pitchFamily="18" charset="0"/>
                        </a:rPr>
                        <a:t>AKHILA P V</a:t>
                      </a:r>
                    </a:p>
                  </a:txBody>
                  <a:tcPr marL="22860" marR="22860" marT="0" marB="0" anchor="ctr"/>
                </a:tc>
                <a:tc>
                  <a:txBody>
                    <a:bodyPr/>
                    <a:lstStyle/>
                    <a:p>
                      <a:r>
                        <a:rPr lang="en-IN" dirty="0"/>
                        <a:t>85648393</a:t>
                      </a:r>
                    </a:p>
                  </a:txBody>
                  <a:tcPr/>
                </a:tc>
                <a:extLst>
                  <a:ext uri="{0D108BD9-81ED-4DB2-BD59-A6C34878D82A}">
                    <a16:rowId xmlns:a16="http://schemas.microsoft.com/office/drawing/2014/main" val="2149731325"/>
                  </a:ext>
                </a:extLst>
              </a:tr>
              <a:tr h="370840">
                <a:tc>
                  <a:txBody>
                    <a:bodyPr/>
                    <a:lstStyle/>
                    <a:p>
                      <a:pPr algn="ctr" rtl="0" fontAlgn="ctr"/>
                      <a:r>
                        <a:rPr lang="en-IN" sz="2000" b="0">
                          <a:effectLst/>
                          <a:latin typeface="Cambria" panose="02040503050406030204" pitchFamily="18" charset="0"/>
                        </a:rPr>
                        <a:t>1KS23IC004</a:t>
                      </a:r>
                    </a:p>
                  </a:txBody>
                  <a:tcPr marL="22860" marR="22860" marT="0" marB="0" anchor="ctr"/>
                </a:tc>
                <a:tc>
                  <a:txBody>
                    <a:bodyPr/>
                    <a:lstStyle/>
                    <a:p>
                      <a:pPr rtl="0" fontAlgn="ctr"/>
                      <a:r>
                        <a:rPr lang="en-IN" sz="2000" b="0" dirty="0">
                          <a:effectLst/>
                          <a:highlight>
                            <a:srgbClr val="FFFFFF"/>
                          </a:highlight>
                          <a:latin typeface="Cambria" panose="02040503050406030204" pitchFamily="18" charset="0"/>
                        </a:rPr>
                        <a:t>AKSHAY KUMAR G C</a:t>
                      </a:r>
                    </a:p>
                  </a:txBody>
                  <a:tcPr marL="22860" marR="22860" marT="0" marB="0" anchor="ctr"/>
                </a:tc>
                <a:tc>
                  <a:txBody>
                    <a:bodyPr/>
                    <a:lstStyle/>
                    <a:p>
                      <a:r>
                        <a:rPr lang="en-IN" dirty="0"/>
                        <a:t>47476383</a:t>
                      </a:r>
                    </a:p>
                  </a:txBody>
                  <a:tcPr/>
                </a:tc>
                <a:extLst>
                  <a:ext uri="{0D108BD9-81ED-4DB2-BD59-A6C34878D82A}">
                    <a16:rowId xmlns:a16="http://schemas.microsoft.com/office/drawing/2014/main" val="679789375"/>
                  </a:ext>
                </a:extLst>
              </a:tr>
            </a:tbl>
          </a:graphicData>
        </a:graphic>
      </p:graphicFrame>
      <p:sp>
        <p:nvSpPr>
          <p:cNvPr id="12" name="Arrow: Left 11">
            <a:extLst>
              <a:ext uri="{FF2B5EF4-FFF2-40B4-BE49-F238E27FC236}">
                <a16:creationId xmlns:a16="http://schemas.microsoft.com/office/drawing/2014/main" id="{7C0FA781-886A-1641-5ACD-8C041FD999E6}"/>
              </a:ext>
            </a:extLst>
          </p:cNvPr>
          <p:cNvSpPr/>
          <p:nvPr/>
        </p:nvSpPr>
        <p:spPr>
          <a:xfrm>
            <a:off x="7543800" y="4824000"/>
            <a:ext cx="1006475" cy="357600"/>
          </a:xfrm>
          <a:prstGeom prst="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t>Object</a:t>
            </a:r>
          </a:p>
        </p:txBody>
      </p:sp>
    </p:spTree>
    <p:extLst>
      <p:ext uri="{BB962C8B-B14F-4D97-AF65-F5344CB8AC3E}">
        <p14:creationId xmlns:p14="http://schemas.microsoft.com/office/powerpoint/2010/main" val="747740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0DDE5-AA68-25F2-9FAC-EF58681EB572}"/>
              </a:ext>
            </a:extLst>
          </p:cNvPr>
          <p:cNvSpPr>
            <a:spLocks noGrp="1"/>
          </p:cNvSpPr>
          <p:nvPr>
            <p:ph type="title"/>
          </p:nvPr>
        </p:nvSpPr>
        <p:spPr/>
        <p:txBody>
          <a:bodyPr/>
          <a:lstStyle/>
          <a:p>
            <a:r>
              <a:rPr lang="en-IN" dirty="0"/>
              <a:t>Class &amp; Objects</a:t>
            </a:r>
          </a:p>
        </p:txBody>
      </p:sp>
      <p:sp>
        <p:nvSpPr>
          <p:cNvPr id="4" name="Date Placeholder 3">
            <a:extLst>
              <a:ext uri="{FF2B5EF4-FFF2-40B4-BE49-F238E27FC236}">
                <a16:creationId xmlns:a16="http://schemas.microsoft.com/office/drawing/2014/main" id="{CE38C796-2B00-89D2-780D-52B730A69C8E}"/>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B4E8C003-C0E6-761E-4259-7F97100BD498}"/>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E997BDBD-A57C-90F9-3D90-A62D1DADD373}"/>
              </a:ext>
            </a:extLst>
          </p:cNvPr>
          <p:cNvSpPr>
            <a:spLocks noGrp="1"/>
          </p:cNvSpPr>
          <p:nvPr>
            <p:ph type="sldNum" sz="quarter" idx="12"/>
          </p:nvPr>
        </p:nvSpPr>
        <p:spPr/>
        <p:txBody>
          <a:bodyPr/>
          <a:lstStyle/>
          <a:p>
            <a:pPr>
              <a:defRPr/>
            </a:pPr>
            <a:fld id="{846AEF8D-D938-433D-BBFD-44F2BB354120}" type="slidenum">
              <a:rPr lang="en-US" altLang="en-US" smtClean="0"/>
              <a:pPr>
                <a:defRPr/>
              </a:pPr>
              <a:t>19</a:t>
            </a:fld>
            <a:endParaRPr lang="en-US" altLang="en-US"/>
          </a:p>
        </p:txBody>
      </p:sp>
      <p:pic>
        <p:nvPicPr>
          <p:cNvPr id="2050" name="Picture 2" descr="Illustration of Class and Object">
            <a:extLst>
              <a:ext uri="{FF2B5EF4-FFF2-40B4-BE49-F238E27FC236}">
                <a16:creationId xmlns:a16="http://schemas.microsoft.com/office/drawing/2014/main" id="{C422FD6B-F832-CE11-3BE5-76CD21FDBA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2171700"/>
            <a:ext cx="6019800" cy="41148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80C0BFD-DEC1-31C3-2402-D468E66453BA}"/>
              </a:ext>
            </a:extLst>
          </p:cNvPr>
          <p:cNvSpPr txBox="1"/>
          <p:nvPr/>
        </p:nvSpPr>
        <p:spPr>
          <a:xfrm>
            <a:off x="6705600" y="2514600"/>
            <a:ext cx="1844675" cy="1323439"/>
          </a:xfrm>
          <a:prstGeom prst="rect">
            <a:avLst/>
          </a:prstGeom>
          <a:noFill/>
        </p:spPr>
        <p:txBody>
          <a:bodyPr wrap="square" rtlCol="0">
            <a:spAutoFit/>
          </a:bodyPr>
          <a:lstStyle/>
          <a:p>
            <a:r>
              <a:rPr lang="en-IN" sz="2000" b="1" dirty="0"/>
              <a:t>No of Rooms,  Colour, Interiors, </a:t>
            </a:r>
            <a:r>
              <a:rPr lang="en-IN" sz="2000" b="1" dirty="0" err="1"/>
              <a:t>Furnitures</a:t>
            </a:r>
            <a:endParaRPr lang="en-IN" sz="2000" b="1" dirty="0"/>
          </a:p>
        </p:txBody>
      </p:sp>
    </p:spTree>
    <p:extLst>
      <p:ext uri="{BB962C8B-B14F-4D97-AF65-F5344CB8AC3E}">
        <p14:creationId xmlns:p14="http://schemas.microsoft.com/office/powerpoint/2010/main" val="379996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EB1B8-1BF6-0435-C702-2E335A44B804}"/>
              </a:ext>
            </a:extLst>
          </p:cNvPr>
          <p:cNvSpPr>
            <a:spLocks noGrp="1"/>
          </p:cNvSpPr>
          <p:nvPr>
            <p:ph type="title"/>
          </p:nvPr>
        </p:nvSpPr>
        <p:spPr/>
        <p:txBody>
          <a:bodyPr/>
          <a:lstStyle/>
          <a:p>
            <a:r>
              <a:rPr lang="en-IN" dirty="0"/>
              <a:t>Methods and Data</a:t>
            </a:r>
          </a:p>
        </p:txBody>
      </p:sp>
      <p:sp>
        <p:nvSpPr>
          <p:cNvPr id="3" name="Content Placeholder 2">
            <a:extLst>
              <a:ext uri="{FF2B5EF4-FFF2-40B4-BE49-F238E27FC236}">
                <a16:creationId xmlns:a16="http://schemas.microsoft.com/office/drawing/2014/main" id="{D83A875B-2E7F-8784-EFE2-9A5BD2B7E114}"/>
              </a:ext>
            </a:extLst>
          </p:cNvPr>
          <p:cNvSpPr>
            <a:spLocks noGrp="1"/>
          </p:cNvSpPr>
          <p:nvPr>
            <p:ph idx="1"/>
          </p:nvPr>
        </p:nvSpPr>
        <p:spPr/>
        <p:txBody>
          <a:bodyPr/>
          <a:lstStyle/>
          <a:p>
            <a:r>
              <a:rPr lang="en-IN" dirty="0"/>
              <a:t>Data members ( Attributes)  - Name, USN, Phone</a:t>
            </a:r>
          </a:p>
          <a:p>
            <a:r>
              <a:rPr lang="en-IN" dirty="0"/>
              <a:t>Member Functions( Methods/ Functions), </a:t>
            </a:r>
            <a:r>
              <a:rPr lang="en-IN" dirty="0" err="1"/>
              <a:t>getUSN</a:t>
            </a:r>
            <a:r>
              <a:rPr lang="en-IN" dirty="0"/>
              <a:t>, </a:t>
            </a:r>
            <a:r>
              <a:rPr lang="en-IN" dirty="0" err="1"/>
              <a:t>getName</a:t>
            </a:r>
            <a:r>
              <a:rPr lang="en-IN" dirty="0"/>
              <a:t>, </a:t>
            </a:r>
            <a:r>
              <a:rPr lang="en-IN" dirty="0" err="1"/>
              <a:t>setName</a:t>
            </a:r>
            <a:r>
              <a:rPr lang="en-IN" dirty="0"/>
              <a:t>, </a:t>
            </a:r>
            <a:r>
              <a:rPr lang="en-IN" dirty="0" err="1"/>
              <a:t>setPhoneNumber</a:t>
            </a:r>
            <a:r>
              <a:rPr lang="en-IN" dirty="0"/>
              <a:t>()</a:t>
            </a:r>
          </a:p>
        </p:txBody>
      </p:sp>
      <p:sp>
        <p:nvSpPr>
          <p:cNvPr id="4" name="Date Placeholder 3">
            <a:extLst>
              <a:ext uri="{FF2B5EF4-FFF2-40B4-BE49-F238E27FC236}">
                <a16:creationId xmlns:a16="http://schemas.microsoft.com/office/drawing/2014/main" id="{B51C8EEC-97B1-25F8-2EDC-A5C17F3B39CB}"/>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2E4DEDCE-21F4-F43B-7DBB-FD0D9ECABE76}"/>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492BAE05-518D-D789-FACA-ACD6B459F1A0}"/>
              </a:ext>
            </a:extLst>
          </p:cNvPr>
          <p:cNvSpPr>
            <a:spLocks noGrp="1"/>
          </p:cNvSpPr>
          <p:nvPr>
            <p:ph type="sldNum" sz="quarter" idx="12"/>
          </p:nvPr>
        </p:nvSpPr>
        <p:spPr/>
        <p:txBody>
          <a:bodyPr/>
          <a:lstStyle/>
          <a:p>
            <a:pPr>
              <a:defRPr/>
            </a:pPr>
            <a:fld id="{846AEF8D-D938-433D-BBFD-44F2BB354120}" type="slidenum">
              <a:rPr lang="en-US" altLang="en-US" smtClean="0"/>
              <a:pPr>
                <a:defRPr/>
              </a:pPr>
              <a:t>20</a:t>
            </a:fld>
            <a:endParaRPr lang="en-US" altLang="en-US"/>
          </a:p>
        </p:txBody>
      </p:sp>
      <p:graphicFrame>
        <p:nvGraphicFramePr>
          <p:cNvPr id="7" name="Table 6">
            <a:extLst>
              <a:ext uri="{FF2B5EF4-FFF2-40B4-BE49-F238E27FC236}">
                <a16:creationId xmlns:a16="http://schemas.microsoft.com/office/drawing/2014/main" id="{6141420D-5344-9AA9-5A4E-FE5B40D41FC0}"/>
              </a:ext>
            </a:extLst>
          </p:cNvPr>
          <p:cNvGraphicFramePr>
            <a:graphicFrameLocks noGrp="1"/>
          </p:cNvGraphicFramePr>
          <p:nvPr>
            <p:extLst>
              <p:ext uri="{D42A27DB-BD31-4B8C-83A1-F6EECF244321}">
                <p14:modId xmlns:p14="http://schemas.microsoft.com/office/powerpoint/2010/main" val="2896262570"/>
              </p:ext>
            </p:extLst>
          </p:nvPr>
        </p:nvGraphicFramePr>
        <p:xfrm>
          <a:off x="914400" y="3810000"/>
          <a:ext cx="6629400" cy="212344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826170283"/>
                    </a:ext>
                  </a:extLst>
                </a:gridCol>
                <a:gridCol w="3010852">
                  <a:extLst>
                    <a:ext uri="{9D8B030D-6E8A-4147-A177-3AD203B41FA5}">
                      <a16:colId xmlns:a16="http://schemas.microsoft.com/office/drawing/2014/main" val="2049230993"/>
                    </a:ext>
                  </a:extLst>
                </a:gridCol>
                <a:gridCol w="1408748">
                  <a:extLst>
                    <a:ext uri="{9D8B030D-6E8A-4147-A177-3AD203B41FA5}">
                      <a16:colId xmlns:a16="http://schemas.microsoft.com/office/drawing/2014/main" val="1450830353"/>
                    </a:ext>
                  </a:extLst>
                </a:gridCol>
              </a:tblGrid>
              <a:tr h="370840">
                <a:tc>
                  <a:txBody>
                    <a:bodyPr/>
                    <a:lstStyle/>
                    <a:p>
                      <a:r>
                        <a:rPr lang="en-IN" dirty="0"/>
                        <a:t>Name</a:t>
                      </a:r>
                    </a:p>
                  </a:txBody>
                  <a:tcPr/>
                </a:tc>
                <a:tc>
                  <a:txBody>
                    <a:bodyPr/>
                    <a:lstStyle/>
                    <a:p>
                      <a:r>
                        <a:rPr lang="en-IN" dirty="0"/>
                        <a:t> USN</a:t>
                      </a:r>
                    </a:p>
                  </a:txBody>
                  <a:tcPr/>
                </a:tc>
                <a:tc>
                  <a:txBody>
                    <a:bodyPr/>
                    <a:lstStyle/>
                    <a:p>
                      <a:r>
                        <a:rPr lang="en-IN" dirty="0"/>
                        <a:t>Phone Number</a:t>
                      </a:r>
                    </a:p>
                  </a:txBody>
                  <a:tcPr/>
                </a:tc>
                <a:extLst>
                  <a:ext uri="{0D108BD9-81ED-4DB2-BD59-A6C34878D82A}">
                    <a16:rowId xmlns:a16="http://schemas.microsoft.com/office/drawing/2014/main" val="4291454044"/>
                  </a:ext>
                </a:extLst>
              </a:tr>
              <a:tr h="370840">
                <a:tc>
                  <a:txBody>
                    <a:bodyPr/>
                    <a:lstStyle/>
                    <a:p>
                      <a:pPr algn="ctr" rtl="0" fontAlgn="ctr"/>
                      <a:r>
                        <a:rPr lang="en-IN" sz="2000" b="0" dirty="0">
                          <a:effectLst/>
                          <a:latin typeface="Cambria" panose="02040503050406030204" pitchFamily="18" charset="0"/>
                        </a:rPr>
                        <a:t>1KS23IC001</a:t>
                      </a:r>
                    </a:p>
                  </a:txBody>
                  <a:tcPr marL="22860" marR="22860" marT="0" marB="0" anchor="ctr"/>
                </a:tc>
                <a:tc>
                  <a:txBody>
                    <a:bodyPr/>
                    <a:lstStyle/>
                    <a:p>
                      <a:pPr rtl="0" fontAlgn="ctr"/>
                      <a:r>
                        <a:rPr lang="en-IN" sz="2000" b="0" dirty="0">
                          <a:effectLst/>
                          <a:latin typeface="Cambria" panose="02040503050406030204" pitchFamily="18" charset="0"/>
                        </a:rPr>
                        <a:t>ADITHI S BHARADWAJ</a:t>
                      </a:r>
                    </a:p>
                  </a:txBody>
                  <a:tcPr marL="22860" marR="22860" marT="0" marB="0" anchor="ctr"/>
                </a:tc>
                <a:tc>
                  <a:txBody>
                    <a:bodyPr/>
                    <a:lstStyle/>
                    <a:p>
                      <a:r>
                        <a:rPr lang="en-IN" dirty="0"/>
                        <a:t>99228822</a:t>
                      </a:r>
                    </a:p>
                  </a:txBody>
                  <a:tcPr/>
                </a:tc>
                <a:extLst>
                  <a:ext uri="{0D108BD9-81ED-4DB2-BD59-A6C34878D82A}">
                    <a16:rowId xmlns:a16="http://schemas.microsoft.com/office/drawing/2014/main" val="2336655787"/>
                  </a:ext>
                </a:extLst>
              </a:tr>
              <a:tr h="370840">
                <a:tc>
                  <a:txBody>
                    <a:bodyPr/>
                    <a:lstStyle/>
                    <a:p>
                      <a:pPr algn="ctr" rtl="0" fontAlgn="ctr"/>
                      <a:r>
                        <a:rPr lang="en-IN" sz="2000" b="0" dirty="0">
                          <a:effectLst/>
                          <a:latin typeface="Cambria" panose="02040503050406030204" pitchFamily="18" charset="0"/>
                        </a:rPr>
                        <a:t>1KS23IC002</a:t>
                      </a:r>
                    </a:p>
                  </a:txBody>
                  <a:tcPr marL="22860" marR="22860" marT="0" marB="0" anchor="ctr"/>
                </a:tc>
                <a:tc>
                  <a:txBody>
                    <a:bodyPr/>
                    <a:lstStyle/>
                    <a:p>
                      <a:pPr rtl="0" fontAlgn="ctr"/>
                      <a:r>
                        <a:rPr lang="en-IN" sz="2000" b="0" dirty="0">
                          <a:effectLst/>
                          <a:latin typeface="Cambria" panose="02040503050406030204" pitchFamily="18" charset="0"/>
                        </a:rPr>
                        <a:t>ADITYA KUMAR B</a:t>
                      </a:r>
                    </a:p>
                  </a:txBody>
                  <a:tcPr marL="22860" marR="22860" marT="0" marB="0" anchor="ctr"/>
                </a:tc>
                <a:tc>
                  <a:txBody>
                    <a:bodyPr/>
                    <a:lstStyle/>
                    <a:p>
                      <a:r>
                        <a:rPr lang="en-IN" dirty="0"/>
                        <a:t>94948494</a:t>
                      </a:r>
                    </a:p>
                  </a:txBody>
                  <a:tcPr/>
                </a:tc>
                <a:extLst>
                  <a:ext uri="{0D108BD9-81ED-4DB2-BD59-A6C34878D82A}">
                    <a16:rowId xmlns:a16="http://schemas.microsoft.com/office/drawing/2014/main" val="2902539288"/>
                  </a:ext>
                </a:extLst>
              </a:tr>
              <a:tr h="370840">
                <a:tc>
                  <a:txBody>
                    <a:bodyPr/>
                    <a:lstStyle/>
                    <a:p>
                      <a:pPr algn="ctr" rtl="0" fontAlgn="ctr"/>
                      <a:r>
                        <a:rPr lang="en-IN" sz="2000" b="0" dirty="0">
                          <a:effectLst/>
                          <a:latin typeface="Cambria" panose="02040503050406030204" pitchFamily="18" charset="0"/>
                        </a:rPr>
                        <a:t>1KS23IC003</a:t>
                      </a:r>
                    </a:p>
                  </a:txBody>
                  <a:tcPr marL="22860" marR="22860" marT="0" marB="0" anchor="ctr"/>
                </a:tc>
                <a:tc>
                  <a:txBody>
                    <a:bodyPr/>
                    <a:lstStyle/>
                    <a:p>
                      <a:pPr rtl="0" fontAlgn="ctr"/>
                      <a:r>
                        <a:rPr lang="en-IN" sz="2000" b="0" dirty="0">
                          <a:effectLst/>
                          <a:latin typeface="Cambria" panose="02040503050406030204" pitchFamily="18" charset="0"/>
                        </a:rPr>
                        <a:t>AKHILA P V</a:t>
                      </a:r>
                    </a:p>
                  </a:txBody>
                  <a:tcPr marL="22860" marR="22860" marT="0" marB="0" anchor="ctr"/>
                </a:tc>
                <a:tc>
                  <a:txBody>
                    <a:bodyPr/>
                    <a:lstStyle/>
                    <a:p>
                      <a:r>
                        <a:rPr lang="en-IN" dirty="0"/>
                        <a:t>85648393</a:t>
                      </a:r>
                    </a:p>
                  </a:txBody>
                  <a:tcPr/>
                </a:tc>
                <a:extLst>
                  <a:ext uri="{0D108BD9-81ED-4DB2-BD59-A6C34878D82A}">
                    <a16:rowId xmlns:a16="http://schemas.microsoft.com/office/drawing/2014/main" val="2149731325"/>
                  </a:ext>
                </a:extLst>
              </a:tr>
              <a:tr h="370840">
                <a:tc>
                  <a:txBody>
                    <a:bodyPr/>
                    <a:lstStyle/>
                    <a:p>
                      <a:pPr algn="ctr" rtl="0" fontAlgn="ctr"/>
                      <a:r>
                        <a:rPr lang="en-IN" sz="2000" b="0">
                          <a:effectLst/>
                          <a:latin typeface="Cambria" panose="02040503050406030204" pitchFamily="18" charset="0"/>
                        </a:rPr>
                        <a:t>1KS23IC004</a:t>
                      </a:r>
                    </a:p>
                  </a:txBody>
                  <a:tcPr marL="22860" marR="22860" marT="0" marB="0" anchor="ctr"/>
                </a:tc>
                <a:tc>
                  <a:txBody>
                    <a:bodyPr/>
                    <a:lstStyle/>
                    <a:p>
                      <a:pPr rtl="0" fontAlgn="ctr"/>
                      <a:r>
                        <a:rPr lang="en-IN" sz="2000" b="0" dirty="0">
                          <a:effectLst/>
                          <a:highlight>
                            <a:srgbClr val="FFFFFF"/>
                          </a:highlight>
                          <a:latin typeface="Cambria" panose="02040503050406030204" pitchFamily="18" charset="0"/>
                        </a:rPr>
                        <a:t>AKSHAY KUMAR G C</a:t>
                      </a:r>
                    </a:p>
                  </a:txBody>
                  <a:tcPr marL="22860" marR="22860" marT="0" marB="0" anchor="ctr"/>
                </a:tc>
                <a:tc>
                  <a:txBody>
                    <a:bodyPr/>
                    <a:lstStyle/>
                    <a:p>
                      <a:r>
                        <a:rPr lang="en-IN" dirty="0"/>
                        <a:t>47476383</a:t>
                      </a:r>
                    </a:p>
                  </a:txBody>
                  <a:tcPr/>
                </a:tc>
                <a:extLst>
                  <a:ext uri="{0D108BD9-81ED-4DB2-BD59-A6C34878D82A}">
                    <a16:rowId xmlns:a16="http://schemas.microsoft.com/office/drawing/2014/main" val="679789375"/>
                  </a:ext>
                </a:extLst>
              </a:tr>
            </a:tbl>
          </a:graphicData>
        </a:graphic>
      </p:graphicFrame>
    </p:spTree>
    <p:extLst>
      <p:ext uri="{BB962C8B-B14F-4D97-AF65-F5344CB8AC3E}">
        <p14:creationId xmlns:p14="http://schemas.microsoft.com/office/powerpoint/2010/main" val="1588176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A0B28-6C82-5AC4-4E7C-D892B0D07E4F}"/>
              </a:ext>
            </a:extLst>
          </p:cNvPr>
          <p:cNvSpPr>
            <a:spLocks noGrp="1"/>
          </p:cNvSpPr>
          <p:nvPr>
            <p:ph type="title"/>
          </p:nvPr>
        </p:nvSpPr>
        <p:spPr/>
        <p:txBody>
          <a:bodyPr/>
          <a:lstStyle/>
          <a:p>
            <a:r>
              <a:rPr lang="en-IN" dirty="0"/>
              <a:t>Abstraction</a:t>
            </a:r>
          </a:p>
        </p:txBody>
      </p:sp>
      <p:sp>
        <p:nvSpPr>
          <p:cNvPr id="4" name="Date Placeholder 3">
            <a:extLst>
              <a:ext uri="{FF2B5EF4-FFF2-40B4-BE49-F238E27FC236}">
                <a16:creationId xmlns:a16="http://schemas.microsoft.com/office/drawing/2014/main" id="{625B5C6A-915E-A670-EB6F-49464ACE7711}"/>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dirty="0"/>
          </a:p>
        </p:txBody>
      </p:sp>
      <p:sp>
        <p:nvSpPr>
          <p:cNvPr id="5" name="Footer Placeholder 4">
            <a:extLst>
              <a:ext uri="{FF2B5EF4-FFF2-40B4-BE49-F238E27FC236}">
                <a16:creationId xmlns:a16="http://schemas.microsoft.com/office/drawing/2014/main" id="{53930737-54B8-458C-8186-4DEC7470A3D8}"/>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B1D30023-0893-DFA7-D0F6-76213A46DEF8}"/>
              </a:ext>
            </a:extLst>
          </p:cNvPr>
          <p:cNvSpPr>
            <a:spLocks noGrp="1"/>
          </p:cNvSpPr>
          <p:nvPr>
            <p:ph type="sldNum" sz="quarter" idx="12"/>
          </p:nvPr>
        </p:nvSpPr>
        <p:spPr/>
        <p:txBody>
          <a:bodyPr/>
          <a:lstStyle/>
          <a:p>
            <a:pPr>
              <a:defRPr/>
            </a:pPr>
            <a:fld id="{846AEF8D-D938-433D-BBFD-44F2BB354120}" type="slidenum">
              <a:rPr lang="en-US" altLang="en-US" smtClean="0"/>
              <a:pPr>
                <a:defRPr/>
              </a:pPr>
              <a:t>21</a:t>
            </a:fld>
            <a:endParaRPr lang="en-US" altLang="en-US"/>
          </a:p>
        </p:txBody>
      </p:sp>
      <p:pic>
        <p:nvPicPr>
          <p:cNvPr id="6146" name="Picture 2" descr="Car Abstraction Example">
            <a:extLst>
              <a:ext uri="{FF2B5EF4-FFF2-40B4-BE49-F238E27FC236}">
                <a16:creationId xmlns:a16="http://schemas.microsoft.com/office/drawing/2014/main" id="{94100B6F-A39A-EEC6-4C42-49B1062271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0" y="3706532"/>
            <a:ext cx="6122265" cy="315146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135E363-AD2C-7107-29CC-15005683362A}"/>
              </a:ext>
            </a:extLst>
          </p:cNvPr>
          <p:cNvSpPr txBox="1"/>
          <p:nvPr/>
        </p:nvSpPr>
        <p:spPr>
          <a:xfrm>
            <a:off x="304800" y="2057400"/>
            <a:ext cx="8534400" cy="2308324"/>
          </a:xfrm>
          <a:prstGeom prst="rect">
            <a:avLst/>
          </a:prstGeom>
          <a:noFill/>
        </p:spPr>
        <p:txBody>
          <a:bodyPr wrap="square">
            <a:spAutoFit/>
          </a:bodyPr>
          <a:lstStyle/>
          <a:p>
            <a:r>
              <a:rPr lang="en-IN" sz="2400" b="1" i="0" dirty="0">
                <a:solidFill>
                  <a:srgbClr val="000000"/>
                </a:solidFill>
                <a:effectLst/>
                <a:highlight>
                  <a:srgbClr val="FFFFFF"/>
                </a:highlight>
                <a:latin typeface="-apple-system"/>
              </a:rPr>
              <a:t>Abstraction</a:t>
            </a:r>
            <a:r>
              <a:rPr lang="en-IN" sz="2400" b="0" i="0" dirty="0">
                <a:solidFill>
                  <a:srgbClr val="000000"/>
                </a:solidFill>
                <a:effectLst/>
                <a:highlight>
                  <a:srgbClr val="FFFFFF"/>
                </a:highlight>
                <a:latin typeface="-apple-system"/>
              </a:rPr>
              <a:t> means hiding lower-level details and exposing only the essential and relevant details to the users.</a:t>
            </a:r>
          </a:p>
          <a:p>
            <a:endParaRPr lang="en-IN" sz="2400" b="0" i="0" dirty="0">
              <a:solidFill>
                <a:srgbClr val="000000"/>
              </a:solidFill>
              <a:effectLst/>
              <a:highlight>
                <a:srgbClr val="FFFFFF"/>
              </a:highlight>
              <a:latin typeface="-apple-system"/>
            </a:endParaRPr>
          </a:p>
          <a:p>
            <a:pPr algn="just"/>
            <a:r>
              <a:rPr lang="en-IN" sz="2400" b="0" i="1" dirty="0">
                <a:solidFill>
                  <a:srgbClr val="333333"/>
                </a:solidFill>
                <a:effectLst/>
                <a:latin typeface="inter-regular"/>
              </a:rPr>
              <a:t>Hiding internal details and showing functionality</a:t>
            </a:r>
            <a:r>
              <a:rPr lang="en-IN" sz="2400" b="0" i="0" dirty="0">
                <a:solidFill>
                  <a:srgbClr val="333333"/>
                </a:solidFill>
                <a:effectLst/>
                <a:latin typeface="inter-regular"/>
              </a:rPr>
              <a:t> is known as abstraction. </a:t>
            </a:r>
          </a:p>
          <a:p>
            <a:endParaRPr lang="en-IN" sz="2400" dirty="0"/>
          </a:p>
        </p:txBody>
      </p:sp>
    </p:spTree>
    <p:extLst>
      <p:ext uri="{BB962C8B-B14F-4D97-AF65-F5344CB8AC3E}">
        <p14:creationId xmlns:p14="http://schemas.microsoft.com/office/powerpoint/2010/main" val="2120037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1954B-B891-54BC-9E62-4056979075AF}"/>
              </a:ext>
            </a:extLst>
          </p:cNvPr>
          <p:cNvSpPr>
            <a:spLocks noGrp="1"/>
          </p:cNvSpPr>
          <p:nvPr>
            <p:ph type="title"/>
          </p:nvPr>
        </p:nvSpPr>
        <p:spPr/>
        <p:txBody>
          <a:bodyPr/>
          <a:lstStyle/>
          <a:p>
            <a:r>
              <a:rPr lang="en-IN" dirty="0"/>
              <a:t>Abstraction</a:t>
            </a:r>
          </a:p>
        </p:txBody>
      </p:sp>
      <p:sp>
        <p:nvSpPr>
          <p:cNvPr id="4" name="Date Placeholder 3">
            <a:extLst>
              <a:ext uri="{FF2B5EF4-FFF2-40B4-BE49-F238E27FC236}">
                <a16:creationId xmlns:a16="http://schemas.microsoft.com/office/drawing/2014/main" id="{0BF307A6-3699-51E3-9C2A-281E87C1C82A}"/>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C68FA9CB-D03C-F0A7-DB14-BC055F87D926}"/>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63B2D0F4-7D16-8A5F-E1DA-5864A9946D95}"/>
              </a:ext>
            </a:extLst>
          </p:cNvPr>
          <p:cNvSpPr>
            <a:spLocks noGrp="1"/>
          </p:cNvSpPr>
          <p:nvPr>
            <p:ph type="sldNum" sz="quarter" idx="12"/>
          </p:nvPr>
        </p:nvSpPr>
        <p:spPr/>
        <p:txBody>
          <a:bodyPr/>
          <a:lstStyle/>
          <a:p>
            <a:pPr>
              <a:defRPr/>
            </a:pPr>
            <a:fld id="{846AEF8D-D938-433D-BBFD-44F2BB354120}" type="slidenum">
              <a:rPr lang="en-US" altLang="en-US" smtClean="0"/>
              <a:pPr>
                <a:defRPr/>
              </a:pPr>
              <a:t>22</a:t>
            </a:fld>
            <a:endParaRPr lang="en-US" altLang="en-US"/>
          </a:p>
        </p:txBody>
      </p:sp>
      <p:pic>
        <p:nvPicPr>
          <p:cNvPr id="9218" name="Picture 2" descr="ATM Abstraction Example">
            <a:extLst>
              <a:ext uri="{FF2B5EF4-FFF2-40B4-BE49-F238E27FC236}">
                <a16:creationId xmlns:a16="http://schemas.microsoft.com/office/drawing/2014/main" id="{8DED369A-2752-B890-C37B-F02195B9EE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3725" y="2074863"/>
            <a:ext cx="3902075" cy="40703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8DD40F4D-5344-B663-073F-65857E00448F}"/>
              </a:ext>
            </a:extLst>
          </p:cNvPr>
          <p:cNvPicPr>
            <a:picLocks noChangeAspect="1"/>
          </p:cNvPicPr>
          <p:nvPr/>
        </p:nvPicPr>
        <p:blipFill>
          <a:blip r:embed="rId3"/>
          <a:stretch>
            <a:fillRect/>
          </a:stretch>
        </p:blipFill>
        <p:spPr>
          <a:xfrm>
            <a:off x="5105400" y="2125663"/>
            <a:ext cx="3565071" cy="4019550"/>
          </a:xfrm>
          <a:prstGeom prst="rect">
            <a:avLst/>
          </a:prstGeom>
        </p:spPr>
      </p:pic>
    </p:spTree>
    <p:extLst>
      <p:ext uri="{BB962C8B-B14F-4D97-AF65-F5344CB8AC3E}">
        <p14:creationId xmlns:p14="http://schemas.microsoft.com/office/powerpoint/2010/main" val="1493410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618D1-6CCE-7498-FCC5-20CA8787490D}"/>
              </a:ext>
            </a:extLst>
          </p:cNvPr>
          <p:cNvSpPr>
            <a:spLocks noGrp="1"/>
          </p:cNvSpPr>
          <p:nvPr>
            <p:ph type="title"/>
          </p:nvPr>
        </p:nvSpPr>
        <p:spPr/>
        <p:txBody>
          <a:bodyPr/>
          <a:lstStyle/>
          <a:p>
            <a:r>
              <a:rPr lang="en-IN" dirty="0"/>
              <a:t> Encapsulation</a:t>
            </a:r>
          </a:p>
        </p:txBody>
      </p:sp>
      <p:sp>
        <p:nvSpPr>
          <p:cNvPr id="4" name="Date Placeholder 3">
            <a:extLst>
              <a:ext uri="{FF2B5EF4-FFF2-40B4-BE49-F238E27FC236}">
                <a16:creationId xmlns:a16="http://schemas.microsoft.com/office/drawing/2014/main" id="{A66BE557-7EBE-48B3-06B5-BA81C4555F8A}"/>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8FC4745C-A882-6A63-DAED-5AB9D326CCBE}"/>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51B08EBD-927A-5A0B-8E3D-B6F1757727DD}"/>
              </a:ext>
            </a:extLst>
          </p:cNvPr>
          <p:cNvSpPr>
            <a:spLocks noGrp="1"/>
          </p:cNvSpPr>
          <p:nvPr>
            <p:ph type="sldNum" sz="quarter" idx="12"/>
          </p:nvPr>
        </p:nvSpPr>
        <p:spPr/>
        <p:txBody>
          <a:bodyPr/>
          <a:lstStyle/>
          <a:p>
            <a:pPr>
              <a:defRPr/>
            </a:pPr>
            <a:fld id="{846AEF8D-D938-433D-BBFD-44F2BB354120}" type="slidenum">
              <a:rPr lang="en-US" altLang="en-US" smtClean="0"/>
              <a:pPr>
                <a:defRPr/>
              </a:pPr>
              <a:t>23</a:t>
            </a:fld>
            <a:endParaRPr lang="en-US" altLang="en-US"/>
          </a:p>
        </p:txBody>
      </p:sp>
      <p:pic>
        <p:nvPicPr>
          <p:cNvPr id="10242" name="Picture 2" descr="Encapsulation Example">
            <a:extLst>
              <a:ext uri="{FF2B5EF4-FFF2-40B4-BE49-F238E27FC236}">
                <a16:creationId xmlns:a16="http://schemas.microsoft.com/office/drawing/2014/main" id="{9711B58A-E1E5-E8F2-6C5A-1BBB8B9B02A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56505" y="2553235"/>
            <a:ext cx="3929062" cy="26193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BCCF288-D09C-18B6-4CBD-4F6C497305F4}"/>
              </a:ext>
            </a:extLst>
          </p:cNvPr>
          <p:cNvSpPr txBox="1"/>
          <p:nvPr/>
        </p:nvSpPr>
        <p:spPr>
          <a:xfrm>
            <a:off x="228599" y="2074863"/>
            <a:ext cx="5681663" cy="4524315"/>
          </a:xfrm>
          <a:prstGeom prst="rect">
            <a:avLst/>
          </a:prstGeom>
          <a:noFill/>
        </p:spPr>
        <p:txBody>
          <a:bodyPr wrap="square">
            <a:spAutoFit/>
          </a:bodyPr>
          <a:lstStyle/>
          <a:p>
            <a:endParaRPr lang="en-IN" sz="2400" b="1" i="0" dirty="0">
              <a:solidFill>
                <a:srgbClr val="000000"/>
              </a:solidFill>
              <a:effectLst/>
              <a:highlight>
                <a:srgbClr val="FFFFFF"/>
              </a:highlight>
              <a:latin typeface="-apple-system"/>
            </a:endParaRPr>
          </a:p>
          <a:p>
            <a:r>
              <a:rPr lang="en-IN" sz="2400" b="1" i="0" dirty="0">
                <a:solidFill>
                  <a:srgbClr val="000000"/>
                </a:solidFill>
                <a:effectLst/>
                <a:highlight>
                  <a:srgbClr val="FFFFFF"/>
                </a:highlight>
                <a:latin typeface="-apple-system"/>
              </a:rPr>
              <a:t>Encapsulation</a:t>
            </a:r>
            <a:r>
              <a:rPr lang="en-IN" sz="2400" b="0" i="0" dirty="0">
                <a:solidFill>
                  <a:srgbClr val="000000"/>
                </a:solidFill>
                <a:effectLst/>
                <a:highlight>
                  <a:srgbClr val="FFFFFF"/>
                </a:highlight>
                <a:latin typeface="-apple-system"/>
              </a:rPr>
              <a:t> is the process of wrapping data and methods in a single unit.</a:t>
            </a:r>
          </a:p>
          <a:p>
            <a:endParaRPr lang="en-IN" sz="2400" dirty="0">
              <a:solidFill>
                <a:srgbClr val="000000"/>
              </a:solidFill>
              <a:highlight>
                <a:srgbClr val="FFFFFF"/>
              </a:highlight>
              <a:latin typeface="-apple-system"/>
            </a:endParaRPr>
          </a:p>
          <a:p>
            <a:r>
              <a:rPr lang="en-IN" sz="2400" b="0" i="0" dirty="0">
                <a:solidFill>
                  <a:srgbClr val="000000"/>
                </a:solidFill>
                <a:effectLst/>
                <a:highlight>
                  <a:srgbClr val="FFFFFF"/>
                </a:highlight>
                <a:latin typeface="-apple-system"/>
              </a:rPr>
              <a:t>In OOP, data and methods operating on that data are combined together to form a single unit, which is referred to as a Class. </a:t>
            </a:r>
          </a:p>
          <a:p>
            <a:endParaRPr lang="en-IN" sz="2400" dirty="0">
              <a:solidFill>
                <a:srgbClr val="000000"/>
              </a:solidFill>
              <a:highlight>
                <a:srgbClr val="FFFFFF"/>
              </a:highlight>
              <a:latin typeface="-apple-system"/>
            </a:endParaRPr>
          </a:p>
          <a:p>
            <a:r>
              <a:rPr lang="en-IN" sz="2400" b="0" i="0" dirty="0">
                <a:solidFill>
                  <a:srgbClr val="000000"/>
                </a:solidFill>
                <a:effectLst/>
                <a:highlight>
                  <a:srgbClr val="FFFFFF"/>
                </a:highlight>
                <a:latin typeface="-apple-system"/>
              </a:rPr>
              <a:t>Encapsulation is the mechanism that binds together code and the data it manipulates and keeps both safe from outside interference and misuse.</a:t>
            </a:r>
            <a:endParaRPr lang="en-IN" sz="2400" dirty="0"/>
          </a:p>
        </p:txBody>
      </p:sp>
    </p:spTree>
    <p:extLst>
      <p:ext uri="{BB962C8B-B14F-4D97-AF65-F5344CB8AC3E}">
        <p14:creationId xmlns:p14="http://schemas.microsoft.com/office/powerpoint/2010/main" val="2019792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29F8B-D016-3A91-00B3-02742AA8551E}"/>
              </a:ext>
            </a:extLst>
          </p:cNvPr>
          <p:cNvSpPr>
            <a:spLocks noGrp="1"/>
          </p:cNvSpPr>
          <p:nvPr>
            <p:ph type="title"/>
          </p:nvPr>
        </p:nvSpPr>
        <p:spPr/>
        <p:txBody>
          <a:bodyPr/>
          <a:lstStyle/>
          <a:p>
            <a:r>
              <a:rPr lang="en-IN" dirty="0"/>
              <a:t>Inheritance</a:t>
            </a:r>
          </a:p>
        </p:txBody>
      </p:sp>
      <p:sp>
        <p:nvSpPr>
          <p:cNvPr id="4" name="Date Placeholder 3">
            <a:extLst>
              <a:ext uri="{FF2B5EF4-FFF2-40B4-BE49-F238E27FC236}">
                <a16:creationId xmlns:a16="http://schemas.microsoft.com/office/drawing/2014/main" id="{863ED4F5-F176-01BF-673C-0C9C29473F1B}"/>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0BE45CE7-DCB4-9FE6-F6B9-4D01104246AD}"/>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449A56EA-3C05-0D7E-CC07-DC66A9E13FD7}"/>
              </a:ext>
            </a:extLst>
          </p:cNvPr>
          <p:cNvSpPr>
            <a:spLocks noGrp="1"/>
          </p:cNvSpPr>
          <p:nvPr>
            <p:ph type="sldNum" sz="quarter" idx="12"/>
          </p:nvPr>
        </p:nvSpPr>
        <p:spPr/>
        <p:txBody>
          <a:bodyPr/>
          <a:lstStyle/>
          <a:p>
            <a:pPr>
              <a:defRPr/>
            </a:pPr>
            <a:fld id="{846AEF8D-D938-433D-BBFD-44F2BB354120}" type="slidenum">
              <a:rPr lang="en-US" altLang="en-US" smtClean="0"/>
              <a:pPr>
                <a:defRPr/>
              </a:pPr>
              <a:t>24</a:t>
            </a:fld>
            <a:endParaRPr lang="en-US" altLang="en-US"/>
          </a:p>
        </p:txBody>
      </p:sp>
      <p:pic>
        <p:nvPicPr>
          <p:cNvPr id="11272" name="Picture 8" descr="Premium Vector | Parents grandparents ...">
            <a:extLst>
              <a:ext uri="{FF2B5EF4-FFF2-40B4-BE49-F238E27FC236}">
                <a16:creationId xmlns:a16="http://schemas.microsoft.com/office/drawing/2014/main" id="{105A13CE-2F77-3630-16D2-6A834587E1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779" y="2157667"/>
            <a:ext cx="4639330" cy="3936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252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1130-38A5-FA44-7286-5C35A2393AF9}"/>
              </a:ext>
            </a:extLst>
          </p:cNvPr>
          <p:cNvSpPr>
            <a:spLocks noGrp="1"/>
          </p:cNvSpPr>
          <p:nvPr>
            <p:ph type="title"/>
          </p:nvPr>
        </p:nvSpPr>
        <p:spPr/>
        <p:txBody>
          <a:bodyPr/>
          <a:lstStyle/>
          <a:p>
            <a:r>
              <a:rPr lang="en-IN" dirty="0"/>
              <a:t>Inheritance</a:t>
            </a:r>
          </a:p>
        </p:txBody>
      </p:sp>
      <p:sp>
        <p:nvSpPr>
          <p:cNvPr id="4" name="Date Placeholder 3">
            <a:extLst>
              <a:ext uri="{FF2B5EF4-FFF2-40B4-BE49-F238E27FC236}">
                <a16:creationId xmlns:a16="http://schemas.microsoft.com/office/drawing/2014/main" id="{3F2B6D80-477F-CB5E-38E2-6B215C509C27}"/>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E2BE52C5-317C-7E40-CB99-FF959EFA611F}"/>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78991213-3590-8771-7C00-F86E1F83E33B}"/>
              </a:ext>
            </a:extLst>
          </p:cNvPr>
          <p:cNvSpPr>
            <a:spLocks noGrp="1"/>
          </p:cNvSpPr>
          <p:nvPr>
            <p:ph type="sldNum" sz="quarter" idx="12"/>
          </p:nvPr>
        </p:nvSpPr>
        <p:spPr/>
        <p:txBody>
          <a:bodyPr/>
          <a:lstStyle/>
          <a:p>
            <a:pPr>
              <a:defRPr/>
            </a:pPr>
            <a:fld id="{846AEF8D-D938-433D-BBFD-44F2BB354120}" type="slidenum">
              <a:rPr lang="en-US" altLang="en-US" smtClean="0"/>
              <a:pPr>
                <a:defRPr/>
              </a:pPr>
              <a:t>25</a:t>
            </a:fld>
            <a:endParaRPr lang="en-US" altLang="en-US"/>
          </a:p>
        </p:txBody>
      </p:sp>
      <p:pic>
        <p:nvPicPr>
          <p:cNvPr id="11274" name="Picture 10" descr="Inheritance - Java Tutorial - Edureka - Inheritance In Java Real Time  Example, HD Png Download , Transparent Png Image - PNGitem">
            <a:extLst>
              <a:ext uri="{FF2B5EF4-FFF2-40B4-BE49-F238E27FC236}">
                <a16:creationId xmlns:a16="http://schemas.microsoft.com/office/drawing/2014/main" id="{1F577960-4140-F9E4-99CB-831FC8075F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3725" y="2216833"/>
            <a:ext cx="7956550" cy="4024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008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D908A-85E0-B4C9-865C-219DF7D79F40}"/>
              </a:ext>
            </a:extLst>
          </p:cNvPr>
          <p:cNvSpPr>
            <a:spLocks noGrp="1"/>
          </p:cNvSpPr>
          <p:nvPr>
            <p:ph type="title"/>
          </p:nvPr>
        </p:nvSpPr>
        <p:spPr/>
        <p:txBody>
          <a:bodyPr/>
          <a:lstStyle/>
          <a:p>
            <a:r>
              <a:rPr lang="en-IN" b="0" i="0" dirty="0">
                <a:solidFill>
                  <a:srgbClr val="4D5156"/>
                </a:solidFill>
                <a:effectLst/>
                <a:highlight>
                  <a:srgbClr val="FFFFFF"/>
                </a:highlight>
                <a:latin typeface="Arial" panose="020B0604020202020204" pitchFamily="34" charset="0"/>
              </a:rPr>
              <a:t>Polymorphism</a:t>
            </a:r>
            <a:endParaRPr lang="en-IN" dirty="0"/>
          </a:p>
        </p:txBody>
      </p:sp>
      <p:sp>
        <p:nvSpPr>
          <p:cNvPr id="3" name="Content Placeholder 2">
            <a:extLst>
              <a:ext uri="{FF2B5EF4-FFF2-40B4-BE49-F238E27FC236}">
                <a16:creationId xmlns:a16="http://schemas.microsoft.com/office/drawing/2014/main" id="{32EF4A3F-8D79-D888-64F2-BE88DF204F51}"/>
              </a:ext>
            </a:extLst>
          </p:cNvPr>
          <p:cNvSpPr>
            <a:spLocks noGrp="1"/>
          </p:cNvSpPr>
          <p:nvPr>
            <p:ph idx="1"/>
          </p:nvPr>
        </p:nvSpPr>
        <p:spPr/>
        <p:txBody>
          <a:bodyPr/>
          <a:lstStyle/>
          <a:p>
            <a:r>
              <a:rPr lang="en-IN" b="1" i="0" dirty="0">
                <a:solidFill>
                  <a:srgbClr val="5F6368"/>
                </a:solidFill>
                <a:effectLst/>
                <a:highlight>
                  <a:srgbClr val="FFFFFF"/>
                </a:highlight>
                <a:latin typeface="Arial" panose="020B0604020202020204" pitchFamily="34" charset="0"/>
              </a:rPr>
              <a:t>The fact that something such as an animal or </a:t>
            </a:r>
            <a:r>
              <a:rPr lang="en-IN" b="1" dirty="0">
                <a:solidFill>
                  <a:srgbClr val="5F6368"/>
                </a:solidFill>
                <a:highlight>
                  <a:srgbClr val="FFFFFF"/>
                </a:highlight>
                <a:latin typeface="Arial" panose="020B0604020202020204" pitchFamily="34" charset="0"/>
              </a:rPr>
              <a:t>chemical </a:t>
            </a:r>
            <a:r>
              <a:rPr lang="en-IN" b="1" i="0" dirty="0">
                <a:solidFill>
                  <a:srgbClr val="5F6368"/>
                </a:solidFill>
                <a:effectLst/>
                <a:highlight>
                  <a:srgbClr val="FFFFFF"/>
                </a:highlight>
                <a:latin typeface="Arial" panose="020B0604020202020204" pitchFamily="34" charset="0"/>
              </a:rPr>
              <a:t> can exist in different forms.  </a:t>
            </a:r>
          </a:p>
          <a:p>
            <a:r>
              <a:rPr lang="en-IN" b="1" i="0" dirty="0">
                <a:solidFill>
                  <a:srgbClr val="5F6368"/>
                </a:solidFill>
                <a:effectLst/>
                <a:highlight>
                  <a:srgbClr val="FFFFFF"/>
                </a:highlight>
                <a:latin typeface="Arial" panose="020B0604020202020204" pitchFamily="34" charset="0"/>
              </a:rPr>
              <a:t>Ex. </a:t>
            </a:r>
            <a:r>
              <a:rPr lang="en-IN" b="0" i="0" u="none" strike="noStrike" dirty="0">
                <a:solidFill>
                  <a:srgbClr val="3C4852"/>
                </a:solidFill>
                <a:effectLst/>
                <a:highlight>
                  <a:srgbClr val="FFFFFF"/>
                </a:highlight>
                <a:latin typeface="AvertaStd"/>
              </a:rPr>
              <a:t>Carbon has two polymorphs, which are graphite and diamond.</a:t>
            </a:r>
          </a:p>
          <a:p>
            <a:endParaRPr lang="en-IN" dirty="0">
              <a:solidFill>
                <a:srgbClr val="4D5156"/>
              </a:solidFill>
              <a:highlight>
                <a:srgbClr val="FFFFFF"/>
              </a:highlight>
              <a:latin typeface="Arial" panose="020B0604020202020204" pitchFamily="34" charset="0"/>
            </a:endParaRPr>
          </a:p>
          <a:p>
            <a:r>
              <a:rPr lang="en-IN" sz="2400" b="1" i="0" dirty="0">
                <a:solidFill>
                  <a:srgbClr val="000000"/>
                </a:solidFill>
                <a:effectLst/>
                <a:highlight>
                  <a:srgbClr val="FFFFFF"/>
                </a:highlight>
              </a:rPr>
              <a:t>Polymorphism</a:t>
            </a:r>
            <a:r>
              <a:rPr lang="en-IN" sz="2400" b="0" i="0" dirty="0">
                <a:solidFill>
                  <a:srgbClr val="000000"/>
                </a:solidFill>
                <a:effectLst/>
                <a:highlight>
                  <a:srgbClr val="FFFFFF"/>
                </a:highlight>
              </a:rPr>
              <a:t> is the process of representing one form in multiple forms.</a:t>
            </a:r>
            <a:endParaRPr lang="en-IN" sz="2400" dirty="0">
              <a:solidFill>
                <a:srgbClr val="4D5156"/>
              </a:solidFill>
              <a:highlight>
                <a:srgbClr val="FFFFFF"/>
              </a:highlight>
            </a:endParaRPr>
          </a:p>
          <a:p>
            <a:endParaRPr lang="en-IN" dirty="0"/>
          </a:p>
        </p:txBody>
      </p:sp>
      <p:sp>
        <p:nvSpPr>
          <p:cNvPr id="4" name="Date Placeholder 3">
            <a:extLst>
              <a:ext uri="{FF2B5EF4-FFF2-40B4-BE49-F238E27FC236}">
                <a16:creationId xmlns:a16="http://schemas.microsoft.com/office/drawing/2014/main" id="{8E4CF8E2-897D-3E04-B4D7-10FA35549C76}"/>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CD293782-7C76-358A-CA8B-24FAFA77A31A}"/>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2B72C34C-81FA-681B-0688-0C021F3754D1}"/>
              </a:ext>
            </a:extLst>
          </p:cNvPr>
          <p:cNvSpPr>
            <a:spLocks noGrp="1"/>
          </p:cNvSpPr>
          <p:nvPr>
            <p:ph type="sldNum" sz="quarter" idx="12"/>
          </p:nvPr>
        </p:nvSpPr>
        <p:spPr/>
        <p:txBody>
          <a:bodyPr/>
          <a:lstStyle/>
          <a:p>
            <a:pPr>
              <a:defRPr/>
            </a:pPr>
            <a:fld id="{846AEF8D-D938-433D-BBFD-44F2BB354120}" type="slidenum">
              <a:rPr lang="en-US" altLang="en-US" smtClean="0"/>
              <a:pPr>
                <a:defRPr/>
              </a:pPr>
              <a:t>26</a:t>
            </a:fld>
            <a:endParaRPr lang="en-US" altLang="en-US"/>
          </a:p>
        </p:txBody>
      </p:sp>
    </p:spTree>
    <p:extLst>
      <p:ext uri="{BB962C8B-B14F-4D97-AF65-F5344CB8AC3E}">
        <p14:creationId xmlns:p14="http://schemas.microsoft.com/office/powerpoint/2010/main" val="1578783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E63E-B30A-F555-6625-762FB02B9FB9}"/>
              </a:ext>
            </a:extLst>
          </p:cNvPr>
          <p:cNvSpPr>
            <a:spLocks noGrp="1"/>
          </p:cNvSpPr>
          <p:nvPr>
            <p:ph type="title"/>
          </p:nvPr>
        </p:nvSpPr>
        <p:spPr/>
        <p:txBody>
          <a:bodyPr/>
          <a:lstStyle/>
          <a:p>
            <a:r>
              <a:rPr lang="en-IN" b="0" i="0" dirty="0">
                <a:solidFill>
                  <a:srgbClr val="4D5156"/>
                </a:solidFill>
                <a:effectLst/>
                <a:highlight>
                  <a:srgbClr val="FFFFFF"/>
                </a:highlight>
                <a:latin typeface="Arial" panose="020B0604020202020204" pitchFamily="34" charset="0"/>
              </a:rPr>
              <a:t>Polymorphism</a:t>
            </a:r>
            <a:endParaRPr lang="en-IN" dirty="0"/>
          </a:p>
        </p:txBody>
      </p:sp>
      <p:sp>
        <p:nvSpPr>
          <p:cNvPr id="4" name="Date Placeholder 3">
            <a:extLst>
              <a:ext uri="{FF2B5EF4-FFF2-40B4-BE49-F238E27FC236}">
                <a16:creationId xmlns:a16="http://schemas.microsoft.com/office/drawing/2014/main" id="{178458D1-CD8F-7693-94D9-C96C6165BE36}"/>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B15F11C4-5E1C-3DFF-6CEC-EC96F6551783}"/>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7AEAF2F6-17C9-2952-2DF4-4462C154CF42}"/>
              </a:ext>
            </a:extLst>
          </p:cNvPr>
          <p:cNvSpPr>
            <a:spLocks noGrp="1"/>
          </p:cNvSpPr>
          <p:nvPr>
            <p:ph type="sldNum" sz="quarter" idx="12"/>
          </p:nvPr>
        </p:nvSpPr>
        <p:spPr/>
        <p:txBody>
          <a:bodyPr/>
          <a:lstStyle/>
          <a:p>
            <a:pPr>
              <a:defRPr/>
            </a:pPr>
            <a:fld id="{846AEF8D-D938-433D-BBFD-44F2BB354120}" type="slidenum">
              <a:rPr lang="en-US" altLang="en-US" smtClean="0"/>
              <a:pPr>
                <a:defRPr/>
              </a:pPr>
              <a:t>27</a:t>
            </a:fld>
            <a:endParaRPr lang="en-US" altLang="en-US"/>
          </a:p>
        </p:txBody>
      </p:sp>
      <p:pic>
        <p:nvPicPr>
          <p:cNvPr id="12290" name="Picture 2" descr="Polymorphism Real-World Example">
            <a:extLst>
              <a:ext uri="{FF2B5EF4-FFF2-40B4-BE49-F238E27FC236}">
                <a16:creationId xmlns:a16="http://schemas.microsoft.com/office/drawing/2014/main" id="{C677C955-7D71-E745-0375-E08A73DCDBC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9342" y="1676400"/>
            <a:ext cx="7805315" cy="407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064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13F26-1911-5800-2E1D-3524786AF29A}"/>
              </a:ext>
            </a:extLst>
          </p:cNvPr>
          <p:cNvSpPr>
            <a:spLocks noGrp="1"/>
          </p:cNvSpPr>
          <p:nvPr>
            <p:ph type="title"/>
          </p:nvPr>
        </p:nvSpPr>
        <p:spPr/>
        <p:txBody>
          <a:bodyPr/>
          <a:lstStyle/>
          <a:p>
            <a:r>
              <a:rPr lang="en-IN" dirty="0"/>
              <a:t>Polymorphism:</a:t>
            </a:r>
            <a:br>
              <a:rPr lang="en-IN" dirty="0"/>
            </a:br>
            <a:endParaRPr lang="en-IN" dirty="0"/>
          </a:p>
        </p:txBody>
      </p:sp>
      <p:sp>
        <p:nvSpPr>
          <p:cNvPr id="3" name="Content Placeholder 2">
            <a:extLst>
              <a:ext uri="{FF2B5EF4-FFF2-40B4-BE49-F238E27FC236}">
                <a16:creationId xmlns:a16="http://schemas.microsoft.com/office/drawing/2014/main" id="{901591D4-4965-18EB-1C8F-11E988833F91}"/>
              </a:ext>
            </a:extLst>
          </p:cNvPr>
          <p:cNvSpPr>
            <a:spLocks noGrp="1"/>
          </p:cNvSpPr>
          <p:nvPr>
            <p:ph idx="1"/>
          </p:nvPr>
        </p:nvSpPr>
        <p:spPr/>
        <p:txBody>
          <a:bodyPr/>
          <a:lstStyle/>
          <a:p>
            <a:pPr algn="l"/>
            <a:r>
              <a:rPr lang="en-IN" b="1" i="0" dirty="0">
                <a:solidFill>
                  <a:srgbClr val="000000"/>
                </a:solidFill>
                <a:effectLst/>
                <a:highlight>
                  <a:srgbClr val="FFFFFF"/>
                </a:highlight>
                <a:latin typeface="-apple-system"/>
              </a:rPr>
              <a:t>Definitions of Polymorphism:</a:t>
            </a:r>
            <a:endParaRPr lang="en-IN" b="0" i="0" dirty="0">
              <a:solidFill>
                <a:srgbClr val="000000"/>
              </a:solidFill>
              <a:effectLst/>
              <a:highlight>
                <a:srgbClr val="FFFFFF"/>
              </a:highlight>
              <a:latin typeface="-apple-system"/>
            </a:endParaRPr>
          </a:p>
          <a:p>
            <a:pPr algn="l">
              <a:buFont typeface="+mj-lt"/>
              <a:buAutoNum type="arabicPeriod"/>
            </a:pPr>
            <a:r>
              <a:rPr lang="en-IN" b="0" i="0" dirty="0">
                <a:solidFill>
                  <a:srgbClr val="000000"/>
                </a:solidFill>
                <a:effectLst/>
                <a:highlight>
                  <a:srgbClr val="FFFFFF"/>
                </a:highlight>
                <a:latin typeface="-apple-system"/>
              </a:rPr>
              <a:t>Polymorphism allows us to perform a single action in different ways.</a:t>
            </a:r>
          </a:p>
          <a:p>
            <a:pPr algn="l">
              <a:buFont typeface="+mj-lt"/>
              <a:buAutoNum type="arabicPeriod"/>
            </a:pPr>
            <a:r>
              <a:rPr lang="en-IN" b="0" i="0" dirty="0">
                <a:solidFill>
                  <a:srgbClr val="000000"/>
                </a:solidFill>
                <a:effectLst/>
                <a:highlight>
                  <a:srgbClr val="FFFFFF"/>
                </a:highlight>
                <a:latin typeface="-apple-system"/>
              </a:rPr>
              <a:t>Polymorphism allows you to define one interface and have multiple implementations.</a:t>
            </a:r>
          </a:p>
          <a:p>
            <a:pPr algn="l">
              <a:buFont typeface="+mj-lt"/>
              <a:buAutoNum type="arabicPeriod"/>
            </a:pPr>
            <a:r>
              <a:rPr lang="en-IN" b="0" i="0" dirty="0">
                <a:solidFill>
                  <a:srgbClr val="000000"/>
                </a:solidFill>
                <a:effectLst/>
                <a:highlight>
                  <a:srgbClr val="FFFFFF"/>
                </a:highlight>
                <a:latin typeface="-apple-system"/>
              </a:rPr>
              <a:t>We can create functions or reference variables that behave differently in different programmatic contexts.</a:t>
            </a:r>
          </a:p>
          <a:p>
            <a:pPr algn="l">
              <a:buFont typeface="+mj-lt"/>
              <a:buAutoNum type="arabicPeriod"/>
            </a:pPr>
            <a:r>
              <a:rPr lang="en-IN" b="0" i="0" dirty="0">
                <a:solidFill>
                  <a:srgbClr val="000000"/>
                </a:solidFill>
                <a:effectLst/>
                <a:highlight>
                  <a:srgbClr val="FFFFFF"/>
                </a:highlight>
                <a:latin typeface="-apple-system"/>
              </a:rPr>
              <a:t>Polymorphism means many forms.</a:t>
            </a:r>
          </a:p>
          <a:p>
            <a:endParaRPr lang="en-IN" dirty="0"/>
          </a:p>
        </p:txBody>
      </p:sp>
      <p:sp>
        <p:nvSpPr>
          <p:cNvPr id="4" name="Date Placeholder 3">
            <a:extLst>
              <a:ext uri="{FF2B5EF4-FFF2-40B4-BE49-F238E27FC236}">
                <a16:creationId xmlns:a16="http://schemas.microsoft.com/office/drawing/2014/main" id="{5467E785-D2F5-0CF2-7727-DB1D94D1B191}"/>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1551B510-219A-C299-7F88-999047BB3273}"/>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185D496E-D0AA-31DD-60A6-08A700A5C626}"/>
              </a:ext>
            </a:extLst>
          </p:cNvPr>
          <p:cNvSpPr>
            <a:spLocks noGrp="1"/>
          </p:cNvSpPr>
          <p:nvPr>
            <p:ph type="sldNum" sz="quarter" idx="12"/>
          </p:nvPr>
        </p:nvSpPr>
        <p:spPr/>
        <p:txBody>
          <a:bodyPr/>
          <a:lstStyle/>
          <a:p>
            <a:pPr>
              <a:defRPr/>
            </a:pPr>
            <a:fld id="{846AEF8D-D938-433D-BBFD-44F2BB354120}" type="slidenum">
              <a:rPr lang="en-US" altLang="en-US" smtClean="0"/>
              <a:pPr>
                <a:defRPr/>
              </a:pPr>
              <a:t>28</a:t>
            </a:fld>
            <a:endParaRPr lang="en-US" altLang="en-US"/>
          </a:p>
        </p:txBody>
      </p:sp>
    </p:spTree>
    <p:extLst>
      <p:ext uri="{BB962C8B-B14F-4D97-AF65-F5344CB8AC3E}">
        <p14:creationId xmlns:p14="http://schemas.microsoft.com/office/powerpoint/2010/main" val="3920244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1732-4517-DFD6-B104-24873BB36D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5AD97A6-8CE8-B6A3-6404-C515B1721164}"/>
              </a:ext>
            </a:extLst>
          </p:cNvPr>
          <p:cNvSpPr>
            <a:spLocks noGrp="1"/>
          </p:cNvSpPr>
          <p:nvPr>
            <p:ph idx="1"/>
          </p:nvPr>
        </p:nvSpPr>
        <p:spPr/>
        <p:txBody>
          <a:bodyPr/>
          <a:lstStyle/>
          <a:p>
            <a:r>
              <a:rPr lang="en-IN" b="1" i="0" dirty="0">
                <a:solidFill>
                  <a:srgbClr val="000000"/>
                </a:solidFill>
                <a:effectLst/>
                <a:highlight>
                  <a:srgbClr val="FFFFFF"/>
                </a:highlight>
                <a:latin typeface="-apple-system"/>
              </a:rPr>
              <a:t>https://www.javaguides.net/2019/08/oops-concepts-in-java-with-realtime-examples.html</a:t>
            </a:r>
            <a:endParaRPr lang="en-IN" dirty="0"/>
          </a:p>
        </p:txBody>
      </p:sp>
      <p:sp>
        <p:nvSpPr>
          <p:cNvPr id="4" name="Date Placeholder 3">
            <a:extLst>
              <a:ext uri="{FF2B5EF4-FFF2-40B4-BE49-F238E27FC236}">
                <a16:creationId xmlns:a16="http://schemas.microsoft.com/office/drawing/2014/main" id="{E1F6FE2D-4921-0EDB-75C2-CD6E3269E2F6}"/>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91484790-EA98-EF46-64BD-2C23B688C4B7}"/>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0AA805A0-E187-5288-31A3-3B1C829D6AB7}"/>
              </a:ext>
            </a:extLst>
          </p:cNvPr>
          <p:cNvSpPr>
            <a:spLocks noGrp="1"/>
          </p:cNvSpPr>
          <p:nvPr>
            <p:ph type="sldNum" sz="quarter" idx="12"/>
          </p:nvPr>
        </p:nvSpPr>
        <p:spPr/>
        <p:txBody>
          <a:bodyPr/>
          <a:lstStyle/>
          <a:p>
            <a:pPr>
              <a:defRPr/>
            </a:pPr>
            <a:fld id="{846AEF8D-D938-433D-BBFD-44F2BB354120}" type="slidenum">
              <a:rPr lang="en-US" altLang="en-US" smtClean="0"/>
              <a:pPr>
                <a:defRPr/>
              </a:pPr>
              <a:t>29</a:t>
            </a:fld>
            <a:endParaRPr lang="en-US" altLang="en-US"/>
          </a:p>
        </p:txBody>
      </p:sp>
    </p:spTree>
    <p:extLst>
      <p:ext uri="{BB962C8B-B14F-4D97-AF65-F5344CB8AC3E}">
        <p14:creationId xmlns:p14="http://schemas.microsoft.com/office/powerpoint/2010/main" val="3107103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EF346-FA12-AE63-13D1-333F2F4EF524}"/>
              </a:ext>
            </a:extLst>
          </p:cNvPr>
          <p:cNvSpPr>
            <a:spLocks noGrp="1"/>
          </p:cNvSpPr>
          <p:nvPr>
            <p:ph type="title"/>
          </p:nvPr>
        </p:nvSpPr>
        <p:spPr/>
        <p:txBody>
          <a:bodyPr/>
          <a:lstStyle/>
          <a:p>
            <a:r>
              <a:rPr lang="en-IN" dirty="0"/>
              <a:t>History of Java</a:t>
            </a:r>
          </a:p>
        </p:txBody>
      </p:sp>
      <p:sp>
        <p:nvSpPr>
          <p:cNvPr id="3" name="Content Placeholder 2">
            <a:extLst>
              <a:ext uri="{FF2B5EF4-FFF2-40B4-BE49-F238E27FC236}">
                <a16:creationId xmlns:a16="http://schemas.microsoft.com/office/drawing/2014/main" id="{120B4F61-3B37-12B0-A1C5-BB0D8A121392}"/>
              </a:ext>
            </a:extLst>
          </p:cNvPr>
          <p:cNvSpPr>
            <a:spLocks noGrp="1"/>
          </p:cNvSpPr>
          <p:nvPr>
            <p:ph idx="1"/>
          </p:nvPr>
        </p:nvSpPr>
        <p:spPr/>
        <p:txBody>
          <a:bodyPr/>
          <a:lstStyle/>
          <a:p>
            <a:r>
              <a:rPr lang="en-IN" b="0" i="0" dirty="0">
                <a:solidFill>
                  <a:srgbClr val="333333"/>
                </a:solidFill>
                <a:effectLst/>
                <a:highlight>
                  <a:srgbClr val="FFFFFF"/>
                </a:highlight>
                <a:latin typeface="inter-regular"/>
              </a:rPr>
              <a:t>Java was originally designed for interactive television, but it was too advanced technology for the digital cable television industry at the time. </a:t>
            </a:r>
          </a:p>
          <a:p>
            <a:r>
              <a:rPr lang="en-IN" b="0" i="0" dirty="0">
                <a:solidFill>
                  <a:srgbClr val="333333"/>
                </a:solidFill>
                <a:effectLst/>
                <a:highlight>
                  <a:srgbClr val="FFFFFF"/>
                </a:highlight>
                <a:latin typeface="inter-regular"/>
              </a:rPr>
              <a:t>Java team members (also known as Green Team), initiated this project to develop a language for digital devices such as set-top boxes, televisions, etc. However, it was best suited for internet programming. </a:t>
            </a:r>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The principles for creating Java programming were "Simple, Robust, Portable, Platform-independent, Secured, High Performance, Multithreaded, Architecture Neutral, Object-Oriented, Interpreted, and Dynamic". </a:t>
            </a:r>
            <a:endParaRPr lang="en-IN" dirty="0"/>
          </a:p>
        </p:txBody>
      </p:sp>
      <p:sp>
        <p:nvSpPr>
          <p:cNvPr id="4" name="Date Placeholder 3">
            <a:extLst>
              <a:ext uri="{FF2B5EF4-FFF2-40B4-BE49-F238E27FC236}">
                <a16:creationId xmlns:a16="http://schemas.microsoft.com/office/drawing/2014/main" id="{AC7481E2-6217-596B-F065-41F57A298DC3}"/>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A6B76916-57EB-F6C2-A524-C7F426F14B29}"/>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2A30740B-AB94-04DB-72F8-6B28AFF9E02F}"/>
              </a:ext>
            </a:extLst>
          </p:cNvPr>
          <p:cNvSpPr>
            <a:spLocks noGrp="1"/>
          </p:cNvSpPr>
          <p:nvPr>
            <p:ph type="sldNum" sz="quarter" idx="12"/>
          </p:nvPr>
        </p:nvSpPr>
        <p:spPr/>
        <p:txBody>
          <a:bodyPr/>
          <a:lstStyle/>
          <a:p>
            <a:pPr>
              <a:defRPr/>
            </a:pPr>
            <a:fld id="{846AEF8D-D938-433D-BBFD-44F2BB354120}" type="slidenum">
              <a:rPr lang="en-US" altLang="en-US" smtClean="0"/>
              <a:pPr>
                <a:defRPr/>
              </a:pPr>
              <a:t>30</a:t>
            </a:fld>
            <a:endParaRPr lang="en-US" altLang="en-US"/>
          </a:p>
        </p:txBody>
      </p:sp>
    </p:spTree>
    <p:extLst>
      <p:ext uri="{BB962C8B-B14F-4D97-AF65-F5344CB8AC3E}">
        <p14:creationId xmlns:p14="http://schemas.microsoft.com/office/powerpoint/2010/main" val="1254155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EA711-0846-8C58-D2A1-38F414F574B0}"/>
              </a:ext>
            </a:extLst>
          </p:cNvPr>
          <p:cNvSpPr>
            <a:spLocks noGrp="1"/>
          </p:cNvSpPr>
          <p:nvPr>
            <p:ph type="title"/>
          </p:nvPr>
        </p:nvSpPr>
        <p:spPr>
          <a:xfrm>
            <a:off x="1143001" y="763588"/>
            <a:ext cx="4724400" cy="1293812"/>
          </a:xfrm>
        </p:spPr>
        <p:txBody>
          <a:bodyPr/>
          <a:lstStyle/>
          <a:p>
            <a:endParaRPr lang="en-IN" dirty="0"/>
          </a:p>
        </p:txBody>
      </p:sp>
      <p:sp>
        <p:nvSpPr>
          <p:cNvPr id="3" name="Content Placeholder 2">
            <a:extLst>
              <a:ext uri="{FF2B5EF4-FFF2-40B4-BE49-F238E27FC236}">
                <a16:creationId xmlns:a16="http://schemas.microsoft.com/office/drawing/2014/main" id="{BC851A93-CB77-BE5C-9B03-3A7BC9B59BED}"/>
              </a:ext>
            </a:extLst>
          </p:cNvPr>
          <p:cNvSpPr>
            <a:spLocks noGrp="1"/>
          </p:cNvSpPr>
          <p:nvPr>
            <p:ph idx="1"/>
          </p:nvPr>
        </p:nvSpPr>
        <p:spPr>
          <a:xfrm>
            <a:off x="593725" y="2406650"/>
            <a:ext cx="8550275" cy="4070350"/>
          </a:xfrm>
        </p:spPr>
        <p:txBody>
          <a:bodyPr/>
          <a:lstStyle/>
          <a:p>
            <a:endParaRPr lang="en-IN" b="0" i="0" u="none" strike="noStrike" dirty="0">
              <a:solidFill>
                <a:srgbClr val="008000"/>
              </a:solidFill>
              <a:effectLst/>
              <a:highlight>
                <a:srgbClr val="FFFFFF"/>
              </a:highlight>
              <a:latin typeface="inter-regular"/>
              <a:hlinkClick r:id="rId2"/>
            </a:endParaRPr>
          </a:p>
          <a:p>
            <a:endParaRPr lang="en-IN" dirty="0">
              <a:solidFill>
                <a:srgbClr val="008000"/>
              </a:solidFill>
              <a:highlight>
                <a:srgbClr val="FFFFFF"/>
              </a:highlight>
              <a:latin typeface="inter-regular"/>
              <a:hlinkClick r:id="rId2"/>
            </a:endParaRPr>
          </a:p>
          <a:p>
            <a:r>
              <a:rPr lang="en-IN" b="0" i="0" u="none" strike="noStrike" dirty="0">
                <a:solidFill>
                  <a:srgbClr val="008000"/>
                </a:solidFill>
                <a:effectLst/>
                <a:highlight>
                  <a:srgbClr val="FFFFFF"/>
                </a:highlight>
                <a:latin typeface="inter-regular"/>
                <a:hlinkClick r:id="rId2"/>
              </a:rPr>
              <a:t>Java</a:t>
            </a:r>
            <a:r>
              <a:rPr lang="en-IN" b="0" i="0" dirty="0">
                <a:solidFill>
                  <a:srgbClr val="333333"/>
                </a:solidFill>
                <a:effectLst/>
                <a:highlight>
                  <a:srgbClr val="FFFFFF"/>
                </a:highlight>
                <a:latin typeface="inter-regular"/>
              </a:rPr>
              <a:t> was developed by James Gosling, who is known as the father of Java, in 1995. James Gosling and his team members started the project in the early '90s.</a:t>
            </a:r>
          </a:p>
          <a:p>
            <a:r>
              <a:rPr lang="en-IN" b="0" i="0" dirty="0">
                <a:solidFill>
                  <a:srgbClr val="333333"/>
                </a:solidFill>
                <a:effectLst/>
                <a:highlight>
                  <a:srgbClr val="FFFFFF"/>
                </a:highlight>
                <a:latin typeface="inter-regular"/>
              </a:rPr>
              <a:t>Currently, Java is used in internet programming, mobile devices, games, e-business solutions, etc. </a:t>
            </a:r>
            <a:endParaRPr lang="en-IN" dirty="0"/>
          </a:p>
        </p:txBody>
      </p:sp>
      <p:sp>
        <p:nvSpPr>
          <p:cNvPr id="4" name="Date Placeholder 3">
            <a:extLst>
              <a:ext uri="{FF2B5EF4-FFF2-40B4-BE49-F238E27FC236}">
                <a16:creationId xmlns:a16="http://schemas.microsoft.com/office/drawing/2014/main" id="{F01A5137-6723-8E50-E240-2E4EEDA5F98A}"/>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534F7110-9B18-9B95-EBFB-656516989CE2}"/>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A0A5C3F6-3971-D0A4-5041-0BE9DE7DBA05}"/>
              </a:ext>
            </a:extLst>
          </p:cNvPr>
          <p:cNvSpPr>
            <a:spLocks noGrp="1"/>
          </p:cNvSpPr>
          <p:nvPr>
            <p:ph type="sldNum" sz="quarter" idx="12"/>
          </p:nvPr>
        </p:nvSpPr>
        <p:spPr/>
        <p:txBody>
          <a:bodyPr/>
          <a:lstStyle/>
          <a:p>
            <a:pPr>
              <a:defRPr/>
            </a:pPr>
            <a:fld id="{846AEF8D-D938-433D-BBFD-44F2BB354120}" type="slidenum">
              <a:rPr lang="en-US" altLang="en-US" smtClean="0"/>
              <a:pPr>
                <a:defRPr/>
              </a:pPr>
              <a:t>31</a:t>
            </a:fld>
            <a:endParaRPr lang="en-US" altLang="en-US"/>
          </a:p>
        </p:txBody>
      </p:sp>
      <p:pic>
        <p:nvPicPr>
          <p:cNvPr id="1026" name="Picture 2" descr="James Gosling - founder of java">
            <a:extLst>
              <a:ext uri="{FF2B5EF4-FFF2-40B4-BE49-F238E27FC236}">
                <a16:creationId xmlns:a16="http://schemas.microsoft.com/office/drawing/2014/main" id="{31E041A3-4A8E-602D-10F7-9807DE5770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9529" y="0"/>
            <a:ext cx="2857500" cy="3207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983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F64C1-0222-C0A5-B981-B672546EBFE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5763A0-FF36-0790-C87A-F641F6605788}"/>
              </a:ext>
            </a:extLst>
          </p:cNvPr>
          <p:cNvSpPr>
            <a:spLocks noGrp="1"/>
          </p:cNvSpPr>
          <p:nvPr>
            <p:ph idx="1"/>
          </p:nvPr>
        </p:nvSpPr>
        <p:spPr/>
        <p:txBody>
          <a:bodyPr/>
          <a:lstStyle/>
          <a:p>
            <a:r>
              <a:rPr lang="en-IN" b="0" i="0" dirty="0">
                <a:solidFill>
                  <a:srgbClr val="333333"/>
                </a:solidFill>
                <a:effectLst/>
                <a:highlight>
                  <a:srgbClr val="FFFFFF"/>
                </a:highlight>
                <a:latin typeface="inter-regular"/>
              </a:rPr>
              <a:t>Following are given significant points that describe the history of Java.</a:t>
            </a:r>
          </a:p>
          <a:p>
            <a:r>
              <a:rPr lang="en-IN" b="0" i="0" dirty="0">
                <a:solidFill>
                  <a:srgbClr val="333333"/>
                </a:solidFill>
                <a:effectLst/>
                <a:highlight>
                  <a:srgbClr val="FFFFFF"/>
                </a:highlight>
                <a:latin typeface="inter-regular"/>
              </a:rPr>
              <a:t>1) </a:t>
            </a:r>
            <a:r>
              <a:rPr lang="en-IN" b="1" i="0" u="none" strike="noStrike" dirty="0">
                <a:solidFill>
                  <a:srgbClr val="008000"/>
                </a:solidFill>
                <a:effectLst/>
                <a:highlight>
                  <a:srgbClr val="FFFFFF"/>
                </a:highlight>
                <a:latin typeface="inter-bold"/>
                <a:hlinkClick r:id="rId2"/>
              </a:rPr>
              <a:t>James Gosling</a:t>
            </a:r>
            <a:r>
              <a:rPr lang="en-IN" b="1" i="0" dirty="0">
                <a:solidFill>
                  <a:srgbClr val="333333"/>
                </a:solidFill>
                <a:effectLst/>
                <a:highlight>
                  <a:srgbClr val="FFFFFF"/>
                </a:highlight>
                <a:latin typeface="inter-bold"/>
              </a:rPr>
              <a:t>, Mike Sheridan</a:t>
            </a:r>
            <a:r>
              <a:rPr lang="en-IN" b="0" i="0" dirty="0">
                <a:solidFill>
                  <a:srgbClr val="333333"/>
                </a:solidFill>
                <a:effectLst/>
                <a:highlight>
                  <a:srgbClr val="FFFFFF"/>
                </a:highlight>
                <a:latin typeface="inter-regular"/>
              </a:rPr>
              <a:t>, and </a:t>
            </a:r>
            <a:r>
              <a:rPr lang="en-IN" b="1" i="0" dirty="0">
                <a:solidFill>
                  <a:srgbClr val="333333"/>
                </a:solidFill>
                <a:effectLst/>
                <a:highlight>
                  <a:srgbClr val="FFFFFF"/>
                </a:highlight>
                <a:latin typeface="inter-bold"/>
              </a:rPr>
              <a:t>Patrick Naughton</a:t>
            </a:r>
            <a:r>
              <a:rPr lang="en-IN" b="0" i="0" dirty="0">
                <a:solidFill>
                  <a:srgbClr val="333333"/>
                </a:solidFill>
                <a:effectLst/>
                <a:highlight>
                  <a:srgbClr val="FFFFFF"/>
                </a:highlight>
                <a:latin typeface="inter-regular"/>
              </a:rPr>
              <a:t> initiated the Java language project in June 1991. The small team of sun engineers called </a:t>
            </a:r>
            <a:r>
              <a:rPr lang="en-IN" b="1" i="0" dirty="0">
                <a:solidFill>
                  <a:srgbClr val="333333"/>
                </a:solidFill>
                <a:effectLst/>
                <a:highlight>
                  <a:srgbClr val="FFFFFF"/>
                </a:highlight>
                <a:latin typeface="inter-bold"/>
              </a:rPr>
              <a:t>Green Team</a:t>
            </a:r>
            <a:r>
              <a:rPr lang="en-IN" b="0" i="0" dirty="0">
                <a:solidFill>
                  <a:srgbClr val="333333"/>
                </a:solidFill>
                <a:effectLst/>
                <a:highlight>
                  <a:srgbClr val="FFFFFF"/>
                </a:highlight>
                <a:latin typeface="inter-regular"/>
              </a:rPr>
              <a:t>.</a:t>
            </a:r>
            <a:endParaRPr lang="en-IN" dirty="0">
              <a:solidFill>
                <a:srgbClr val="333333"/>
              </a:solidFill>
              <a:highlight>
                <a:srgbClr val="FFFFFF"/>
              </a:highlight>
              <a:latin typeface="inter-regular"/>
            </a:endParaRPr>
          </a:p>
          <a:p>
            <a:pPr algn="just"/>
            <a:r>
              <a:rPr lang="en-IN" b="0" i="0" dirty="0">
                <a:solidFill>
                  <a:srgbClr val="333333"/>
                </a:solidFill>
                <a:effectLst/>
                <a:highlight>
                  <a:srgbClr val="FFFFFF"/>
                </a:highlight>
                <a:latin typeface="inter-regular"/>
              </a:rPr>
              <a:t>2) Initially it was designed for small, </a:t>
            </a:r>
            <a:r>
              <a:rPr lang="en-IN" b="0" i="0" u="none" strike="noStrike" dirty="0">
                <a:solidFill>
                  <a:srgbClr val="008000"/>
                </a:solidFill>
                <a:effectLst/>
                <a:highlight>
                  <a:srgbClr val="FFFFFF"/>
                </a:highlight>
                <a:latin typeface="inter-regular"/>
                <a:hlinkClick r:id="rId3"/>
              </a:rPr>
              <a:t>embedded systems</a:t>
            </a:r>
            <a:r>
              <a:rPr lang="en-IN" b="0" i="0" dirty="0">
                <a:solidFill>
                  <a:srgbClr val="333333"/>
                </a:solidFill>
                <a:effectLst/>
                <a:highlight>
                  <a:srgbClr val="FFFFFF"/>
                </a:highlight>
                <a:latin typeface="inter-regular"/>
              </a:rPr>
              <a:t> in electronic appliances like set-top boxes.</a:t>
            </a:r>
          </a:p>
          <a:p>
            <a:pPr algn="just"/>
            <a:r>
              <a:rPr lang="en-IN" b="0" i="0" dirty="0">
                <a:solidFill>
                  <a:srgbClr val="333333"/>
                </a:solidFill>
                <a:effectLst/>
                <a:highlight>
                  <a:srgbClr val="FFFFFF"/>
                </a:highlight>
                <a:latin typeface="inter-regular"/>
              </a:rPr>
              <a:t>3) Firstly, it was called </a:t>
            </a:r>
            <a:r>
              <a:rPr lang="en-IN" b="1" i="0" dirty="0">
                <a:solidFill>
                  <a:srgbClr val="333333"/>
                </a:solidFill>
                <a:effectLst/>
                <a:highlight>
                  <a:srgbClr val="FFFFFF"/>
                </a:highlight>
                <a:latin typeface="inter-bold"/>
              </a:rPr>
              <a:t>"</a:t>
            </a:r>
            <a:r>
              <a:rPr lang="en-IN" b="1" i="0" dirty="0" err="1">
                <a:solidFill>
                  <a:srgbClr val="333333"/>
                </a:solidFill>
                <a:effectLst/>
                <a:highlight>
                  <a:srgbClr val="FFFFFF"/>
                </a:highlight>
                <a:latin typeface="inter-bold"/>
              </a:rPr>
              <a:t>Greentalk</a:t>
            </a:r>
            <a:r>
              <a:rPr lang="en-IN" b="1" i="0" dirty="0">
                <a:solidFill>
                  <a:srgbClr val="333333"/>
                </a:solidFill>
                <a:effectLst/>
                <a:highlight>
                  <a:srgbClr val="FFFFFF"/>
                </a:highlight>
                <a:latin typeface="inter-bold"/>
              </a:rPr>
              <a:t>"</a:t>
            </a:r>
            <a:r>
              <a:rPr lang="en-IN" b="0" i="0" dirty="0">
                <a:solidFill>
                  <a:srgbClr val="333333"/>
                </a:solidFill>
                <a:effectLst/>
                <a:highlight>
                  <a:srgbClr val="FFFFFF"/>
                </a:highlight>
                <a:latin typeface="inter-regular"/>
              </a:rPr>
              <a:t> by James Gosling, and the file extension was .</a:t>
            </a:r>
            <a:r>
              <a:rPr lang="en-IN" b="0" i="0" dirty="0" err="1">
                <a:solidFill>
                  <a:srgbClr val="333333"/>
                </a:solidFill>
                <a:effectLst/>
                <a:highlight>
                  <a:srgbClr val="FFFFFF"/>
                </a:highlight>
                <a:latin typeface="inter-regular"/>
              </a:rPr>
              <a:t>gt.</a:t>
            </a:r>
            <a:endParaRPr lang="en-IN" b="0" i="0" dirty="0">
              <a:solidFill>
                <a:srgbClr val="333333"/>
              </a:solidFill>
              <a:effectLst/>
              <a:highlight>
                <a:srgbClr val="FFFFFF"/>
              </a:highlight>
              <a:latin typeface="inter-regular"/>
            </a:endParaRPr>
          </a:p>
          <a:p>
            <a:pPr algn="just"/>
            <a:r>
              <a:rPr lang="en-IN" b="0" i="0" dirty="0">
                <a:solidFill>
                  <a:srgbClr val="333333"/>
                </a:solidFill>
                <a:effectLst/>
                <a:highlight>
                  <a:srgbClr val="FFFFFF"/>
                </a:highlight>
                <a:latin typeface="inter-regular"/>
              </a:rPr>
              <a:t>4) After that, it was called </a:t>
            </a:r>
            <a:r>
              <a:rPr lang="en-IN" b="1" i="0" dirty="0">
                <a:solidFill>
                  <a:srgbClr val="333333"/>
                </a:solidFill>
                <a:effectLst/>
                <a:highlight>
                  <a:srgbClr val="FFFFFF"/>
                </a:highlight>
                <a:latin typeface="inter-bold"/>
              </a:rPr>
              <a:t>Oak</a:t>
            </a:r>
            <a:r>
              <a:rPr lang="en-IN" b="0" i="0" dirty="0">
                <a:solidFill>
                  <a:srgbClr val="333333"/>
                </a:solidFill>
                <a:effectLst/>
                <a:highlight>
                  <a:srgbClr val="FFFFFF"/>
                </a:highlight>
                <a:latin typeface="inter-regular"/>
              </a:rPr>
              <a:t> and was developed as a part of the Green project.</a:t>
            </a:r>
          </a:p>
          <a:p>
            <a:endParaRPr lang="en-IN" dirty="0"/>
          </a:p>
        </p:txBody>
      </p:sp>
      <p:sp>
        <p:nvSpPr>
          <p:cNvPr id="4" name="Date Placeholder 3">
            <a:extLst>
              <a:ext uri="{FF2B5EF4-FFF2-40B4-BE49-F238E27FC236}">
                <a16:creationId xmlns:a16="http://schemas.microsoft.com/office/drawing/2014/main" id="{A4D414A8-8A6F-424A-B5D1-47A8CAA6FEBA}"/>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802DA75C-7F2D-7D27-EFBA-D9D937D66777}"/>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D1EA84DE-AB66-5142-428C-124F4F3DAE59}"/>
              </a:ext>
            </a:extLst>
          </p:cNvPr>
          <p:cNvSpPr>
            <a:spLocks noGrp="1"/>
          </p:cNvSpPr>
          <p:nvPr>
            <p:ph type="sldNum" sz="quarter" idx="12"/>
          </p:nvPr>
        </p:nvSpPr>
        <p:spPr/>
        <p:txBody>
          <a:bodyPr/>
          <a:lstStyle/>
          <a:p>
            <a:pPr>
              <a:defRPr/>
            </a:pPr>
            <a:fld id="{846AEF8D-D938-433D-BBFD-44F2BB354120}" type="slidenum">
              <a:rPr lang="en-US" altLang="en-US" smtClean="0"/>
              <a:pPr>
                <a:defRPr/>
              </a:pPr>
              <a:t>32</a:t>
            </a:fld>
            <a:endParaRPr lang="en-US" altLang="en-US"/>
          </a:p>
        </p:txBody>
      </p:sp>
    </p:spTree>
    <p:extLst>
      <p:ext uri="{BB962C8B-B14F-4D97-AF65-F5344CB8AC3E}">
        <p14:creationId xmlns:p14="http://schemas.microsoft.com/office/powerpoint/2010/main" val="2140938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068769-FB62-30F5-BB87-B785A3D5C7F5}"/>
              </a:ext>
            </a:extLst>
          </p:cNvPr>
          <p:cNvSpPr>
            <a:spLocks noGrp="1"/>
          </p:cNvSpPr>
          <p:nvPr>
            <p:ph idx="1"/>
          </p:nvPr>
        </p:nvSpPr>
        <p:spPr>
          <a:xfrm>
            <a:off x="593725" y="1143000"/>
            <a:ext cx="7956550" cy="5121275"/>
          </a:xfrm>
        </p:spPr>
        <p:txBody>
          <a:bodyPr/>
          <a:lstStyle/>
          <a:p>
            <a:r>
              <a:rPr lang="en-IN" b="0" i="0" dirty="0">
                <a:solidFill>
                  <a:srgbClr val="610B4B"/>
                </a:solidFill>
                <a:effectLst/>
                <a:highlight>
                  <a:srgbClr val="FFFFFF"/>
                </a:highlight>
                <a:latin typeface="erdana"/>
              </a:rPr>
              <a:t>Why Java was named as "Oak"?</a:t>
            </a:r>
          </a:p>
          <a:p>
            <a:endParaRPr lang="en-IN" dirty="0"/>
          </a:p>
        </p:txBody>
      </p:sp>
      <p:sp>
        <p:nvSpPr>
          <p:cNvPr id="4" name="Date Placeholder 3">
            <a:extLst>
              <a:ext uri="{FF2B5EF4-FFF2-40B4-BE49-F238E27FC236}">
                <a16:creationId xmlns:a16="http://schemas.microsoft.com/office/drawing/2014/main" id="{7C1EBFB7-4679-D424-AB78-4EBC732A1496}"/>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4FF123E1-31A5-70DC-9949-8C4C7D016508}"/>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4D3FF0CE-0206-77EE-33F5-F971EF20746A}"/>
              </a:ext>
            </a:extLst>
          </p:cNvPr>
          <p:cNvSpPr>
            <a:spLocks noGrp="1"/>
          </p:cNvSpPr>
          <p:nvPr>
            <p:ph type="sldNum" sz="quarter" idx="12"/>
          </p:nvPr>
        </p:nvSpPr>
        <p:spPr/>
        <p:txBody>
          <a:bodyPr/>
          <a:lstStyle/>
          <a:p>
            <a:pPr>
              <a:defRPr/>
            </a:pPr>
            <a:fld id="{846AEF8D-D938-433D-BBFD-44F2BB354120}" type="slidenum">
              <a:rPr lang="en-US" altLang="en-US" smtClean="0"/>
              <a:pPr>
                <a:defRPr/>
              </a:pPr>
              <a:t>33</a:t>
            </a:fld>
            <a:endParaRPr lang="en-US" altLang="en-US"/>
          </a:p>
        </p:txBody>
      </p:sp>
      <p:pic>
        <p:nvPicPr>
          <p:cNvPr id="2054" name="Picture 6" descr="Java History from Oak to Java">
            <a:extLst>
              <a:ext uri="{FF2B5EF4-FFF2-40B4-BE49-F238E27FC236}">
                <a16:creationId xmlns:a16="http://schemas.microsoft.com/office/drawing/2014/main" id="{4F8873C2-64A9-85C6-2A40-C46956308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1913" y="1050925"/>
            <a:ext cx="2381250" cy="1905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84D528F-0D7D-CF98-6364-BBEA3096ECE9}"/>
              </a:ext>
            </a:extLst>
          </p:cNvPr>
          <p:cNvSpPr txBox="1"/>
          <p:nvPr/>
        </p:nvSpPr>
        <p:spPr>
          <a:xfrm>
            <a:off x="593724" y="1752600"/>
            <a:ext cx="5681663" cy="1938992"/>
          </a:xfrm>
          <a:prstGeom prst="rect">
            <a:avLst/>
          </a:prstGeom>
          <a:noFill/>
        </p:spPr>
        <p:txBody>
          <a:bodyPr wrap="square">
            <a:spAutoFit/>
          </a:bodyPr>
          <a:lstStyle/>
          <a:p>
            <a:pPr algn="just"/>
            <a:r>
              <a:rPr lang="en-IN" sz="2000" b="0" i="0" dirty="0">
                <a:solidFill>
                  <a:srgbClr val="333333"/>
                </a:solidFill>
                <a:effectLst/>
                <a:highlight>
                  <a:srgbClr val="FFFFFF"/>
                </a:highlight>
                <a:latin typeface="inter-regular"/>
              </a:rPr>
              <a:t>5) </a:t>
            </a:r>
            <a:r>
              <a:rPr lang="en-IN" sz="2000" b="1" i="0" dirty="0">
                <a:solidFill>
                  <a:srgbClr val="333333"/>
                </a:solidFill>
                <a:effectLst/>
                <a:highlight>
                  <a:srgbClr val="FFFFFF"/>
                </a:highlight>
                <a:latin typeface="inter-bold"/>
              </a:rPr>
              <a:t>Why Oak?</a:t>
            </a:r>
            <a:r>
              <a:rPr lang="en-IN" sz="2000" b="0" i="0" dirty="0">
                <a:solidFill>
                  <a:srgbClr val="333333"/>
                </a:solidFill>
                <a:effectLst/>
                <a:highlight>
                  <a:srgbClr val="FFFFFF"/>
                </a:highlight>
                <a:latin typeface="inter-regular"/>
              </a:rPr>
              <a:t> Oak is a symbol of strength and chosen as a national tree of many countries like the U.S.A., France, Germany, Romania, etc.</a:t>
            </a:r>
          </a:p>
          <a:p>
            <a:pPr algn="just"/>
            <a:endParaRPr lang="en-IN" sz="2000" b="0" i="0" dirty="0">
              <a:solidFill>
                <a:srgbClr val="333333"/>
              </a:solidFill>
              <a:effectLst/>
              <a:highlight>
                <a:srgbClr val="FFFFFF"/>
              </a:highlight>
              <a:latin typeface="inter-regular"/>
            </a:endParaRPr>
          </a:p>
          <a:p>
            <a:pPr algn="just"/>
            <a:r>
              <a:rPr lang="en-IN" sz="2000" b="0" i="0" dirty="0">
                <a:solidFill>
                  <a:srgbClr val="333333"/>
                </a:solidFill>
                <a:effectLst/>
                <a:highlight>
                  <a:srgbClr val="FFFFFF"/>
                </a:highlight>
                <a:latin typeface="inter-regular"/>
              </a:rPr>
              <a:t>6) In 1995, Oak was renamed as </a:t>
            </a:r>
            <a:r>
              <a:rPr lang="en-IN" sz="2000" b="1" i="0" dirty="0">
                <a:solidFill>
                  <a:srgbClr val="333333"/>
                </a:solidFill>
                <a:effectLst/>
                <a:highlight>
                  <a:srgbClr val="FFFFFF"/>
                </a:highlight>
                <a:latin typeface="inter-bold"/>
              </a:rPr>
              <a:t>"Java"</a:t>
            </a:r>
            <a:r>
              <a:rPr lang="en-IN" sz="2000" b="0" i="0" dirty="0">
                <a:solidFill>
                  <a:srgbClr val="333333"/>
                </a:solidFill>
                <a:effectLst/>
                <a:highlight>
                  <a:srgbClr val="FFFFFF"/>
                </a:highlight>
                <a:latin typeface="inter-regular"/>
              </a:rPr>
              <a:t> because it was already a trademark by Oak Technologies.</a:t>
            </a:r>
          </a:p>
        </p:txBody>
      </p:sp>
    </p:spTree>
    <p:extLst>
      <p:ext uri="{BB962C8B-B14F-4D97-AF65-F5344CB8AC3E}">
        <p14:creationId xmlns:p14="http://schemas.microsoft.com/office/powerpoint/2010/main" val="4001949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6CE5A1-118D-A740-3803-773047512A64}"/>
              </a:ext>
            </a:extLst>
          </p:cNvPr>
          <p:cNvSpPr>
            <a:spLocks noGrp="1"/>
          </p:cNvSpPr>
          <p:nvPr>
            <p:ph idx="1"/>
          </p:nvPr>
        </p:nvSpPr>
        <p:spPr>
          <a:xfrm>
            <a:off x="593725" y="1143000"/>
            <a:ext cx="7956550" cy="5121275"/>
          </a:xfrm>
        </p:spPr>
        <p:txBody>
          <a:bodyPr/>
          <a:lstStyle/>
          <a:p>
            <a:r>
              <a:rPr lang="en-IN" b="0" i="0" dirty="0">
                <a:solidFill>
                  <a:srgbClr val="610B4B"/>
                </a:solidFill>
                <a:effectLst/>
                <a:highlight>
                  <a:srgbClr val="FFFFFF"/>
                </a:highlight>
                <a:latin typeface="erdana"/>
              </a:rPr>
              <a:t>Why Java Programming named "Java"?</a:t>
            </a:r>
          </a:p>
          <a:p>
            <a:r>
              <a:rPr lang="en-IN" b="0" i="0" dirty="0">
                <a:solidFill>
                  <a:srgbClr val="333333"/>
                </a:solidFill>
                <a:effectLst/>
                <a:highlight>
                  <a:srgbClr val="FFFFFF"/>
                </a:highlight>
                <a:latin typeface="inter-regular"/>
              </a:rPr>
              <a:t>7) Why had they chose the name Java for Java language? The team gathered to choose a new name. The suggested words were "dynamic", "revolutionary", "Silk", "jolt", "DNA", etc. They wanted something that reflected the essence of the technology: revolutionary, dynamic, lively, cool, unique, and easy to spell, and fun to say.</a:t>
            </a:r>
            <a:endParaRPr lang="en-IN" b="0" i="0" dirty="0">
              <a:solidFill>
                <a:srgbClr val="610B4B"/>
              </a:solidFill>
              <a:effectLst/>
              <a:highlight>
                <a:srgbClr val="FFFFFF"/>
              </a:highlight>
              <a:latin typeface="erdana"/>
            </a:endParaRPr>
          </a:p>
          <a:p>
            <a:pPr algn="just"/>
            <a:r>
              <a:rPr lang="en-IN" b="0" i="0" dirty="0">
                <a:solidFill>
                  <a:srgbClr val="333333"/>
                </a:solidFill>
                <a:effectLst/>
                <a:highlight>
                  <a:srgbClr val="FFFFFF"/>
                </a:highlight>
                <a:latin typeface="inter-regular"/>
              </a:rPr>
              <a:t>According to James Gosling, "Java was one of the top choices along with </a:t>
            </a:r>
            <a:r>
              <a:rPr lang="en-IN" b="1" i="0" dirty="0">
                <a:solidFill>
                  <a:srgbClr val="333333"/>
                </a:solidFill>
                <a:effectLst/>
                <a:highlight>
                  <a:srgbClr val="FFFFFF"/>
                </a:highlight>
                <a:latin typeface="inter-bold"/>
              </a:rPr>
              <a:t>Silk</a:t>
            </a:r>
            <a:r>
              <a:rPr lang="en-IN" b="0" i="0" dirty="0">
                <a:solidFill>
                  <a:srgbClr val="333333"/>
                </a:solidFill>
                <a:effectLst/>
                <a:highlight>
                  <a:srgbClr val="FFFFFF"/>
                </a:highlight>
                <a:latin typeface="inter-regular"/>
              </a:rPr>
              <a:t>". Since Java was so unique, most of the team members preferred Java than other names.</a:t>
            </a:r>
          </a:p>
          <a:p>
            <a:pPr algn="just"/>
            <a:r>
              <a:rPr lang="en-IN" b="0" i="0" dirty="0">
                <a:solidFill>
                  <a:srgbClr val="333333"/>
                </a:solidFill>
                <a:effectLst/>
                <a:highlight>
                  <a:srgbClr val="FFFFFF"/>
                </a:highlight>
                <a:latin typeface="inter-regular"/>
              </a:rPr>
              <a:t>8) Java is an island in Indonesia where the first coffee was produced (called Java coffee). It is a kind of espresso bean. Java name was chosen by James Gosling while having a cup of coffee nearby his office.</a:t>
            </a:r>
          </a:p>
          <a:p>
            <a:pPr algn="just"/>
            <a:r>
              <a:rPr lang="en-IN" b="0" i="0" dirty="0">
                <a:solidFill>
                  <a:srgbClr val="333333"/>
                </a:solidFill>
                <a:effectLst/>
                <a:highlight>
                  <a:srgbClr val="FFFFFF"/>
                </a:highlight>
                <a:latin typeface="inter-regular"/>
              </a:rPr>
              <a:t>9) Notice that Java is just a name, not an acronym.</a:t>
            </a:r>
          </a:p>
          <a:p>
            <a:endParaRPr lang="en-IN" dirty="0"/>
          </a:p>
        </p:txBody>
      </p:sp>
      <p:sp>
        <p:nvSpPr>
          <p:cNvPr id="4" name="Date Placeholder 3">
            <a:extLst>
              <a:ext uri="{FF2B5EF4-FFF2-40B4-BE49-F238E27FC236}">
                <a16:creationId xmlns:a16="http://schemas.microsoft.com/office/drawing/2014/main" id="{BB32DD0D-4AA3-F530-9B6F-C23BD3828DE8}"/>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dirty="0"/>
          </a:p>
        </p:txBody>
      </p:sp>
      <p:sp>
        <p:nvSpPr>
          <p:cNvPr id="5" name="Footer Placeholder 4">
            <a:extLst>
              <a:ext uri="{FF2B5EF4-FFF2-40B4-BE49-F238E27FC236}">
                <a16:creationId xmlns:a16="http://schemas.microsoft.com/office/drawing/2014/main" id="{27697CF5-2BAC-8099-E1A4-6CF9115E014E}"/>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8A21BA87-9A41-2461-6FF2-8AED704895FE}"/>
              </a:ext>
            </a:extLst>
          </p:cNvPr>
          <p:cNvSpPr>
            <a:spLocks noGrp="1"/>
          </p:cNvSpPr>
          <p:nvPr>
            <p:ph type="sldNum" sz="quarter" idx="12"/>
          </p:nvPr>
        </p:nvSpPr>
        <p:spPr/>
        <p:txBody>
          <a:bodyPr/>
          <a:lstStyle/>
          <a:p>
            <a:pPr>
              <a:defRPr/>
            </a:pPr>
            <a:fld id="{846AEF8D-D938-433D-BBFD-44F2BB354120}" type="slidenum">
              <a:rPr lang="en-US" altLang="en-US" smtClean="0"/>
              <a:pPr>
                <a:defRPr/>
              </a:pPr>
              <a:t>34</a:t>
            </a:fld>
            <a:endParaRPr lang="en-US" altLang="en-US"/>
          </a:p>
        </p:txBody>
      </p:sp>
      <p:pic>
        <p:nvPicPr>
          <p:cNvPr id="3074" name="Picture 2" descr="Java Logo, symbol, meaning, history, PNG, brand">
            <a:extLst>
              <a:ext uri="{FF2B5EF4-FFF2-40B4-BE49-F238E27FC236}">
                <a16:creationId xmlns:a16="http://schemas.microsoft.com/office/drawing/2014/main" id="{09A9CACE-CEAA-294D-0C45-A9B1F73D0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9025" y="4419600"/>
            <a:ext cx="1704975"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5696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5B6F07-49AC-4521-CD02-FAAF6C169609}"/>
              </a:ext>
            </a:extLst>
          </p:cNvPr>
          <p:cNvSpPr>
            <a:spLocks noGrp="1"/>
          </p:cNvSpPr>
          <p:nvPr>
            <p:ph idx="1"/>
          </p:nvPr>
        </p:nvSpPr>
        <p:spPr>
          <a:xfrm>
            <a:off x="593725" y="1447800"/>
            <a:ext cx="7956550" cy="4816475"/>
          </a:xfrm>
        </p:spPr>
        <p:txBody>
          <a:bodyPr/>
          <a:lstStyle/>
          <a:p>
            <a:pPr algn="just"/>
            <a:r>
              <a:rPr lang="en-IN" b="0" i="0" dirty="0">
                <a:solidFill>
                  <a:srgbClr val="333333"/>
                </a:solidFill>
                <a:effectLst/>
                <a:highlight>
                  <a:srgbClr val="FFFFFF"/>
                </a:highlight>
                <a:latin typeface="inter-regular"/>
              </a:rPr>
              <a:t>10) Initially developed by James Gosling at </a:t>
            </a:r>
            <a:r>
              <a:rPr lang="en-IN" b="0" i="0" u="none" strike="noStrike" dirty="0">
                <a:solidFill>
                  <a:srgbClr val="008000"/>
                </a:solidFill>
                <a:effectLst/>
                <a:highlight>
                  <a:srgbClr val="FFFFFF"/>
                </a:highlight>
                <a:latin typeface="inter-regular"/>
                <a:hlinkClick r:id="rId2"/>
              </a:rPr>
              <a:t>Sun Microsystems</a:t>
            </a:r>
            <a:r>
              <a:rPr lang="en-IN" b="0" i="0" dirty="0">
                <a:solidFill>
                  <a:srgbClr val="333333"/>
                </a:solidFill>
                <a:effectLst/>
                <a:highlight>
                  <a:srgbClr val="FFFFFF"/>
                </a:highlight>
                <a:latin typeface="inter-regular"/>
              </a:rPr>
              <a:t> (which is now a subsidiary of Oracle Corporation) and released in 1995.</a:t>
            </a:r>
          </a:p>
          <a:p>
            <a:pPr algn="just"/>
            <a:r>
              <a:rPr lang="en-IN" b="0" i="0" dirty="0">
                <a:solidFill>
                  <a:srgbClr val="333333"/>
                </a:solidFill>
                <a:effectLst/>
                <a:highlight>
                  <a:srgbClr val="FFFFFF"/>
                </a:highlight>
                <a:latin typeface="inter-regular"/>
              </a:rPr>
              <a:t>11) In 1995, Time magazine called </a:t>
            </a:r>
            <a:r>
              <a:rPr lang="en-IN" b="1" i="0" dirty="0">
                <a:solidFill>
                  <a:srgbClr val="333333"/>
                </a:solidFill>
                <a:effectLst/>
                <a:highlight>
                  <a:srgbClr val="FFFFFF"/>
                </a:highlight>
                <a:latin typeface="inter-bold"/>
              </a:rPr>
              <a:t>Java one of the Ten Best Products of 1995</a:t>
            </a:r>
            <a:r>
              <a:rPr lang="en-IN" b="0" i="0" dirty="0">
                <a:solidFill>
                  <a:srgbClr val="333333"/>
                </a:solidFill>
                <a:effectLst/>
                <a:highlight>
                  <a:srgbClr val="FFFFFF"/>
                </a:highlight>
                <a:latin typeface="inter-regular"/>
              </a:rPr>
              <a:t>.</a:t>
            </a:r>
          </a:p>
          <a:p>
            <a:pPr algn="just"/>
            <a:r>
              <a:rPr lang="en-IN" b="0" i="0" dirty="0">
                <a:solidFill>
                  <a:srgbClr val="333333"/>
                </a:solidFill>
                <a:effectLst/>
                <a:highlight>
                  <a:srgbClr val="FFFFFF"/>
                </a:highlight>
                <a:latin typeface="inter-regular"/>
              </a:rPr>
              <a:t>12) JDK 1.0 was released on January 23, 1996. After the first release of Java, there have been many additional features added to the language. Now Java is being used in Windows applications, Web applications, enterprise applications, mobile applications, cards, etc. Each new version adds new features in Java.</a:t>
            </a:r>
          </a:p>
          <a:p>
            <a:endParaRPr lang="en-IN" dirty="0"/>
          </a:p>
        </p:txBody>
      </p:sp>
      <p:sp>
        <p:nvSpPr>
          <p:cNvPr id="4" name="Date Placeholder 3">
            <a:extLst>
              <a:ext uri="{FF2B5EF4-FFF2-40B4-BE49-F238E27FC236}">
                <a16:creationId xmlns:a16="http://schemas.microsoft.com/office/drawing/2014/main" id="{CB7AA099-A402-7271-A8D2-C8BE2BE056BF}"/>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94104201-7396-E928-09F6-067D4BA552A1}"/>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5C8F08EF-EFD9-F1A5-127F-9634C565C400}"/>
              </a:ext>
            </a:extLst>
          </p:cNvPr>
          <p:cNvSpPr>
            <a:spLocks noGrp="1"/>
          </p:cNvSpPr>
          <p:nvPr>
            <p:ph type="sldNum" sz="quarter" idx="12"/>
          </p:nvPr>
        </p:nvSpPr>
        <p:spPr/>
        <p:txBody>
          <a:bodyPr/>
          <a:lstStyle/>
          <a:p>
            <a:pPr>
              <a:defRPr/>
            </a:pPr>
            <a:fld id="{846AEF8D-D938-433D-BBFD-44F2BB354120}" type="slidenum">
              <a:rPr lang="en-US" altLang="en-US" smtClean="0"/>
              <a:pPr>
                <a:defRPr/>
              </a:pPr>
              <a:t>35</a:t>
            </a:fld>
            <a:endParaRPr lang="en-US" altLang="en-US"/>
          </a:p>
        </p:txBody>
      </p:sp>
    </p:spTree>
    <p:extLst>
      <p:ext uri="{BB962C8B-B14F-4D97-AF65-F5344CB8AC3E}">
        <p14:creationId xmlns:p14="http://schemas.microsoft.com/office/powerpoint/2010/main" val="9094169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5C360-81AD-1908-A24B-5D883F79BB1E}"/>
              </a:ext>
            </a:extLst>
          </p:cNvPr>
          <p:cNvSpPr>
            <a:spLocks noGrp="1"/>
          </p:cNvSpPr>
          <p:nvPr>
            <p:ph type="title"/>
          </p:nvPr>
        </p:nvSpPr>
        <p:spPr>
          <a:xfrm>
            <a:off x="1066800" y="763588"/>
            <a:ext cx="7483475" cy="1293812"/>
          </a:xfrm>
        </p:spPr>
        <p:txBody>
          <a:bodyPr/>
          <a:lstStyle/>
          <a:p>
            <a:pPr eaLnBrk="1" fontAlgn="auto" hangingPunct="1">
              <a:spcAft>
                <a:spcPts val="0"/>
              </a:spcAft>
              <a:defRPr/>
            </a:pPr>
            <a:r>
              <a:rPr lang="en-IN" sz="3600" b="1" dirty="0"/>
              <a:t>Chapter 2 Overview of Java</a:t>
            </a:r>
          </a:p>
        </p:txBody>
      </p:sp>
      <p:sp>
        <p:nvSpPr>
          <p:cNvPr id="3" name="Content Placeholder 2">
            <a:extLst>
              <a:ext uri="{FF2B5EF4-FFF2-40B4-BE49-F238E27FC236}">
                <a16:creationId xmlns:a16="http://schemas.microsoft.com/office/drawing/2014/main" id="{AE4B553D-34A4-9E5B-DF80-35E0F34BFA1C}"/>
              </a:ext>
            </a:extLst>
          </p:cNvPr>
          <p:cNvSpPr>
            <a:spLocks noGrp="1"/>
          </p:cNvSpPr>
          <p:nvPr>
            <p:ph idx="1"/>
          </p:nvPr>
        </p:nvSpPr>
        <p:spPr>
          <a:xfrm>
            <a:off x="593725" y="1600200"/>
            <a:ext cx="7956550" cy="5121275"/>
          </a:xfrm>
        </p:spPr>
        <p:txBody>
          <a:bodyPr rtlCol="0">
            <a:normAutofit fontScale="92500" lnSpcReduction="10000"/>
          </a:bodyPr>
          <a:lstStyle/>
          <a:p>
            <a:pPr marL="0" indent="0" eaLnBrk="1" fontAlgn="auto" hangingPunct="1">
              <a:spcAft>
                <a:spcPts val="0"/>
              </a:spcAft>
              <a:buNone/>
              <a:defRPr/>
            </a:pPr>
            <a:r>
              <a:rPr lang="en-IN" sz="2400" b="1" dirty="0">
                <a:solidFill>
                  <a:srgbClr val="002060"/>
                </a:solidFill>
              </a:rPr>
              <a:t>Java Features</a:t>
            </a:r>
          </a:p>
          <a:p>
            <a:pPr marL="457200" indent="-457200">
              <a:buFont typeface="+mj-lt"/>
              <a:buAutoNum type="arabicPeriod"/>
            </a:pPr>
            <a:r>
              <a:rPr lang="en-IN" b="1" dirty="0">
                <a:solidFill>
                  <a:srgbClr val="FF0000"/>
                </a:solidFill>
              </a:rPr>
              <a:t>Simple</a:t>
            </a:r>
          </a:p>
          <a:p>
            <a:pPr marL="457200" indent="-457200">
              <a:buFont typeface="+mj-lt"/>
              <a:buAutoNum type="arabicPeriod"/>
            </a:pPr>
            <a:r>
              <a:rPr lang="en-IN" b="1" dirty="0">
                <a:solidFill>
                  <a:srgbClr val="FF0000"/>
                </a:solidFill>
              </a:rPr>
              <a:t>Object-Oriented</a:t>
            </a:r>
          </a:p>
          <a:p>
            <a:pPr marL="457200" indent="-457200">
              <a:buFont typeface="+mj-lt"/>
              <a:buAutoNum type="arabicPeriod"/>
            </a:pPr>
            <a:r>
              <a:rPr lang="en-IN" b="1" dirty="0">
                <a:solidFill>
                  <a:srgbClr val="FF0000"/>
                </a:solidFill>
              </a:rPr>
              <a:t>Portable</a:t>
            </a:r>
          </a:p>
          <a:p>
            <a:pPr marL="457200" indent="-457200">
              <a:buFont typeface="+mj-lt"/>
              <a:buAutoNum type="arabicPeriod"/>
            </a:pPr>
            <a:r>
              <a:rPr lang="en-IN" b="1" dirty="0">
                <a:solidFill>
                  <a:srgbClr val="FF0000"/>
                </a:solidFill>
              </a:rPr>
              <a:t>Platform independent</a:t>
            </a:r>
          </a:p>
          <a:p>
            <a:pPr marL="457200" indent="-457200">
              <a:buFont typeface="+mj-lt"/>
              <a:buAutoNum type="arabicPeriod"/>
            </a:pPr>
            <a:r>
              <a:rPr lang="en-IN" b="1" dirty="0">
                <a:solidFill>
                  <a:srgbClr val="FF0000"/>
                </a:solidFill>
              </a:rPr>
              <a:t>Secured</a:t>
            </a:r>
          </a:p>
          <a:p>
            <a:pPr marL="457200" indent="-457200">
              <a:buFont typeface="+mj-lt"/>
              <a:buAutoNum type="arabicPeriod"/>
            </a:pPr>
            <a:r>
              <a:rPr lang="en-IN" b="1" dirty="0">
                <a:solidFill>
                  <a:srgbClr val="FF0000"/>
                </a:solidFill>
              </a:rPr>
              <a:t>Robust</a:t>
            </a:r>
          </a:p>
          <a:p>
            <a:pPr marL="457200" indent="-457200">
              <a:buFont typeface="+mj-lt"/>
              <a:buAutoNum type="arabicPeriod"/>
            </a:pPr>
            <a:r>
              <a:rPr lang="en-IN" b="1" dirty="0">
                <a:solidFill>
                  <a:srgbClr val="FF0000"/>
                </a:solidFill>
              </a:rPr>
              <a:t>Architecture neutral</a:t>
            </a:r>
          </a:p>
          <a:p>
            <a:pPr marL="457200" indent="-457200">
              <a:buFont typeface="+mj-lt"/>
              <a:buAutoNum type="arabicPeriod"/>
            </a:pPr>
            <a:r>
              <a:rPr lang="en-IN" b="1" dirty="0">
                <a:solidFill>
                  <a:srgbClr val="FF0000"/>
                </a:solidFill>
              </a:rPr>
              <a:t>Interpreted</a:t>
            </a:r>
          </a:p>
          <a:p>
            <a:pPr marL="457200" indent="-457200">
              <a:buFont typeface="+mj-lt"/>
              <a:buAutoNum type="arabicPeriod"/>
            </a:pPr>
            <a:r>
              <a:rPr lang="en-IN" b="1" dirty="0">
                <a:solidFill>
                  <a:srgbClr val="FF0000"/>
                </a:solidFill>
              </a:rPr>
              <a:t>High Performance</a:t>
            </a:r>
          </a:p>
          <a:p>
            <a:pPr marL="457200" indent="-457200">
              <a:buFont typeface="+mj-lt"/>
              <a:buAutoNum type="arabicPeriod"/>
            </a:pPr>
            <a:r>
              <a:rPr lang="en-IN" b="1" dirty="0">
                <a:solidFill>
                  <a:srgbClr val="FF0000"/>
                </a:solidFill>
              </a:rPr>
              <a:t>Multithreaded</a:t>
            </a:r>
          </a:p>
          <a:p>
            <a:pPr marL="457200" indent="-457200">
              <a:buFont typeface="+mj-lt"/>
              <a:buAutoNum type="arabicPeriod"/>
            </a:pPr>
            <a:r>
              <a:rPr lang="en-IN" b="1" dirty="0">
                <a:solidFill>
                  <a:srgbClr val="FF0000"/>
                </a:solidFill>
              </a:rPr>
              <a:t>Distributed</a:t>
            </a:r>
          </a:p>
          <a:p>
            <a:pPr marL="457200" indent="-457200">
              <a:buFont typeface="+mj-lt"/>
              <a:buAutoNum type="arabicPeriod"/>
            </a:pPr>
            <a:r>
              <a:rPr lang="en-IN" b="1" dirty="0">
                <a:solidFill>
                  <a:srgbClr val="FF0000"/>
                </a:solidFill>
              </a:rPr>
              <a:t>Dynamic</a:t>
            </a:r>
          </a:p>
          <a:p>
            <a:pPr marL="457200" indent="-457200">
              <a:buFont typeface="+mj-lt"/>
              <a:buAutoNum type="arabicPeriod"/>
            </a:pPr>
            <a:endParaRPr lang="en-IN" b="1" dirty="0">
              <a:solidFill>
                <a:srgbClr val="FF0000"/>
              </a:solidFill>
            </a:endParaRPr>
          </a:p>
          <a:p>
            <a:pPr marL="457200" indent="-457200">
              <a:buFont typeface="+mj-lt"/>
              <a:buAutoNum type="arabicPeriod"/>
            </a:pPr>
            <a:endParaRPr lang="en-IN" b="1" dirty="0">
              <a:solidFill>
                <a:srgbClr val="FF0000"/>
              </a:solidFill>
            </a:endParaRPr>
          </a:p>
        </p:txBody>
      </p:sp>
      <p:sp>
        <p:nvSpPr>
          <p:cNvPr id="4" name="Date Placeholder 3">
            <a:extLst>
              <a:ext uri="{FF2B5EF4-FFF2-40B4-BE49-F238E27FC236}">
                <a16:creationId xmlns:a16="http://schemas.microsoft.com/office/drawing/2014/main" id="{BC115C89-635D-4B9D-2710-6D783C1C474B}"/>
              </a:ext>
            </a:extLst>
          </p:cNvPr>
          <p:cNvSpPr>
            <a:spLocks noGrp="1"/>
          </p:cNvSpPr>
          <p:nvPr>
            <p:ph type="dt" sz="quarter" idx="10"/>
          </p:nvPr>
        </p:nvSpPr>
        <p:spPr/>
        <p:txBody>
          <a:bodyPr/>
          <a:lstStyle/>
          <a:p>
            <a:pPr>
              <a:defRPr/>
            </a:pPr>
            <a:fld id="{9F33DF84-ECC9-4EEE-B9FA-69AB63224EEF}" type="datetime1">
              <a:rPr lang="en-US" altLang="en-US"/>
              <a:pPr>
                <a:defRPr/>
              </a:pPr>
              <a:t>8/26/2024</a:t>
            </a:fld>
            <a:endParaRPr lang="en-US" altLang="en-US"/>
          </a:p>
        </p:txBody>
      </p:sp>
      <p:sp>
        <p:nvSpPr>
          <p:cNvPr id="5" name="Footer Placeholder 4">
            <a:extLst>
              <a:ext uri="{FF2B5EF4-FFF2-40B4-BE49-F238E27FC236}">
                <a16:creationId xmlns:a16="http://schemas.microsoft.com/office/drawing/2014/main" id="{1A0E7D87-71DD-B6E5-9A34-4F704E7E47F4}"/>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7B1D9286-B641-4ADE-1ACA-19042A9E60AF}"/>
              </a:ext>
            </a:extLst>
          </p:cNvPr>
          <p:cNvSpPr>
            <a:spLocks noGrp="1"/>
          </p:cNvSpPr>
          <p:nvPr>
            <p:ph type="sldNum" sz="quarter" idx="12"/>
          </p:nvPr>
        </p:nvSpPr>
        <p:spPr/>
        <p:txBody>
          <a:bodyPr/>
          <a:lstStyle/>
          <a:p>
            <a:pPr>
              <a:defRPr/>
            </a:pPr>
            <a:fld id="{7766E443-DA04-41E3-ABC1-7DC22962B24F}" type="slidenum">
              <a:rPr lang="en-US" altLang="en-US"/>
              <a:pPr>
                <a:defRPr/>
              </a:pPr>
              <a:t>36</a:t>
            </a:fld>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AA137-815E-3535-7F0B-A91A838CF63C}"/>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967EEF98-B558-867B-BFBB-1AD25AD75020}"/>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2F64F91B-133B-4D71-2092-A5B3E4A72A88}"/>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CC95C306-0DDE-1AA5-D2D5-7F14D55CEFAC}"/>
              </a:ext>
            </a:extLst>
          </p:cNvPr>
          <p:cNvSpPr>
            <a:spLocks noGrp="1"/>
          </p:cNvSpPr>
          <p:nvPr>
            <p:ph type="sldNum" sz="quarter" idx="12"/>
          </p:nvPr>
        </p:nvSpPr>
        <p:spPr/>
        <p:txBody>
          <a:bodyPr/>
          <a:lstStyle/>
          <a:p>
            <a:pPr>
              <a:defRPr/>
            </a:pPr>
            <a:fld id="{846AEF8D-D938-433D-BBFD-44F2BB354120}" type="slidenum">
              <a:rPr lang="en-US" altLang="en-US" smtClean="0"/>
              <a:pPr>
                <a:defRPr/>
              </a:pPr>
              <a:t>37</a:t>
            </a:fld>
            <a:endParaRPr lang="en-US" altLang="en-US"/>
          </a:p>
        </p:txBody>
      </p:sp>
      <p:pic>
        <p:nvPicPr>
          <p:cNvPr id="4098" name="Picture 2" descr="Java Features">
            <a:extLst>
              <a:ext uri="{FF2B5EF4-FFF2-40B4-BE49-F238E27FC236}">
                <a16:creationId xmlns:a16="http://schemas.microsoft.com/office/drawing/2014/main" id="{FD60917F-71DB-4B7B-095B-131C20F47C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0428" y="994298"/>
            <a:ext cx="6598171" cy="5177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6280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4B553D-34A4-9E5B-DF80-35E0F34BFA1C}"/>
              </a:ext>
            </a:extLst>
          </p:cNvPr>
          <p:cNvSpPr>
            <a:spLocks noGrp="1"/>
          </p:cNvSpPr>
          <p:nvPr>
            <p:ph idx="1"/>
          </p:nvPr>
        </p:nvSpPr>
        <p:spPr>
          <a:xfrm>
            <a:off x="593725" y="1600200"/>
            <a:ext cx="7956550" cy="5121275"/>
          </a:xfrm>
        </p:spPr>
        <p:txBody>
          <a:bodyPr rtlCol="0">
            <a:normAutofit/>
          </a:bodyPr>
          <a:lstStyle/>
          <a:p>
            <a:pPr marL="0" indent="0" eaLnBrk="1" fontAlgn="auto" hangingPunct="1">
              <a:spcAft>
                <a:spcPts val="0"/>
              </a:spcAft>
              <a:buNone/>
              <a:defRPr/>
            </a:pPr>
            <a:r>
              <a:rPr lang="en-IN" sz="2400" b="1" dirty="0">
                <a:solidFill>
                  <a:srgbClr val="002060"/>
                </a:solidFill>
              </a:rPr>
              <a:t>Java Features</a:t>
            </a:r>
          </a:p>
          <a:p>
            <a:pPr marL="0" indent="0">
              <a:buNone/>
            </a:pPr>
            <a:r>
              <a:rPr lang="en-IN" b="1" dirty="0">
                <a:solidFill>
                  <a:srgbClr val="FF0000"/>
                </a:solidFill>
              </a:rPr>
              <a:t>Simple </a:t>
            </a:r>
          </a:p>
          <a:p>
            <a:r>
              <a:rPr lang="en-IN" b="1" dirty="0"/>
              <a:t> </a:t>
            </a:r>
            <a:r>
              <a:rPr lang="en-IN" b="0" i="0" dirty="0">
                <a:effectLst/>
                <a:highlight>
                  <a:srgbClr val="FFFFFF"/>
                </a:highlight>
                <a:latin typeface="inter-regular"/>
              </a:rPr>
              <a:t>Java is very easy to learn, and its syntax is simple, clean and easy </a:t>
            </a:r>
            <a:r>
              <a:rPr lang="en-IN" b="0" i="0" dirty="0">
                <a:solidFill>
                  <a:srgbClr val="333333"/>
                </a:solidFill>
                <a:effectLst/>
                <a:highlight>
                  <a:srgbClr val="FFFFFF"/>
                </a:highlight>
                <a:latin typeface="inter-regular"/>
              </a:rPr>
              <a:t>to understand.</a:t>
            </a:r>
          </a:p>
          <a:p>
            <a:pPr algn="just">
              <a:buFont typeface="Arial" panose="020B0604020202020204" pitchFamily="34" charset="0"/>
              <a:buChar char="•"/>
            </a:pPr>
            <a:r>
              <a:rPr lang="en-IN" b="0" i="0" dirty="0">
                <a:solidFill>
                  <a:srgbClr val="000000"/>
                </a:solidFill>
                <a:effectLst/>
                <a:highlight>
                  <a:srgbClr val="FFFFFF"/>
                </a:highlight>
                <a:latin typeface="inter-regular"/>
              </a:rPr>
              <a:t>Java syntax is based on C &amp; C++ (so easier for programmers to learn it after C, C++).</a:t>
            </a:r>
          </a:p>
          <a:p>
            <a:pPr algn="just">
              <a:buFont typeface="Arial" panose="020B0604020202020204" pitchFamily="34" charset="0"/>
              <a:buChar char="•"/>
            </a:pPr>
            <a:r>
              <a:rPr lang="en-IN" b="0" i="0" dirty="0">
                <a:solidFill>
                  <a:srgbClr val="000000"/>
                </a:solidFill>
                <a:effectLst/>
                <a:highlight>
                  <a:srgbClr val="FFFFFF"/>
                </a:highlight>
                <a:latin typeface="inter-regular"/>
              </a:rPr>
              <a:t>Java has removed explicit pointers, operator overloading, etc.</a:t>
            </a:r>
          </a:p>
          <a:p>
            <a:pPr marL="0" indent="0">
              <a:buNone/>
            </a:pPr>
            <a:endParaRPr lang="en-IN" b="1" dirty="0">
              <a:solidFill>
                <a:srgbClr val="FF0000"/>
              </a:solidFill>
            </a:endParaRPr>
          </a:p>
          <a:p>
            <a:pPr marL="0" indent="0">
              <a:buNone/>
            </a:pPr>
            <a:endParaRPr lang="en-IN" b="1" dirty="0">
              <a:solidFill>
                <a:srgbClr val="FF0000"/>
              </a:solidFill>
            </a:endParaRPr>
          </a:p>
          <a:p>
            <a:pPr marL="457200" indent="-457200">
              <a:buFont typeface="+mj-lt"/>
              <a:buAutoNum type="arabicPeriod"/>
            </a:pPr>
            <a:endParaRPr lang="en-IN" b="1" dirty="0">
              <a:solidFill>
                <a:srgbClr val="FF0000"/>
              </a:solidFill>
            </a:endParaRPr>
          </a:p>
        </p:txBody>
      </p:sp>
      <p:sp>
        <p:nvSpPr>
          <p:cNvPr id="4" name="Date Placeholder 3">
            <a:extLst>
              <a:ext uri="{FF2B5EF4-FFF2-40B4-BE49-F238E27FC236}">
                <a16:creationId xmlns:a16="http://schemas.microsoft.com/office/drawing/2014/main" id="{BC115C89-635D-4B9D-2710-6D783C1C474B}"/>
              </a:ext>
            </a:extLst>
          </p:cNvPr>
          <p:cNvSpPr>
            <a:spLocks noGrp="1"/>
          </p:cNvSpPr>
          <p:nvPr>
            <p:ph type="dt" sz="quarter" idx="10"/>
          </p:nvPr>
        </p:nvSpPr>
        <p:spPr/>
        <p:txBody>
          <a:bodyPr/>
          <a:lstStyle/>
          <a:p>
            <a:pPr>
              <a:defRPr/>
            </a:pPr>
            <a:fld id="{9F33DF84-ECC9-4EEE-B9FA-69AB63224EEF}" type="datetime1">
              <a:rPr lang="en-US" altLang="en-US"/>
              <a:pPr>
                <a:defRPr/>
              </a:pPr>
              <a:t>8/27/2024</a:t>
            </a:fld>
            <a:endParaRPr lang="en-US" altLang="en-US"/>
          </a:p>
        </p:txBody>
      </p:sp>
      <p:sp>
        <p:nvSpPr>
          <p:cNvPr id="5" name="Footer Placeholder 4">
            <a:extLst>
              <a:ext uri="{FF2B5EF4-FFF2-40B4-BE49-F238E27FC236}">
                <a16:creationId xmlns:a16="http://schemas.microsoft.com/office/drawing/2014/main" id="{1A0E7D87-71DD-B6E5-9A34-4F704E7E47F4}"/>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Tree>
    <p:extLst>
      <p:ext uri="{BB962C8B-B14F-4D97-AF65-F5344CB8AC3E}">
        <p14:creationId xmlns:p14="http://schemas.microsoft.com/office/powerpoint/2010/main" val="2728093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A5AF30-2C1E-F211-E613-A3B982178F03}"/>
              </a:ext>
            </a:extLst>
          </p:cNvPr>
          <p:cNvSpPr>
            <a:spLocks noGrp="1"/>
          </p:cNvSpPr>
          <p:nvPr>
            <p:ph idx="1"/>
          </p:nvPr>
        </p:nvSpPr>
        <p:spPr>
          <a:xfrm>
            <a:off x="593725" y="1143000"/>
            <a:ext cx="7956550" cy="5121275"/>
          </a:xfrm>
        </p:spPr>
        <p:txBody>
          <a:bodyPr/>
          <a:lstStyle/>
          <a:p>
            <a:pPr marL="0" indent="0">
              <a:buNone/>
            </a:pPr>
            <a:r>
              <a:rPr lang="en-IN" b="1" dirty="0">
                <a:solidFill>
                  <a:srgbClr val="FF0000"/>
                </a:solidFill>
              </a:rPr>
              <a:t>Object-Oriented</a:t>
            </a:r>
          </a:p>
          <a:p>
            <a:endParaRPr lang="en-IN" dirty="0"/>
          </a:p>
        </p:txBody>
      </p:sp>
      <p:sp>
        <p:nvSpPr>
          <p:cNvPr id="4" name="Date Placeholder 3">
            <a:extLst>
              <a:ext uri="{FF2B5EF4-FFF2-40B4-BE49-F238E27FC236}">
                <a16:creationId xmlns:a16="http://schemas.microsoft.com/office/drawing/2014/main" id="{4A545DFB-43C0-5087-7858-498FA5A8CDCF}"/>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4D00554F-5F40-CE87-D41D-395CCF04754C}"/>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9E15FD4E-80C1-386C-4C2F-09AAC21C7673}"/>
              </a:ext>
            </a:extLst>
          </p:cNvPr>
          <p:cNvSpPr>
            <a:spLocks noGrp="1"/>
          </p:cNvSpPr>
          <p:nvPr>
            <p:ph type="sldNum" sz="quarter" idx="12"/>
          </p:nvPr>
        </p:nvSpPr>
        <p:spPr/>
        <p:txBody>
          <a:bodyPr/>
          <a:lstStyle/>
          <a:p>
            <a:pPr>
              <a:defRPr/>
            </a:pPr>
            <a:fld id="{846AEF8D-D938-433D-BBFD-44F2BB354120}" type="slidenum">
              <a:rPr lang="en-US" altLang="en-US" smtClean="0"/>
              <a:pPr>
                <a:defRPr/>
              </a:pPr>
              <a:t>39</a:t>
            </a:fld>
            <a:endParaRPr lang="en-US" altLang="en-US"/>
          </a:p>
        </p:txBody>
      </p:sp>
      <p:sp>
        <p:nvSpPr>
          <p:cNvPr id="8" name="TextBox 7">
            <a:extLst>
              <a:ext uri="{FF2B5EF4-FFF2-40B4-BE49-F238E27FC236}">
                <a16:creationId xmlns:a16="http://schemas.microsoft.com/office/drawing/2014/main" id="{DDAB5176-B01F-C056-B59D-962F58529FA7}"/>
              </a:ext>
            </a:extLst>
          </p:cNvPr>
          <p:cNvSpPr txBox="1"/>
          <p:nvPr/>
        </p:nvSpPr>
        <p:spPr>
          <a:xfrm>
            <a:off x="990600" y="1676400"/>
            <a:ext cx="8229600" cy="4524315"/>
          </a:xfrm>
          <a:prstGeom prst="rect">
            <a:avLst/>
          </a:prstGeom>
          <a:noFill/>
        </p:spPr>
        <p:txBody>
          <a:bodyPr wrap="square">
            <a:spAutoFit/>
          </a:bodyPr>
          <a:lstStyle/>
          <a:p>
            <a:r>
              <a:rPr lang="en-IN" sz="2400" b="0" i="0" dirty="0">
                <a:solidFill>
                  <a:srgbClr val="333333"/>
                </a:solidFill>
                <a:effectLst/>
                <a:highlight>
                  <a:srgbClr val="FFFFFF"/>
                </a:highlight>
                <a:latin typeface="inter-regular"/>
              </a:rPr>
              <a:t>Java is an </a:t>
            </a:r>
            <a:r>
              <a:rPr lang="en-IN" sz="2400" b="0" i="0" u="none" strike="noStrike" dirty="0">
                <a:solidFill>
                  <a:srgbClr val="008000"/>
                </a:solidFill>
                <a:effectLst/>
                <a:highlight>
                  <a:srgbClr val="FFFFFF"/>
                </a:highlight>
                <a:latin typeface="inter-regular"/>
                <a:hlinkClick r:id="rId2"/>
              </a:rPr>
              <a:t>object-oriented</a:t>
            </a:r>
            <a:r>
              <a:rPr lang="en-IN" sz="2400" b="0" i="0" dirty="0">
                <a:solidFill>
                  <a:srgbClr val="333333"/>
                </a:solidFill>
                <a:effectLst/>
                <a:highlight>
                  <a:srgbClr val="FFFFFF"/>
                </a:highlight>
                <a:latin typeface="inter-regular"/>
              </a:rPr>
              <a:t> programming language. Everything in Java is an object. Object-oriented means we organize our software as a combination of different types of objects that incorporate both data and behavior.</a:t>
            </a:r>
          </a:p>
          <a:p>
            <a:pPr algn="just"/>
            <a:r>
              <a:rPr lang="en-IN" sz="2400" b="0" i="0" dirty="0">
                <a:solidFill>
                  <a:srgbClr val="333333"/>
                </a:solidFill>
                <a:effectLst/>
                <a:highlight>
                  <a:srgbClr val="FFFFFF"/>
                </a:highlight>
                <a:latin typeface="inter-regular"/>
              </a:rPr>
              <a:t>Basic concepts of OOPs are:</a:t>
            </a:r>
          </a:p>
          <a:p>
            <a:pPr algn="just">
              <a:buFont typeface="+mj-lt"/>
              <a:buAutoNum type="arabicPeriod"/>
            </a:pPr>
            <a:r>
              <a:rPr lang="en-IN" sz="2400" b="0" i="0" u="none" strike="noStrike" dirty="0">
                <a:solidFill>
                  <a:srgbClr val="008000"/>
                </a:solidFill>
                <a:effectLst/>
                <a:highlight>
                  <a:srgbClr val="FFFFFF"/>
                </a:highlight>
                <a:latin typeface="inter-regular"/>
                <a:hlinkClick r:id="rId3"/>
              </a:rPr>
              <a:t>Object</a:t>
            </a:r>
            <a:endParaRPr lang="en-IN" sz="2400" b="0" i="0" dirty="0">
              <a:solidFill>
                <a:srgbClr val="000000"/>
              </a:solidFill>
              <a:effectLst/>
              <a:highlight>
                <a:srgbClr val="FFFFFF"/>
              </a:highlight>
              <a:latin typeface="inter-regular"/>
            </a:endParaRPr>
          </a:p>
          <a:p>
            <a:pPr algn="just">
              <a:buFont typeface="+mj-lt"/>
              <a:buAutoNum type="arabicPeriod"/>
            </a:pPr>
            <a:r>
              <a:rPr lang="en-IN" sz="2400" b="0" i="0" u="none" strike="noStrike" dirty="0">
                <a:solidFill>
                  <a:srgbClr val="008000"/>
                </a:solidFill>
                <a:effectLst/>
                <a:highlight>
                  <a:srgbClr val="FFFFFF"/>
                </a:highlight>
                <a:latin typeface="inter-regular"/>
                <a:hlinkClick r:id="rId4"/>
              </a:rPr>
              <a:t>Class</a:t>
            </a:r>
            <a:endParaRPr lang="en-IN" sz="2400" b="0" i="0" dirty="0">
              <a:solidFill>
                <a:srgbClr val="000000"/>
              </a:solidFill>
              <a:effectLst/>
              <a:highlight>
                <a:srgbClr val="FFFFFF"/>
              </a:highlight>
              <a:latin typeface="inter-regular"/>
            </a:endParaRPr>
          </a:p>
          <a:p>
            <a:pPr algn="just">
              <a:buFont typeface="+mj-lt"/>
              <a:buAutoNum type="arabicPeriod"/>
            </a:pPr>
            <a:r>
              <a:rPr lang="en-IN" sz="2400" b="0" i="0" u="none" strike="noStrike" dirty="0">
                <a:solidFill>
                  <a:srgbClr val="008000"/>
                </a:solidFill>
                <a:effectLst/>
                <a:highlight>
                  <a:srgbClr val="FFFFFF"/>
                </a:highlight>
                <a:latin typeface="inter-regular"/>
                <a:hlinkClick r:id="rId5"/>
              </a:rPr>
              <a:t>Inheritance</a:t>
            </a:r>
            <a:endParaRPr lang="en-IN" sz="2400" b="0" i="0" dirty="0">
              <a:solidFill>
                <a:srgbClr val="000000"/>
              </a:solidFill>
              <a:effectLst/>
              <a:highlight>
                <a:srgbClr val="FFFFFF"/>
              </a:highlight>
              <a:latin typeface="inter-regular"/>
            </a:endParaRPr>
          </a:p>
          <a:p>
            <a:pPr algn="just">
              <a:buFont typeface="+mj-lt"/>
              <a:buAutoNum type="arabicPeriod"/>
            </a:pPr>
            <a:r>
              <a:rPr lang="en-IN" sz="2400" b="0" i="0" u="none" strike="noStrike" dirty="0">
                <a:solidFill>
                  <a:srgbClr val="008000"/>
                </a:solidFill>
                <a:effectLst/>
                <a:highlight>
                  <a:srgbClr val="FFFFFF"/>
                </a:highlight>
                <a:latin typeface="inter-regular"/>
                <a:hlinkClick r:id="rId6"/>
              </a:rPr>
              <a:t>Polymorphism</a:t>
            </a:r>
            <a:endParaRPr lang="en-IN" sz="2400" b="0" i="0" dirty="0">
              <a:solidFill>
                <a:srgbClr val="000000"/>
              </a:solidFill>
              <a:effectLst/>
              <a:highlight>
                <a:srgbClr val="FFFFFF"/>
              </a:highlight>
              <a:latin typeface="inter-regular"/>
            </a:endParaRPr>
          </a:p>
          <a:p>
            <a:pPr algn="just">
              <a:buFont typeface="+mj-lt"/>
              <a:buAutoNum type="arabicPeriod"/>
            </a:pPr>
            <a:r>
              <a:rPr lang="en-IN" sz="2400" b="0" i="0" u="none" strike="noStrike" dirty="0">
                <a:solidFill>
                  <a:srgbClr val="008000"/>
                </a:solidFill>
                <a:effectLst/>
                <a:highlight>
                  <a:srgbClr val="FFFFFF"/>
                </a:highlight>
                <a:latin typeface="inter-regular"/>
                <a:hlinkClick r:id="rId7"/>
              </a:rPr>
              <a:t>Abstraction</a:t>
            </a:r>
            <a:endParaRPr lang="en-IN" sz="2400" b="0" i="0" dirty="0">
              <a:solidFill>
                <a:srgbClr val="000000"/>
              </a:solidFill>
              <a:effectLst/>
              <a:highlight>
                <a:srgbClr val="FFFFFF"/>
              </a:highlight>
              <a:latin typeface="inter-regular"/>
            </a:endParaRPr>
          </a:p>
          <a:p>
            <a:pPr algn="just">
              <a:buFont typeface="+mj-lt"/>
              <a:buAutoNum type="arabicPeriod"/>
            </a:pPr>
            <a:r>
              <a:rPr lang="en-IN" sz="2400" b="0" i="0" u="none" strike="noStrike" dirty="0">
                <a:solidFill>
                  <a:srgbClr val="008000"/>
                </a:solidFill>
                <a:effectLst/>
                <a:highlight>
                  <a:srgbClr val="FFFFFF"/>
                </a:highlight>
                <a:latin typeface="inter-regular"/>
                <a:hlinkClick r:id="rId8"/>
              </a:rPr>
              <a:t>Encapsulation</a:t>
            </a:r>
            <a:endParaRPr lang="en-IN" sz="2400" b="0" i="0" dirty="0">
              <a:solidFill>
                <a:srgbClr val="000000"/>
              </a:solidFill>
              <a:effectLst/>
              <a:highlight>
                <a:srgbClr val="FFFFFF"/>
              </a:highlight>
              <a:latin typeface="inter-regular"/>
            </a:endParaRPr>
          </a:p>
          <a:p>
            <a:endParaRPr lang="en-IN" sz="2400" dirty="0"/>
          </a:p>
        </p:txBody>
      </p:sp>
    </p:spTree>
    <p:extLst>
      <p:ext uri="{BB962C8B-B14F-4D97-AF65-F5344CB8AC3E}">
        <p14:creationId xmlns:p14="http://schemas.microsoft.com/office/powerpoint/2010/main" val="589906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503F06-0282-8F1D-6654-3562DE26A7DF}"/>
              </a:ext>
            </a:extLst>
          </p:cNvPr>
          <p:cNvSpPr>
            <a:spLocks noGrp="1"/>
          </p:cNvSpPr>
          <p:nvPr>
            <p:ph idx="1"/>
          </p:nvPr>
        </p:nvSpPr>
        <p:spPr>
          <a:xfrm>
            <a:off x="593725" y="1143000"/>
            <a:ext cx="7956550" cy="5121275"/>
          </a:xfrm>
        </p:spPr>
        <p:txBody>
          <a:bodyPr/>
          <a:lstStyle/>
          <a:p>
            <a:r>
              <a:rPr lang="en-IN" b="0" i="0" dirty="0">
                <a:solidFill>
                  <a:srgbClr val="610B4B"/>
                </a:solidFill>
                <a:effectLst/>
                <a:highlight>
                  <a:srgbClr val="FFFFFF"/>
                </a:highlight>
                <a:latin typeface="erdana"/>
              </a:rPr>
              <a:t>Platform Independent</a:t>
            </a:r>
          </a:p>
          <a:p>
            <a:r>
              <a:rPr lang="en-IN" b="0" i="0" dirty="0">
                <a:solidFill>
                  <a:srgbClr val="333333"/>
                </a:solidFill>
                <a:effectLst/>
                <a:highlight>
                  <a:srgbClr val="FFFFFF"/>
                </a:highlight>
                <a:latin typeface="inter-regular"/>
              </a:rPr>
              <a:t>Java is platform independent because it is different from other languages like </a:t>
            </a:r>
            <a:r>
              <a:rPr lang="en-IN" b="0" i="0" u="none" strike="noStrike" dirty="0">
                <a:solidFill>
                  <a:srgbClr val="008000"/>
                </a:solidFill>
                <a:effectLst/>
                <a:highlight>
                  <a:srgbClr val="FFFFFF"/>
                </a:highlight>
                <a:latin typeface="inter-regular"/>
                <a:hlinkClick r:id="rId2"/>
              </a:rPr>
              <a:t>C</a:t>
            </a:r>
            <a:r>
              <a:rPr lang="en-IN" b="0" i="0" dirty="0">
                <a:solidFill>
                  <a:srgbClr val="333333"/>
                </a:solidFill>
                <a:effectLst/>
                <a:highlight>
                  <a:srgbClr val="FFFFFF"/>
                </a:highlight>
                <a:latin typeface="inter-regular"/>
              </a:rPr>
              <a:t>, </a:t>
            </a:r>
            <a:r>
              <a:rPr lang="en-IN" b="0" i="0" u="none" strike="noStrike" dirty="0">
                <a:solidFill>
                  <a:srgbClr val="008000"/>
                </a:solidFill>
                <a:effectLst/>
                <a:highlight>
                  <a:srgbClr val="FFFFFF"/>
                </a:highlight>
                <a:latin typeface="inter-regular"/>
                <a:hlinkClick r:id="rId3"/>
              </a:rPr>
              <a:t>C++</a:t>
            </a:r>
            <a:r>
              <a:rPr lang="en-IN" b="0" i="0" dirty="0">
                <a:solidFill>
                  <a:srgbClr val="333333"/>
                </a:solidFill>
                <a:effectLst/>
                <a:highlight>
                  <a:srgbClr val="FFFFFF"/>
                </a:highlight>
                <a:latin typeface="inter-regular"/>
              </a:rPr>
              <a:t>, etc. which are compiled into platform specific machines while Java is a write once, run anywhere language. </a:t>
            </a:r>
          </a:p>
          <a:p>
            <a:r>
              <a:rPr lang="en-IN" b="0" i="0" dirty="0">
                <a:solidFill>
                  <a:srgbClr val="333333"/>
                </a:solidFill>
                <a:effectLst/>
                <a:highlight>
                  <a:srgbClr val="FFFFFF"/>
                </a:highlight>
                <a:latin typeface="inter-regular"/>
              </a:rPr>
              <a:t>A platform is the hardware or software environment in which a program runs.</a:t>
            </a:r>
            <a:endParaRPr lang="en-IN" b="0" i="0" dirty="0">
              <a:solidFill>
                <a:srgbClr val="610B4B"/>
              </a:solidFill>
              <a:effectLst/>
              <a:highlight>
                <a:srgbClr val="FFFFFF"/>
              </a:highlight>
              <a:latin typeface="erdana"/>
            </a:endParaRPr>
          </a:p>
          <a:p>
            <a:endParaRPr lang="en-IN" dirty="0">
              <a:solidFill>
                <a:srgbClr val="610B4B"/>
              </a:solidFill>
              <a:highlight>
                <a:srgbClr val="FFFFFF"/>
              </a:highlight>
              <a:latin typeface="erdana"/>
            </a:endParaRPr>
          </a:p>
          <a:p>
            <a:endParaRPr lang="en-IN" b="0" i="0" dirty="0">
              <a:solidFill>
                <a:srgbClr val="610B4B"/>
              </a:solidFill>
              <a:effectLst/>
              <a:highlight>
                <a:srgbClr val="FFFFFF"/>
              </a:highlight>
              <a:latin typeface="erdana"/>
            </a:endParaRPr>
          </a:p>
          <a:p>
            <a:endParaRPr lang="en-IN" dirty="0"/>
          </a:p>
        </p:txBody>
      </p:sp>
      <p:sp>
        <p:nvSpPr>
          <p:cNvPr id="4" name="Date Placeholder 3">
            <a:extLst>
              <a:ext uri="{FF2B5EF4-FFF2-40B4-BE49-F238E27FC236}">
                <a16:creationId xmlns:a16="http://schemas.microsoft.com/office/drawing/2014/main" id="{2D932948-834D-FE67-0341-52C2E065AE62}"/>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07D9DE13-18E4-4642-0EF1-13DFCCFDCABB}"/>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46FED923-9101-09B8-2860-FD8A196167B9}"/>
              </a:ext>
            </a:extLst>
          </p:cNvPr>
          <p:cNvSpPr>
            <a:spLocks noGrp="1"/>
          </p:cNvSpPr>
          <p:nvPr>
            <p:ph type="sldNum" sz="quarter" idx="12"/>
          </p:nvPr>
        </p:nvSpPr>
        <p:spPr/>
        <p:txBody>
          <a:bodyPr/>
          <a:lstStyle/>
          <a:p>
            <a:pPr>
              <a:defRPr/>
            </a:pPr>
            <a:fld id="{846AEF8D-D938-433D-BBFD-44F2BB354120}" type="slidenum">
              <a:rPr lang="en-US" altLang="en-US" smtClean="0"/>
              <a:pPr>
                <a:defRPr/>
              </a:pPr>
              <a:t>40</a:t>
            </a:fld>
            <a:endParaRPr lang="en-US" altLang="en-US"/>
          </a:p>
        </p:txBody>
      </p:sp>
      <p:pic>
        <p:nvPicPr>
          <p:cNvPr id="5122" name="Picture 2" descr="Java is platform independent">
            <a:extLst>
              <a:ext uri="{FF2B5EF4-FFF2-40B4-BE49-F238E27FC236}">
                <a16:creationId xmlns:a16="http://schemas.microsoft.com/office/drawing/2014/main" id="{226DBF13-7B31-D597-FBFD-2792C7C65C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4328" y="3562350"/>
            <a:ext cx="3575844"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30740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806B1A-6119-D859-C098-50BA82A728F9}"/>
              </a:ext>
            </a:extLst>
          </p:cNvPr>
          <p:cNvSpPr>
            <a:spLocks noGrp="1"/>
          </p:cNvSpPr>
          <p:nvPr>
            <p:ph idx="1"/>
          </p:nvPr>
        </p:nvSpPr>
        <p:spPr>
          <a:xfrm>
            <a:off x="327025" y="1281112"/>
            <a:ext cx="7956550" cy="4816475"/>
          </a:xfrm>
        </p:spPr>
        <p:txBody>
          <a:bodyPr/>
          <a:lstStyle/>
          <a:p>
            <a:pPr marL="0" indent="0">
              <a:buNone/>
            </a:pPr>
            <a:r>
              <a:rPr lang="en-IN" dirty="0"/>
              <a:t>Secured</a:t>
            </a:r>
          </a:p>
          <a:p>
            <a:pPr algn="just"/>
            <a:r>
              <a:rPr lang="en-IN" b="0" i="0" dirty="0">
                <a:solidFill>
                  <a:srgbClr val="333333"/>
                </a:solidFill>
                <a:effectLst/>
                <a:highlight>
                  <a:srgbClr val="FFFFFF"/>
                </a:highlight>
                <a:latin typeface="inter-regular"/>
              </a:rPr>
              <a:t>Java is best known for its security. With Java, we can develop virus-free systems. Java is secured because:</a:t>
            </a:r>
          </a:p>
          <a:p>
            <a:pPr algn="just">
              <a:buFont typeface="Arial" panose="020B0604020202020204" pitchFamily="34" charset="0"/>
              <a:buChar char="•"/>
            </a:pPr>
            <a:r>
              <a:rPr lang="en-IN" b="1" i="0" dirty="0">
                <a:solidFill>
                  <a:srgbClr val="000000"/>
                </a:solidFill>
                <a:effectLst/>
                <a:highlight>
                  <a:srgbClr val="FFFFFF"/>
                </a:highlight>
                <a:latin typeface="inter-bold"/>
              </a:rPr>
              <a:t>No explicit pointer</a:t>
            </a:r>
            <a:endParaRPr lang="en-IN" b="0" i="0" dirty="0">
              <a:solidFill>
                <a:srgbClr val="000000"/>
              </a:solidFill>
              <a:effectLst/>
              <a:highlight>
                <a:srgbClr val="FFFFFF"/>
              </a:highlight>
              <a:latin typeface="inter-regular"/>
            </a:endParaRPr>
          </a:p>
          <a:p>
            <a:pPr algn="just">
              <a:buFont typeface="Arial" panose="020B0604020202020204" pitchFamily="34" charset="0"/>
              <a:buChar char="•"/>
            </a:pPr>
            <a:r>
              <a:rPr lang="en-IN" b="1" i="0" dirty="0">
                <a:solidFill>
                  <a:srgbClr val="000000"/>
                </a:solidFill>
                <a:effectLst/>
                <a:highlight>
                  <a:srgbClr val="FFFFFF"/>
                </a:highlight>
                <a:latin typeface="inter-bold"/>
              </a:rPr>
              <a:t>Java Programs run inside a virtual machine sandbox</a:t>
            </a:r>
            <a:endParaRPr lang="en-IN" b="0" i="0" dirty="0">
              <a:solidFill>
                <a:srgbClr val="000000"/>
              </a:solidFill>
              <a:effectLst/>
              <a:highlight>
                <a:srgbClr val="FFFFFF"/>
              </a:highlight>
              <a:latin typeface="inter-regular"/>
            </a:endParaRPr>
          </a:p>
          <a:p>
            <a:endParaRPr lang="en-IN" dirty="0"/>
          </a:p>
        </p:txBody>
      </p:sp>
      <p:sp>
        <p:nvSpPr>
          <p:cNvPr id="4" name="Date Placeholder 3">
            <a:extLst>
              <a:ext uri="{FF2B5EF4-FFF2-40B4-BE49-F238E27FC236}">
                <a16:creationId xmlns:a16="http://schemas.microsoft.com/office/drawing/2014/main" id="{2CBB02FD-2118-63BE-4B50-65C4B66EE43D}"/>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0DFC7C77-7B7A-3C3F-2992-D7714A51EED9}"/>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286AACB6-556D-8245-293A-623B815AF4B0}"/>
              </a:ext>
            </a:extLst>
          </p:cNvPr>
          <p:cNvSpPr>
            <a:spLocks noGrp="1"/>
          </p:cNvSpPr>
          <p:nvPr>
            <p:ph type="sldNum" sz="quarter" idx="12"/>
          </p:nvPr>
        </p:nvSpPr>
        <p:spPr/>
        <p:txBody>
          <a:bodyPr/>
          <a:lstStyle/>
          <a:p>
            <a:pPr>
              <a:defRPr/>
            </a:pPr>
            <a:fld id="{846AEF8D-D938-433D-BBFD-44F2BB354120}" type="slidenum">
              <a:rPr lang="en-US" altLang="en-US" smtClean="0"/>
              <a:pPr>
                <a:defRPr/>
              </a:pPr>
              <a:t>41</a:t>
            </a:fld>
            <a:endParaRPr lang="en-US" altLang="en-US"/>
          </a:p>
        </p:txBody>
      </p:sp>
      <p:pic>
        <p:nvPicPr>
          <p:cNvPr id="6146" name="Picture 2" descr="how Java is secured">
            <a:extLst>
              <a:ext uri="{FF2B5EF4-FFF2-40B4-BE49-F238E27FC236}">
                <a16:creationId xmlns:a16="http://schemas.microsoft.com/office/drawing/2014/main" id="{D80D1BBB-856B-6633-AD30-DE70129EA6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6262" y="3397250"/>
            <a:ext cx="5715000"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6334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806B1A-6119-D859-C098-50BA82A728F9}"/>
              </a:ext>
            </a:extLst>
          </p:cNvPr>
          <p:cNvSpPr>
            <a:spLocks noGrp="1"/>
          </p:cNvSpPr>
          <p:nvPr>
            <p:ph idx="1"/>
          </p:nvPr>
        </p:nvSpPr>
        <p:spPr>
          <a:xfrm>
            <a:off x="593725" y="1447800"/>
            <a:ext cx="7956550" cy="4816475"/>
          </a:xfrm>
        </p:spPr>
        <p:txBody>
          <a:bodyPr/>
          <a:lstStyle/>
          <a:p>
            <a:pPr marL="0" indent="0" algn="just">
              <a:buNone/>
            </a:pPr>
            <a:r>
              <a:rPr lang="en-IN" b="0" i="0" dirty="0">
                <a:solidFill>
                  <a:srgbClr val="610B4B"/>
                </a:solidFill>
                <a:effectLst/>
                <a:highlight>
                  <a:srgbClr val="FFFFFF"/>
                </a:highlight>
                <a:latin typeface="erdana"/>
              </a:rPr>
              <a:t>Robust  -  </a:t>
            </a:r>
            <a:r>
              <a:rPr lang="en-IN" b="0" i="0" dirty="0">
                <a:solidFill>
                  <a:srgbClr val="333333"/>
                </a:solidFill>
                <a:effectLst/>
                <a:highlight>
                  <a:srgbClr val="FFFFFF"/>
                </a:highlight>
                <a:latin typeface="inter-regular"/>
              </a:rPr>
              <a:t>The English mining of Robust is strong. Java is robust because:</a:t>
            </a:r>
          </a:p>
          <a:p>
            <a:pPr algn="just">
              <a:buFont typeface="Arial" panose="020B0604020202020204" pitchFamily="34" charset="0"/>
              <a:buChar char="•"/>
            </a:pPr>
            <a:r>
              <a:rPr lang="en-IN" b="0" i="0" dirty="0">
                <a:solidFill>
                  <a:srgbClr val="000000"/>
                </a:solidFill>
                <a:effectLst/>
                <a:highlight>
                  <a:srgbClr val="FFFFFF"/>
                </a:highlight>
                <a:latin typeface="inter-regular"/>
              </a:rPr>
              <a:t>It uses strong memory management.</a:t>
            </a:r>
          </a:p>
          <a:p>
            <a:pPr algn="just">
              <a:buFont typeface="Arial" panose="020B0604020202020204" pitchFamily="34" charset="0"/>
              <a:buChar char="•"/>
            </a:pPr>
            <a:r>
              <a:rPr lang="en-IN" b="0" i="0" dirty="0">
                <a:solidFill>
                  <a:srgbClr val="000000"/>
                </a:solidFill>
                <a:effectLst/>
                <a:highlight>
                  <a:srgbClr val="FFFFFF"/>
                </a:highlight>
                <a:latin typeface="inter-regular"/>
              </a:rPr>
              <a:t>Java provides automatic garbage collection which runs on the Java Virtual Machine to get rid of objects which are not being used by a Java application anymore.</a:t>
            </a:r>
          </a:p>
          <a:p>
            <a:pPr algn="just">
              <a:buFont typeface="Arial" panose="020B0604020202020204" pitchFamily="34" charset="0"/>
              <a:buChar char="•"/>
            </a:pPr>
            <a:r>
              <a:rPr lang="en-IN" b="0" i="0" dirty="0">
                <a:solidFill>
                  <a:srgbClr val="000000"/>
                </a:solidFill>
                <a:effectLst/>
                <a:highlight>
                  <a:srgbClr val="FFFFFF"/>
                </a:highlight>
                <a:latin typeface="inter-regular"/>
              </a:rPr>
              <a:t>There are exception handling and the type checking mechanism in Java.</a:t>
            </a:r>
          </a:p>
          <a:p>
            <a:pPr marL="0" indent="0" algn="just">
              <a:buNone/>
            </a:pPr>
            <a:r>
              <a:rPr lang="en-IN" b="1" i="0" dirty="0">
                <a:solidFill>
                  <a:srgbClr val="000000"/>
                </a:solidFill>
                <a:effectLst/>
                <a:highlight>
                  <a:srgbClr val="FFFFFF"/>
                </a:highlight>
                <a:latin typeface="inter-regular"/>
              </a:rPr>
              <a:t> All these points make Java robust.</a:t>
            </a:r>
          </a:p>
          <a:p>
            <a:pPr marL="0" indent="0">
              <a:buNone/>
            </a:pPr>
            <a:endParaRPr lang="en-IN" dirty="0"/>
          </a:p>
        </p:txBody>
      </p:sp>
      <p:sp>
        <p:nvSpPr>
          <p:cNvPr id="4" name="Date Placeholder 3">
            <a:extLst>
              <a:ext uri="{FF2B5EF4-FFF2-40B4-BE49-F238E27FC236}">
                <a16:creationId xmlns:a16="http://schemas.microsoft.com/office/drawing/2014/main" id="{2CBB02FD-2118-63BE-4B50-65C4B66EE43D}"/>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0DFC7C77-7B7A-3C3F-2992-D7714A51EED9}"/>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286AACB6-556D-8245-293A-623B815AF4B0}"/>
              </a:ext>
            </a:extLst>
          </p:cNvPr>
          <p:cNvSpPr>
            <a:spLocks noGrp="1"/>
          </p:cNvSpPr>
          <p:nvPr>
            <p:ph type="sldNum" sz="quarter" idx="12"/>
          </p:nvPr>
        </p:nvSpPr>
        <p:spPr/>
        <p:txBody>
          <a:bodyPr/>
          <a:lstStyle/>
          <a:p>
            <a:pPr>
              <a:defRPr/>
            </a:pPr>
            <a:fld id="{846AEF8D-D938-433D-BBFD-44F2BB354120}" type="slidenum">
              <a:rPr lang="en-US" altLang="en-US" smtClean="0"/>
              <a:pPr>
                <a:defRPr/>
              </a:pPr>
              <a:t>42</a:t>
            </a:fld>
            <a:endParaRPr lang="en-US" altLang="en-US"/>
          </a:p>
        </p:txBody>
      </p:sp>
    </p:spTree>
    <p:extLst>
      <p:ext uri="{BB962C8B-B14F-4D97-AF65-F5344CB8AC3E}">
        <p14:creationId xmlns:p14="http://schemas.microsoft.com/office/powerpoint/2010/main" val="18985003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21C093-C3EF-3D78-8BE2-080CEABDB67D}"/>
              </a:ext>
            </a:extLst>
          </p:cNvPr>
          <p:cNvSpPr>
            <a:spLocks noGrp="1"/>
          </p:cNvSpPr>
          <p:nvPr>
            <p:ph idx="1"/>
          </p:nvPr>
        </p:nvSpPr>
        <p:spPr>
          <a:xfrm>
            <a:off x="593725" y="1219200"/>
            <a:ext cx="7956550" cy="5045075"/>
          </a:xfrm>
        </p:spPr>
        <p:txBody>
          <a:bodyPr/>
          <a:lstStyle/>
          <a:p>
            <a:pPr marL="0" indent="0" algn="just">
              <a:buNone/>
            </a:pPr>
            <a:r>
              <a:rPr lang="en-IN" b="0" i="0" dirty="0">
                <a:solidFill>
                  <a:srgbClr val="610B4B"/>
                </a:solidFill>
                <a:effectLst/>
                <a:highlight>
                  <a:srgbClr val="FFFFFF"/>
                </a:highlight>
                <a:latin typeface="erdana"/>
              </a:rPr>
              <a:t>Architecture-neutral</a:t>
            </a:r>
          </a:p>
          <a:p>
            <a:pPr algn="just"/>
            <a:r>
              <a:rPr lang="en-IN" b="0" i="0" dirty="0">
                <a:solidFill>
                  <a:srgbClr val="333333"/>
                </a:solidFill>
                <a:effectLst/>
                <a:highlight>
                  <a:srgbClr val="FFFFFF"/>
                </a:highlight>
                <a:latin typeface="inter-regular"/>
              </a:rPr>
              <a:t>Java is architecture neutral because there are no implementation dependent features, for example, the size of primitive types is fixed.</a:t>
            </a:r>
          </a:p>
          <a:p>
            <a:pPr algn="just"/>
            <a:r>
              <a:rPr lang="en-IN" b="0" i="0" dirty="0">
                <a:solidFill>
                  <a:srgbClr val="333333"/>
                </a:solidFill>
                <a:effectLst/>
                <a:highlight>
                  <a:srgbClr val="FFFFFF"/>
                </a:highlight>
                <a:latin typeface="inter-regular"/>
              </a:rPr>
              <a:t>In C programming, int data type occupies 2 bytes of memory for 32-bit architecture and 4 bytes of memory for 64-bit architecture. However, it occupies 4 bytes of memory for both 32 and 64-bit architectures in Java.</a:t>
            </a:r>
          </a:p>
          <a:p>
            <a:pPr marL="0" indent="0" algn="just">
              <a:buNone/>
            </a:pPr>
            <a:r>
              <a:rPr lang="en-IN" b="0" i="0" dirty="0">
                <a:solidFill>
                  <a:srgbClr val="610B4B"/>
                </a:solidFill>
                <a:effectLst/>
                <a:highlight>
                  <a:srgbClr val="FFFFFF"/>
                </a:highlight>
                <a:latin typeface="erdana"/>
              </a:rPr>
              <a:t>Portable</a:t>
            </a:r>
          </a:p>
          <a:p>
            <a:pPr algn="just"/>
            <a:r>
              <a:rPr lang="en-IN" b="0" i="0" dirty="0">
                <a:solidFill>
                  <a:srgbClr val="333333"/>
                </a:solidFill>
                <a:effectLst/>
                <a:highlight>
                  <a:srgbClr val="FFFFFF"/>
                </a:highlight>
                <a:latin typeface="inter-regular"/>
              </a:rPr>
              <a:t>Java is portable because it facilitates you to carry the Java bytecode to any platform. It doesn't require any implementation.</a:t>
            </a:r>
          </a:p>
          <a:p>
            <a:pPr algn="just"/>
            <a:r>
              <a:rPr lang="en-IN" b="0" i="0" dirty="0">
                <a:solidFill>
                  <a:srgbClr val="610B4B"/>
                </a:solidFill>
                <a:effectLst/>
                <a:highlight>
                  <a:srgbClr val="FFFFFF"/>
                </a:highlight>
                <a:latin typeface="erdana"/>
              </a:rPr>
              <a:t>High-performance</a:t>
            </a:r>
          </a:p>
          <a:p>
            <a:pPr algn="just"/>
            <a:r>
              <a:rPr lang="en-IN" b="0" i="0" dirty="0">
                <a:solidFill>
                  <a:srgbClr val="333333"/>
                </a:solidFill>
                <a:effectLst/>
                <a:highlight>
                  <a:srgbClr val="FFFFFF"/>
                </a:highlight>
                <a:latin typeface="inter-regular"/>
              </a:rPr>
              <a:t>Java is faster than other traditional interpreted programming languages because Java bytecode is "close" to native code.</a:t>
            </a:r>
          </a:p>
          <a:p>
            <a:pPr marL="0" indent="0">
              <a:buNone/>
            </a:pPr>
            <a:br>
              <a:rPr lang="en-IN" dirty="0"/>
            </a:br>
            <a:br>
              <a:rPr lang="en-IN" dirty="0"/>
            </a:br>
            <a:endParaRPr lang="en-IN" dirty="0"/>
          </a:p>
        </p:txBody>
      </p:sp>
      <p:sp>
        <p:nvSpPr>
          <p:cNvPr id="4" name="Date Placeholder 3">
            <a:extLst>
              <a:ext uri="{FF2B5EF4-FFF2-40B4-BE49-F238E27FC236}">
                <a16:creationId xmlns:a16="http://schemas.microsoft.com/office/drawing/2014/main" id="{BCA4CAD3-1336-DEA4-74A3-2609A1A97320}"/>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39A1BE33-B7D2-4D9C-D5B1-FE0E89810BD6}"/>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5326FC87-927B-BC43-4EFF-953AFFF1050A}"/>
              </a:ext>
            </a:extLst>
          </p:cNvPr>
          <p:cNvSpPr>
            <a:spLocks noGrp="1"/>
          </p:cNvSpPr>
          <p:nvPr>
            <p:ph type="sldNum" sz="quarter" idx="12"/>
          </p:nvPr>
        </p:nvSpPr>
        <p:spPr/>
        <p:txBody>
          <a:bodyPr/>
          <a:lstStyle/>
          <a:p>
            <a:pPr>
              <a:defRPr/>
            </a:pPr>
            <a:fld id="{846AEF8D-D938-433D-BBFD-44F2BB354120}" type="slidenum">
              <a:rPr lang="en-US" altLang="en-US" smtClean="0"/>
              <a:pPr>
                <a:defRPr/>
              </a:pPr>
              <a:t>43</a:t>
            </a:fld>
            <a:endParaRPr lang="en-US" altLang="en-US"/>
          </a:p>
        </p:txBody>
      </p:sp>
    </p:spTree>
    <p:extLst>
      <p:ext uri="{BB962C8B-B14F-4D97-AF65-F5344CB8AC3E}">
        <p14:creationId xmlns:p14="http://schemas.microsoft.com/office/powerpoint/2010/main" val="10335404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5128ED-3C18-8C21-2DDF-97F48E72217A}"/>
              </a:ext>
            </a:extLst>
          </p:cNvPr>
          <p:cNvSpPr>
            <a:spLocks noGrp="1"/>
          </p:cNvSpPr>
          <p:nvPr>
            <p:ph idx="1"/>
          </p:nvPr>
        </p:nvSpPr>
        <p:spPr>
          <a:xfrm>
            <a:off x="762000" y="1143000"/>
            <a:ext cx="7956550" cy="5899150"/>
          </a:xfrm>
        </p:spPr>
        <p:txBody>
          <a:bodyPr/>
          <a:lstStyle/>
          <a:p>
            <a:pPr marL="0" indent="0" algn="just">
              <a:buNone/>
            </a:pPr>
            <a:r>
              <a:rPr lang="en-IN" b="0" i="0" dirty="0">
                <a:solidFill>
                  <a:srgbClr val="610B4B"/>
                </a:solidFill>
                <a:effectLst/>
                <a:highlight>
                  <a:srgbClr val="FFFFFF"/>
                </a:highlight>
                <a:latin typeface="erdana"/>
              </a:rPr>
              <a:t>Distributed</a:t>
            </a:r>
          </a:p>
          <a:p>
            <a:pPr algn="just"/>
            <a:r>
              <a:rPr lang="en-IN" b="0" i="0" dirty="0">
                <a:solidFill>
                  <a:srgbClr val="333333"/>
                </a:solidFill>
                <a:effectLst/>
                <a:highlight>
                  <a:srgbClr val="FFFFFF"/>
                </a:highlight>
                <a:latin typeface="inter-regular"/>
              </a:rPr>
              <a:t>Java is distributed because it facilitates users to create distributed applications in Java. </a:t>
            </a:r>
          </a:p>
          <a:p>
            <a:pPr marL="0" indent="0" algn="just">
              <a:buNone/>
            </a:pPr>
            <a:r>
              <a:rPr lang="en-IN" b="0" i="0" dirty="0">
                <a:solidFill>
                  <a:srgbClr val="610B4B"/>
                </a:solidFill>
                <a:effectLst/>
                <a:highlight>
                  <a:srgbClr val="FFFFFF"/>
                </a:highlight>
                <a:latin typeface="erdana"/>
              </a:rPr>
              <a:t>Multi-threaded</a:t>
            </a:r>
          </a:p>
          <a:p>
            <a:pPr algn="just"/>
            <a:r>
              <a:rPr lang="en-IN" b="0" i="0" dirty="0">
                <a:solidFill>
                  <a:srgbClr val="333333"/>
                </a:solidFill>
                <a:effectLst/>
                <a:highlight>
                  <a:srgbClr val="FFFFFF"/>
                </a:highlight>
                <a:latin typeface="inter-regular"/>
              </a:rPr>
              <a:t>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a:t>
            </a:r>
          </a:p>
          <a:p>
            <a:pPr marL="0" indent="0" algn="just">
              <a:buNone/>
            </a:pPr>
            <a:r>
              <a:rPr lang="en-IN" b="0" i="0" dirty="0">
                <a:solidFill>
                  <a:srgbClr val="610B4B"/>
                </a:solidFill>
                <a:effectLst/>
                <a:highlight>
                  <a:srgbClr val="FFFFFF"/>
                </a:highlight>
                <a:latin typeface="erdana"/>
              </a:rPr>
              <a:t>Dynamic</a:t>
            </a:r>
          </a:p>
          <a:p>
            <a:pPr algn="just"/>
            <a:r>
              <a:rPr lang="en-IN" b="0" i="0" dirty="0">
                <a:solidFill>
                  <a:srgbClr val="333333"/>
                </a:solidFill>
                <a:effectLst/>
                <a:highlight>
                  <a:srgbClr val="FFFFFF"/>
                </a:highlight>
                <a:latin typeface="inter-regular"/>
              </a:rPr>
              <a:t>Java is a dynamic language. It supports the dynamic loading of classes. It means classes are loaded on demand. It also supports functions from its native languages, i.e., C and C++.</a:t>
            </a:r>
          </a:p>
          <a:p>
            <a:endParaRPr lang="en-IN" dirty="0"/>
          </a:p>
        </p:txBody>
      </p:sp>
      <p:sp>
        <p:nvSpPr>
          <p:cNvPr id="4" name="Date Placeholder 3">
            <a:extLst>
              <a:ext uri="{FF2B5EF4-FFF2-40B4-BE49-F238E27FC236}">
                <a16:creationId xmlns:a16="http://schemas.microsoft.com/office/drawing/2014/main" id="{D6A9BA18-2F77-739E-4CDE-DF17C4644ABC}"/>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2C849251-BF5A-08D9-C870-58F1C51EEC5B}"/>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704A2A4A-25CC-5DB0-6D17-9FA070FA2A7A}"/>
              </a:ext>
            </a:extLst>
          </p:cNvPr>
          <p:cNvSpPr>
            <a:spLocks noGrp="1"/>
          </p:cNvSpPr>
          <p:nvPr>
            <p:ph type="sldNum" sz="quarter" idx="12"/>
          </p:nvPr>
        </p:nvSpPr>
        <p:spPr/>
        <p:txBody>
          <a:bodyPr/>
          <a:lstStyle/>
          <a:p>
            <a:pPr>
              <a:defRPr/>
            </a:pPr>
            <a:fld id="{846AEF8D-D938-433D-BBFD-44F2BB354120}" type="slidenum">
              <a:rPr lang="en-US" altLang="en-US" smtClean="0"/>
              <a:pPr>
                <a:defRPr/>
              </a:pPr>
              <a:t>44</a:t>
            </a:fld>
            <a:endParaRPr lang="en-US" altLang="en-US"/>
          </a:p>
        </p:txBody>
      </p:sp>
    </p:spTree>
    <p:extLst>
      <p:ext uri="{BB962C8B-B14F-4D97-AF65-F5344CB8AC3E}">
        <p14:creationId xmlns:p14="http://schemas.microsoft.com/office/powerpoint/2010/main" val="28425341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12B8C-C41E-0CEE-DC3A-8984CB5A8734}"/>
              </a:ext>
            </a:extLst>
          </p:cNvPr>
          <p:cNvSpPr>
            <a:spLocks noGrp="1"/>
          </p:cNvSpPr>
          <p:nvPr>
            <p:ph type="title"/>
          </p:nvPr>
        </p:nvSpPr>
        <p:spPr/>
        <p:txBody>
          <a:bodyPr/>
          <a:lstStyle/>
          <a:p>
            <a:r>
              <a:rPr lang="en-IN" sz="4000" b="1" i="0" u="none" strike="noStrike" baseline="0" dirty="0">
                <a:latin typeface="DINMittelEFOP-Bold"/>
              </a:rPr>
              <a:t>The Three OOP Principles</a:t>
            </a:r>
            <a:br>
              <a:rPr lang="en-IN" sz="4000" b="1" i="0" u="none" strike="noStrike" baseline="0" dirty="0">
                <a:latin typeface="DINMittelEFOP-Bold"/>
              </a:rPr>
            </a:br>
            <a:endParaRPr lang="en-IN" dirty="0"/>
          </a:p>
        </p:txBody>
      </p:sp>
      <p:sp>
        <p:nvSpPr>
          <p:cNvPr id="3" name="Content Placeholder 2">
            <a:extLst>
              <a:ext uri="{FF2B5EF4-FFF2-40B4-BE49-F238E27FC236}">
                <a16:creationId xmlns:a16="http://schemas.microsoft.com/office/drawing/2014/main" id="{E6BB616F-6FDF-DAE7-5055-4D3F6C35E00D}"/>
              </a:ext>
            </a:extLst>
          </p:cNvPr>
          <p:cNvSpPr>
            <a:spLocks noGrp="1"/>
          </p:cNvSpPr>
          <p:nvPr>
            <p:ph idx="1"/>
          </p:nvPr>
        </p:nvSpPr>
        <p:spPr/>
        <p:txBody>
          <a:bodyPr/>
          <a:lstStyle/>
          <a:p>
            <a:pPr algn="l">
              <a:buFont typeface="+mj-lt"/>
              <a:buAutoNum type="arabicPeriod"/>
            </a:pPr>
            <a:r>
              <a:rPr lang="en-IN" sz="2400" b="1" i="0" dirty="0">
                <a:solidFill>
                  <a:srgbClr val="C00000"/>
                </a:solidFill>
                <a:effectLst/>
                <a:highlight>
                  <a:srgbClr val="FFFFFF"/>
                </a:highlight>
                <a:latin typeface="+mj-lt"/>
              </a:rPr>
              <a:t>Abstraction ( Encapsulation)</a:t>
            </a:r>
            <a:endParaRPr lang="en-IN" sz="2400" b="0" i="0" dirty="0">
              <a:solidFill>
                <a:srgbClr val="C00000"/>
              </a:solidFill>
              <a:effectLst/>
              <a:highlight>
                <a:srgbClr val="FFFFFF"/>
              </a:highlight>
              <a:latin typeface="+mj-lt"/>
            </a:endParaRPr>
          </a:p>
          <a:p>
            <a:pPr algn="l">
              <a:buFont typeface="+mj-lt"/>
              <a:buAutoNum type="arabicPeriod"/>
            </a:pPr>
            <a:r>
              <a:rPr lang="en-IN" sz="2400" b="1" i="0" dirty="0">
                <a:solidFill>
                  <a:srgbClr val="C00000"/>
                </a:solidFill>
                <a:effectLst/>
                <a:highlight>
                  <a:srgbClr val="FFFFFF"/>
                </a:highlight>
                <a:latin typeface="+mj-lt"/>
              </a:rPr>
              <a:t>Inheritance</a:t>
            </a:r>
            <a:endParaRPr lang="en-IN" sz="2400" b="0" i="0" dirty="0">
              <a:solidFill>
                <a:srgbClr val="C00000"/>
              </a:solidFill>
              <a:effectLst/>
              <a:highlight>
                <a:srgbClr val="FFFFFF"/>
              </a:highlight>
              <a:latin typeface="+mj-lt"/>
            </a:endParaRPr>
          </a:p>
          <a:p>
            <a:pPr algn="l">
              <a:buFont typeface="+mj-lt"/>
              <a:buAutoNum type="arabicPeriod"/>
            </a:pPr>
            <a:r>
              <a:rPr lang="en-IN" sz="2400" b="1" i="0" dirty="0">
                <a:solidFill>
                  <a:srgbClr val="C00000"/>
                </a:solidFill>
                <a:effectLst/>
                <a:highlight>
                  <a:srgbClr val="FFFFFF"/>
                </a:highlight>
                <a:latin typeface="+mj-lt"/>
              </a:rPr>
              <a:t>Polymorphism</a:t>
            </a:r>
            <a:endParaRPr lang="en-IN" sz="2400" b="0" i="0" dirty="0">
              <a:solidFill>
                <a:srgbClr val="C00000"/>
              </a:solidFill>
              <a:effectLst/>
              <a:highlight>
                <a:srgbClr val="FFFFFF"/>
              </a:highlight>
              <a:latin typeface="+mj-lt"/>
            </a:endParaRPr>
          </a:p>
          <a:p>
            <a:endParaRPr lang="en-IN" dirty="0"/>
          </a:p>
        </p:txBody>
      </p:sp>
      <p:sp>
        <p:nvSpPr>
          <p:cNvPr id="4" name="Date Placeholder 3">
            <a:extLst>
              <a:ext uri="{FF2B5EF4-FFF2-40B4-BE49-F238E27FC236}">
                <a16:creationId xmlns:a16="http://schemas.microsoft.com/office/drawing/2014/main" id="{4D208C7B-6E89-A00B-C3C5-F5A55C165967}"/>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B9849A95-1427-AA53-B527-4B71BA02B120}"/>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97F243F2-6E49-1C5F-B505-577C0C339584}"/>
              </a:ext>
            </a:extLst>
          </p:cNvPr>
          <p:cNvSpPr>
            <a:spLocks noGrp="1"/>
          </p:cNvSpPr>
          <p:nvPr>
            <p:ph type="sldNum" sz="quarter" idx="12"/>
          </p:nvPr>
        </p:nvSpPr>
        <p:spPr/>
        <p:txBody>
          <a:bodyPr/>
          <a:lstStyle/>
          <a:p>
            <a:pPr>
              <a:defRPr/>
            </a:pPr>
            <a:fld id="{846AEF8D-D938-433D-BBFD-44F2BB354120}" type="slidenum">
              <a:rPr lang="en-US" altLang="en-US" smtClean="0"/>
              <a:pPr>
                <a:defRPr/>
              </a:pPr>
              <a:t>45</a:t>
            </a:fld>
            <a:endParaRPr lang="en-US" altLang="en-US"/>
          </a:p>
        </p:txBody>
      </p:sp>
      <p:pic>
        <p:nvPicPr>
          <p:cNvPr id="8" name="Picture 7">
            <a:extLst>
              <a:ext uri="{FF2B5EF4-FFF2-40B4-BE49-F238E27FC236}">
                <a16:creationId xmlns:a16="http://schemas.microsoft.com/office/drawing/2014/main" id="{EA69017E-6908-74D3-9385-69CC2BA93A70}"/>
              </a:ext>
            </a:extLst>
          </p:cNvPr>
          <p:cNvPicPr>
            <a:picLocks noChangeAspect="1"/>
          </p:cNvPicPr>
          <p:nvPr/>
        </p:nvPicPr>
        <p:blipFill>
          <a:blip r:embed="rId2"/>
          <a:stretch>
            <a:fillRect/>
          </a:stretch>
        </p:blipFill>
        <p:spPr>
          <a:xfrm>
            <a:off x="4724400" y="2648291"/>
            <a:ext cx="4282811" cy="3833192"/>
          </a:xfrm>
          <a:prstGeom prst="rect">
            <a:avLst/>
          </a:prstGeom>
        </p:spPr>
      </p:pic>
    </p:spTree>
    <p:extLst>
      <p:ext uri="{BB962C8B-B14F-4D97-AF65-F5344CB8AC3E}">
        <p14:creationId xmlns:p14="http://schemas.microsoft.com/office/powerpoint/2010/main" val="29337451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30E35-0F61-E46C-495C-0C50B65F4140}"/>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18CAA569-82C1-7769-A6AF-AED63F4BF23C}"/>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05417330-49EB-4C31-8D55-D210E3D13DD9}"/>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9250B76B-6993-310E-0A6F-18D61B51FF03}"/>
              </a:ext>
            </a:extLst>
          </p:cNvPr>
          <p:cNvSpPr>
            <a:spLocks noGrp="1"/>
          </p:cNvSpPr>
          <p:nvPr>
            <p:ph type="sldNum" sz="quarter" idx="12"/>
          </p:nvPr>
        </p:nvSpPr>
        <p:spPr/>
        <p:txBody>
          <a:bodyPr/>
          <a:lstStyle/>
          <a:p>
            <a:pPr>
              <a:defRPr/>
            </a:pPr>
            <a:fld id="{846AEF8D-D938-433D-BBFD-44F2BB354120}" type="slidenum">
              <a:rPr lang="en-US" altLang="en-US" smtClean="0"/>
              <a:pPr>
                <a:defRPr/>
              </a:pPr>
              <a:t>46</a:t>
            </a:fld>
            <a:endParaRPr lang="en-US" altLang="en-US"/>
          </a:p>
        </p:txBody>
      </p:sp>
      <p:pic>
        <p:nvPicPr>
          <p:cNvPr id="9" name="Content Placeholder 8">
            <a:extLst>
              <a:ext uri="{FF2B5EF4-FFF2-40B4-BE49-F238E27FC236}">
                <a16:creationId xmlns:a16="http://schemas.microsoft.com/office/drawing/2014/main" id="{A96AA217-B9AA-5366-0887-9AC0055D7CC0}"/>
              </a:ext>
            </a:extLst>
          </p:cNvPr>
          <p:cNvPicPr>
            <a:picLocks noGrp="1" noChangeAspect="1"/>
          </p:cNvPicPr>
          <p:nvPr>
            <p:ph idx="1"/>
          </p:nvPr>
        </p:nvPicPr>
        <p:blipFill>
          <a:blip r:embed="rId2"/>
          <a:stretch>
            <a:fillRect/>
          </a:stretch>
        </p:blipFill>
        <p:spPr>
          <a:xfrm>
            <a:off x="1752600" y="860425"/>
            <a:ext cx="5897273" cy="4070350"/>
          </a:xfrm>
        </p:spPr>
      </p:pic>
    </p:spTree>
    <p:extLst>
      <p:ext uri="{BB962C8B-B14F-4D97-AF65-F5344CB8AC3E}">
        <p14:creationId xmlns:p14="http://schemas.microsoft.com/office/powerpoint/2010/main" val="9741986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A0D1B-1757-4B8D-9014-C42A75A22F1E}"/>
              </a:ext>
            </a:extLst>
          </p:cNvPr>
          <p:cNvSpPr>
            <a:spLocks noGrp="1"/>
          </p:cNvSpPr>
          <p:nvPr>
            <p:ph type="title"/>
          </p:nvPr>
        </p:nvSpPr>
        <p:spPr>
          <a:xfrm>
            <a:off x="2171700" y="763588"/>
            <a:ext cx="6378575" cy="531812"/>
          </a:xfrm>
        </p:spPr>
        <p:txBody>
          <a:bodyPr>
            <a:normAutofit fontScale="90000"/>
          </a:bodyPr>
          <a:lstStyle/>
          <a:p>
            <a:r>
              <a:rPr lang="en-IN" dirty="0"/>
              <a:t>Simple Java Program</a:t>
            </a:r>
          </a:p>
        </p:txBody>
      </p:sp>
      <p:sp>
        <p:nvSpPr>
          <p:cNvPr id="3" name="Content Placeholder 2">
            <a:extLst>
              <a:ext uri="{FF2B5EF4-FFF2-40B4-BE49-F238E27FC236}">
                <a16:creationId xmlns:a16="http://schemas.microsoft.com/office/drawing/2014/main" id="{785365F4-B073-5A6F-B572-432083EAFA65}"/>
              </a:ext>
            </a:extLst>
          </p:cNvPr>
          <p:cNvSpPr>
            <a:spLocks noGrp="1"/>
          </p:cNvSpPr>
          <p:nvPr>
            <p:ph idx="1"/>
          </p:nvPr>
        </p:nvSpPr>
        <p:spPr>
          <a:xfrm>
            <a:off x="593725" y="1752600"/>
            <a:ext cx="7956550" cy="4511675"/>
          </a:xfrm>
        </p:spPr>
        <p:txBody>
          <a:bodyPr/>
          <a:lstStyle/>
          <a:p>
            <a:pPr marL="0" indent="0" algn="l">
              <a:buNone/>
            </a:pPr>
            <a:r>
              <a:rPr lang="en-IN" sz="2000" b="1" i="0" u="none" strike="noStrike" baseline="0" dirty="0"/>
              <a:t>/*</a:t>
            </a:r>
          </a:p>
          <a:p>
            <a:pPr marL="0" indent="0" algn="l">
              <a:buNone/>
            </a:pPr>
            <a:r>
              <a:rPr lang="en-IN" sz="2000" b="1" i="0" u="none" strike="noStrike" baseline="0" dirty="0"/>
              <a:t>This is a simple Java program. Call this file "Example.java".</a:t>
            </a:r>
          </a:p>
          <a:p>
            <a:pPr marL="0" indent="0" algn="l">
              <a:buNone/>
            </a:pPr>
            <a:r>
              <a:rPr lang="en-IN" sz="2000" b="1" i="0" u="none" strike="noStrike" baseline="0" dirty="0"/>
              <a:t>*/</a:t>
            </a:r>
          </a:p>
          <a:p>
            <a:pPr marL="0" indent="0" algn="l">
              <a:buNone/>
            </a:pPr>
            <a:r>
              <a:rPr lang="en-IN" sz="2000" b="1" i="0" u="none" strike="noStrike" baseline="0" dirty="0"/>
              <a:t>class Example {</a:t>
            </a:r>
          </a:p>
          <a:p>
            <a:pPr marL="0" indent="0" algn="l">
              <a:buNone/>
            </a:pPr>
            <a:r>
              <a:rPr lang="en-IN" sz="2000" b="1" i="0" u="none" strike="noStrike" baseline="0" dirty="0"/>
              <a:t>// Your program begins with a call to main().</a:t>
            </a:r>
          </a:p>
          <a:p>
            <a:pPr marL="0" indent="0" algn="l">
              <a:buNone/>
            </a:pPr>
            <a:r>
              <a:rPr lang="en-IN" sz="2000" b="1" dirty="0">
                <a:solidFill>
                  <a:schemeClr val="accent1"/>
                </a:solidFill>
              </a:rPr>
              <a:t>      </a:t>
            </a:r>
            <a:r>
              <a:rPr lang="en-IN" sz="2000" b="1" i="0" u="none" strike="noStrike" baseline="0" dirty="0">
                <a:solidFill>
                  <a:schemeClr val="accent1"/>
                </a:solidFill>
              </a:rPr>
              <a:t>public static void main(String </a:t>
            </a:r>
            <a:r>
              <a:rPr lang="en-IN" sz="2000" b="1" i="0" u="none" strike="noStrike" baseline="0" dirty="0" err="1">
                <a:solidFill>
                  <a:schemeClr val="accent1"/>
                </a:solidFill>
              </a:rPr>
              <a:t>args</a:t>
            </a:r>
            <a:r>
              <a:rPr lang="en-IN" sz="2000" b="1" i="0" u="none" strike="noStrike" baseline="0" dirty="0">
                <a:solidFill>
                  <a:schemeClr val="accent1"/>
                </a:solidFill>
              </a:rPr>
              <a:t>[]) {</a:t>
            </a:r>
          </a:p>
          <a:p>
            <a:pPr marL="0" indent="0" algn="l">
              <a:buNone/>
            </a:pPr>
            <a:r>
              <a:rPr lang="en-IN" sz="2000" b="1" i="0" u="none" strike="noStrike" baseline="0" dirty="0"/>
              <a:t>           </a:t>
            </a:r>
            <a:r>
              <a:rPr lang="en-IN" sz="2000" b="1" i="0" u="none" strike="noStrike" baseline="0" dirty="0" err="1"/>
              <a:t>System.out.println</a:t>
            </a:r>
            <a:r>
              <a:rPr lang="en-IN" sz="2000" b="1" i="0" u="none" strike="noStrike" baseline="0" dirty="0"/>
              <a:t>("This is a simple Java program.");</a:t>
            </a:r>
          </a:p>
          <a:p>
            <a:pPr marL="0" indent="0" algn="l">
              <a:buNone/>
            </a:pPr>
            <a:r>
              <a:rPr lang="en-IN" sz="2000" b="1" i="0" u="none" strike="noStrike" baseline="0" dirty="0"/>
              <a:t>     }</a:t>
            </a:r>
          </a:p>
          <a:p>
            <a:pPr marL="0" indent="0" algn="l">
              <a:buNone/>
            </a:pPr>
            <a:r>
              <a:rPr lang="en-IN" sz="2000" b="1" i="0" u="none" strike="noStrike" baseline="0" dirty="0"/>
              <a:t>}</a:t>
            </a:r>
          </a:p>
          <a:p>
            <a:pPr marL="0" indent="0" algn="l">
              <a:buNone/>
            </a:pPr>
            <a:endParaRPr lang="en-IN" sz="2400" b="1" dirty="0"/>
          </a:p>
        </p:txBody>
      </p:sp>
      <p:sp>
        <p:nvSpPr>
          <p:cNvPr id="4" name="Date Placeholder 3">
            <a:extLst>
              <a:ext uri="{FF2B5EF4-FFF2-40B4-BE49-F238E27FC236}">
                <a16:creationId xmlns:a16="http://schemas.microsoft.com/office/drawing/2014/main" id="{EB337A53-E70F-E59A-94B2-B6A289D60D0F}"/>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9697B337-BC4A-D992-36FC-B226C3163E65}"/>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EB319149-1499-B568-47CF-D417243F9AE4}"/>
              </a:ext>
            </a:extLst>
          </p:cNvPr>
          <p:cNvSpPr>
            <a:spLocks noGrp="1"/>
          </p:cNvSpPr>
          <p:nvPr>
            <p:ph type="sldNum" sz="quarter" idx="12"/>
          </p:nvPr>
        </p:nvSpPr>
        <p:spPr/>
        <p:txBody>
          <a:bodyPr/>
          <a:lstStyle/>
          <a:p>
            <a:pPr>
              <a:defRPr/>
            </a:pPr>
            <a:fld id="{846AEF8D-D938-433D-BBFD-44F2BB354120}" type="slidenum">
              <a:rPr lang="en-US" altLang="en-US" smtClean="0"/>
              <a:pPr>
                <a:defRPr/>
              </a:pPr>
              <a:t>47</a:t>
            </a:fld>
            <a:endParaRPr lang="en-US" altLang="en-US"/>
          </a:p>
        </p:txBody>
      </p:sp>
    </p:spTree>
    <p:extLst>
      <p:ext uri="{BB962C8B-B14F-4D97-AF65-F5344CB8AC3E}">
        <p14:creationId xmlns:p14="http://schemas.microsoft.com/office/powerpoint/2010/main" val="427483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314390-13E9-C7F5-2806-D49FB9F027CB}"/>
              </a:ext>
            </a:extLst>
          </p:cNvPr>
          <p:cNvSpPr>
            <a:spLocks noGrp="1"/>
          </p:cNvSpPr>
          <p:nvPr>
            <p:ph idx="1"/>
          </p:nvPr>
        </p:nvSpPr>
        <p:spPr>
          <a:xfrm>
            <a:off x="685800" y="1219200"/>
            <a:ext cx="7956550" cy="3308350"/>
          </a:xfrm>
        </p:spPr>
        <p:txBody>
          <a:bodyPr/>
          <a:lstStyle/>
          <a:p>
            <a:pPr algn="just">
              <a:buFont typeface="Arial" panose="020B0604020202020204" pitchFamily="34" charset="0"/>
              <a:buChar char="•"/>
            </a:pPr>
            <a:r>
              <a:rPr lang="en-IN" b="1" i="0" dirty="0">
                <a:solidFill>
                  <a:srgbClr val="000000"/>
                </a:solidFill>
                <a:effectLst/>
                <a:highlight>
                  <a:srgbClr val="FFFFFF"/>
                </a:highlight>
                <a:latin typeface="inter-bold"/>
              </a:rPr>
              <a:t>class</a:t>
            </a:r>
            <a:r>
              <a:rPr lang="en-IN" b="0" i="0" dirty="0">
                <a:solidFill>
                  <a:srgbClr val="000000"/>
                </a:solidFill>
                <a:effectLst/>
                <a:highlight>
                  <a:srgbClr val="FFFFFF"/>
                </a:highlight>
                <a:latin typeface="inter-regular"/>
              </a:rPr>
              <a:t> keyword is used to declare a class in Java.</a:t>
            </a:r>
          </a:p>
          <a:p>
            <a:pPr algn="just">
              <a:buFont typeface="Arial" panose="020B0604020202020204" pitchFamily="34" charset="0"/>
              <a:buChar char="•"/>
            </a:pPr>
            <a:r>
              <a:rPr lang="en-IN" b="1" i="0" dirty="0">
                <a:solidFill>
                  <a:srgbClr val="000000"/>
                </a:solidFill>
                <a:effectLst/>
                <a:highlight>
                  <a:srgbClr val="FFFFFF"/>
                </a:highlight>
                <a:latin typeface="inter-bold"/>
              </a:rPr>
              <a:t>public</a:t>
            </a:r>
            <a:r>
              <a:rPr lang="en-IN" b="0" i="0" dirty="0">
                <a:solidFill>
                  <a:srgbClr val="000000"/>
                </a:solidFill>
                <a:effectLst/>
                <a:highlight>
                  <a:srgbClr val="FFFFFF"/>
                </a:highlight>
                <a:latin typeface="inter-regular"/>
              </a:rPr>
              <a:t> keyword is an access modifier that represents visibility. It means it is visible to all.</a:t>
            </a:r>
          </a:p>
          <a:p>
            <a:pPr algn="just">
              <a:buFont typeface="Arial" panose="020B0604020202020204" pitchFamily="34" charset="0"/>
              <a:buChar char="•"/>
            </a:pPr>
            <a:r>
              <a:rPr lang="en-IN" b="1" i="0" dirty="0">
                <a:solidFill>
                  <a:srgbClr val="000000"/>
                </a:solidFill>
                <a:effectLst/>
                <a:highlight>
                  <a:srgbClr val="FFFFFF"/>
                </a:highlight>
                <a:latin typeface="inter-bold"/>
              </a:rPr>
              <a:t>static</a:t>
            </a:r>
            <a:r>
              <a:rPr lang="en-IN" b="0" i="0" dirty="0">
                <a:solidFill>
                  <a:srgbClr val="000000"/>
                </a:solidFill>
                <a:effectLst/>
                <a:highlight>
                  <a:srgbClr val="FFFFFF"/>
                </a:highlight>
                <a:latin typeface="inter-regular"/>
              </a:rPr>
              <a:t> is a keyword. If we declare any method as static, it is known as the static method. The core advantage of the static method is that there is no need to create an object to invoke the static method. The main() method is executed by the JVM, so it doesn't require creating an object to invoke the main() method. So, it saves memory.</a:t>
            </a:r>
          </a:p>
          <a:p>
            <a:pPr algn="just">
              <a:buFont typeface="Arial" panose="020B0604020202020204" pitchFamily="34" charset="0"/>
              <a:buChar char="•"/>
            </a:pPr>
            <a:r>
              <a:rPr lang="en-IN" b="1" i="0" dirty="0">
                <a:solidFill>
                  <a:srgbClr val="000000"/>
                </a:solidFill>
                <a:effectLst/>
                <a:highlight>
                  <a:srgbClr val="FFFFFF"/>
                </a:highlight>
                <a:latin typeface="inter-bold"/>
              </a:rPr>
              <a:t>void</a:t>
            </a:r>
            <a:r>
              <a:rPr lang="en-IN" b="0" i="0" dirty="0">
                <a:solidFill>
                  <a:srgbClr val="000000"/>
                </a:solidFill>
                <a:effectLst/>
                <a:highlight>
                  <a:srgbClr val="FFFFFF"/>
                </a:highlight>
                <a:latin typeface="inter-regular"/>
              </a:rPr>
              <a:t> is the return type of the method. It means it doesn't return any value.</a:t>
            </a:r>
          </a:p>
          <a:p>
            <a:pPr algn="just">
              <a:buFont typeface="Arial" panose="020B0604020202020204" pitchFamily="34" charset="0"/>
              <a:buChar char="•"/>
            </a:pPr>
            <a:r>
              <a:rPr lang="en-IN" b="1" i="0" dirty="0">
                <a:solidFill>
                  <a:srgbClr val="000000"/>
                </a:solidFill>
                <a:effectLst/>
                <a:highlight>
                  <a:srgbClr val="FFFFFF"/>
                </a:highlight>
                <a:latin typeface="inter-bold"/>
              </a:rPr>
              <a:t>main</a:t>
            </a:r>
            <a:r>
              <a:rPr lang="en-IN" b="0" i="0" dirty="0">
                <a:solidFill>
                  <a:srgbClr val="000000"/>
                </a:solidFill>
                <a:effectLst/>
                <a:highlight>
                  <a:srgbClr val="FFFFFF"/>
                </a:highlight>
                <a:latin typeface="inter-regular"/>
              </a:rPr>
              <a:t> represents the starting point of the program.</a:t>
            </a:r>
          </a:p>
          <a:p>
            <a:pPr algn="just">
              <a:buFont typeface="Arial" panose="020B0604020202020204" pitchFamily="34" charset="0"/>
              <a:buChar char="•"/>
            </a:pPr>
            <a:r>
              <a:rPr lang="en-IN" b="1" i="0" dirty="0">
                <a:solidFill>
                  <a:srgbClr val="000000"/>
                </a:solidFill>
                <a:effectLst/>
                <a:highlight>
                  <a:srgbClr val="FFFFFF"/>
                </a:highlight>
                <a:latin typeface="inter-bold"/>
              </a:rPr>
              <a:t>String[] </a:t>
            </a:r>
            <a:r>
              <a:rPr lang="en-IN" b="1" i="0" dirty="0" err="1">
                <a:solidFill>
                  <a:srgbClr val="000000"/>
                </a:solidFill>
                <a:effectLst/>
                <a:highlight>
                  <a:srgbClr val="FFFFFF"/>
                </a:highlight>
                <a:latin typeface="inter-bold"/>
              </a:rPr>
              <a:t>args</a:t>
            </a:r>
            <a:r>
              <a:rPr lang="en-IN" b="0" i="0" dirty="0">
                <a:solidFill>
                  <a:srgbClr val="000000"/>
                </a:solidFill>
                <a:effectLst/>
                <a:highlight>
                  <a:srgbClr val="FFFFFF"/>
                </a:highlight>
                <a:latin typeface="inter-regular"/>
              </a:rPr>
              <a:t> or </a:t>
            </a:r>
            <a:r>
              <a:rPr lang="en-IN" b="1" i="0" dirty="0">
                <a:solidFill>
                  <a:srgbClr val="000000"/>
                </a:solidFill>
                <a:effectLst/>
                <a:highlight>
                  <a:srgbClr val="FFFFFF"/>
                </a:highlight>
                <a:latin typeface="inter-bold"/>
              </a:rPr>
              <a:t>String </a:t>
            </a:r>
            <a:r>
              <a:rPr lang="en-IN" b="1" i="0" dirty="0" err="1">
                <a:solidFill>
                  <a:srgbClr val="000000"/>
                </a:solidFill>
                <a:effectLst/>
                <a:highlight>
                  <a:srgbClr val="FFFFFF"/>
                </a:highlight>
                <a:latin typeface="inter-bold"/>
              </a:rPr>
              <a:t>args</a:t>
            </a:r>
            <a:r>
              <a:rPr lang="en-IN" b="1" i="0" dirty="0">
                <a:solidFill>
                  <a:srgbClr val="000000"/>
                </a:solidFill>
                <a:effectLst/>
                <a:highlight>
                  <a:srgbClr val="FFFFFF"/>
                </a:highlight>
                <a:latin typeface="inter-bold"/>
              </a:rPr>
              <a:t>[]</a:t>
            </a:r>
            <a:r>
              <a:rPr lang="en-IN" b="0" i="0" dirty="0">
                <a:solidFill>
                  <a:srgbClr val="000000"/>
                </a:solidFill>
                <a:effectLst/>
                <a:highlight>
                  <a:srgbClr val="FFFFFF"/>
                </a:highlight>
                <a:latin typeface="inter-regular"/>
              </a:rPr>
              <a:t> is used for </a:t>
            </a:r>
            <a:r>
              <a:rPr lang="en-IN" b="0" i="0" u="none" strike="noStrike" dirty="0">
                <a:solidFill>
                  <a:srgbClr val="008000"/>
                </a:solidFill>
                <a:effectLst/>
                <a:highlight>
                  <a:srgbClr val="FFFFFF"/>
                </a:highlight>
                <a:latin typeface="inter-regular"/>
                <a:hlinkClick r:id="rId2"/>
              </a:rPr>
              <a:t>command line argument</a:t>
            </a:r>
            <a:r>
              <a:rPr lang="en-IN" b="0" i="0" dirty="0">
                <a:solidFill>
                  <a:srgbClr val="000000"/>
                </a:solidFill>
                <a:effectLst/>
                <a:highlight>
                  <a:srgbClr val="FFFFFF"/>
                </a:highlight>
                <a:latin typeface="inter-regular"/>
              </a:rPr>
              <a:t>. We will discuss it in coming section.</a:t>
            </a:r>
          </a:p>
        </p:txBody>
      </p:sp>
      <p:sp>
        <p:nvSpPr>
          <p:cNvPr id="4" name="Date Placeholder 3">
            <a:extLst>
              <a:ext uri="{FF2B5EF4-FFF2-40B4-BE49-F238E27FC236}">
                <a16:creationId xmlns:a16="http://schemas.microsoft.com/office/drawing/2014/main" id="{044CDE88-B5D2-EED5-7708-B08ED71617DC}"/>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2201EC1B-BFAF-3822-BA9E-B0280834D8FA}"/>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7DD3A5AA-4EBC-4442-BED2-6BD0525B11BD}"/>
              </a:ext>
            </a:extLst>
          </p:cNvPr>
          <p:cNvSpPr>
            <a:spLocks noGrp="1"/>
          </p:cNvSpPr>
          <p:nvPr>
            <p:ph type="sldNum" sz="quarter" idx="12"/>
          </p:nvPr>
        </p:nvSpPr>
        <p:spPr/>
        <p:txBody>
          <a:bodyPr/>
          <a:lstStyle/>
          <a:p>
            <a:pPr>
              <a:defRPr/>
            </a:pPr>
            <a:fld id="{846AEF8D-D938-433D-BBFD-44F2BB354120}" type="slidenum">
              <a:rPr lang="en-US" altLang="en-US" smtClean="0"/>
              <a:pPr>
                <a:defRPr/>
              </a:pPr>
              <a:t>48</a:t>
            </a:fld>
            <a:endParaRPr lang="en-US" altLang="en-US"/>
          </a:p>
        </p:txBody>
      </p:sp>
      <p:sp>
        <p:nvSpPr>
          <p:cNvPr id="8" name="TextBox 7">
            <a:extLst>
              <a:ext uri="{FF2B5EF4-FFF2-40B4-BE49-F238E27FC236}">
                <a16:creationId xmlns:a16="http://schemas.microsoft.com/office/drawing/2014/main" id="{4C2526D4-FC1C-418C-B5FB-86570F77754B}"/>
              </a:ext>
            </a:extLst>
          </p:cNvPr>
          <p:cNvSpPr txBox="1"/>
          <p:nvPr/>
        </p:nvSpPr>
        <p:spPr>
          <a:xfrm>
            <a:off x="3434556" y="561459"/>
            <a:ext cx="4572000" cy="584775"/>
          </a:xfrm>
          <a:prstGeom prst="rect">
            <a:avLst/>
          </a:prstGeom>
          <a:noFill/>
        </p:spPr>
        <p:txBody>
          <a:bodyPr wrap="square">
            <a:spAutoFit/>
          </a:bodyPr>
          <a:lstStyle/>
          <a:p>
            <a:r>
              <a:rPr lang="en-IN" sz="3200" dirty="0"/>
              <a:t>Simple Java Program</a:t>
            </a:r>
          </a:p>
        </p:txBody>
      </p:sp>
    </p:spTree>
    <p:extLst>
      <p:ext uri="{BB962C8B-B14F-4D97-AF65-F5344CB8AC3E}">
        <p14:creationId xmlns:p14="http://schemas.microsoft.com/office/powerpoint/2010/main" val="41984846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29E48-0E62-7310-A42D-955F79259A51}"/>
              </a:ext>
            </a:extLst>
          </p:cNvPr>
          <p:cNvSpPr>
            <a:spLocks noGrp="1"/>
          </p:cNvSpPr>
          <p:nvPr>
            <p:ph type="title"/>
          </p:nvPr>
        </p:nvSpPr>
        <p:spPr/>
        <p:txBody>
          <a:bodyPr>
            <a:normAutofit/>
          </a:bodyPr>
          <a:lstStyle/>
          <a:p>
            <a:r>
              <a:rPr lang="en-IN" sz="2800" dirty="0"/>
              <a:t>Simple Java Program</a:t>
            </a:r>
          </a:p>
        </p:txBody>
      </p:sp>
      <p:sp>
        <p:nvSpPr>
          <p:cNvPr id="3" name="Content Placeholder 2">
            <a:extLst>
              <a:ext uri="{FF2B5EF4-FFF2-40B4-BE49-F238E27FC236}">
                <a16:creationId xmlns:a16="http://schemas.microsoft.com/office/drawing/2014/main" id="{0D684200-E22E-12B8-45B4-3679FB660814}"/>
              </a:ext>
            </a:extLst>
          </p:cNvPr>
          <p:cNvSpPr>
            <a:spLocks noGrp="1"/>
          </p:cNvSpPr>
          <p:nvPr>
            <p:ph idx="1"/>
          </p:nvPr>
        </p:nvSpPr>
        <p:spPr/>
        <p:txBody>
          <a:bodyPr/>
          <a:lstStyle/>
          <a:p>
            <a:pPr algn="just">
              <a:buFont typeface="Arial" panose="020B0604020202020204" pitchFamily="34" charset="0"/>
              <a:buChar char="•"/>
            </a:pPr>
            <a:r>
              <a:rPr lang="en-IN" b="1" i="0" dirty="0" err="1">
                <a:solidFill>
                  <a:srgbClr val="000000"/>
                </a:solidFill>
                <a:effectLst/>
                <a:highlight>
                  <a:srgbClr val="FFFFFF"/>
                </a:highlight>
                <a:latin typeface="inter-bold"/>
              </a:rPr>
              <a:t>System.out.println</a:t>
            </a:r>
            <a:r>
              <a:rPr lang="en-IN" b="1" i="0" dirty="0">
                <a:solidFill>
                  <a:srgbClr val="000000"/>
                </a:solidFill>
                <a:effectLst/>
                <a:highlight>
                  <a:srgbClr val="FFFFFF"/>
                </a:highlight>
                <a:latin typeface="inter-bold"/>
              </a:rPr>
              <a:t>()</a:t>
            </a:r>
            <a:r>
              <a:rPr lang="en-IN" b="0" i="0" dirty="0">
                <a:solidFill>
                  <a:srgbClr val="000000"/>
                </a:solidFill>
                <a:effectLst/>
                <a:highlight>
                  <a:srgbClr val="FFFFFF"/>
                </a:highlight>
                <a:latin typeface="inter-regular"/>
              </a:rPr>
              <a:t> is used to print statement. Here, System is a class, out is an object of the </a:t>
            </a:r>
            <a:r>
              <a:rPr lang="en-IN" b="0" i="0" dirty="0" err="1">
                <a:solidFill>
                  <a:srgbClr val="000000"/>
                </a:solidFill>
                <a:effectLst/>
                <a:highlight>
                  <a:srgbClr val="FFFFFF"/>
                </a:highlight>
                <a:latin typeface="inter-regular"/>
              </a:rPr>
              <a:t>PrintStream</a:t>
            </a:r>
            <a:r>
              <a:rPr lang="en-IN" b="0" i="0" dirty="0">
                <a:solidFill>
                  <a:srgbClr val="000000"/>
                </a:solidFill>
                <a:effectLst/>
                <a:highlight>
                  <a:srgbClr val="FFFFFF"/>
                </a:highlight>
                <a:latin typeface="inter-regular"/>
              </a:rPr>
              <a:t> class, </a:t>
            </a:r>
            <a:r>
              <a:rPr lang="en-IN" b="0" i="0" dirty="0" err="1">
                <a:solidFill>
                  <a:srgbClr val="000000"/>
                </a:solidFill>
                <a:effectLst/>
                <a:highlight>
                  <a:srgbClr val="FFFFFF"/>
                </a:highlight>
                <a:latin typeface="inter-regular"/>
              </a:rPr>
              <a:t>println</a:t>
            </a:r>
            <a:r>
              <a:rPr lang="en-IN" b="0" i="0" dirty="0">
                <a:solidFill>
                  <a:srgbClr val="000000"/>
                </a:solidFill>
                <a:effectLst/>
                <a:highlight>
                  <a:srgbClr val="FFFFFF"/>
                </a:highlight>
                <a:latin typeface="inter-regular"/>
              </a:rPr>
              <a:t>() is a method of the </a:t>
            </a:r>
            <a:r>
              <a:rPr lang="en-IN" b="0" i="0" dirty="0" err="1">
                <a:solidFill>
                  <a:srgbClr val="000000"/>
                </a:solidFill>
                <a:effectLst/>
                <a:highlight>
                  <a:srgbClr val="FFFFFF"/>
                </a:highlight>
                <a:latin typeface="inter-regular"/>
              </a:rPr>
              <a:t>PrintStream</a:t>
            </a:r>
            <a:r>
              <a:rPr lang="en-IN" b="0" i="0" dirty="0">
                <a:solidFill>
                  <a:srgbClr val="000000"/>
                </a:solidFill>
                <a:effectLst/>
                <a:highlight>
                  <a:srgbClr val="FFFFFF"/>
                </a:highlight>
                <a:latin typeface="inter-regular"/>
              </a:rPr>
              <a:t> class. We will discuss the internal working of </a:t>
            </a:r>
            <a:r>
              <a:rPr lang="en-IN" b="0" i="0" u="none" strike="noStrike" dirty="0" err="1">
                <a:solidFill>
                  <a:srgbClr val="008000"/>
                </a:solidFill>
                <a:effectLst/>
                <a:highlight>
                  <a:srgbClr val="FFFFFF"/>
                </a:highlight>
                <a:latin typeface="inter-regular"/>
                <a:hlinkClick r:id="rId2"/>
              </a:rPr>
              <a:t>System.out.println</a:t>
            </a:r>
            <a:r>
              <a:rPr lang="en-IN" b="0" i="0" u="none" strike="noStrike" dirty="0">
                <a:solidFill>
                  <a:srgbClr val="008000"/>
                </a:solidFill>
                <a:effectLst/>
                <a:highlight>
                  <a:srgbClr val="FFFFFF"/>
                </a:highlight>
                <a:latin typeface="inter-regular"/>
                <a:hlinkClick r:id="rId2"/>
              </a:rPr>
              <a:t>()</a:t>
            </a:r>
            <a:r>
              <a:rPr lang="en-IN" b="0" i="0" dirty="0">
                <a:solidFill>
                  <a:srgbClr val="000000"/>
                </a:solidFill>
                <a:effectLst/>
                <a:highlight>
                  <a:srgbClr val="FFFFFF"/>
                </a:highlight>
                <a:latin typeface="inter-regular"/>
              </a:rPr>
              <a:t> statement in the coming section.</a:t>
            </a:r>
          </a:p>
          <a:p>
            <a:pPr marL="0" indent="0">
              <a:buNone/>
            </a:pPr>
            <a:endParaRPr lang="en-IN" dirty="0"/>
          </a:p>
          <a:p>
            <a:pPr marL="0" indent="0">
              <a:buNone/>
            </a:pPr>
            <a:endParaRPr lang="en-IN" dirty="0"/>
          </a:p>
          <a:p>
            <a:endParaRPr lang="en-IN" dirty="0"/>
          </a:p>
        </p:txBody>
      </p:sp>
      <p:sp>
        <p:nvSpPr>
          <p:cNvPr id="4" name="Date Placeholder 3">
            <a:extLst>
              <a:ext uri="{FF2B5EF4-FFF2-40B4-BE49-F238E27FC236}">
                <a16:creationId xmlns:a16="http://schemas.microsoft.com/office/drawing/2014/main" id="{042A89B9-8883-2002-0A36-24323F947C7A}"/>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dirty="0"/>
          </a:p>
        </p:txBody>
      </p:sp>
      <p:sp>
        <p:nvSpPr>
          <p:cNvPr id="5" name="Footer Placeholder 4">
            <a:extLst>
              <a:ext uri="{FF2B5EF4-FFF2-40B4-BE49-F238E27FC236}">
                <a16:creationId xmlns:a16="http://schemas.microsoft.com/office/drawing/2014/main" id="{57B6AB1F-5FBF-1A30-CEE9-BE25EF79268E}"/>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91FB8538-9ABE-A75A-5D75-939E4B8225CC}"/>
              </a:ext>
            </a:extLst>
          </p:cNvPr>
          <p:cNvSpPr>
            <a:spLocks noGrp="1"/>
          </p:cNvSpPr>
          <p:nvPr>
            <p:ph type="sldNum" sz="quarter" idx="12"/>
          </p:nvPr>
        </p:nvSpPr>
        <p:spPr/>
        <p:txBody>
          <a:bodyPr/>
          <a:lstStyle/>
          <a:p>
            <a:pPr>
              <a:defRPr/>
            </a:pPr>
            <a:fld id="{846AEF8D-D938-433D-BBFD-44F2BB354120}" type="slidenum">
              <a:rPr lang="en-US" altLang="en-US" smtClean="0"/>
              <a:pPr>
                <a:defRPr/>
              </a:pPr>
              <a:t>49</a:t>
            </a:fld>
            <a:endParaRPr lang="en-US" altLang="en-US"/>
          </a:p>
        </p:txBody>
      </p:sp>
      <p:graphicFrame>
        <p:nvGraphicFramePr>
          <p:cNvPr id="7" name="Table 6">
            <a:extLst>
              <a:ext uri="{FF2B5EF4-FFF2-40B4-BE49-F238E27FC236}">
                <a16:creationId xmlns:a16="http://schemas.microsoft.com/office/drawing/2014/main" id="{DEC1C8DA-64FC-746F-58C0-97D5240E22D5}"/>
              </a:ext>
            </a:extLst>
          </p:cNvPr>
          <p:cNvGraphicFramePr>
            <a:graphicFrameLocks noGrp="1"/>
          </p:cNvGraphicFramePr>
          <p:nvPr>
            <p:extLst>
              <p:ext uri="{D42A27DB-BD31-4B8C-83A1-F6EECF244321}">
                <p14:modId xmlns:p14="http://schemas.microsoft.com/office/powerpoint/2010/main" val="265380210"/>
              </p:ext>
            </p:extLst>
          </p:nvPr>
        </p:nvGraphicFramePr>
        <p:xfrm>
          <a:off x="609600" y="4038600"/>
          <a:ext cx="4937126" cy="731520"/>
        </p:xfrm>
        <a:graphic>
          <a:graphicData uri="http://schemas.openxmlformats.org/drawingml/2006/table">
            <a:tbl>
              <a:tblPr/>
              <a:tblGrid>
                <a:gridCol w="2468563">
                  <a:extLst>
                    <a:ext uri="{9D8B030D-6E8A-4147-A177-3AD203B41FA5}">
                      <a16:colId xmlns:a16="http://schemas.microsoft.com/office/drawing/2014/main" val="1266604266"/>
                    </a:ext>
                  </a:extLst>
                </a:gridCol>
                <a:gridCol w="2468563">
                  <a:extLst>
                    <a:ext uri="{9D8B030D-6E8A-4147-A177-3AD203B41FA5}">
                      <a16:colId xmlns:a16="http://schemas.microsoft.com/office/drawing/2014/main" val="3895529004"/>
                    </a:ext>
                  </a:extLst>
                </a:gridCol>
              </a:tblGrid>
              <a:tr h="0">
                <a:tc>
                  <a:txBody>
                    <a:bodyPr/>
                    <a:lstStyle/>
                    <a:p>
                      <a:pPr algn="just"/>
                      <a:r>
                        <a:rPr lang="en-IN" b="1" dirty="0">
                          <a:solidFill>
                            <a:srgbClr val="333333"/>
                          </a:solidFill>
                          <a:effectLst/>
                          <a:latin typeface="inter-bold"/>
                        </a:rPr>
                        <a:t>To compile:</a:t>
                      </a:r>
                      <a:endParaRPr lang="en-IN" dirty="0">
                        <a:solidFill>
                          <a:srgbClr val="333333"/>
                        </a:solidFill>
                        <a:effectLst/>
                        <a:latin typeface="inter-regular"/>
                      </a:endParaRPr>
                    </a:p>
                  </a:txBody>
                  <a:tcPr anchor="ctr">
                    <a:lnL>
                      <a:noFill/>
                    </a:lnL>
                    <a:lnR>
                      <a:noFill/>
                    </a:lnR>
                    <a:lnT>
                      <a:noFill/>
                    </a:lnT>
                    <a:lnB>
                      <a:noFill/>
                    </a:lnB>
                    <a:solidFill>
                      <a:srgbClr val="FFFFFF"/>
                    </a:solidFill>
                  </a:tcPr>
                </a:tc>
                <a:tc>
                  <a:txBody>
                    <a:bodyPr/>
                    <a:lstStyle/>
                    <a:p>
                      <a:pPr algn="just"/>
                      <a:r>
                        <a:rPr lang="en-IN" dirty="0" err="1">
                          <a:solidFill>
                            <a:srgbClr val="333333"/>
                          </a:solidFill>
                          <a:effectLst/>
                          <a:latin typeface="inter-regular"/>
                        </a:rPr>
                        <a:t>javac</a:t>
                      </a:r>
                      <a:r>
                        <a:rPr lang="en-IN" dirty="0">
                          <a:solidFill>
                            <a:srgbClr val="333333"/>
                          </a:solidFill>
                          <a:effectLst/>
                          <a:latin typeface="inter-regular"/>
                        </a:rPr>
                        <a:t> </a:t>
                      </a:r>
                      <a:r>
                        <a:rPr lang="en-IN" sz="1800" b="1" i="0" u="none" strike="noStrike" baseline="0" dirty="0"/>
                        <a:t>Example</a:t>
                      </a:r>
                      <a:r>
                        <a:rPr lang="en-IN" dirty="0">
                          <a:solidFill>
                            <a:srgbClr val="333333"/>
                          </a:solidFill>
                          <a:effectLst/>
                          <a:latin typeface="inter-regular"/>
                        </a:rPr>
                        <a:t>.java</a:t>
                      </a:r>
                    </a:p>
                  </a:txBody>
                  <a:tcPr anchor="ctr">
                    <a:lnL>
                      <a:noFill/>
                    </a:lnL>
                    <a:lnR>
                      <a:noFill/>
                    </a:lnR>
                    <a:lnT>
                      <a:noFill/>
                    </a:lnT>
                    <a:lnB>
                      <a:noFill/>
                    </a:lnB>
                    <a:solidFill>
                      <a:srgbClr val="FFFFFF"/>
                    </a:solidFill>
                  </a:tcPr>
                </a:tc>
                <a:extLst>
                  <a:ext uri="{0D108BD9-81ED-4DB2-BD59-A6C34878D82A}">
                    <a16:rowId xmlns:a16="http://schemas.microsoft.com/office/drawing/2014/main" val="1946960975"/>
                  </a:ext>
                </a:extLst>
              </a:tr>
              <a:tr h="0">
                <a:tc>
                  <a:txBody>
                    <a:bodyPr/>
                    <a:lstStyle/>
                    <a:p>
                      <a:pPr algn="just"/>
                      <a:r>
                        <a:rPr lang="en-IN" b="1">
                          <a:solidFill>
                            <a:srgbClr val="333333"/>
                          </a:solidFill>
                          <a:effectLst/>
                          <a:latin typeface="inter-bold"/>
                        </a:rPr>
                        <a:t>To execute:</a:t>
                      </a:r>
                      <a:endParaRPr lang="en-IN">
                        <a:solidFill>
                          <a:srgbClr val="333333"/>
                        </a:solidFill>
                        <a:effectLst/>
                        <a:latin typeface="inter-regular"/>
                      </a:endParaRPr>
                    </a:p>
                  </a:txBody>
                  <a:tcPr anchor="ctr">
                    <a:lnL>
                      <a:noFill/>
                    </a:lnL>
                    <a:lnR>
                      <a:noFill/>
                    </a:lnR>
                    <a:lnT>
                      <a:noFill/>
                    </a:lnT>
                    <a:lnB>
                      <a:noFill/>
                    </a:lnB>
                    <a:solidFill>
                      <a:srgbClr val="FFFFFF"/>
                    </a:solidFill>
                  </a:tcPr>
                </a:tc>
                <a:tc>
                  <a:txBody>
                    <a:bodyPr/>
                    <a:lstStyle/>
                    <a:p>
                      <a:pPr algn="just"/>
                      <a:r>
                        <a:rPr lang="en-IN" dirty="0">
                          <a:solidFill>
                            <a:srgbClr val="333333"/>
                          </a:solidFill>
                          <a:effectLst/>
                          <a:latin typeface="inter-regular"/>
                        </a:rPr>
                        <a:t>java </a:t>
                      </a:r>
                      <a:r>
                        <a:rPr lang="en-IN" sz="1800" b="1" i="0" u="none" strike="noStrike" baseline="0" dirty="0"/>
                        <a:t>Example</a:t>
                      </a:r>
                      <a:endParaRPr lang="en-IN" dirty="0">
                        <a:solidFill>
                          <a:srgbClr val="333333"/>
                        </a:solidFill>
                        <a:effectLst/>
                        <a:latin typeface="inter-regular"/>
                      </a:endParaRPr>
                    </a:p>
                  </a:txBody>
                  <a:tcPr anchor="ctr">
                    <a:lnL>
                      <a:noFill/>
                    </a:lnL>
                    <a:lnR>
                      <a:noFill/>
                    </a:lnR>
                    <a:lnT>
                      <a:noFill/>
                    </a:lnT>
                    <a:lnB>
                      <a:noFill/>
                    </a:lnB>
                    <a:solidFill>
                      <a:srgbClr val="FFFFFF"/>
                    </a:solidFill>
                  </a:tcPr>
                </a:tc>
                <a:extLst>
                  <a:ext uri="{0D108BD9-81ED-4DB2-BD59-A6C34878D82A}">
                    <a16:rowId xmlns:a16="http://schemas.microsoft.com/office/drawing/2014/main" val="3229471915"/>
                  </a:ext>
                </a:extLst>
              </a:tr>
            </a:tbl>
          </a:graphicData>
        </a:graphic>
      </p:graphicFrame>
      <p:sp>
        <p:nvSpPr>
          <p:cNvPr id="8" name="Rectangle 1">
            <a:extLst>
              <a:ext uri="{FF2B5EF4-FFF2-40B4-BE49-F238E27FC236}">
                <a16:creationId xmlns:a16="http://schemas.microsoft.com/office/drawing/2014/main" id="{FE0A8421-6341-3ECA-A976-10B63CB18CFA}"/>
              </a:ext>
            </a:extLst>
          </p:cNvPr>
          <p:cNvSpPr>
            <a:spLocks noChangeArrowheads="1"/>
          </p:cNvSpPr>
          <p:nvPr/>
        </p:nvSpPr>
        <p:spPr bwMode="auto">
          <a:xfrm>
            <a:off x="1338263" y="3540810"/>
            <a:ext cx="698032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15244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F11D-138B-4F24-C478-17876E351CA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874285-614D-E6FD-785F-6648E31E7631}"/>
              </a:ext>
            </a:extLst>
          </p:cNvPr>
          <p:cNvSpPr>
            <a:spLocks noGrp="1"/>
          </p:cNvSpPr>
          <p:nvPr>
            <p:ph idx="1"/>
          </p:nvPr>
        </p:nvSpPr>
        <p:spPr/>
        <p:txBody>
          <a:bodyPr/>
          <a:lstStyle/>
          <a:p>
            <a:pPr algn="l"/>
            <a:r>
              <a:rPr lang="en-IN" sz="1800" b="0" i="0" u="none" strike="noStrike" baseline="0" dirty="0">
                <a:latin typeface="NewBaskervilleStd-Roman"/>
              </a:rPr>
              <a:t>The </a:t>
            </a:r>
            <a:r>
              <a:rPr lang="en-IN" sz="1800" b="1" i="0" u="none" strike="noStrike" baseline="0" dirty="0">
                <a:latin typeface="NewBaskervilleStd-Bold"/>
              </a:rPr>
              <a:t>public </a:t>
            </a:r>
            <a:r>
              <a:rPr lang="en-IN" sz="1800" b="0" i="0" u="none" strike="noStrike" baseline="0" dirty="0">
                <a:latin typeface="NewBaskervilleStd-Roman"/>
              </a:rPr>
              <a:t>keyword is an </a:t>
            </a:r>
            <a:r>
              <a:rPr lang="en-IN" sz="1800" b="0" i="1" u="none" strike="noStrike" baseline="0" dirty="0">
                <a:latin typeface="NewBaskervilleStd-Italic"/>
              </a:rPr>
              <a:t>access modifier</a:t>
            </a:r>
            <a:r>
              <a:rPr lang="en-IN" sz="1800" b="0" i="0" u="none" strike="noStrike" baseline="0" dirty="0">
                <a:latin typeface="NewBaskervilleStd-Roman"/>
              </a:rPr>
              <a:t>, which allows the programmer to control the visibility of class members. When a class member is preceded by </a:t>
            </a:r>
            <a:r>
              <a:rPr lang="en-IN" sz="1800" b="1" i="0" u="none" strike="noStrike" baseline="0" dirty="0">
                <a:latin typeface="NewBaskervilleStd-Bold"/>
              </a:rPr>
              <a:t>public</a:t>
            </a:r>
            <a:r>
              <a:rPr lang="en-IN" sz="1800" b="0" i="0" u="none" strike="noStrike" baseline="0" dirty="0">
                <a:latin typeface="NewBaskervilleStd-Roman"/>
              </a:rPr>
              <a:t>, then that member may be accessed by code outside the class in which it is declared. </a:t>
            </a:r>
          </a:p>
          <a:p>
            <a:pPr algn="l"/>
            <a:r>
              <a:rPr lang="en-IN" sz="1800" b="0" i="0" u="none" strike="noStrike" baseline="0" dirty="0">
                <a:latin typeface="NewBaskervilleStd-Roman"/>
              </a:rPr>
              <a:t>The keyword </a:t>
            </a:r>
            <a:r>
              <a:rPr lang="en-IN" sz="1800" b="1" i="0" u="none" strike="noStrike" baseline="0" dirty="0">
                <a:latin typeface="NewBaskervilleStd-Bold"/>
              </a:rPr>
              <a:t>static </a:t>
            </a:r>
            <a:r>
              <a:rPr lang="en-IN" sz="1800" b="0" i="0" u="none" strike="noStrike" baseline="0" dirty="0">
                <a:latin typeface="NewBaskervilleStd-Roman"/>
              </a:rPr>
              <a:t>allows </a:t>
            </a:r>
            <a:r>
              <a:rPr lang="en-IN" sz="1800" b="1" i="0" u="none" strike="noStrike" baseline="0" dirty="0">
                <a:latin typeface="NewBaskervilleStd-Bold"/>
              </a:rPr>
              <a:t>main( ) </a:t>
            </a:r>
            <a:r>
              <a:rPr lang="en-IN" sz="1800" b="0" i="0" u="none" strike="noStrike" baseline="0" dirty="0">
                <a:latin typeface="NewBaskervilleStd-Roman"/>
              </a:rPr>
              <a:t>to be called without having to instantiate a particular instance of the class. This is necessary since </a:t>
            </a:r>
            <a:r>
              <a:rPr lang="en-IN" sz="1800" b="1" i="0" u="none" strike="noStrike" baseline="0" dirty="0">
                <a:latin typeface="NewBaskervilleStd-Bold"/>
              </a:rPr>
              <a:t>main( ) </a:t>
            </a:r>
            <a:r>
              <a:rPr lang="en-IN" sz="1800" b="0" i="0" u="none" strike="noStrike" baseline="0" dirty="0">
                <a:latin typeface="NewBaskervilleStd-Roman"/>
              </a:rPr>
              <a:t>is called by the Java Virtual Machine before any objects are made.</a:t>
            </a:r>
          </a:p>
          <a:p>
            <a:pPr algn="l"/>
            <a:r>
              <a:rPr lang="en-IN" sz="1800" b="0" i="0" u="none" strike="noStrike" baseline="0" dirty="0">
                <a:latin typeface="NewBaskervilleStd-Roman"/>
              </a:rPr>
              <a:t>As stated, </a:t>
            </a:r>
            <a:r>
              <a:rPr lang="en-IN" sz="1800" b="1" i="0" u="none" strike="noStrike" baseline="0" dirty="0">
                <a:latin typeface="NewBaskervilleStd-Bold"/>
              </a:rPr>
              <a:t>main( ) </a:t>
            </a:r>
            <a:r>
              <a:rPr lang="en-IN" sz="1800" b="0" i="0" u="none" strike="noStrike" baseline="0" dirty="0">
                <a:latin typeface="NewBaskervilleStd-Roman"/>
              </a:rPr>
              <a:t>is the method called when a Java application begins. Keep in mind that Java is case-sensitive. Thus, </a:t>
            </a:r>
            <a:r>
              <a:rPr lang="en-IN" sz="1800" b="1" i="0" u="none" strike="noStrike" baseline="0" dirty="0">
                <a:latin typeface="NewBaskervilleStd-Bold"/>
              </a:rPr>
              <a:t>Main </a:t>
            </a:r>
            <a:r>
              <a:rPr lang="en-IN" sz="1800" b="0" i="0" u="none" strike="noStrike" baseline="0" dirty="0">
                <a:latin typeface="NewBaskervilleStd-Roman"/>
              </a:rPr>
              <a:t>is different from </a:t>
            </a:r>
            <a:r>
              <a:rPr lang="en-IN" sz="1800" b="1" i="0" u="none" strike="noStrike" baseline="0" dirty="0">
                <a:latin typeface="NewBaskervilleStd-Bold"/>
              </a:rPr>
              <a:t>main</a:t>
            </a:r>
            <a:r>
              <a:rPr lang="en-IN" sz="1800" b="0" i="0" u="none" strike="noStrike" baseline="0" dirty="0">
                <a:latin typeface="NewBaskervilleStd-Roman"/>
              </a:rPr>
              <a:t>. In </a:t>
            </a:r>
            <a:r>
              <a:rPr lang="en-IN" sz="1800" b="1" i="0" u="none" strike="noStrike" baseline="0" dirty="0">
                <a:latin typeface="NewBaskervilleStd-Bold"/>
              </a:rPr>
              <a:t>main( )</a:t>
            </a:r>
            <a:r>
              <a:rPr lang="en-IN" sz="1800" b="0" i="0" u="none" strike="noStrike" baseline="0" dirty="0">
                <a:latin typeface="NewBaskervilleStd-Roman"/>
              </a:rPr>
              <a:t>, there is only one parameter, albeit a complicated one.</a:t>
            </a:r>
          </a:p>
          <a:p>
            <a:pPr algn="l"/>
            <a:r>
              <a:rPr lang="en-IN" sz="1800" b="1" i="0" u="none" strike="noStrike" baseline="0" dirty="0">
                <a:latin typeface="NewBaskervilleStd-Bold"/>
              </a:rPr>
              <a:t>String </a:t>
            </a:r>
            <a:r>
              <a:rPr lang="en-IN" sz="1800" b="1" i="0" u="none" strike="noStrike" baseline="0" dirty="0" err="1">
                <a:latin typeface="NewBaskervilleStd-Bold"/>
              </a:rPr>
              <a:t>args</a:t>
            </a:r>
            <a:r>
              <a:rPr lang="en-IN" sz="1800" b="1" i="0" u="none" strike="noStrike" baseline="0" dirty="0">
                <a:latin typeface="NewBaskervilleStd-Bold"/>
              </a:rPr>
              <a:t>[ ] </a:t>
            </a:r>
            <a:r>
              <a:rPr lang="en-IN" sz="1800" b="0" i="0" u="none" strike="noStrike" baseline="0" dirty="0">
                <a:latin typeface="NewBaskervilleStd-Roman"/>
              </a:rPr>
              <a:t>declares a parameter named </a:t>
            </a:r>
            <a:r>
              <a:rPr lang="en-IN" sz="1800" b="1" i="0" u="none" strike="noStrike" baseline="0" dirty="0" err="1">
                <a:latin typeface="NewBaskervilleStd-Bold"/>
              </a:rPr>
              <a:t>args</a:t>
            </a:r>
            <a:r>
              <a:rPr lang="en-IN" sz="1800" b="0" i="0" u="none" strike="noStrike" baseline="0" dirty="0">
                <a:latin typeface="NewBaskervilleStd-Roman"/>
              </a:rPr>
              <a:t>, which is an array of instances of the class </a:t>
            </a:r>
            <a:r>
              <a:rPr lang="en-IN" sz="1800" b="1" i="0" u="none" strike="noStrike" baseline="0" dirty="0">
                <a:latin typeface="NewBaskervilleStd-Bold"/>
              </a:rPr>
              <a:t>String</a:t>
            </a:r>
            <a:r>
              <a:rPr lang="en-IN" sz="1800" b="0" i="0" u="none" strike="noStrike" baseline="0" dirty="0">
                <a:latin typeface="NewBaskervilleStd-Roman"/>
              </a:rPr>
              <a:t>. (</a:t>
            </a:r>
            <a:r>
              <a:rPr lang="en-IN" sz="1800" b="0" i="1" u="none" strike="noStrike" baseline="0" dirty="0">
                <a:latin typeface="NewBaskervilleStd-Italic"/>
              </a:rPr>
              <a:t>Arrays </a:t>
            </a:r>
            <a:r>
              <a:rPr lang="en-IN" sz="1800" b="0" i="0" u="none" strike="noStrike" baseline="0" dirty="0">
                <a:latin typeface="NewBaskervilleStd-Roman"/>
              </a:rPr>
              <a:t>are collections of similar objects.) Objects of type </a:t>
            </a:r>
            <a:r>
              <a:rPr lang="en-IN" sz="1800" b="1" i="0" u="none" strike="noStrike" baseline="0" dirty="0">
                <a:latin typeface="NewBaskervilleStd-Bold"/>
              </a:rPr>
              <a:t>String </a:t>
            </a:r>
            <a:r>
              <a:rPr lang="en-IN" sz="1800" b="0" i="0" u="none" strike="noStrike" baseline="0" dirty="0">
                <a:latin typeface="NewBaskervilleStd-Roman"/>
              </a:rPr>
              <a:t>store character strings. In this case, </a:t>
            </a:r>
            <a:r>
              <a:rPr lang="en-IN" sz="1800" b="1" i="0" u="none" strike="noStrike" baseline="0" dirty="0" err="1">
                <a:latin typeface="NewBaskervilleStd-Bold"/>
              </a:rPr>
              <a:t>args</a:t>
            </a:r>
            <a:r>
              <a:rPr lang="en-IN" sz="1800" b="1" i="0" u="none" strike="noStrike" baseline="0" dirty="0">
                <a:latin typeface="NewBaskervilleStd-Bold"/>
              </a:rPr>
              <a:t> </a:t>
            </a:r>
            <a:r>
              <a:rPr lang="en-IN" sz="1800" b="0" i="0" u="none" strike="noStrike" baseline="0" dirty="0">
                <a:latin typeface="NewBaskervilleStd-Roman"/>
              </a:rPr>
              <a:t>receives any command-line arguments present when the program</a:t>
            </a:r>
          </a:p>
          <a:p>
            <a:pPr algn="l"/>
            <a:r>
              <a:rPr lang="en-IN" sz="1800" b="0" i="0" u="none" strike="noStrike" baseline="0" dirty="0">
                <a:latin typeface="NewBaskervilleStd-Roman"/>
              </a:rPr>
              <a:t>is executed.</a:t>
            </a:r>
            <a:endParaRPr lang="en-IN" dirty="0"/>
          </a:p>
        </p:txBody>
      </p:sp>
      <p:sp>
        <p:nvSpPr>
          <p:cNvPr id="4" name="Date Placeholder 3">
            <a:extLst>
              <a:ext uri="{FF2B5EF4-FFF2-40B4-BE49-F238E27FC236}">
                <a16:creationId xmlns:a16="http://schemas.microsoft.com/office/drawing/2014/main" id="{DE3E90A1-6C08-14D8-43B5-665FCEACC5D6}"/>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35C450DA-1EFD-AE00-BF60-B9DF1E37EBDA}"/>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9DCE69B0-DF0E-EEB7-B1F6-BF37FA5B589E}"/>
              </a:ext>
            </a:extLst>
          </p:cNvPr>
          <p:cNvSpPr>
            <a:spLocks noGrp="1"/>
          </p:cNvSpPr>
          <p:nvPr>
            <p:ph type="sldNum" sz="quarter" idx="12"/>
          </p:nvPr>
        </p:nvSpPr>
        <p:spPr/>
        <p:txBody>
          <a:bodyPr/>
          <a:lstStyle/>
          <a:p>
            <a:pPr>
              <a:defRPr/>
            </a:pPr>
            <a:fld id="{846AEF8D-D938-433D-BBFD-44F2BB354120}" type="slidenum">
              <a:rPr lang="en-US" altLang="en-US" smtClean="0"/>
              <a:pPr>
                <a:defRPr/>
              </a:pPr>
              <a:t>50</a:t>
            </a:fld>
            <a:endParaRPr lang="en-US" altLang="en-US"/>
          </a:p>
        </p:txBody>
      </p:sp>
    </p:spTree>
    <p:extLst>
      <p:ext uri="{BB962C8B-B14F-4D97-AF65-F5344CB8AC3E}">
        <p14:creationId xmlns:p14="http://schemas.microsoft.com/office/powerpoint/2010/main" val="36767966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5A31-E03F-6A4B-82FF-0C2F6DD406A2}"/>
              </a:ext>
            </a:extLst>
          </p:cNvPr>
          <p:cNvSpPr>
            <a:spLocks noGrp="1"/>
          </p:cNvSpPr>
          <p:nvPr>
            <p:ph type="title"/>
          </p:nvPr>
        </p:nvSpPr>
        <p:spPr>
          <a:xfrm>
            <a:off x="2438400" y="-33643"/>
            <a:ext cx="6378575" cy="744537"/>
          </a:xfrm>
        </p:spPr>
        <p:txBody>
          <a:bodyPr/>
          <a:lstStyle/>
          <a:p>
            <a:r>
              <a:rPr lang="en-IN" sz="1800" b="1" i="0" u="none" strike="noStrike" baseline="0" dirty="0">
                <a:latin typeface="DINMittelEFOP-Bold"/>
              </a:rPr>
              <a:t>A Second Short Program</a:t>
            </a:r>
            <a:endParaRPr lang="en-IN" dirty="0"/>
          </a:p>
        </p:txBody>
      </p:sp>
      <p:sp>
        <p:nvSpPr>
          <p:cNvPr id="3" name="Content Placeholder 2">
            <a:extLst>
              <a:ext uri="{FF2B5EF4-FFF2-40B4-BE49-F238E27FC236}">
                <a16:creationId xmlns:a16="http://schemas.microsoft.com/office/drawing/2014/main" id="{D6287757-8FC9-4DC4-66BB-16354741DA2F}"/>
              </a:ext>
            </a:extLst>
          </p:cNvPr>
          <p:cNvSpPr>
            <a:spLocks noGrp="1"/>
          </p:cNvSpPr>
          <p:nvPr>
            <p:ph idx="1"/>
          </p:nvPr>
        </p:nvSpPr>
        <p:spPr>
          <a:xfrm>
            <a:off x="593725" y="838200"/>
            <a:ext cx="7956550" cy="5426075"/>
          </a:xfrm>
        </p:spPr>
        <p:txBody>
          <a:bodyPr/>
          <a:lstStyle/>
          <a:p>
            <a:pPr marL="0" indent="0" algn="l">
              <a:buNone/>
            </a:pPr>
            <a:r>
              <a:rPr lang="en-IN" sz="1800" b="1" i="0" u="none" strike="noStrike" baseline="0" dirty="0"/>
              <a:t>/* Here is another short example. Call this file "Example2.java". */</a:t>
            </a:r>
          </a:p>
          <a:p>
            <a:pPr marL="0" indent="0" algn="l">
              <a:buNone/>
            </a:pPr>
            <a:r>
              <a:rPr lang="en-IN" sz="1800" b="1" i="0" u="none" strike="noStrike" baseline="0" dirty="0"/>
              <a:t>class Example2 {</a:t>
            </a:r>
          </a:p>
          <a:p>
            <a:pPr marL="0" indent="0" algn="l">
              <a:buNone/>
            </a:pPr>
            <a:r>
              <a:rPr lang="en-IN" sz="1800" b="1" i="0" u="none" strike="noStrike" baseline="0" dirty="0"/>
              <a:t>    public static void main(String </a:t>
            </a:r>
            <a:r>
              <a:rPr lang="en-IN" sz="1800" b="1" i="0" u="none" strike="noStrike" baseline="0" dirty="0" err="1"/>
              <a:t>args</a:t>
            </a:r>
            <a:r>
              <a:rPr lang="en-IN" sz="1800" b="1" i="0" u="none" strike="noStrike" baseline="0" dirty="0"/>
              <a:t> []) {</a:t>
            </a:r>
          </a:p>
          <a:p>
            <a:pPr marL="0" indent="0" algn="l">
              <a:buNone/>
            </a:pPr>
            <a:r>
              <a:rPr lang="en-IN" sz="1800" b="1" i="0" u="none" strike="noStrike" baseline="0" dirty="0"/>
              <a:t>        int </a:t>
            </a:r>
            <a:r>
              <a:rPr lang="en-IN" sz="1800" b="1" i="0" u="none" strike="noStrike" baseline="0" dirty="0" err="1"/>
              <a:t>num</a:t>
            </a:r>
            <a:r>
              <a:rPr lang="en-IN" sz="1800" b="1" i="0" u="none" strike="noStrike" baseline="0" dirty="0"/>
              <a:t>; // this declares a variable called </a:t>
            </a:r>
            <a:r>
              <a:rPr lang="en-IN" sz="1800" b="1" i="0" u="none" strike="noStrike" baseline="0" dirty="0" err="1"/>
              <a:t>num</a:t>
            </a:r>
            <a:r>
              <a:rPr lang="en-IN" sz="1800" b="1" i="0" u="none" strike="noStrike" baseline="0" dirty="0"/>
              <a:t>   </a:t>
            </a:r>
          </a:p>
          <a:p>
            <a:pPr marL="0" indent="0" algn="l">
              <a:buNone/>
            </a:pPr>
            <a:r>
              <a:rPr lang="en-IN" sz="1800" b="1" i="0" u="none" strike="noStrike" baseline="0" dirty="0"/>
              <a:t>        </a:t>
            </a:r>
            <a:r>
              <a:rPr lang="en-IN" sz="1800" b="1" i="0" u="none" strike="noStrike" baseline="0" dirty="0" err="1"/>
              <a:t>num</a:t>
            </a:r>
            <a:r>
              <a:rPr lang="en-IN" sz="1800" b="1" i="0" u="none" strike="noStrike" baseline="0" dirty="0"/>
              <a:t> = 100; // this assigns </a:t>
            </a:r>
            <a:r>
              <a:rPr lang="en-IN" sz="1800" b="1" i="0" u="none" strike="noStrike" baseline="0" dirty="0" err="1"/>
              <a:t>num</a:t>
            </a:r>
            <a:r>
              <a:rPr lang="en-IN" sz="1800" b="1" i="0" u="none" strike="noStrike" baseline="0" dirty="0"/>
              <a:t> the value 100</a:t>
            </a:r>
          </a:p>
          <a:p>
            <a:pPr marL="0" indent="0" algn="l">
              <a:buNone/>
            </a:pPr>
            <a:r>
              <a:rPr lang="en-IN" sz="1800" b="1" i="0" u="none" strike="noStrike" baseline="0" dirty="0"/>
              <a:t>        </a:t>
            </a:r>
            <a:r>
              <a:rPr lang="en-IN" sz="1800" b="1" i="0" u="none" strike="noStrike" baseline="0" dirty="0" err="1"/>
              <a:t>System.out.println</a:t>
            </a:r>
            <a:r>
              <a:rPr lang="en-IN" sz="1800" b="1" i="0" u="none" strike="noStrike" baseline="0" dirty="0"/>
              <a:t>("This is </a:t>
            </a:r>
            <a:r>
              <a:rPr lang="en-IN" sz="1800" b="1" i="0" u="none" strike="noStrike" baseline="0" dirty="0" err="1"/>
              <a:t>num</a:t>
            </a:r>
            <a:r>
              <a:rPr lang="en-IN" sz="1800" b="1" i="0" u="none" strike="noStrike" baseline="0" dirty="0"/>
              <a:t>: " + </a:t>
            </a:r>
            <a:r>
              <a:rPr lang="en-IN" sz="1800" b="1" i="0" u="none" strike="noStrike" baseline="0" dirty="0" err="1"/>
              <a:t>num</a:t>
            </a:r>
            <a:r>
              <a:rPr lang="en-IN" sz="1800" b="1" i="0" u="none" strike="noStrike" baseline="0" dirty="0"/>
              <a:t>);  </a:t>
            </a:r>
          </a:p>
          <a:p>
            <a:pPr marL="0" indent="0" algn="l">
              <a:buNone/>
            </a:pPr>
            <a:r>
              <a:rPr lang="en-IN" sz="1800" b="1" i="0" u="none" strike="noStrike" baseline="0" dirty="0"/>
              <a:t>        </a:t>
            </a:r>
            <a:r>
              <a:rPr lang="en-IN" sz="1800" b="1" i="0" u="none" strike="noStrike" baseline="0" dirty="0" err="1"/>
              <a:t>num</a:t>
            </a:r>
            <a:r>
              <a:rPr lang="en-IN" sz="1800" b="1" i="0" u="none" strike="noStrike" baseline="0" dirty="0"/>
              <a:t> = </a:t>
            </a:r>
            <a:r>
              <a:rPr lang="en-IN" sz="1800" b="1" i="0" u="none" strike="noStrike" baseline="0" dirty="0" err="1"/>
              <a:t>num</a:t>
            </a:r>
            <a:r>
              <a:rPr lang="en-IN" sz="1800" b="1" i="0" u="none" strike="noStrike" baseline="0" dirty="0"/>
              <a:t> * 2;</a:t>
            </a:r>
          </a:p>
          <a:p>
            <a:pPr marL="0" indent="0" algn="l">
              <a:buNone/>
            </a:pPr>
            <a:r>
              <a:rPr lang="en-IN" sz="1800" b="1" i="0" u="none" strike="noStrike" baseline="0" dirty="0"/>
              <a:t>        </a:t>
            </a:r>
            <a:r>
              <a:rPr lang="en-IN" sz="1800" b="1" i="0" u="none" strike="noStrike" baseline="0" dirty="0" err="1"/>
              <a:t>System.out.print</a:t>
            </a:r>
            <a:r>
              <a:rPr lang="en-IN" sz="1800" b="1" i="0" u="none" strike="noStrike" baseline="0" dirty="0"/>
              <a:t>("The value of </a:t>
            </a:r>
            <a:r>
              <a:rPr lang="en-IN" sz="1800" b="1" i="0" u="none" strike="noStrike" baseline="0" dirty="0" err="1"/>
              <a:t>num</a:t>
            </a:r>
            <a:r>
              <a:rPr lang="en-IN" sz="1800" b="1" i="0" u="none" strike="noStrike" baseline="0" dirty="0"/>
              <a:t> * 2 is ");</a:t>
            </a:r>
            <a:r>
              <a:rPr lang="en-IN" sz="1800" b="1" i="0" u="none" strike="noStrike" baseline="0" dirty="0">
                <a:latin typeface="CourierStd"/>
              </a:rPr>
              <a:t>            </a:t>
            </a:r>
          </a:p>
          <a:p>
            <a:pPr marL="0" indent="0" algn="l">
              <a:buNone/>
            </a:pPr>
            <a:r>
              <a:rPr lang="en-IN" sz="1800" b="1" dirty="0">
                <a:latin typeface="CourierStd"/>
              </a:rPr>
              <a:t>    </a:t>
            </a:r>
            <a:r>
              <a:rPr lang="en-IN" sz="1800" b="1" i="0" u="none" strike="noStrike" baseline="0" dirty="0" err="1">
                <a:latin typeface="CourierStd"/>
              </a:rPr>
              <a:t>System.out.println</a:t>
            </a:r>
            <a:r>
              <a:rPr lang="en-IN" sz="1800" b="1" i="0" u="none" strike="noStrike" baseline="0" dirty="0">
                <a:latin typeface="CourierStd"/>
              </a:rPr>
              <a:t>(</a:t>
            </a:r>
            <a:r>
              <a:rPr lang="en-IN" sz="1800" b="1" i="0" u="none" strike="noStrike" baseline="0" dirty="0" err="1">
                <a:latin typeface="CourierStd"/>
              </a:rPr>
              <a:t>num</a:t>
            </a:r>
            <a:r>
              <a:rPr lang="en-IN" sz="1800" b="1" i="0" u="none" strike="noStrike" baseline="0" dirty="0">
                <a:latin typeface="CourierStd"/>
              </a:rPr>
              <a:t>);</a:t>
            </a:r>
          </a:p>
          <a:p>
            <a:pPr marL="0" indent="0" algn="l">
              <a:buNone/>
            </a:pPr>
            <a:r>
              <a:rPr lang="en-IN" sz="1800" b="1" i="0" u="none" strike="noStrike" baseline="0" dirty="0">
                <a:latin typeface="CourierStd"/>
              </a:rPr>
              <a:t>  }</a:t>
            </a:r>
          </a:p>
          <a:p>
            <a:pPr marL="0" indent="0" algn="l">
              <a:buNone/>
            </a:pPr>
            <a:r>
              <a:rPr lang="en-IN" sz="1800" b="1" i="0" u="none" strike="noStrike" baseline="0" dirty="0">
                <a:latin typeface="CourierStd"/>
              </a:rPr>
              <a:t>}</a:t>
            </a:r>
          </a:p>
          <a:p>
            <a:pPr marL="0" indent="0" algn="l">
              <a:buNone/>
            </a:pPr>
            <a:r>
              <a:rPr lang="en-IN" sz="1800" b="1" i="0" u="none" strike="noStrike" baseline="0" dirty="0">
                <a:latin typeface="NewBaskervilleStd-Roman"/>
              </a:rPr>
              <a:t>When you run this program, you will see the following output:</a:t>
            </a:r>
          </a:p>
          <a:p>
            <a:pPr marL="0" indent="0" algn="l">
              <a:buNone/>
            </a:pPr>
            <a:r>
              <a:rPr lang="en-IN" sz="1800" b="1" i="0" u="none" strike="noStrike" baseline="0" dirty="0">
                <a:latin typeface="CourierStd"/>
              </a:rPr>
              <a:t>This is </a:t>
            </a:r>
            <a:r>
              <a:rPr lang="en-IN" sz="1800" b="1" i="0" u="none" strike="noStrike" baseline="0" dirty="0" err="1">
                <a:latin typeface="CourierStd"/>
              </a:rPr>
              <a:t>num</a:t>
            </a:r>
            <a:r>
              <a:rPr lang="en-IN" sz="1800" b="1" i="0" u="none" strike="noStrike" baseline="0" dirty="0">
                <a:latin typeface="CourierStd"/>
              </a:rPr>
              <a:t>: 100</a:t>
            </a:r>
          </a:p>
          <a:p>
            <a:pPr marL="0" indent="0" algn="l">
              <a:buNone/>
            </a:pPr>
            <a:r>
              <a:rPr lang="en-IN" sz="1800" b="1" i="0" u="none" strike="noStrike" baseline="0" dirty="0">
                <a:latin typeface="CourierStd"/>
              </a:rPr>
              <a:t>The value of </a:t>
            </a:r>
            <a:r>
              <a:rPr lang="en-IN" sz="1800" b="1" i="0" u="none" strike="noStrike" baseline="0" dirty="0" err="1">
                <a:latin typeface="CourierStd"/>
              </a:rPr>
              <a:t>num</a:t>
            </a:r>
            <a:r>
              <a:rPr lang="en-IN" sz="1800" b="1" i="0" u="none" strike="noStrike" baseline="0" dirty="0">
                <a:latin typeface="CourierStd"/>
              </a:rPr>
              <a:t> * 2 is 200</a:t>
            </a:r>
            <a:endParaRPr lang="en-IN" b="1" dirty="0"/>
          </a:p>
        </p:txBody>
      </p:sp>
      <p:sp>
        <p:nvSpPr>
          <p:cNvPr id="4" name="Date Placeholder 3">
            <a:extLst>
              <a:ext uri="{FF2B5EF4-FFF2-40B4-BE49-F238E27FC236}">
                <a16:creationId xmlns:a16="http://schemas.microsoft.com/office/drawing/2014/main" id="{6D5D0FB6-F0DA-47E0-C930-91E3AFDDC5F8}"/>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3F3E4D87-F0F2-C5A0-1418-CDF60E1C1F0F}"/>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0A1E0661-92B2-D40D-49D3-0DF86A827CBE}"/>
              </a:ext>
            </a:extLst>
          </p:cNvPr>
          <p:cNvSpPr>
            <a:spLocks noGrp="1"/>
          </p:cNvSpPr>
          <p:nvPr>
            <p:ph type="sldNum" sz="quarter" idx="12"/>
          </p:nvPr>
        </p:nvSpPr>
        <p:spPr/>
        <p:txBody>
          <a:bodyPr/>
          <a:lstStyle/>
          <a:p>
            <a:pPr>
              <a:defRPr/>
            </a:pPr>
            <a:fld id="{846AEF8D-D938-433D-BBFD-44F2BB354120}" type="slidenum">
              <a:rPr lang="en-US" altLang="en-US" smtClean="0"/>
              <a:pPr>
                <a:defRPr/>
              </a:pPr>
              <a:t>51</a:t>
            </a:fld>
            <a:endParaRPr lang="en-US" altLang="en-US"/>
          </a:p>
        </p:txBody>
      </p:sp>
    </p:spTree>
    <p:extLst>
      <p:ext uri="{BB962C8B-B14F-4D97-AF65-F5344CB8AC3E}">
        <p14:creationId xmlns:p14="http://schemas.microsoft.com/office/powerpoint/2010/main" val="30211537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7C4C36-C458-A00A-5EDE-00C4F8B89765}"/>
              </a:ext>
            </a:extLst>
          </p:cNvPr>
          <p:cNvSpPr>
            <a:spLocks noGrp="1"/>
          </p:cNvSpPr>
          <p:nvPr>
            <p:ph idx="1"/>
          </p:nvPr>
        </p:nvSpPr>
        <p:spPr>
          <a:xfrm>
            <a:off x="593725" y="1219200"/>
            <a:ext cx="7956550" cy="5045075"/>
          </a:xfrm>
        </p:spPr>
        <p:txBody>
          <a:bodyPr/>
          <a:lstStyle/>
          <a:p>
            <a:r>
              <a:rPr lang="en-IN" sz="1800" b="1" i="0" u="none" strike="noStrike" baseline="0" dirty="0">
                <a:latin typeface="DINMittelEFOP-Bold"/>
              </a:rPr>
              <a:t>Two Control Statements</a:t>
            </a:r>
          </a:p>
          <a:p>
            <a:r>
              <a:rPr lang="en-IN" sz="1800" b="1" dirty="0">
                <a:latin typeface="DINMittelEFOP-Bold"/>
              </a:rPr>
              <a:t>IF CONDITION  And For loop simple codes</a:t>
            </a:r>
            <a:endParaRPr lang="en-IN" sz="1800" b="1" i="0" u="none" strike="noStrike" baseline="0" dirty="0">
              <a:latin typeface="DINMittelEFOP-Bold"/>
            </a:endParaRPr>
          </a:p>
          <a:p>
            <a:r>
              <a:rPr lang="en-IN" sz="1800" b="1" i="0" u="none" strike="noStrike" baseline="0" dirty="0">
                <a:latin typeface="DINMittelEFOP-Bold"/>
              </a:rPr>
              <a:t>Using Blocks of Code</a:t>
            </a:r>
          </a:p>
          <a:p>
            <a:pPr algn="l"/>
            <a:r>
              <a:rPr lang="en-IN" sz="1800" b="0" i="0" u="none" strike="noStrike" baseline="0" dirty="0">
                <a:latin typeface="NewBaskervilleStd-Roman"/>
              </a:rPr>
              <a:t>Java allows two or more statements to be grouped into </a:t>
            </a:r>
            <a:r>
              <a:rPr lang="en-IN" sz="1800" b="0" i="1" u="none" strike="noStrike" baseline="0" dirty="0">
                <a:latin typeface="NewBaskervilleStd-Italic"/>
              </a:rPr>
              <a:t>blocks of code</a:t>
            </a:r>
            <a:r>
              <a:rPr lang="en-IN" sz="1800" b="0" i="0" u="none" strike="noStrike" baseline="0" dirty="0">
                <a:latin typeface="NewBaskervilleStd-Roman"/>
              </a:rPr>
              <a:t>, also called </a:t>
            </a:r>
            <a:r>
              <a:rPr lang="en-IN" sz="1800" b="0" i="1" u="none" strike="noStrike" baseline="0" dirty="0">
                <a:latin typeface="NewBaskervilleStd-Italic"/>
              </a:rPr>
              <a:t>code blocks</a:t>
            </a:r>
            <a:r>
              <a:rPr lang="en-IN" sz="1800" b="0" i="0" u="none" strike="noStrike" baseline="0" dirty="0">
                <a:latin typeface="NewBaskervilleStd-Roman"/>
              </a:rPr>
              <a:t>.</a:t>
            </a:r>
          </a:p>
          <a:p>
            <a:pPr algn="l"/>
            <a:r>
              <a:rPr lang="en-IN" sz="1800" b="0" i="0" u="none" strike="noStrike" baseline="0" dirty="0">
                <a:latin typeface="NewBaskervilleStd-Roman"/>
              </a:rPr>
              <a:t>This is done by enclosing the statements </a:t>
            </a:r>
            <a:r>
              <a:rPr lang="en-IN" sz="1800" b="1" i="0" u="none" strike="noStrike" baseline="0" dirty="0">
                <a:latin typeface="NewBaskervilleStd-Roman"/>
              </a:rPr>
              <a:t>between opening and closing curly braces.</a:t>
            </a:r>
            <a:r>
              <a:rPr lang="en-IN" sz="1800" b="0" i="0" u="none" strike="noStrike" baseline="0" dirty="0">
                <a:latin typeface="NewBaskervilleStd-Roman"/>
              </a:rPr>
              <a:t> Once a block of code has been created, it becomes a logical unit that can be used any place that a single statement can. For example, a block can be a target for Java’s </a:t>
            </a:r>
            <a:r>
              <a:rPr lang="en-IN" sz="1800" b="1" i="0" u="none" strike="noStrike" baseline="0" dirty="0">
                <a:latin typeface="NewBaskervilleStd-Bold"/>
              </a:rPr>
              <a:t>if </a:t>
            </a:r>
            <a:r>
              <a:rPr lang="en-IN" sz="1800" b="0" i="0" u="none" strike="noStrike" baseline="0" dirty="0">
                <a:latin typeface="NewBaskervilleStd-Roman"/>
              </a:rPr>
              <a:t>and </a:t>
            </a:r>
            <a:r>
              <a:rPr lang="en-IN" sz="1800" b="1" i="0" u="none" strike="noStrike" baseline="0" dirty="0">
                <a:latin typeface="NewBaskervilleStd-Bold"/>
              </a:rPr>
              <a:t>for </a:t>
            </a:r>
            <a:r>
              <a:rPr lang="en-IN" sz="1800" b="0" i="0" u="none" strike="noStrike" baseline="0" dirty="0">
                <a:latin typeface="NewBaskervilleStd-Roman"/>
              </a:rPr>
              <a:t>statements.</a:t>
            </a:r>
          </a:p>
          <a:p>
            <a:pPr algn="l"/>
            <a:r>
              <a:rPr lang="en-IN" sz="1800" b="0" i="0" u="none" strike="noStrike" baseline="0" dirty="0">
                <a:latin typeface="NewBaskervilleStd-Roman"/>
              </a:rPr>
              <a:t>Consider this </a:t>
            </a:r>
            <a:r>
              <a:rPr lang="en-IN" sz="1800" b="1" i="0" u="none" strike="noStrike" baseline="0" dirty="0">
                <a:latin typeface="NewBaskervilleStd-Bold"/>
              </a:rPr>
              <a:t>if </a:t>
            </a:r>
            <a:r>
              <a:rPr lang="en-IN" sz="1800" b="0" i="0" u="none" strike="noStrike" baseline="0" dirty="0">
                <a:latin typeface="NewBaskervilleStd-Roman"/>
              </a:rPr>
              <a:t>statement:</a:t>
            </a:r>
          </a:p>
          <a:p>
            <a:pPr marL="0" indent="0" algn="l">
              <a:buNone/>
            </a:pPr>
            <a:r>
              <a:rPr lang="en-IN" sz="1800" b="1" i="0" u="none" strike="noStrike" baseline="0" dirty="0">
                <a:latin typeface="CourierStd"/>
              </a:rPr>
              <a:t>if(x &lt; y) { // begin a block</a:t>
            </a:r>
          </a:p>
          <a:p>
            <a:pPr marL="0" indent="0" algn="l">
              <a:buNone/>
            </a:pPr>
            <a:r>
              <a:rPr lang="en-IN" sz="1800" b="1" dirty="0">
                <a:latin typeface="CourierStd"/>
              </a:rPr>
              <a:t>     </a:t>
            </a:r>
            <a:r>
              <a:rPr lang="en-IN" sz="1800" b="1" i="0" u="none" strike="noStrike" baseline="0" dirty="0">
                <a:latin typeface="CourierStd"/>
              </a:rPr>
              <a:t>x = y;</a:t>
            </a:r>
          </a:p>
          <a:p>
            <a:pPr marL="0" indent="0" algn="l">
              <a:buNone/>
            </a:pPr>
            <a:r>
              <a:rPr lang="en-IN" sz="1800" b="1" i="0" u="none" strike="noStrike" baseline="0" dirty="0">
                <a:latin typeface="CourierStd"/>
              </a:rPr>
              <a:t>     y = 0;</a:t>
            </a:r>
          </a:p>
          <a:p>
            <a:pPr marL="0" indent="0" algn="l">
              <a:buNone/>
            </a:pPr>
            <a:r>
              <a:rPr lang="en-IN" sz="1800" b="1" i="0" u="none" strike="noStrike" baseline="0" dirty="0">
                <a:latin typeface="CourierStd"/>
              </a:rPr>
              <a:t>} // end of block</a:t>
            </a:r>
            <a:endParaRPr lang="en-IN" sz="1800" b="1" dirty="0">
              <a:latin typeface="DINMittelEFOP-Bold"/>
            </a:endParaRPr>
          </a:p>
          <a:p>
            <a:endParaRPr lang="en-IN" dirty="0"/>
          </a:p>
        </p:txBody>
      </p:sp>
      <p:sp>
        <p:nvSpPr>
          <p:cNvPr id="4" name="Date Placeholder 3">
            <a:extLst>
              <a:ext uri="{FF2B5EF4-FFF2-40B4-BE49-F238E27FC236}">
                <a16:creationId xmlns:a16="http://schemas.microsoft.com/office/drawing/2014/main" id="{91B37EF6-3411-6089-A088-DCC8C0D38793}"/>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B10B85E3-1F6A-099C-F341-AA268D521D60}"/>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6EFA61FF-1AAE-6528-0023-F820771FB6E6}"/>
              </a:ext>
            </a:extLst>
          </p:cNvPr>
          <p:cNvSpPr>
            <a:spLocks noGrp="1"/>
          </p:cNvSpPr>
          <p:nvPr>
            <p:ph type="sldNum" sz="quarter" idx="12"/>
          </p:nvPr>
        </p:nvSpPr>
        <p:spPr/>
        <p:txBody>
          <a:bodyPr/>
          <a:lstStyle/>
          <a:p>
            <a:pPr>
              <a:defRPr/>
            </a:pPr>
            <a:fld id="{846AEF8D-D938-433D-BBFD-44F2BB354120}" type="slidenum">
              <a:rPr lang="en-US" altLang="en-US" smtClean="0"/>
              <a:pPr>
                <a:defRPr/>
              </a:pPr>
              <a:t>52</a:t>
            </a:fld>
            <a:endParaRPr lang="en-US" altLang="en-US"/>
          </a:p>
        </p:txBody>
      </p:sp>
    </p:spTree>
    <p:extLst>
      <p:ext uri="{BB962C8B-B14F-4D97-AF65-F5344CB8AC3E}">
        <p14:creationId xmlns:p14="http://schemas.microsoft.com/office/powerpoint/2010/main" val="20905122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2434-0D0C-0643-C9F9-CB8056A4EF04}"/>
              </a:ext>
            </a:extLst>
          </p:cNvPr>
          <p:cNvSpPr>
            <a:spLocks noGrp="1"/>
          </p:cNvSpPr>
          <p:nvPr>
            <p:ph type="title"/>
          </p:nvPr>
        </p:nvSpPr>
        <p:spPr>
          <a:xfrm>
            <a:off x="2171700" y="763588"/>
            <a:ext cx="6378575" cy="608012"/>
          </a:xfrm>
        </p:spPr>
        <p:txBody>
          <a:bodyPr>
            <a:normAutofit fontScale="90000"/>
          </a:bodyPr>
          <a:lstStyle/>
          <a:p>
            <a:r>
              <a:rPr lang="en-IN" dirty="0"/>
              <a:t>Lexical Issues- Tokens</a:t>
            </a:r>
          </a:p>
        </p:txBody>
      </p:sp>
      <p:sp>
        <p:nvSpPr>
          <p:cNvPr id="3" name="Content Placeholder 2">
            <a:extLst>
              <a:ext uri="{FF2B5EF4-FFF2-40B4-BE49-F238E27FC236}">
                <a16:creationId xmlns:a16="http://schemas.microsoft.com/office/drawing/2014/main" id="{EDB96BC1-5ACB-8C90-3837-F11E5DA9B70D}"/>
              </a:ext>
            </a:extLst>
          </p:cNvPr>
          <p:cNvSpPr>
            <a:spLocks noGrp="1"/>
          </p:cNvSpPr>
          <p:nvPr>
            <p:ph idx="1"/>
          </p:nvPr>
        </p:nvSpPr>
        <p:spPr>
          <a:xfrm>
            <a:off x="593725" y="1752600"/>
            <a:ext cx="7956550" cy="4511675"/>
          </a:xfrm>
        </p:spPr>
        <p:txBody>
          <a:bodyPr/>
          <a:lstStyle/>
          <a:p>
            <a:pPr algn="l"/>
            <a:r>
              <a:rPr lang="en-IN" sz="2400" b="1" i="1" u="none" strike="noStrike" baseline="0" dirty="0">
                <a:solidFill>
                  <a:schemeClr val="accent1"/>
                </a:solidFill>
                <a:latin typeface="NewBaskervilleStd-Roman"/>
              </a:rPr>
              <a:t>Java is case-sensitive</a:t>
            </a:r>
          </a:p>
          <a:p>
            <a:pPr marL="0" indent="0" algn="l">
              <a:buNone/>
            </a:pPr>
            <a:r>
              <a:rPr lang="en-IN" sz="2400" b="1" i="1" u="none" strike="noStrike" baseline="0" dirty="0">
                <a:latin typeface="NewBaskervilleStd-Roman"/>
              </a:rPr>
              <a:t>Java programs are a collection of </a:t>
            </a:r>
          </a:p>
          <a:p>
            <a:pPr algn="l"/>
            <a:r>
              <a:rPr lang="en-IN" sz="2400" b="1" i="0" u="none" strike="noStrike" baseline="0" dirty="0">
                <a:latin typeface="NewBaskervilleStd-Roman"/>
              </a:rPr>
              <a:t>Whitespace- </a:t>
            </a:r>
            <a:r>
              <a:rPr lang="en-IN" sz="1800" b="0" i="0" u="none" strike="noStrike" baseline="0" dirty="0">
                <a:latin typeface="NewBaskervilleStd-Roman"/>
              </a:rPr>
              <a:t>Java is a free-form language</a:t>
            </a:r>
            <a:endParaRPr lang="en-IN" sz="2400" b="1" i="0" u="none" strike="noStrike" baseline="0" dirty="0">
              <a:latin typeface="NewBaskervilleStd-Roman"/>
            </a:endParaRPr>
          </a:p>
          <a:p>
            <a:pPr algn="l"/>
            <a:r>
              <a:rPr lang="en-IN" sz="2400" b="1" i="0" u="none" strike="noStrike" baseline="0" dirty="0">
                <a:latin typeface="NewBaskervilleStd-Roman"/>
              </a:rPr>
              <a:t>Identifiers- </a:t>
            </a:r>
            <a:r>
              <a:rPr lang="en-IN" sz="1800" b="0" i="0" u="none" strike="noStrike" baseline="0" dirty="0">
                <a:latin typeface="NewBaskervilleStd-Roman"/>
              </a:rPr>
              <a:t>Identifiers are used to name things, such as classes, variables, and methods. An identifier may be any descriptive sequence of uppercase and lowercase letters, numbers, or the underscore and dollar-sign characters</a:t>
            </a:r>
            <a:endParaRPr lang="en-IN" sz="2400" b="1" i="0" u="none" strike="noStrike" baseline="0" dirty="0">
              <a:latin typeface="NewBaskervilleStd-Roman"/>
            </a:endParaRPr>
          </a:p>
          <a:p>
            <a:pPr algn="l"/>
            <a:r>
              <a:rPr lang="en-IN" sz="2400" b="1" i="0" u="none" strike="noStrike" baseline="0" dirty="0">
                <a:latin typeface="NewBaskervilleStd-Roman"/>
              </a:rPr>
              <a:t>Literals- Constants </a:t>
            </a:r>
            <a:r>
              <a:rPr lang="en-IN" sz="1800" b="0" i="0" u="none" strike="noStrike" baseline="0" dirty="0">
                <a:latin typeface="NewBaskervilleStd-Roman"/>
              </a:rPr>
              <a:t>A constant value in Java is created by using a </a:t>
            </a:r>
            <a:r>
              <a:rPr lang="en-IN" sz="1800" b="0" i="1" u="none" strike="noStrike" baseline="0" dirty="0">
                <a:latin typeface="NewBaskervilleStd-Italic"/>
              </a:rPr>
              <a:t>literal </a:t>
            </a:r>
            <a:r>
              <a:rPr lang="en-IN" sz="1800" b="0" i="0" u="none" strike="noStrike" baseline="0" dirty="0">
                <a:latin typeface="NewBaskervilleStd-Roman"/>
              </a:rPr>
              <a:t>representation of it. </a:t>
            </a:r>
            <a:endParaRPr lang="en-IN" sz="2400" b="1" i="0" u="none" strike="noStrike" baseline="0" dirty="0">
              <a:latin typeface="NewBaskervilleStd-Roman"/>
            </a:endParaRPr>
          </a:p>
          <a:p>
            <a:pPr algn="l"/>
            <a:r>
              <a:rPr lang="en-IN" sz="2400" b="1" i="0" u="none" strike="noStrike" baseline="0" dirty="0">
                <a:latin typeface="NewBaskervilleStd-Roman"/>
              </a:rPr>
              <a:t>Comments - //, /*  */ </a:t>
            </a:r>
          </a:p>
          <a:p>
            <a:pPr algn="l"/>
            <a:r>
              <a:rPr lang="en-IN" sz="2400" b="1" i="0" u="none" strike="noStrike" baseline="0" dirty="0">
                <a:latin typeface="NewBaskervilleStd-Roman"/>
              </a:rPr>
              <a:t>Operators – All operators</a:t>
            </a:r>
          </a:p>
          <a:p>
            <a:pPr algn="l"/>
            <a:r>
              <a:rPr lang="en-IN" sz="2400" b="1" i="0" u="none" strike="noStrike" baseline="0" dirty="0">
                <a:latin typeface="NewBaskervilleStd-Roman"/>
              </a:rPr>
              <a:t>separators, and  -</a:t>
            </a:r>
          </a:p>
          <a:p>
            <a:pPr algn="l"/>
            <a:r>
              <a:rPr lang="en-IN" sz="2400" b="1" i="0" u="none" strike="noStrike" baseline="0" dirty="0">
                <a:latin typeface="NewBaskervilleStd-Roman"/>
              </a:rPr>
              <a:t>keywords</a:t>
            </a:r>
            <a:endParaRPr lang="en-IN" sz="2800" b="1" dirty="0"/>
          </a:p>
        </p:txBody>
      </p:sp>
      <p:sp>
        <p:nvSpPr>
          <p:cNvPr id="4" name="Date Placeholder 3">
            <a:extLst>
              <a:ext uri="{FF2B5EF4-FFF2-40B4-BE49-F238E27FC236}">
                <a16:creationId xmlns:a16="http://schemas.microsoft.com/office/drawing/2014/main" id="{E2B3B3DA-7515-A699-2666-5C57C48664E7}"/>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4CDA17CD-7E4C-1BA1-B0F3-3744143F507B}"/>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E87F8D1E-A668-57DF-B6DE-4E6476F90CD2}"/>
              </a:ext>
            </a:extLst>
          </p:cNvPr>
          <p:cNvSpPr>
            <a:spLocks noGrp="1"/>
          </p:cNvSpPr>
          <p:nvPr>
            <p:ph type="sldNum" sz="quarter" idx="12"/>
          </p:nvPr>
        </p:nvSpPr>
        <p:spPr/>
        <p:txBody>
          <a:bodyPr/>
          <a:lstStyle/>
          <a:p>
            <a:pPr>
              <a:defRPr/>
            </a:pPr>
            <a:fld id="{846AEF8D-D938-433D-BBFD-44F2BB354120}" type="slidenum">
              <a:rPr lang="en-US" altLang="en-US" smtClean="0"/>
              <a:pPr>
                <a:defRPr/>
              </a:pPr>
              <a:t>53</a:t>
            </a:fld>
            <a:endParaRPr lang="en-US" altLang="en-US"/>
          </a:p>
        </p:txBody>
      </p:sp>
    </p:spTree>
    <p:extLst>
      <p:ext uri="{BB962C8B-B14F-4D97-AF65-F5344CB8AC3E}">
        <p14:creationId xmlns:p14="http://schemas.microsoft.com/office/powerpoint/2010/main" val="4164472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1312-9411-27D5-47F6-B3B4CA705E2E}"/>
              </a:ext>
            </a:extLst>
          </p:cNvPr>
          <p:cNvSpPr>
            <a:spLocks noGrp="1"/>
          </p:cNvSpPr>
          <p:nvPr>
            <p:ph type="title"/>
          </p:nvPr>
        </p:nvSpPr>
        <p:spPr>
          <a:xfrm>
            <a:off x="2171700" y="763588"/>
            <a:ext cx="6378575" cy="608012"/>
          </a:xfrm>
        </p:spPr>
        <p:txBody>
          <a:bodyPr>
            <a:normAutofit fontScale="90000"/>
          </a:bodyPr>
          <a:lstStyle/>
          <a:p>
            <a:r>
              <a:rPr lang="en-IN" dirty="0"/>
              <a:t>Separators</a:t>
            </a:r>
          </a:p>
        </p:txBody>
      </p:sp>
      <p:pic>
        <p:nvPicPr>
          <p:cNvPr id="8" name="Content Placeholder 7">
            <a:extLst>
              <a:ext uri="{FF2B5EF4-FFF2-40B4-BE49-F238E27FC236}">
                <a16:creationId xmlns:a16="http://schemas.microsoft.com/office/drawing/2014/main" id="{409BCC6D-417C-3F07-EA60-1862BF9DE011}"/>
              </a:ext>
            </a:extLst>
          </p:cNvPr>
          <p:cNvPicPr>
            <a:picLocks noGrp="1" noChangeAspect="1"/>
          </p:cNvPicPr>
          <p:nvPr>
            <p:ph idx="1"/>
          </p:nvPr>
        </p:nvPicPr>
        <p:blipFill>
          <a:blip r:embed="rId2"/>
          <a:stretch>
            <a:fillRect/>
          </a:stretch>
        </p:blipFill>
        <p:spPr>
          <a:xfrm>
            <a:off x="944565" y="1853220"/>
            <a:ext cx="7254869" cy="4503130"/>
          </a:xfrm>
        </p:spPr>
      </p:pic>
      <p:sp>
        <p:nvSpPr>
          <p:cNvPr id="4" name="Date Placeholder 3">
            <a:extLst>
              <a:ext uri="{FF2B5EF4-FFF2-40B4-BE49-F238E27FC236}">
                <a16:creationId xmlns:a16="http://schemas.microsoft.com/office/drawing/2014/main" id="{23F97DE8-88E0-EE1B-A55F-794A77500529}"/>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8B02D008-741C-2BE3-8E12-D8D9C805AD26}"/>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125CB659-5200-01BC-3CF6-F664360CCD73}"/>
              </a:ext>
            </a:extLst>
          </p:cNvPr>
          <p:cNvSpPr>
            <a:spLocks noGrp="1"/>
          </p:cNvSpPr>
          <p:nvPr>
            <p:ph type="sldNum" sz="quarter" idx="12"/>
          </p:nvPr>
        </p:nvSpPr>
        <p:spPr/>
        <p:txBody>
          <a:bodyPr/>
          <a:lstStyle/>
          <a:p>
            <a:pPr>
              <a:defRPr/>
            </a:pPr>
            <a:fld id="{846AEF8D-D938-433D-BBFD-44F2BB354120}" type="slidenum">
              <a:rPr lang="en-US" altLang="en-US" smtClean="0"/>
              <a:pPr>
                <a:defRPr/>
              </a:pPr>
              <a:t>54</a:t>
            </a:fld>
            <a:endParaRPr lang="en-US" altLang="en-US"/>
          </a:p>
        </p:txBody>
      </p:sp>
    </p:spTree>
    <p:extLst>
      <p:ext uri="{BB962C8B-B14F-4D97-AF65-F5344CB8AC3E}">
        <p14:creationId xmlns:p14="http://schemas.microsoft.com/office/powerpoint/2010/main" val="13576523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CD7DE-3EAB-B762-6F30-4EA8B3B49C49}"/>
              </a:ext>
            </a:extLst>
          </p:cNvPr>
          <p:cNvSpPr>
            <a:spLocks noGrp="1"/>
          </p:cNvSpPr>
          <p:nvPr>
            <p:ph type="title"/>
          </p:nvPr>
        </p:nvSpPr>
        <p:spPr/>
        <p:txBody>
          <a:bodyPr>
            <a:normAutofit/>
          </a:bodyPr>
          <a:lstStyle/>
          <a:p>
            <a:r>
              <a:rPr lang="en-IN" sz="3200"/>
              <a:t>Keywords</a:t>
            </a:r>
            <a:endParaRPr lang="en-IN" sz="3200" dirty="0"/>
          </a:p>
        </p:txBody>
      </p:sp>
      <p:pic>
        <p:nvPicPr>
          <p:cNvPr id="8" name="Content Placeholder 7">
            <a:extLst>
              <a:ext uri="{FF2B5EF4-FFF2-40B4-BE49-F238E27FC236}">
                <a16:creationId xmlns:a16="http://schemas.microsoft.com/office/drawing/2014/main" id="{F52F5AE0-ABCF-B5C5-6872-4E6D85FDD666}"/>
              </a:ext>
            </a:extLst>
          </p:cNvPr>
          <p:cNvPicPr>
            <a:picLocks noGrp="1" noChangeAspect="1"/>
          </p:cNvPicPr>
          <p:nvPr>
            <p:ph idx="1"/>
          </p:nvPr>
        </p:nvPicPr>
        <p:blipFill>
          <a:blip r:embed="rId2"/>
          <a:stretch>
            <a:fillRect/>
          </a:stretch>
        </p:blipFill>
        <p:spPr>
          <a:xfrm>
            <a:off x="593725" y="2362200"/>
            <a:ext cx="7956550" cy="3420594"/>
          </a:xfrm>
        </p:spPr>
      </p:pic>
      <p:sp>
        <p:nvSpPr>
          <p:cNvPr id="4" name="Date Placeholder 3">
            <a:extLst>
              <a:ext uri="{FF2B5EF4-FFF2-40B4-BE49-F238E27FC236}">
                <a16:creationId xmlns:a16="http://schemas.microsoft.com/office/drawing/2014/main" id="{4235B161-C5FD-E69A-1313-F932F8688A23}"/>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67C3E698-A278-6848-0BFF-8FDE58574244}"/>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E71F4039-1AAD-AFE2-8994-BB2AC75E237E}"/>
              </a:ext>
            </a:extLst>
          </p:cNvPr>
          <p:cNvSpPr>
            <a:spLocks noGrp="1"/>
          </p:cNvSpPr>
          <p:nvPr>
            <p:ph type="sldNum" sz="quarter" idx="12"/>
          </p:nvPr>
        </p:nvSpPr>
        <p:spPr/>
        <p:txBody>
          <a:bodyPr/>
          <a:lstStyle/>
          <a:p>
            <a:pPr>
              <a:defRPr/>
            </a:pPr>
            <a:fld id="{846AEF8D-D938-433D-BBFD-44F2BB354120}" type="slidenum">
              <a:rPr lang="en-US" altLang="en-US" smtClean="0"/>
              <a:pPr>
                <a:defRPr/>
              </a:pPr>
              <a:t>55</a:t>
            </a:fld>
            <a:endParaRPr lang="en-US" altLang="en-US"/>
          </a:p>
        </p:txBody>
      </p:sp>
      <p:sp>
        <p:nvSpPr>
          <p:cNvPr id="10" name="TextBox 9">
            <a:extLst>
              <a:ext uri="{FF2B5EF4-FFF2-40B4-BE49-F238E27FC236}">
                <a16:creationId xmlns:a16="http://schemas.microsoft.com/office/drawing/2014/main" id="{A95AF6ED-066D-12B6-4BED-7DC0544ABA33}"/>
              </a:ext>
            </a:extLst>
          </p:cNvPr>
          <p:cNvSpPr txBox="1"/>
          <p:nvPr/>
        </p:nvSpPr>
        <p:spPr>
          <a:xfrm>
            <a:off x="762000" y="1967468"/>
            <a:ext cx="7399460" cy="369332"/>
          </a:xfrm>
          <a:prstGeom prst="rect">
            <a:avLst/>
          </a:prstGeom>
          <a:noFill/>
        </p:spPr>
        <p:txBody>
          <a:bodyPr wrap="square">
            <a:spAutoFit/>
          </a:bodyPr>
          <a:lstStyle/>
          <a:p>
            <a:r>
              <a:rPr lang="en-IN" sz="1800" b="0" i="0" u="none" strike="noStrike" baseline="0" dirty="0">
                <a:latin typeface="NewBaskervilleStd-Roman"/>
              </a:rPr>
              <a:t>There are 50 keywords currently defined in the Java language</a:t>
            </a:r>
            <a:endParaRPr lang="en-IN" dirty="0"/>
          </a:p>
        </p:txBody>
      </p:sp>
    </p:spTree>
    <p:extLst>
      <p:ext uri="{BB962C8B-B14F-4D97-AF65-F5344CB8AC3E}">
        <p14:creationId xmlns:p14="http://schemas.microsoft.com/office/powerpoint/2010/main" val="38501445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5167E8A5-D702-CEF0-C88C-0FCC83B2F6A8}"/>
              </a:ext>
            </a:extLst>
          </p:cNvPr>
          <p:cNvSpPr>
            <a:spLocks noGrp="1" noChangeArrowheads="1"/>
          </p:cNvSpPr>
          <p:nvPr>
            <p:ph type="title"/>
          </p:nvPr>
        </p:nvSpPr>
        <p:spPr/>
        <p:txBody>
          <a:bodyPr/>
          <a:lstStyle/>
          <a:p>
            <a:pPr eaLnBrk="1" fontAlgn="auto" hangingPunct="1">
              <a:spcAft>
                <a:spcPts val="0"/>
              </a:spcAft>
              <a:defRPr/>
            </a:pPr>
            <a:r>
              <a:rPr lang="en-US" altLang="en-US"/>
              <a:t>Java Processing and Execution</a:t>
            </a:r>
          </a:p>
        </p:txBody>
      </p:sp>
      <p:sp>
        <p:nvSpPr>
          <p:cNvPr id="22531" name="Rectangle 3">
            <a:extLst>
              <a:ext uri="{FF2B5EF4-FFF2-40B4-BE49-F238E27FC236}">
                <a16:creationId xmlns:a16="http://schemas.microsoft.com/office/drawing/2014/main" id="{910DCAD6-184C-789B-EAA7-E056FBB12852}"/>
              </a:ext>
            </a:extLst>
          </p:cNvPr>
          <p:cNvSpPr>
            <a:spLocks noGrp="1" noChangeArrowheads="1"/>
          </p:cNvSpPr>
          <p:nvPr>
            <p:ph idx="1"/>
          </p:nvPr>
        </p:nvSpPr>
        <p:spPr>
          <a:xfrm>
            <a:off x="381000" y="2667000"/>
            <a:ext cx="8382000" cy="4525963"/>
          </a:xfrm>
        </p:spPr>
        <p:txBody>
          <a:bodyPr/>
          <a:lstStyle/>
          <a:p>
            <a:pPr eaLnBrk="1" hangingPunct="1"/>
            <a:r>
              <a:rPr lang="en-US" altLang="en-US" dirty="0"/>
              <a:t>Begin with Java </a:t>
            </a:r>
            <a:r>
              <a:rPr lang="en-US" altLang="en-US" b="1" i="1" dirty="0"/>
              <a:t>source code</a:t>
            </a:r>
            <a:r>
              <a:rPr lang="en-US" altLang="en-US" dirty="0"/>
              <a:t> in text files: </a:t>
            </a:r>
            <a:r>
              <a:rPr lang="en-IN" sz="2400" b="1" i="0" u="none" strike="noStrike" baseline="0" dirty="0"/>
              <a:t>Example</a:t>
            </a:r>
            <a:r>
              <a:rPr lang="en-US" altLang="en-US" b="1" dirty="0"/>
              <a:t>.java</a:t>
            </a:r>
          </a:p>
          <a:p>
            <a:pPr eaLnBrk="1" hangingPunct="1"/>
            <a:r>
              <a:rPr lang="en-US" altLang="en-US" dirty="0"/>
              <a:t>A Java source code compiler produces Java </a:t>
            </a:r>
            <a:r>
              <a:rPr lang="en-US" altLang="en-US" b="1" i="1" dirty="0"/>
              <a:t>byte code</a:t>
            </a:r>
            <a:endParaRPr lang="en-US" altLang="en-US" dirty="0"/>
          </a:p>
          <a:p>
            <a:pPr lvl="1" eaLnBrk="1" hangingPunct="1"/>
            <a:r>
              <a:rPr lang="en-US" altLang="en-US" dirty="0"/>
              <a:t>Outputs one file per class: </a:t>
            </a:r>
            <a:r>
              <a:rPr lang="en-IN" sz="2000" b="1" i="0" u="none" strike="noStrike" baseline="0" dirty="0"/>
              <a:t>Example</a:t>
            </a:r>
            <a:r>
              <a:rPr lang="en-US" altLang="en-US" b="1" dirty="0"/>
              <a:t>.class</a:t>
            </a:r>
          </a:p>
          <a:p>
            <a:pPr lvl="1" eaLnBrk="1" hangingPunct="1"/>
            <a:r>
              <a:rPr lang="en-US" altLang="en-US" dirty="0"/>
              <a:t>May be standalone or part of an IDE</a:t>
            </a:r>
          </a:p>
          <a:p>
            <a:pPr marL="457200" lvl="1" indent="0" eaLnBrk="1" hangingPunct="1">
              <a:buNone/>
            </a:pPr>
            <a:endParaRPr lang="en-US" altLang="en-US" dirty="0"/>
          </a:p>
          <a:p>
            <a:pPr eaLnBrk="1" hangingPunct="1"/>
            <a:r>
              <a:rPr lang="en-US" altLang="en-US" dirty="0"/>
              <a:t>A </a:t>
            </a:r>
            <a:r>
              <a:rPr lang="en-US" altLang="en-US" b="1" i="1" dirty="0"/>
              <a:t>Java Virtual Machine</a:t>
            </a:r>
            <a:r>
              <a:rPr lang="en-US" altLang="en-US" dirty="0"/>
              <a:t> loads and executes class files</a:t>
            </a:r>
          </a:p>
          <a:p>
            <a:pPr lvl="1" eaLnBrk="1" hangingPunct="1"/>
            <a:r>
              <a:rPr lang="en-US" altLang="en-US" dirty="0"/>
              <a:t>May compile them to native code (e.g., x86) internally</a:t>
            </a:r>
          </a:p>
          <a:p>
            <a:pPr eaLnBrk="1" hangingPunct="1"/>
            <a:endParaRPr lang="en-US" altLang="en-US" dirty="0"/>
          </a:p>
          <a:p>
            <a:pPr eaLnBrk="1" hangingPunct="1"/>
            <a:endParaRPr lang="en-US" altLang="en-US" dirty="0"/>
          </a:p>
        </p:txBody>
      </p:sp>
      <p:sp>
        <p:nvSpPr>
          <p:cNvPr id="20482" name="Footer Placeholder 4">
            <a:extLst>
              <a:ext uri="{FF2B5EF4-FFF2-40B4-BE49-F238E27FC236}">
                <a16:creationId xmlns:a16="http://schemas.microsoft.com/office/drawing/2014/main" id="{A40350F2-9596-ECA4-54BD-771051151B57}"/>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IN" altLang="en-US" dirty="0"/>
              <a:t>Object Oriented Programming with Java</a:t>
            </a:r>
            <a:endParaRPr lang="en-US" altLang="en-US" dirty="0"/>
          </a:p>
        </p:txBody>
      </p:sp>
      <p:sp>
        <p:nvSpPr>
          <p:cNvPr id="20483" name="Slide Number Placeholder 5">
            <a:extLst>
              <a:ext uri="{FF2B5EF4-FFF2-40B4-BE49-F238E27FC236}">
                <a16:creationId xmlns:a16="http://schemas.microsoft.com/office/drawing/2014/main" id="{F10F34E3-66F8-250D-0365-4B376BF34407}"/>
              </a:ext>
            </a:extLst>
          </p:cNvPr>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46035134-9B0B-44DD-AF86-506625D40AFA}" type="slidenum">
              <a:rPr lang="en-US" altLang="en-US"/>
              <a:pPr>
                <a:defRPr/>
              </a:pPr>
              <a:t>56</a:t>
            </a:fld>
            <a:endParaRPr lang="en-US" altLang="en-US"/>
          </a:p>
        </p:txBody>
      </p:sp>
      <p:sp>
        <p:nvSpPr>
          <p:cNvPr id="2" name="Date Placeholder 1">
            <a:extLst>
              <a:ext uri="{FF2B5EF4-FFF2-40B4-BE49-F238E27FC236}">
                <a16:creationId xmlns:a16="http://schemas.microsoft.com/office/drawing/2014/main" id="{F9EC8C87-A28A-F9D7-D441-A7BDF778B13A}"/>
              </a:ext>
            </a:extLst>
          </p:cNvPr>
          <p:cNvSpPr>
            <a:spLocks noGrp="1"/>
          </p:cNvSpPr>
          <p:nvPr>
            <p:ph type="dt" sz="quarter" idx="10"/>
          </p:nvPr>
        </p:nvSpPr>
        <p:spPr/>
        <p:txBody>
          <a:bodyPr/>
          <a:lstStyle/>
          <a:p>
            <a:pPr>
              <a:defRPr/>
            </a:pPr>
            <a:fld id="{61D98375-B954-43A1-9F55-D063DEE43C17}" type="datetime1">
              <a:rPr lang="en-US" altLang="en-US"/>
              <a:pPr>
                <a:defRPr/>
              </a:pPr>
              <a:t>8/26/2024</a:t>
            </a:fld>
            <a:endParaRPr lang="en-US" altLang="en-US"/>
          </a:p>
        </p:txBody>
      </p:sp>
    </p:spTree>
  </p:cSld>
  <p:clrMapOvr>
    <a:masterClrMapping/>
  </p:clrMapOvr>
  <p:transition spd="slow">
    <p:cov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43C9-9345-A10F-0268-A4EA5688BFB9}"/>
              </a:ext>
            </a:extLst>
          </p:cNvPr>
          <p:cNvSpPr>
            <a:spLocks noGrp="1"/>
          </p:cNvSpPr>
          <p:nvPr>
            <p:ph type="title"/>
          </p:nvPr>
        </p:nvSpPr>
        <p:spPr>
          <a:xfrm>
            <a:off x="381000" y="763588"/>
            <a:ext cx="8169275" cy="531812"/>
          </a:xfrm>
        </p:spPr>
        <p:txBody>
          <a:bodyPr>
            <a:noAutofit/>
          </a:bodyPr>
          <a:lstStyle/>
          <a:p>
            <a:r>
              <a:rPr lang="en-US" altLang="en-US" sz="2800" b="1" dirty="0">
                <a:latin typeface="+mn-lt"/>
              </a:rPr>
              <a:t>Compiling and Executing a Java Program</a:t>
            </a:r>
            <a:endParaRPr lang="en-IN" sz="2800" b="1" dirty="0"/>
          </a:p>
        </p:txBody>
      </p:sp>
      <p:sp>
        <p:nvSpPr>
          <p:cNvPr id="4" name="Date Placeholder 3">
            <a:extLst>
              <a:ext uri="{FF2B5EF4-FFF2-40B4-BE49-F238E27FC236}">
                <a16:creationId xmlns:a16="http://schemas.microsoft.com/office/drawing/2014/main" id="{21CC2922-7BC1-00E8-D846-3B784C26AFD2}"/>
              </a:ext>
            </a:extLst>
          </p:cNvPr>
          <p:cNvSpPr>
            <a:spLocks noGrp="1"/>
          </p:cNvSpPr>
          <p:nvPr>
            <p:ph type="dt" sz="half" idx="10"/>
          </p:nvPr>
        </p:nvSpPr>
        <p:spPr/>
        <p:txBody>
          <a:bodyPr/>
          <a:lstStyle/>
          <a:p>
            <a:pPr>
              <a:defRPr/>
            </a:pPr>
            <a:fld id="{E5190A90-CA48-40A0-A485-EB12331BA3A3}" type="datetime1">
              <a:rPr lang="en-US" altLang="en-US" smtClean="0"/>
              <a:pPr>
                <a:defRPr/>
              </a:pPr>
              <a:t>8/27/2024</a:t>
            </a:fld>
            <a:endParaRPr lang="en-US" altLang="en-US"/>
          </a:p>
        </p:txBody>
      </p:sp>
      <p:sp>
        <p:nvSpPr>
          <p:cNvPr id="5" name="Footer Placeholder 4">
            <a:extLst>
              <a:ext uri="{FF2B5EF4-FFF2-40B4-BE49-F238E27FC236}">
                <a16:creationId xmlns:a16="http://schemas.microsoft.com/office/drawing/2014/main" id="{555FCFFB-D840-F193-9201-9A4905FC4743}"/>
              </a:ext>
            </a:extLst>
          </p:cNvPr>
          <p:cNvSpPr>
            <a:spLocks noGrp="1"/>
          </p:cNvSpPr>
          <p:nvPr>
            <p:ph type="ftr" sz="quarter" idx="11"/>
          </p:nvPr>
        </p:nvSpPr>
        <p:spPr/>
        <p:txBody>
          <a:bodyPr/>
          <a:lstStyle/>
          <a:p>
            <a:pPr>
              <a:defRPr/>
            </a:pPr>
            <a:r>
              <a:rPr lang="en-IN" altLang="en-US"/>
              <a:t>Object Oriented Programming with Java</a:t>
            </a:r>
            <a:endParaRPr lang="en-US" altLang="en-US" dirty="0"/>
          </a:p>
        </p:txBody>
      </p:sp>
      <p:sp>
        <p:nvSpPr>
          <p:cNvPr id="6" name="Slide Number Placeholder 5">
            <a:extLst>
              <a:ext uri="{FF2B5EF4-FFF2-40B4-BE49-F238E27FC236}">
                <a16:creationId xmlns:a16="http://schemas.microsoft.com/office/drawing/2014/main" id="{F552FE3F-7BF3-1B86-8AEB-B3A48D5DB45B}"/>
              </a:ext>
            </a:extLst>
          </p:cNvPr>
          <p:cNvSpPr>
            <a:spLocks noGrp="1"/>
          </p:cNvSpPr>
          <p:nvPr>
            <p:ph type="sldNum" sz="quarter" idx="12"/>
          </p:nvPr>
        </p:nvSpPr>
        <p:spPr/>
        <p:txBody>
          <a:bodyPr/>
          <a:lstStyle/>
          <a:p>
            <a:pPr>
              <a:defRPr/>
            </a:pPr>
            <a:fld id="{846AEF8D-D938-433D-BBFD-44F2BB354120}" type="slidenum">
              <a:rPr lang="en-US" altLang="en-US" smtClean="0"/>
              <a:pPr>
                <a:defRPr/>
              </a:pPr>
              <a:t>57</a:t>
            </a:fld>
            <a:endParaRPr lang="en-US" altLang="en-US"/>
          </a:p>
        </p:txBody>
      </p:sp>
      <p:pic>
        <p:nvPicPr>
          <p:cNvPr id="10242" name="Picture 2">
            <a:extLst>
              <a:ext uri="{FF2B5EF4-FFF2-40B4-BE49-F238E27FC236}">
                <a16:creationId xmlns:a16="http://schemas.microsoft.com/office/drawing/2014/main" id="{0CD750AB-36DF-2A30-2811-DD91567EE3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1479550"/>
            <a:ext cx="780288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007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a:extLst>
              <a:ext uri="{FF2B5EF4-FFF2-40B4-BE49-F238E27FC236}">
                <a16:creationId xmlns:a16="http://schemas.microsoft.com/office/drawing/2014/main" id="{2A56B214-3BD2-CC02-DD99-9604D3FFB59F}"/>
              </a:ext>
            </a:extLst>
          </p:cNvPr>
          <p:cNvSpPr>
            <a:spLocks noGrp="1" noChangeArrowheads="1"/>
          </p:cNvSpPr>
          <p:nvPr>
            <p:ph type="title"/>
          </p:nvPr>
        </p:nvSpPr>
        <p:spPr/>
        <p:txBody>
          <a:bodyPr/>
          <a:lstStyle/>
          <a:p>
            <a:pPr eaLnBrk="1" fontAlgn="auto" hangingPunct="1">
              <a:spcAft>
                <a:spcPts val="0"/>
              </a:spcAft>
              <a:defRPr/>
            </a:pPr>
            <a:r>
              <a:rPr lang="en-US" altLang="en-US"/>
              <a:t>Classes and Objects</a:t>
            </a:r>
          </a:p>
        </p:txBody>
      </p:sp>
      <p:sp>
        <p:nvSpPr>
          <p:cNvPr id="24579" name="Rectangle 3">
            <a:extLst>
              <a:ext uri="{FF2B5EF4-FFF2-40B4-BE49-F238E27FC236}">
                <a16:creationId xmlns:a16="http://schemas.microsoft.com/office/drawing/2014/main" id="{DE722DF5-8429-BBC7-2A7D-5DF6B9C7A9B6}"/>
              </a:ext>
            </a:extLst>
          </p:cNvPr>
          <p:cNvSpPr>
            <a:spLocks noGrp="1" noChangeArrowheads="1"/>
          </p:cNvSpPr>
          <p:nvPr>
            <p:ph idx="1"/>
          </p:nvPr>
        </p:nvSpPr>
        <p:spPr>
          <a:xfrm>
            <a:off x="457200" y="1600200"/>
            <a:ext cx="8382000" cy="4525963"/>
          </a:xfrm>
        </p:spPr>
        <p:txBody>
          <a:bodyPr/>
          <a:lstStyle/>
          <a:p>
            <a:pPr eaLnBrk="1" hangingPunct="1"/>
            <a:r>
              <a:rPr lang="en-US" altLang="en-US" dirty="0"/>
              <a:t>The </a:t>
            </a:r>
            <a:r>
              <a:rPr lang="en-US" altLang="en-US" b="1" i="1" dirty="0"/>
              <a:t>class</a:t>
            </a:r>
            <a:r>
              <a:rPr lang="en-US" altLang="en-US" dirty="0"/>
              <a:t> is the unit of programming</a:t>
            </a:r>
          </a:p>
          <a:p>
            <a:pPr eaLnBrk="1" hangingPunct="1"/>
            <a:r>
              <a:rPr lang="en-US" altLang="en-US" dirty="0"/>
              <a:t>A Java program is a </a:t>
            </a:r>
            <a:r>
              <a:rPr lang="en-US" altLang="en-US" b="1" i="1" dirty="0"/>
              <a:t>collection of classes</a:t>
            </a:r>
          </a:p>
          <a:p>
            <a:pPr lvl="1" eaLnBrk="1" hangingPunct="1"/>
            <a:r>
              <a:rPr lang="en-US" altLang="en-US" dirty="0"/>
              <a:t>Each class definition (usually) in its own </a:t>
            </a:r>
            <a:r>
              <a:rPr lang="en-US" altLang="en-US" b="1" dirty="0">
                <a:latin typeface="Courier New" panose="02070309020205020404" pitchFamily="49" charset="0"/>
              </a:rPr>
              <a:t>.java</a:t>
            </a:r>
            <a:r>
              <a:rPr lang="en-US" altLang="en-US" dirty="0"/>
              <a:t> file</a:t>
            </a:r>
          </a:p>
          <a:p>
            <a:pPr lvl="1" eaLnBrk="1" hangingPunct="1"/>
            <a:r>
              <a:rPr lang="en-US" altLang="en-US" i="1" dirty="0"/>
              <a:t>The file name must match the class name</a:t>
            </a:r>
          </a:p>
          <a:p>
            <a:pPr eaLnBrk="1" hangingPunct="1"/>
            <a:r>
              <a:rPr lang="en-US" altLang="en-US" dirty="0"/>
              <a:t>A class describes </a:t>
            </a:r>
            <a:r>
              <a:rPr lang="en-US" altLang="en-US" b="1" i="1" dirty="0"/>
              <a:t>objects (instances)</a:t>
            </a:r>
            <a:endParaRPr lang="en-US" altLang="en-US" dirty="0"/>
          </a:p>
          <a:p>
            <a:pPr lvl="1" eaLnBrk="1" hangingPunct="1"/>
            <a:r>
              <a:rPr lang="en-US" altLang="en-US" dirty="0"/>
              <a:t>Describes their common characteristics: is a </a:t>
            </a:r>
            <a:r>
              <a:rPr lang="en-US" altLang="en-US" i="1" dirty="0"/>
              <a:t>blueprint</a:t>
            </a:r>
          </a:p>
          <a:p>
            <a:pPr lvl="1" eaLnBrk="1" hangingPunct="1"/>
            <a:r>
              <a:rPr lang="en-US" altLang="en-US" dirty="0"/>
              <a:t>Thus all the instances have these same characteristics</a:t>
            </a:r>
          </a:p>
          <a:p>
            <a:pPr eaLnBrk="1" hangingPunct="1"/>
            <a:r>
              <a:rPr lang="en-US" altLang="en-US" dirty="0"/>
              <a:t>These characteristics are:</a:t>
            </a:r>
          </a:p>
          <a:p>
            <a:pPr lvl="1" eaLnBrk="1" hangingPunct="1"/>
            <a:r>
              <a:rPr lang="en-US" altLang="en-US" b="1" i="1" dirty="0"/>
              <a:t>Data fields</a:t>
            </a:r>
            <a:r>
              <a:rPr lang="en-US" altLang="en-US" dirty="0"/>
              <a:t> for each object</a:t>
            </a:r>
          </a:p>
          <a:p>
            <a:pPr lvl="1" eaLnBrk="1" hangingPunct="1"/>
            <a:r>
              <a:rPr lang="en-US" altLang="en-US" b="1" i="1" dirty="0"/>
              <a:t>Methods</a:t>
            </a:r>
            <a:r>
              <a:rPr lang="en-US" altLang="en-US" dirty="0"/>
              <a:t> (operations) that do work on the objects</a:t>
            </a:r>
            <a:endParaRPr lang="en-US" altLang="en-US" b="1" i="1" dirty="0"/>
          </a:p>
        </p:txBody>
      </p:sp>
      <p:sp>
        <p:nvSpPr>
          <p:cNvPr id="22530" name="Footer Placeholder 4">
            <a:extLst>
              <a:ext uri="{FF2B5EF4-FFF2-40B4-BE49-F238E27FC236}">
                <a16:creationId xmlns:a16="http://schemas.microsoft.com/office/drawing/2014/main" id="{204F61B7-78E9-84E0-E088-FD54DD109ABC}"/>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IN" altLang="en-US" dirty="0"/>
              <a:t>Object Oriented Programming with Java</a:t>
            </a:r>
            <a:endParaRPr lang="en-US" altLang="en-US" dirty="0"/>
          </a:p>
        </p:txBody>
      </p:sp>
      <p:sp>
        <p:nvSpPr>
          <p:cNvPr id="22531" name="Slide Number Placeholder 5">
            <a:extLst>
              <a:ext uri="{FF2B5EF4-FFF2-40B4-BE49-F238E27FC236}">
                <a16:creationId xmlns:a16="http://schemas.microsoft.com/office/drawing/2014/main" id="{9843F1C1-D2FA-81FE-7655-BD7B3E43B663}"/>
              </a:ext>
            </a:extLst>
          </p:cNvPr>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466B834E-D7A8-4C64-8AFF-2198BC33F4B2}" type="slidenum">
              <a:rPr lang="en-US" altLang="en-US"/>
              <a:pPr>
                <a:defRPr/>
              </a:pPr>
              <a:t>58</a:t>
            </a:fld>
            <a:endParaRPr lang="en-US" altLang="en-US"/>
          </a:p>
        </p:txBody>
      </p:sp>
      <p:sp>
        <p:nvSpPr>
          <p:cNvPr id="2" name="Date Placeholder 1">
            <a:extLst>
              <a:ext uri="{FF2B5EF4-FFF2-40B4-BE49-F238E27FC236}">
                <a16:creationId xmlns:a16="http://schemas.microsoft.com/office/drawing/2014/main" id="{EDA909BD-DB05-A949-7721-FDD4A1989EBF}"/>
              </a:ext>
            </a:extLst>
          </p:cNvPr>
          <p:cNvSpPr>
            <a:spLocks noGrp="1"/>
          </p:cNvSpPr>
          <p:nvPr>
            <p:ph type="dt" sz="quarter" idx="10"/>
          </p:nvPr>
        </p:nvSpPr>
        <p:spPr/>
        <p:txBody>
          <a:bodyPr/>
          <a:lstStyle/>
          <a:p>
            <a:pPr>
              <a:defRPr/>
            </a:pPr>
            <a:fld id="{D0D847F1-F6E0-4EBD-8374-40377904FD5C}" type="datetime1">
              <a:rPr lang="en-US" altLang="en-US"/>
              <a:pPr>
                <a:defRPr/>
              </a:pPr>
              <a:t>8/26/2024</a:t>
            </a:fld>
            <a:endParaRPr lang="en-US" altLang="en-US"/>
          </a:p>
        </p:txBody>
      </p:sp>
    </p:spTree>
  </p:cSld>
  <p:clrMapOvr>
    <a:masterClrMapping/>
  </p:clrMapOvr>
  <p:transition spd="slow">
    <p:cove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B2FCCCFE-68C7-5B89-7898-46EE95095BFF}"/>
              </a:ext>
            </a:extLst>
          </p:cNvPr>
          <p:cNvSpPr>
            <a:spLocks noGrp="1" noChangeArrowheads="1"/>
          </p:cNvSpPr>
          <p:nvPr>
            <p:ph type="title"/>
          </p:nvPr>
        </p:nvSpPr>
        <p:spPr/>
        <p:txBody>
          <a:bodyPr/>
          <a:lstStyle/>
          <a:p>
            <a:pPr eaLnBrk="1" fontAlgn="auto" hangingPunct="1">
              <a:spcAft>
                <a:spcPts val="0"/>
              </a:spcAft>
              <a:defRPr/>
            </a:pPr>
            <a:r>
              <a:rPr lang="en-US" altLang="en-US" dirty="0"/>
              <a:t>Grouping Classes: The Java API</a:t>
            </a:r>
          </a:p>
        </p:txBody>
      </p:sp>
      <p:sp>
        <p:nvSpPr>
          <p:cNvPr id="25603" name="Rectangle 3">
            <a:extLst>
              <a:ext uri="{FF2B5EF4-FFF2-40B4-BE49-F238E27FC236}">
                <a16:creationId xmlns:a16="http://schemas.microsoft.com/office/drawing/2014/main" id="{C886BD42-74C0-3B82-E2B5-5D1C3A54B2BC}"/>
              </a:ext>
            </a:extLst>
          </p:cNvPr>
          <p:cNvSpPr>
            <a:spLocks noGrp="1" noChangeArrowheads="1"/>
          </p:cNvSpPr>
          <p:nvPr>
            <p:ph idx="1"/>
          </p:nvPr>
        </p:nvSpPr>
        <p:spPr/>
        <p:txBody>
          <a:bodyPr/>
          <a:lstStyle/>
          <a:p>
            <a:pPr eaLnBrk="1" hangingPunct="1"/>
            <a:r>
              <a:rPr lang="en-US" altLang="en-US" dirty="0"/>
              <a:t>A </a:t>
            </a:r>
            <a:r>
              <a:rPr lang="en-US" altLang="en-US" b="1" i="1" dirty="0"/>
              <a:t>package</a:t>
            </a:r>
            <a:r>
              <a:rPr lang="en-US" altLang="en-US" dirty="0"/>
              <a:t> consists of some related Java classes:</a:t>
            </a:r>
          </a:p>
          <a:p>
            <a:pPr lvl="1" eaLnBrk="1" hangingPunct="1"/>
            <a:r>
              <a:rPr lang="en-US" altLang="en-US" dirty="0"/>
              <a:t>Swing: a GUI (graphical user interface) package</a:t>
            </a:r>
          </a:p>
          <a:p>
            <a:pPr lvl="1" eaLnBrk="1" hangingPunct="1"/>
            <a:r>
              <a:rPr lang="en-US" altLang="en-US" dirty="0"/>
              <a:t>AWT: Application Window Toolkit (more GUI)</a:t>
            </a:r>
          </a:p>
          <a:p>
            <a:pPr lvl="1" eaLnBrk="1" hangingPunct="1"/>
            <a:r>
              <a:rPr lang="en-US" altLang="en-US" dirty="0"/>
              <a:t>util: utility data structures</a:t>
            </a:r>
          </a:p>
          <a:p>
            <a:pPr eaLnBrk="1" hangingPunct="1"/>
            <a:r>
              <a:rPr lang="en-US" altLang="en-US" dirty="0"/>
              <a:t>The </a:t>
            </a:r>
            <a:r>
              <a:rPr lang="en-US" altLang="en-US" b="1" i="1" dirty="0"/>
              <a:t>import</a:t>
            </a:r>
            <a:r>
              <a:rPr lang="en-US" altLang="en-US" dirty="0"/>
              <a:t> statement tells the compiler to make available classes and methods of another package</a:t>
            </a:r>
          </a:p>
          <a:p>
            <a:pPr eaLnBrk="1" hangingPunct="1"/>
            <a:r>
              <a:rPr lang="en-US" altLang="en-US" dirty="0"/>
              <a:t>A </a:t>
            </a:r>
            <a:r>
              <a:rPr lang="en-US" altLang="en-US" b="1" i="1" dirty="0"/>
              <a:t>main</a:t>
            </a:r>
            <a:r>
              <a:rPr lang="en-US" altLang="en-US" dirty="0"/>
              <a:t> method indicates where to begin executing a class (if it is designed to be run as a program)</a:t>
            </a:r>
          </a:p>
        </p:txBody>
      </p:sp>
      <p:sp>
        <p:nvSpPr>
          <p:cNvPr id="23554" name="Footer Placeholder 4">
            <a:extLst>
              <a:ext uri="{FF2B5EF4-FFF2-40B4-BE49-F238E27FC236}">
                <a16:creationId xmlns:a16="http://schemas.microsoft.com/office/drawing/2014/main" id="{4053C931-A82A-AACD-E764-F61BFDD419F2}"/>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IN" altLang="en-US" dirty="0"/>
              <a:t>Object Oriented Programming with Java</a:t>
            </a:r>
            <a:endParaRPr lang="en-US" altLang="en-US" dirty="0"/>
          </a:p>
        </p:txBody>
      </p:sp>
      <p:sp>
        <p:nvSpPr>
          <p:cNvPr id="23555" name="Slide Number Placeholder 5">
            <a:extLst>
              <a:ext uri="{FF2B5EF4-FFF2-40B4-BE49-F238E27FC236}">
                <a16:creationId xmlns:a16="http://schemas.microsoft.com/office/drawing/2014/main" id="{96AF3E6F-49C5-D952-6A5F-EB0D30B83DFA}"/>
              </a:ext>
            </a:extLst>
          </p:cNvPr>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2A6FE80A-834C-490D-831B-4428132BBEDF}" type="slidenum">
              <a:rPr lang="en-US" altLang="en-US"/>
              <a:pPr>
                <a:defRPr/>
              </a:pPr>
              <a:t>59</a:t>
            </a:fld>
            <a:endParaRPr lang="en-US" altLang="en-US"/>
          </a:p>
        </p:txBody>
      </p:sp>
      <p:sp>
        <p:nvSpPr>
          <p:cNvPr id="2" name="Date Placeholder 1">
            <a:extLst>
              <a:ext uri="{FF2B5EF4-FFF2-40B4-BE49-F238E27FC236}">
                <a16:creationId xmlns:a16="http://schemas.microsoft.com/office/drawing/2014/main" id="{FBD83731-E267-F13D-3116-01EE7D7CAC74}"/>
              </a:ext>
            </a:extLst>
          </p:cNvPr>
          <p:cNvSpPr>
            <a:spLocks noGrp="1"/>
          </p:cNvSpPr>
          <p:nvPr>
            <p:ph type="dt" sz="quarter" idx="10"/>
          </p:nvPr>
        </p:nvSpPr>
        <p:spPr/>
        <p:txBody>
          <a:bodyPr/>
          <a:lstStyle/>
          <a:p>
            <a:pPr>
              <a:defRPr/>
            </a:pPr>
            <a:fld id="{D7652D85-FC46-49F5-89E0-DC17637FFF8B}" type="datetime1">
              <a:rPr lang="en-US" altLang="en-US"/>
              <a:pPr>
                <a:defRPr/>
              </a:pPr>
              <a:t>8/26/2024</a:t>
            </a:fld>
            <a:endParaRPr lang="en-US" altLang="en-US"/>
          </a:p>
        </p:txBody>
      </p:sp>
    </p:spTree>
  </p:cSld>
  <p:clrMapOvr>
    <a:masterClrMapping/>
  </p:clrMapOvr>
  <p:transition spd="slow">
    <p:cove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0EA60A94-7994-518B-8F10-5A7B2885B695}"/>
              </a:ext>
            </a:extLst>
          </p:cNvPr>
          <p:cNvSpPr>
            <a:spLocks noGrp="1" noChangeArrowheads="1"/>
          </p:cNvSpPr>
          <p:nvPr>
            <p:ph type="title"/>
          </p:nvPr>
        </p:nvSpPr>
        <p:spPr>
          <a:xfrm>
            <a:off x="76200" y="763588"/>
            <a:ext cx="9067800" cy="1293812"/>
          </a:xfrm>
        </p:spPr>
        <p:txBody>
          <a:bodyPr>
            <a:normAutofit/>
          </a:bodyPr>
          <a:lstStyle/>
          <a:p>
            <a:pPr algn="l" eaLnBrk="1" fontAlgn="auto" hangingPunct="1">
              <a:spcAft>
                <a:spcPts val="0"/>
              </a:spcAft>
              <a:defRPr/>
            </a:pPr>
            <a:r>
              <a:rPr lang="en-US" altLang="en-US" sz="3600" b="1" dirty="0"/>
              <a:t>References and Primitive Data Types</a:t>
            </a:r>
          </a:p>
        </p:txBody>
      </p:sp>
      <p:sp>
        <p:nvSpPr>
          <p:cNvPr id="28675" name="Rectangle 3">
            <a:extLst>
              <a:ext uri="{FF2B5EF4-FFF2-40B4-BE49-F238E27FC236}">
                <a16:creationId xmlns:a16="http://schemas.microsoft.com/office/drawing/2014/main" id="{36630B72-3F48-F179-1097-010B5E36C0FF}"/>
              </a:ext>
            </a:extLst>
          </p:cNvPr>
          <p:cNvSpPr>
            <a:spLocks noGrp="1" noChangeArrowheads="1"/>
          </p:cNvSpPr>
          <p:nvPr>
            <p:ph idx="1"/>
          </p:nvPr>
        </p:nvSpPr>
        <p:spPr>
          <a:xfrm>
            <a:off x="593725" y="2254250"/>
            <a:ext cx="7956550" cy="4070350"/>
          </a:xfrm>
        </p:spPr>
        <p:txBody>
          <a:bodyPr/>
          <a:lstStyle/>
          <a:p>
            <a:pPr eaLnBrk="1" hangingPunct="1"/>
            <a:r>
              <a:rPr lang="en-US" altLang="en-US" dirty="0"/>
              <a:t>Java distinguishes two kinds of entities</a:t>
            </a:r>
          </a:p>
          <a:p>
            <a:pPr lvl="1" eaLnBrk="1" hangingPunct="1"/>
            <a:r>
              <a:rPr lang="en-US" altLang="en-US" dirty="0"/>
              <a:t>Primitive types</a:t>
            </a:r>
          </a:p>
          <a:p>
            <a:pPr lvl="1" eaLnBrk="1" hangingPunct="1"/>
            <a:r>
              <a:rPr lang="en-US" altLang="en-US" dirty="0"/>
              <a:t>Objects</a:t>
            </a:r>
          </a:p>
          <a:p>
            <a:pPr eaLnBrk="1" hangingPunct="1"/>
            <a:r>
              <a:rPr lang="en-US" altLang="en-US" dirty="0"/>
              <a:t>Primitive-type data is stored in primitive-type variables</a:t>
            </a:r>
          </a:p>
          <a:p>
            <a:pPr eaLnBrk="1" hangingPunct="1"/>
            <a:r>
              <a:rPr lang="en-US" altLang="en-US" dirty="0"/>
              <a:t>Reference variables store the </a:t>
            </a:r>
            <a:r>
              <a:rPr lang="en-US" altLang="en-US" i="1" dirty="0"/>
              <a:t>address of</a:t>
            </a:r>
            <a:r>
              <a:rPr lang="en-US" altLang="en-US" dirty="0"/>
              <a:t> an object</a:t>
            </a:r>
          </a:p>
        </p:txBody>
      </p:sp>
      <p:sp>
        <p:nvSpPr>
          <p:cNvPr id="26626" name="Footer Placeholder 4">
            <a:extLst>
              <a:ext uri="{FF2B5EF4-FFF2-40B4-BE49-F238E27FC236}">
                <a16:creationId xmlns:a16="http://schemas.microsoft.com/office/drawing/2014/main" id="{AD317003-8F0D-88DB-1D4F-31D9BCDBE9DA}"/>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IN" altLang="en-US" dirty="0"/>
              <a:t>Object Oriented Programming with Java</a:t>
            </a:r>
            <a:endParaRPr lang="en-US" altLang="en-US" dirty="0"/>
          </a:p>
        </p:txBody>
      </p:sp>
      <p:sp>
        <p:nvSpPr>
          <p:cNvPr id="26627" name="Slide Number Placeholder 5">
            <a:extLst>
              <a:ext uri="{FF2B5EF4-FFF2-40B4-BE49-F238E27FC236}">
                <a16:creationId xmlns:a16="http://schemas.microsoft.com/office/drawing/2014/main" id="{C91DD359-344A-2326-0351-67585B4848D0}"/>
              </a:ext>
            </a:extLst>
          </p:cNvPr>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33BF2A83-C3E7-404A-AF88-F928BB756116}" type="slidenum">
              <a:rPr lang="en-US" altLang="en-US"/>
              <a:pPr>
                <a:defRPr/>
              </a:pPr>
              <a:t>60</a:t>
            </a:fld>
            <a:endParaRPr lang="en-US" altLang="en-US"/>
          </a:p>
        </p:txBody>
      </p:sp>
      <p:sp>
        <p:nvSpPr>
          <p:cNvPr id="2" name="Date Placeholder 1">
            <a:extLst>
              <a:ext uri="{FF2B5EF4-FFF2-40B4-BE49-F238E27FC236}">
                <a16:creationId xmlns:a16="http://schemas.microsoft.com/office/drawing/2014/main" id="{337B27B2-B6D4-77BD-D09D-7C3AD5A7F40A}"/>
              </a:ext>
            </a:extLst>
          </p:cNvPr>
          <p:cNvSpPr>
            <a:spLocks noGrp="1"/>
          </p:cNvSpPr>
          <p:nvPr>
            <p:ph type="dt" sz="quarter" idx="10"/>
          </p:nvPr>
        </p:nvSpPr>
        <p:spPr/>
        <p:txBody>
          <a:bodyPr/>
          <a:lstStyle/>
          <a:p>
            <a:pPr>
              <a:defRPr/>
            </a:pPr>
            <a:fld id="{81163383-D272-4692-9E8D-AF71BEB54007}" type="datetime1">
              <a:rPr lang="en-US" altLang="en-US"/>
              <a:pPr>
                <a:defRPr/>
              </a:pPr>
              <a:t>8/26/2024</a:t>
            </a:fld>
            <a:endParaRPr lang="en-US" altLang="en-US"/>
          </a:p>
        </p:txBody>
      </p:sp>
    </p:spTree>
  </p:cSld>
  <p:clrMapOvr>
    <a:masterClrMapping/>
  </p:clrMapOvr>
  <p:transition spd="slow">
    <p:cove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a:extLst>
              <a:ext uri="{FF2B5EF4-FFF2-40B4-BE49-F238E27FC236}">
                <a16:creationId xmlns:a16="http://schemas.microsoft.com/office/drawing/2014/main" id="{78A200C4-C1FD-82D5-875B-B0621121BD3E}"/>
              </a:ext>
            </a:extLst>
          </p:cNvPr>
          <p:cNvSpPr>
            <a:spLocks noGrp="1" noChangeArrowheads="1"/>
          </p:cNvSpPr>
          <p:nvPr>
            <p:ph type="title"/>
          </p:nvPr>
        </p:nvSpPr>
        <p:spPr/>
        <p:txBody>
          <a:bodyPr/>
          <a:lstStyle/>
          <a:p>
            <a:pPr eaLnBrk="1" fontAlgn="auto" hangingPunct="1">
              <a:spcAft>
                <a:spcPts val="0"/>
              </a:spcAft>
              <a:defRPr/>
            </a:pPr>
            <a:r>
              <a:rPr lang="en-US" altLang="en-US" dirty="0"/>
              <a:t>Primitive Data Types</a:t>
            </a:r>
          </a:p>
        </p:txBody>
      </p:sp>
      <p:graphicFrame>
        <p:nvGraphicFramePr>
          <p:cNvPr id="50226" name="Group 50">
            <a:extLst>
              <a:ext uri="{FF2B5EF4-FFF2-40B4-BE49-F238E27FC236}">
                <a16:creationId xmlns:a16="http://schemas.microsoft.com/office/drawing/2014/main" id="{73F4BCA2-F798-47FD-EAFC-84D4007FBE2D}"/>
              </a:ext>
            </a:extLst>
          </p:cNvPr>
          <p:cNvGraphicFramePr>
            <a:graphicFrameLocks noGrp="1"/>
          </p:cNvGraphicFramePr>
          <p:nvPr>
            <p:ph type="tbl" idx="1"/>
          </p:nvPr>
        </p:nvGraphicFramePr>
        <p:xfrm>
          <a:off x="457200" y="1600200"/>
          <a:ext cx="8229600" cy="4557714"/>
        </p:xfrm>
        <a:graphic>
          <a:graphicData uri="http://schemas.openxmlformats.org/drawingml/2006/table">
            <a:tbl>
              <a:tblPr/>
              <a:tblGrid>
                <a:gridCol w="18288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53340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Arial" panose="020B0604020202020204" pitchFamily="34" charset="0"/>
                        </a:rPr>
                        <a:t>Data 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Arial" panose="020B0604020202020204" pitchFamily="34" charset="0"/>
                        </a:rPr>
                        <a:t>Range of values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byte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-128 .. 127  (8 bits)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165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short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-32,768 .. 32,767  (16 bits)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3238">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-2,147,483,648 .. 2,147,483,647 (32 bits)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3238">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long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-9,223,372,036,854,775,808 ..  ...  (64 bits)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3238">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float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+/-10</a:t>
                      </a:r>
                      <a:r>
                        <a:rPr kumimoji="0" lang="en-US" altLang="en-US" sz="2000" b="0" i="0" u="none" strike="noStrike" cap="none" normalizeH="0" baseline="30000" dirty="0">
                          <a:ln>
                            <a:noFill/>
                          </a:ln>
                          <a:solidFill>
                            <a:schemeClr val="tx1"/>
                          </a:solidFill>
                          <a:effectLst/>
                          <a:latin typeface="Arial" panose="020B0604020202020204" pitchFamily="34" charset="0"/>
                          <a:cs typeface="Arial" panose="020B0604020202020204" pitchFamily="34" charset="0"/>
                        </a:rPr>
                        <a:t>-38</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+/-10</a:t>
                      </a:r>
                      <a:r>
                        <a:rPr kumimoji="0" lang="en-US" altLang="en-US" sz="2000" b="0" i="0" u="none" strike="noStrike" cap="none" normalizeH="0" baseline="30000" dirty="0">
                          <a:ln>
                            <a:noFill/>
                          </a:ln>
                          <a:solidFill>
                            <a:schemeClr val="tx1"/>
                          </a:solidFill>
                          <a:effectLst/>
                          <a:latin typeface="Arial" panose="020B0604020202020204" pitchFamily="34" charset="0"/>
                          <a:cs typeface="Arial" panose="020B0604020202020204" pitchFamily="34" charset="0"/>
                        </a:rPr>
                        <a:t>+38</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0, about 6 digits precision</a:t>
                      </a:r>
                      <a:endParaRPr kumimoji="0" lang="en-US" altLang="en-US" sz="2000" b="0" i="0" u="none" strike="noStrike" cap="none" normalizeH="0" baseline="30000" dirty="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165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double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+/-10</a:t>
                      </a:r>
                      <a:r>
                        <a:rPr kumimoji="0" lang="en-US" altLang="en-US" sz="2000" b="0" i="0" u="none" strike="noStrike" cap="none" normalizeH="0" baseline="30000">
                          <a:ln>
                            <a:noFill/>
                          </a:ln>
                          <a:solidFill>
                            <a:schemeClr val="tx1"/>
                          </a:solidFill>
                          <a:effectLst/>
                          <a:latin typeface="Arial" panose="020B0604020202020204" pitchFamily="34" charset="0"/>
                          <a:cs typeface="Arial" panose="020B0604020202020204" pitchFamily="34" charset="0"/>
                        </a:rPr>
                        <a:t>-308</a:t>
                      </a: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 to +/-10</a:t>
                      </a:r>
                      <a:r>
                        <a:rPr kumimoji="0" lang="en-US" altLang="en-US" sz="2000" b="0" i="0" u="none" strike="noStrike" cap="none" normalizeH="0" baseline="30000">
                          <a:ln>
                            <a:noFill/>
                          </a:ln>
                          <a:solidFill>
                            <a:schemeClr val="tx1"/>
                          </a:solidFill>
                          <a:effectLst/>
                          <a:latin typeface="Arial" panose="020B0604020202020204" pitchFamily="34" charset="0"/>
                          <a:cs typeface="Arial" panose="020B0604020202020204" pitchFamily="34" charset="0"/>
                        </a:rPr>
                        <a:t>+308</a:t>
                      </a: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 and 0, about 15 digits precision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4825">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char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Unicode characters (generally 16 bits per char)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0165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boolean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True or 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8674" name="Footer Placeholder 4">
            <a:extLst>
              <a:ext uri="{FF2B5EF4-FFF2-40B4-BE49-F238E27FC236}">
                <a16:creationId xmlns:a16="http://schemas.microsoft.com/office/drawing/2014/main" id="{5E51BD6C-45E9-B9B9-6759-0F9890CCBC90}"/>
              </a:ext>
            </a:extLst>
          </p:cNvPr>
          <p:cNvSpPr>
            <a:spLocks noGrp="1"/>
          </p:cNvSpPr>
          <p:nvPr>
            <p:ph type="ftr" sz="quarter" idx="11"/>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IN" altLang="en-US" dirty="0"/>
              <a:t>Object Oriented Programming with Java</a:t>
            </a:r>
            <a:endParaRPr lang="en-US" altLang="en-US" dirty="0"/>
          </a:p>
        </p:txBody>
      </p:sp>
      <p:sp>
        <p:nvSpPr>
          <p:cNvPr id="28675" name="Slide Number Placeholder 5">
            <a:extLst>
              <a:ext uri="{FF2B5EF4-FFF2-40B4-BE49-F238E27FC236}">
                <a16:creationId xmlns:a16="http://schemas.microsoft.com/office/drawing/2014/main" id="{590049D6-83C2-721E-226B-25543A35BD60}"/>
              </a:ext>
            </a:extLst>
          </p:cNvPr>
          <p:cNvSpPr>
            <a:spLocks noGrp="1"/>
          </p:cNvSpPr>
          <p:nvPr>
            <p:ph type="sldNum" sz="quarter" idx="12"/>
          </p:nvPr>
        </p:nvSpPr>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F2EA124D-AF13-461B-B268-9DF5A634127A}" type="slidenum">
              <a:rPr lang="en-US" altLang="en-US" smtClean="0"/>
              <a:pPr>
                <a:defRPr/>
              </a:pPr>
              <a:t>61</a:t>
            </a:fld>
            <a:endParaRPr lang="en-US" altLang="en-US"/>
          </a:p>
        </p:txBody>
      </p:sp>
      <p:sp>
        <p:nvSpPr>
          <p:cNvPr id="2" name="Date Placeholder 1">
            <a:extLst>
              <a:ext uri="{FF2B5EF4-FFF2-40B4-BE49-F238E27FC236}">
                <a16:creationId xmlns:a16="http://schemas.microsoft.com/office/drawing/2014/main" id="{C0E5A6C8-119A-0317-EF4B-482701309A50}"/>
              </a:ext>
            </a:extLst>
          </p:cNvPr>
          <p:cNvSpPr>
            <a:spLocks noGrp="1"/>
          </p:cNvSpPr>
          <p:nvPr>
            <p:ph type="dt" sz="quarter" idx="10"/>
          </p:nvPr>
        </p:nvSpPr>
        <p:spPr/>
        <p:txBody>
          <a:bodyPr/>
          <a:lstStyle/>
          <a:p>
            <a:pPr>
              <a:defRPr/>
            </a:pPr>
            <a:fld id="{8C18BA9D-A8F6-412C-8B0E-6445A605415D}" type="datetime1">
              <a:rPr lang="en-US" altLang="en-US"/>
              <a:pPr>
                <a:defRPr/>
              </a:pPr>
              <a:t>8/26/2024</a:t>
            </a:fld>
            <a:endParaRPr lang="en-US" altLang="en-US"/>
          </a:p>
        </p:txBody>
      </p:sp>
    </p:spTree>
  </p:cSld>
  <p:clrMapOvr>
    <a:masterClrMapping/>
  </p:clrMapOvr>
  <p:transition spd="slow">
    <p:cove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6368F-667F-C6D3-6217-589783482983}"/>
              </a:ext>
            </a:extLst>
          </p:cNvPr>
          <p:cNvSpPr>
            <a:spLocks noGrp="1"/>
          </p:cNvSpPr>
          <p:nvPr>
            <p:ph type="title"/>
          </p:nvPr>
        </p:nvSpPr>
        <p:spPr/>
        <p:txBody>
          <a:bodyPr/>
          <a:lstStyle/>
          <a:p>
            <a:r>
              <a:rPr lang="en-US" altLang="en-US" dirty="0"/>
              <a:t>Primitive Data Types</a:t>
            </a:r>
            <a:endParaRPr lang="en-IN" dirty="0"/>
          </a:p>
        </p:txBody>
      </p:sp>
      <p:sp>
        <p:nvSpPr>
          <p:cNvPr id="4" name="Date Placeholder 3">
            <a:extLst>
              <a:ext uri="{FF2B5EF4-FFF2-40B4-BE49-F238E27FC236}">
                <a16:creationId xmlns:a16="http://schemas.microsoft.com/office/drawing/2014/main" id="{27AF886A-2B09-2D1E-8423-764F67B5AA35}"/>
              </a:ext>
            </a:extLst>
          </p:cNvPr>
          <p:cNvSpPr>
            <a:spLocks noGrp="1"/>
          </p:cNvSpPr>
          <p:nvPr>
            <p:ph type="dt" sz="half" idx="10"/>
          </p:nvPr>
        </p:nvSpPr>
        <p:spPr/>
        <p:txBody>
          <a:bodyPr/>
          <a:lstStyle/>
          <a:p>
            <a:pPr>
              <a:defRPr/>
            </a:pPr>
            <a:fld id="{E5190A90-CA48-40A0-A485-EB12331BA3A3}" type="datetime1">
              <a:rPr lang="en-US" altLang="en-US" smtClean="0"/>
              <a:pPr>
                <a:defRPr/>
              </a:pPr>
              <a:t>8/26/2024</a:t>
            </a:fld>
            <a:endParaRPr lang="en-US" altLang="en-US"/>
          </a:p>
        </p:txBody>
      </p:sp>
      <p:sp>
        <p:nvSpPr>
          <p:cNvPr id="5" name="Footer Placeholder 4">
            <a:extLst>
              <a:ext uri="{FF2B5EF4-FFF2-40B4-BE49-F238E27FC236}">
                <a16:creationId xmlns:a16="http://schemas.microsoft.com/office/drawing/2014/main" id="{CF14B6C2-BB6F-1BEE-6A77-B6EAFAF3B40D}"/>
              </a:ext>
            </a:extLst>
          </p:cNvPr>
          <p:cNvSpPr>
            <a:spLocks noGrp="1"/>
          </p:cNvSpPr>
          <p:nvPr>
            <p:ph type="ftr" sz="quarter" idx="11"/>
          </p:nvPr>
        </p:nvSpPr>
        <p:spPr/>
        <p:txBody>
          <a:bodyPr/>
          <a:lstStyle/>
          <a:p>
            <a:pPr>
              <a:defRPr/>
            </a:pPr>
            <a:r>
              <a:rPr lang="en-IN" altLang="en-US" dirty="0"/>
              <a:t>Object Oriented Programming with Java</a:t>
            </a:r>
            <a:endParaRPr lang="en-US" altLang="en-US" dirty="0"/>
          </a:p>
        </p:txBody>
      </p:sp>
      <p:sp>
        <p:nvSpPr>
          <p:cNvPr id="6" name="Slide Number Placeholder 5">
            <a:extLst>
              <a:ext uri="{FF2B5EF4-FFF2-40B4-BE49-F238E27FC236}">
                <a16:creationId xmlns:a16="http://schemas.microsoft.com/office/drawing/2014/main" id="{2FD53307-5B93-DD6C-C3D2-BAB812D443BF}"/>
              </a:ext>
            </a:extLst>
          </p:cNvPr>
          <p:cNvSpPr>
            <a:spLocks noGrp="1"/>
          </p:cNvSpPr>
          <p:nvPr>
            <p:ph type="sldNum" sz="quarter" idx="12"/>
          </p:nvPr>
        </p:nvSpPr>
        <p:spPr/>
        <p:txBody>
          <a:bodyPr/>
          <a:lstStyle/>
          <a:p>
            <a:pPr>
              <a:defRPr/>
            </a:pPr>
            <a:fld id="{846AEF8D-D938-433D-BBFD-44F2BB354120}" type="slidenum">
              <a:rPr lang="en-US" altLang="en-US" smtClean="0"/>
              <a:pPr>
                <a:defRPr/>
              </a:pPr>
              <a:t>62</a:t>
            </a:fld>
            <a:endParaRPr lang="en-US" altLang="en-US"/>
          </a:p>
        </p:txBody>
      </p:sp>
      <p:pic>
        <p:nvPicPr>
          <p:cNvPr id="70658" name="Picture 2" descr="Java Data Types">
            <a:extLst>
              <a:ext uri="{FF2B5EF4-FFF2-40B4-BE49-F238E27FC236}">
                <a16:creationId xmlns:a16="http://schemas.microsoft.com/office/drawing/2014/main" id="{6996C86A-A09C-9BC9-FABA-E7B548C114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2185334"/>
            <a:ext cx="6667500"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590603"/>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5878</TotalTime>
  <Words>3758</Words>
  <Application>Microsoft Office PowerPoint</Application>
  <PresentationFormat>On-screen Show (4:3)</PresentationFormat>
  <Paragraphs>527</Paragraphs>
  <Slides>62</Slides>
  <Notes>1</Notes>
  <HiddenSlides>1</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62</vt:i4>
      </vt:variant>
    </vt:vector>
  </HeadingPairs>
  <TitlesOfParts>
    <vt:vector size="81" baseType="lpstr">
      <vt:lpstr>-apple-system</vt:lpstr>
      <vt:lpstr>Arial</vt:lpstr>
      <vt:lpstr>Arial Rounded MT Bold</vt:lpstr>
      <vt:lpstr>AvertaStd</vt:lpstr>
      <vt:lpstr>Calibri</vt:lpstr>
      <vt:lpstr>Cambria</vt:lpstr>
      <vt:lpstr>Cambria,Bold</vt:lpstr>
      <vt:lpstr>Century Gothic</vt:lpstr>
      <vt:lpstr>Comic Sans MS</vt:lpstr>
      <vt:lpstr>Courier New</vt:lpstr>
      <vt:lpstr>CourierStd</vt:lpstr>
      <vt:lpstr>DINMittelEFOP-Bold</vt:lpstr>
      <vt:lpstr>erdana</vt:lpstr>
      <vt:lpstr>inter-bold</vt:lpstr>
      <vt:lpstr>inter-regular</vt:lpstr>
      <vt:lpstr>NewBaskervilleStd-Bold</vt:lpstr>
      <vt:lpstr>NewBaskervilleStd-Italic</vt:lpstr>
      <vt:lpstr>NewBaskervilleStd-Roman</vt:lpstr>
      <vt:lpstr>Vapor Trail</vt:lpstr>
      <vt:lpstr>Object Oriented Programming with Java Course Code : BCS306A </vt:lpstr>
      <vt:lpstr>Course Information</vt:lpstr>
      <vt:lpstr>Course objectives: </vt:lpstr>
      <vt:lpstr>Module-1</vt:lpstr>
      <vt:lpstr>Module-1</vt:lpstr>
      <vt:lpstr>Module-2</vt:lpstr>
      <vt:lpstr>Module-3</vt:lpstr>
      <vt:lpstr>Module- 4</vt:lpstr>
      <vt:lpstr>Module-5</vt:lpstr>
      <vt:lpstr>Process-Oriented Programming</vt:lpstr>
      <vt:lpstr>Object-Oriented Programming</vt:lpstr>
      <vt:lpstr>Object Oriented PROGRamming Concepts</vt:lpstr>
      <vt:lpstr>Object Oriented PROGRamming Concepts</vt:lpstr>
      <vt:lpstr>OOP Concepts</vt:lpstr>
      <vt:lpstr>Class &amp; Objects</vt:lpstr>
      <vt:lpstr>Object</vt:lpstr>
      <vt:lpstr>Objects</vt:lpstr>
      <vt:lpstr>Class</vt:lpstr>
      <vt:lpstr>Class &amp; Objects</vt:lpstr>
      <vt:lpstr>Methods and Data</vt:lpstr>
      <vt:lpstr>Abstraction</vt:lpstr>
      <vt:lpstr>Abstraction</vt:lpstr>
      <vt:lpstr> Encapsulation</vt:lpstr>
      <vt:lpstr>Inheritance</vt:lpstr>
      <vt:lpstr>Inheritance</vt:lpstr>
      <vt:lpstr>Polymorphism</vt:lpstr>
      <vt:lpstr>Polymorphism</vt:lpstr>
      <vt:lpstr>Polymorphism: </vt:lpstr>
      <vt:lpstr>PowerPoint Presentation</vt:lpstr>
      <vt:lpstr>History of Java</vt:lpstr>
      <vt:lpstr>PowerPoint Presentation</vt:lpstr>
      <vt:lpstr>PowerPoint Presentation</vt:lpstr>
      <vt:lpstr>PowerPoint Presentation</vt:lpstr>
      <vt:lpstr>PowerPoint Presentation</vt:lpstr>
      <vt:lpstr>PowerPoint Presentation</vt:lpstr>
      <vt:lpstr>Chapter 2 Overview of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Three OOP Principles </vt:lpstr>
      <vt:lpstr>PowerPoint Presentation</vt:lpstr>
      <vt:lpstr>Simple Java Program</vt:lpstr>
      <vt:lpstr>PowerPoint Presentation</vt:lpstr>
      <vt:lpstr>Simple Java Program</vt:lpstr>
      <vt:lpstr>PowerPoint Presentation</vt:lpstr>
      <vt:lpstr>A Second Short Program</vt:lpstr>
      <vt:lpstr>PowerPoint Presentation</vt:lpstr>
      <vt:lpstr>Lexical Issues- Tokens</vt:lpstr>
      <vt:lpstr>Separators</vt:lpstr>
      <vt:lpstr>Keywords</vt:lpstr>
      <vt:lpstr>Java Processing and Execution</vt:lpstr>
      <vt:lpstr>Compiling and Executing a Java Program</vt:lpstr>
      <vt:lpstr>Classes and Objects</vt:lpstr>
      <vt:lpstr>Grouping Classes: The Java API</vt:lpstr>
      <vt:lpstr>References and Primitive Data Types</vt:lpstr>
      <vt:lpstr>Primitive Data Types</vt:lpstr>
      <vt:lpstr>Primitive Data Types</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dc:title>
  <dc:creator>Philip King</dc:creator>
  <cp:lastModifiedBy>ganga holi</cp:lastModifiedBy>
  <cp:revision>112</cp:revision>
  <dcterms:created xsi:type="dcterms:W3CDTF">2004-06-18T19:39:23Z</dcterms:created>
  <dcterms:modified xsi:type="dcterms:W3CDTF">2024-08-27T07:10:04Z</dcterms:modified>
</cp:coreProperties>
</file>