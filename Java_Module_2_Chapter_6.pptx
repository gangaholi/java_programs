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514" r:id="rId6"/>
    <p:sldId id="516" r:id="rId7"/>
    <p:sldId id="364" r:id="rId8"/>
    <p:sldId id="520" r:id="rId9"/>
    <p:sldId id="521" r:id="rId10"/>
    <p:sldId id="522" r:id="rId11"/>
    <p:sldId id="517" r:id="rId12"/>
    <p:sldId id="523" r:id="rId13"/>
    <p:sldId id="524" r:id="rId14"/>
    <p:sldId id="518" r:id="rId15"/>
    <p:sldId id="525" r:id="rId16"/>
    <p:sldId id="526" r:id="rId17"/>
    <p:sldId id="527" r:id="rId18"/>
    <p:sldId id="528" r:id="rId19"/>
    <p:sldId id="529" r:id="rId20"/>
    <p:sldId id="530" r:id="rId21"/>
    <p:sldId id="531" r:id="rId22"/>
    <p:sldId id="532" r:id="rId23"/>
    <p:sldId id="53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7882D8-C953-4AAE-B24A-EA2574B66D4C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F057B8-F9A5-43B9-BA67-6C64721CC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650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A8813637-F826-43A2-F852-906854E379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D67C4B72-FFDB-5A48-4223-50DC50C0B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497EBDF4-60FE-05A3-A227-776EAAAEF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82D833F-9099-4ACF-B2B2-2CFE6F7A20F2}" type="slidenum">
              <a:rPr lang="en-US" altLang="en-US" sz="1000"/>
              <a:pPr/>
              <a:t>5</a:t>
            </a:fld>
            <a:endParaRPr lang="en-US" altLang="en-US" sz="10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29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140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495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558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27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846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90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902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489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0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6782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146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6858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68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367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647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C87B4-9484-4861-B4F8-17D230F2A026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85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0C2F-B4B2-7DF3-8150-527D23627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3978" y="842683"/>
            <a:ext cx="9908894" cy="3163734"/>
          </a:xfrm>
        </p:spPr>
        <p:txBody>
          <a:bodyPr>
            <a:normAutofit/>
          </a:bodyPr>
          <a:lstStyle/>
          <a:p>
            <a:r>
              <a:rPr lang="en-IN" b="1" dirty="0"/>
              <a:t>OOP</a:t>
            </a:r>
            <a:r>
              <a:rPr lang="en-IN" sz="4800" b="1" dirty="0"/>
              <a:t>s  with Java</a:t>
            </a:r>
            <a:br>
              <a:rPr lang="en-IN" sz="4800" b="1" dirty="0"/>
            </a:br>
            <a:r>
              <a:rPr lang="en-IN" sz="4800" b="1" dirty="0"/>
              <a:t>Chapter 6</a:t>
            </a:r>
            <a:br>
              <a:rPr lang="en-IN" sz="4800" b="1" dirty="0"/>
            </a:br>
            <a:r>
              <a:rPr lang="en-IN" sz="4800" b="1" dirty="0"/>
              <a:t>Class and Objects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A476A-7C1D-BE23-D0F4-71547039F8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800" b="1" dirty="0" err="1"/>
              <a:t>Dr.</a:t>
            </a:r>
            <a:r>
              <a:rPr lang="en-IN" sz="2800" b="1" dirty="0"/>
              <a:t> Ganga Holi </a:t>
            </a:r>
          </a:p>
          <a:p>
            <a:r>
              <a:rPr lang="en-IN" sz="2800" b="1" dirty="0"/>
              <a:t>Professor &amp; Head, Dept of CSE(ICB)</a:t>
            </a:r>
          </a:p>
        </p:txBody>
      </p:sp>
    </p:spTree>
    <p:extLst>
      <p:ext uri="{BB962C8B-B14F-4D97-AF65-F5344CB8AC3E}">
        <p14:creationId xmlns:p14="http://schemas.microsoft.com/office/powerpoint/2010/main" val="1575618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AA951-144B-F2A9-2920-FF10FA04E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cs typeface="Courier New" panose="02070309020205020404" pitchFamily="49" charset="0"/>
              </a:rPr>
              <a:t>Object-oriented programming (OOP)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58C65-239E-35BF-FCC6-9BC136558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6047" y="1479177"/>
            <a:ext cx="9738565" cy="5163670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cs typeface="Courier New" panose="02070309020205020404" pitchFamily="49" charset="0"/>
              </a:rPr>
              <a:t>OOPs involves programming using objects. </a:t>
            </a:r>
          </a:p>
          <a:p>
            <a:r>
              <a:rPr lang="en-US" altLang="en-US" sz="2400" dirty="0">
                <a:cs typeface="Courier New" panose="02070309020205020404" pitchFamily="49" charset="0"/>
              </a:rPr>
              <a:t>An </a:t>
            </a:r>
            <a:r>
              <a:rPr lang="en-US" altLang="en-US" sz="2400" i="1" dirty="0">
                <a:cs typeface="Courier New" panose="02070309020205020404" pitchFamily="49" charset="0"/>
              </a:rPr>
              <a:t>object</a:t>
            </a:r>
            <a:r>
              <a:rPr lang="en-US" altLang="en-US" sz="2400" dirty="0">
                <a:cs typeface="Courier New" panose="02070309020205020404" pitchFamily="49" charset="0"/>
              </a:rPr>
              <a:t> represents an entity in the real world that can be distinctly identified. For example, a student, a desk, a circle, a button, and even a loan can all be viewed as objects. </a:t>
            </a:r>
          </a:p>
          <a:p>
            <a:r>
              <a:rPr lang="en-US" altLang="en-US" sz="2400" b="1" i="1" dirty="0"/>
              <a:t>State </a:t>
            </a:r>
            <a:r>
              <a:rPr lang="en-US" altLang="en-US" sz="2400" b="1" dirty="0"/>
              <a:t>of an object</a:t>
            </a:r>
            <a:r>
              <a:rPr lang="en-US" altLang="en-US" sz="2400" dirty="0"/>
              <a:t> (also known as its</a:t>
            </a:r>
            <a:r>
              <a:rPr lang="en-US" altLang="en-US" sz="2400" b="1" dirty="0"/>
              <a:t> </a:t>
            </a:r>
            <a:r>
              <a:rPr lang="en-US" altLang="en-US" sz="2400" b="1" i="1" dirty="0"/>
              <a:t>properties</a:t>
            </a:r>
            <a:r>
              <a:rPr lang="en-US" altLang="en-US" sz="2400" i="1" dirty="0"/>
              <a:t> </a:t>
            </a:r>
            <a:r>
              <a:rPr lang="en-US" altLang="en-US" sz="2400" dirty="0"/>
              <a:t>or </a:t>
            </a:r>
            <a:r>
              <a:rPr lang="en-US" altLang="en-US" sz="2400" b="1" i="1" dirty="0"/>
              <a:t>attributes</a:t>
            </a:r>
            <a:r>
              <a:rPr lang="en-US" altLang="en-US" sz="2400" dirty="0"/>
              <a:t>) is represented by </a:t>
            </a:r>
            <a:r>
              <a:rPr lang="en-US" altLang="en-US" sz="2400" b="1" i="1" dirty="0"/>
              <a:t>data fields </a:t>
            </a:r>
            <a:r>
              <a:rPr lang="en-US" altLang="en-US" sz="2400" b="1" dirty="0"/>
              <a:t>with their current values</a:t>
            </a:r>
            <a:r>
              <a:rPr lang="en-US" altLang="en-US" sz="2400" dirty="0"/>
              <a:t>. </a:t>
            </a:r>
          </a:p>
          <a:p>
            <a:r>
              <a:rPr lang="en-US" altLang="en-US" sz="2400" dirty="0"/>
              <a:t>A circle object, for example, has a data field </a:t>
            </a:r>
            <a:r>
              <a:rPr lang="en-US" altLang="en-US" sz="2400" b="1" dirty="0"/>
              <a:t>radius</a:t>
            </a:r>
            <a:r>
              <a:rPr lang="en-US" altLang="en-US" sz="2400" dirty="0"/>
              <a:t>, which is the property that characterizes a circle. </a:t>
            </a:r>
          </a:p>
          <a:p>
            <a:r>
              <a:rPr lang="en-US" altLang="en-US" sz="2400" dirty="0"/>
              <a:t>A rectangle object has the data fields </a:t>
            </a:r>
            <a:r>
              <a:rPr lang="en-US" altLang="en-US" sz="2400" b="1" dirty="0"/>
              <a:t>width </a:t>
            </a:r>
            <a:r>
              <a:rPr lang="en-US" altLang="en-US" sz="2400" dirty="0"/>
              <a:t>and </a:t>
            </a:r>
            <a:r>
              <a:rPr lang="en-US" altLang="en-US" sz="2400" b="1" dirty="0"/>
              <a:t>height</a:t>
            </a:r>
            <a:r>
              <a:rPr lang="en-US" altLang="en-US" sz="2400" dirty="0"/>
              <a:t>, which are the properties that characterize a rectangle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46997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CD908-CAC7-C0D2-B41C-E042A7220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77135-A09C-FE86-69E0-E3E059D35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b="1" i="1" dirty="0"/>
              <a:t>Behavior</a:t>
            </a:r>
            <a:r>
              <a:rPr lang="en-US" altLang="en-US" sz="2400" i="1" dirty="0"/>
              <a:t> </a:t>
            </a:r>
            <a:r>
              <a:rPr lang="en-US" altLang="en-US" sz="2400" dirty="0"/>
              <a:t>of an </a:t>
            </a:r>
            <a:r>
              <a:rPr lang="en-US" altLang="en-US" sz="2400" b="1" dirty="0"/>
              <a:t>object</a:t>
            </a:r>
            <a:r>
              <a:rPr lang="en-US" altLang="en-US" sz="2400" dirty="0"/>
              <a:t> (also known as </a:t>
            </a:r>
            <a:r>
              <a:rPr lang="en-US" altLang="en-US" sz="2400" b="1" dirty="0"/>
              <a:t>its </a:t>
            </a:r>
            <a:r>
              <a:rPr lang="en-US" altLang="en-US" sz="2400" b="1" i="1" dirty="0"/>
              <a:t>actions</a:t>
            </a:r>
            <a:r>
              <a:rPr lang="en-US" altLang="en-US" sz="2400" dirty="0"/>
              <a:t>) is defined by </a:t>
            </a:r>
            <a:r>
              <a:rPr lang="en-US" altLang="en-US" sz="2400" b="1" dirty="0"/>
              <a:t>methods</a:t>
            </a:r>
            <a:r>
              <a:rPr lang="en-US" altLang="en-US" sz="2400" dirty="0"/>
              <a:t>. </a:t>
            </a:r>
          </a:p>
          <a:p>
            <a:r>
              <a:rPr lang="en-US" altLang="en-US" sz="2400" dirty="0"/>
              <a:t>To invoke a method on an object is to ask the object to perform an action. </a:t>
            </a:r>
          </a:p>
          <a:p>
            <a:r>
              <a:rPr lang="en-US" altLang="en-US" sz="2400" dirty="0"/>
              <a:t>For example, you may define methods named </a:t>
            </a:r>
            <a:r>
              <a:rPr lang="en-US" altLang="en-US" sz="2400" b="1" dirty="0" err="1"/>
              <a:t>getArea</a:t>
            </a:r>
            <a:r>
              <a:rPr lang="en-US" altLang="en-US" sz="2400" b="1" dirty="0"/>
              <a:t>() </a:t>
            </a:r>
            <a:r>
              <a:rPr lang="en-US" altLang="en-US" sz="2400" dirty="0"/>
              <a:t>and </a:t>
            </a:r>
            <a:r>
              <a:rPr lang="en-US" altLang="en-US" sz="2400" b="1" dirty="0" err="1"/>
              <a:t>getPerimeter</a:t>
            </a:r>
            <a:r>
              <a:rPr lang="en-US" altLang="en-US" sz="2400" b="1" dirty="0"/>
              <a:t>() </a:t>
            </a:r>
            <a:r>
              <a:rPr lang="en-US" altLang="en-US" sz="2400" dirty="0"/>
              <a:t>for circle objects. A circle object may invoke </a:t>
            </a:r>
            <a:r>
              <a:rPr lang="en-US" altLang="en-US" sz="2400" b="1" dirty="0" err="1"/>
              <a:t>getArea</a:t>
            </a:r>
            <a:r>
              <a:rPr lang="en-US" altLang="en-US" sz="2400" b="1" dirty="0"/>
              <a:t>() </a:t>
            </a:r>
            <a:r>
              <a:rPr lang="en-US" altLang="en-US" sz="2400" dirty="0"/>
              <a:t>to return its area and </a:t>
            </a:r>
            <a:r>
              <a:rPr lang="en-US" altLang="en-US" sz="2400" b="1" dirty="0" err="1"/>
              <a:t>getPerim</a:t>
            </a:r>
            <a:r>
              <a:rPr lang="en-US" altLang="en-US" sz="2400" b="1" dirty="0"/>
              <a:t>- </a:t>
            </a:r>
            <a:r>
              <a:rPr lang="en-US" altLang="en-US" sz="2400" b="1" dirty="0" err="1"/>
              <a:t>eter</a:t>
            </a:r>
            <a:r>
              <a:rPr lang="en-US" altLang="en-US" sz="2400" b="1" dirty="0"/>
              <a:t>() </a:t>
            </a:r>
            <a:r>
              <a:rPr lang="en-US" altLang="en-US" sz="2400" dirty="0"/>
              <a:t>to return its perimeter. </a:t>
            </a:r>
            <a:endParaRPr lang="en-US" altLang="en-US" sz="28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6116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1492-0C0C-F649-FF94-C46CE0338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&amp;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41072-F6BE-A3C5-19C7-6460CB7F5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541" y="1905000"/>
            <a:ext cx="9864071" cy="4006222"/>
          </a:xfrm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/>
              <a:t>Objects of the same type are defined using a common class. 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/>
              <a:t>A </a:t>
            </a:r>
            <a:r>
              <a:rPr lang="en-US" altLang="en-US" sz="1800" i="1" dirty="0"/>
              <a:t>class </a:t>
            </a:r>
            <a:r>
              <a:rPr lang="en-US" altLang="en-US" sz="1800" dirty="0"/>
              <a:t>is a template, blueprint, or </a:t>
            </a:r>
            <a:r>
              <a:rPr lang="en-US" altLang="en-US" sz="1800" i="1" dirty="0"/>
              <a:t>contract </a:t>
            </a:r>
            <a:r>
              <a:rPr lang="en-US" altLang="en-US" sz="1800" dirty="0"/>
              <a:t>that defines what an object’s data fields and methods will be. 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FF0000"/>
                </a:solidFill>
              </a:rPr>
              <a:t>An object is an instance of a class</a:t>
            </a:r>
            <a:r>
              <a:rPr lang="en-US" altLang="en-US" sz="1800" dirty="0"/>
              <a:t>. You can create many instances of a class. Creating an instance is referred to as </a:t>
            </a:r>
            <a:r>
              <a:rPr lang="en-US" altLang="en-US" sz="1800" i="1" dirty="0"/>
              <a:t>instantiation</a:t>
            </a:r>
            <a:r>
              <a:rPr lang="en-US" altLang="en-US" sz="1800" dirty="0"/>
              <a:t>. 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en-US" sz="1800" dirty="0"/>
              <a:t>The terms </a:t>
            </a:r>
            <a:r>
              <a:rPr lang="en-US" altLang="en-US" sz="1800" b="1" i="1" dirty="0"/>
              <a:t>object</a:t>
            </a:r>
            <a:r>
              <a:rPr lang="en-US" altLang="en-US" sz="1800" i="1" dirty="0"/>
              <a:t> </a:t>
            </a:r>
            <a:r>
              <a:rPr lang="en-US" altLang="en-US" sz="1800" dirty="0"/>
              <a:t>and </a:t>
            </a:r>
            <a:r>
              <a:rPr lang="en-US" altLang="en-US" sz="1800" b="1" i="1" dirty="0"/>
              <a:t>instance</a:t>
            </a:r>
            <a:r>
              <a:rPr lang="en-US" altLang="en-US" sz="1800" i="1" dirty="0"/>
              <a:t> </a:t>
            </a:r>
            <a:r>
              <a:rPr lang="en-US" altLang="en-US" sz="1800" dirty="0"/>
              <a:t>are often </a:t>
            </a:r>
            <a:r>
              <a:rPr lang="en-US" altLang="en-US" sz="1800" b="1" dirty="0"/>
              <a:t>interchangeable.</a:t>
            </a:r>
            <a:r>
              <a:rPr lang="en-US" altLang="en-US" sz="1800" dirty="0"/>
              <a:t> 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en-US" sz="1800" dirty="0"/>
              <a:t>The </a:t>
            </a:r>
            <a:r>
              <a:rPr lang="en-US" altLang="en-US" sz="1800" b="1" dirty="0"/>
              <a:t>relationship</a:t>
            </a:r>
            <a:r>
              <a:rPr lang="en-US" altLang="en-US" sz="1800" dirty="0"/>
              <a:t> between </a:t>
            </a:r>
            <a:r>
              <a:rPr lang="en-US" altLang="en-US" sz="1800" b="1" dirty="0"/>
              <a:t>classes and objects</a:t>
            </a:r>
            <a:r>
              <a:rPr lang="en-US" altLang="en-US" sz="1800" dirty="0"/>
              <a:t> is analogous to that between an apple-pie recipe and apple pies: You can make as many apple pies as you want from a single recipe. 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313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B450105-0075-49E2-D0A3-3BC7E35953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Class Objects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90C7462-E948-7B9C-ECD7-8F58410E5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050" y="234315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08" name="Text Box 5">
            <a:extLst>
              <a:ext uri="{FF2B5EF4-FFF2-40B4-BE49-F238E27FC236}">
                <a16:creationId xmlns:a16="http://schemas.microsoft.com/office/drawing/2014/main" id="{214B5F33-1643-31FA-FA4B-96C5D1285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267200"/>
            <a:ext cx="8686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cs typeface="Times New Roman" panose="02020603050405020304" pitchFamily="18" charset="0"/>
              </a:rPr>
              <a:t>An object has both a state and behavior. The state defines the object, and the behavior defines what the object does.</a:t>
            </a:r>
            <a:endParaRPr lang="en-US" altLang="en-US"/>
          </a:p>
        </p:txBody>
      </p:sp>
      <p:sp>
        <p:nvSpPr>
          <p:cNvPr id="21509" name="Rectangle 7">
            <a:extLst>
              <a:ext uri="{FF2B5EF4-FFF2-40B4-BE49-F238E27FC236}">
                <a16:creationId xmlns:a16="http://schemas.microsoft.com/office/drawing/2014/main" id="{781A5886-3E3B-0672-1238-E89D482D9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1869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21510" name="Object 6">
            <a:extLst>
              <a:ext uri="{FF2B5EF4-FFF2-40B4-BE49-F238E27FC236}">
                <a16:creationId xmlns:a16="http://schemas.microsoft.com/office/drawing/2014/main" id="{FC18C7BA-B40C-4BC4-5C8C-39BF706B85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9701663"/>
              </p:ext>
            </p:extLst>
          </p:nvPr>
        </p:nvGraphicFramePr>
        <p:xfrm>
          <a:off x="1909763" y="1047749"/>
          <a:ext cx="8299450" cy="3005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0" imgH="0" progId="Word.Picture.8">
                  <p:embed/>
                </p:oleObj>
              </mc:Choice>
              <mc:Fallback>
                <p:oleObj name="Picture" r:id="rId3" imgW="0" imgH="0" progId="Word.Picture.8">
                  <p:embed/>
                  <p:pic>
                    <p:nvPicPr>
                      <p:cNvPr id="21510" name="Object 6">
                        <a:extLst>
                          <a:ext uri="{FF2B5EF4-FFF2-40B4-BE49-F238E27FC236}">
                            <a16:creationId xmlns:a16="http://schemas.microsoft.com/office/drawing/2014/main" id="{FC18C7BA-B40C-4BC4-5C8C-39BF706B85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763" y="1047749"/>
                        <a:ext cx="8299450" cy="3005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57D1C-61CC-5C21-18A4-41D0FBDA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678" y="220698"/>
            <a:ext cx="8911687" cy="1280890"/>
          </a:xfrm>
        </p:spPr>
        <p:txBody>
          <a:bodyPr/>
          <a:lstStyle/>
          <a:p>
            <a:r>
              <a:rPr lang="en-IN" dirty="0"/>
              <a:t>General Form of a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C740B-7DBE-3B69-9430-59CC5911A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3271" y="860612"/>
            <a:ext cx="10228729" cy="6096000"/>
          </a:xfrm>
        </p:spPr>
        <p:txBody>
          <a:bodyPr>
            <a:normAutofit/>
          </a:bodyPr>
          <a:lstStyle/>
          <a:p>
            <a:r>
              <a:rPr lang="en-IN" dirty="0"/>
              <a:t>A simplified general form of a class definition is shown here:</a:t>
            </a:r>
          </a:p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classname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b="1" dirty="0"/>
              <a:t>type instance-variable1;  type instance-variable2;</a:t>
            </a:r>
          </a:p>
          <a:p>
            <a:pPr marL="0" indent="0">
              <a:buNone/>
            </a:pPr>
            <a:r>
              <a:rPr lang="en-IN" b="1" dirty="0"/>
              <a:t>    // ...  type instance-</a:t>
            </a:r>
            <a:r>
              <a:rPr lang="en-IN" b="1" dirty="0" err="1"/>
              <a:t>variableN</a:t>
            </a:r>
            <a:r>
              <a:rPr lang="en-IN" b="1" dirty="0"/>
              <a:t>;</a:t>
            </a:r>
          </a:p>
          <a:p>
            <a:pPr marL="0" indent="0">
              <a:buNone/>
            </a:pPr>
            <a:r>
              <a:rPr lang="en-IN" dirty="0"/>
              <a:t>    type methodname1(parameter-list) {</a:t>
            </a:r>
          </a:p>
          <a:p>
            <a:pPr marL="0" indent="0">
              <a:buNone/>
            </a:pPr>
            <a:r>
              <a:rPr lang="en-IN" dirty="0"/>
              <a:t>     // body of method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type methodname2(parameter-list) {</a:t>
            </a:r>
          </a:p>
          <a:p>
            <a:pPr marL="0" indent="0">
              <a:buNone/>
            </a:pPr>
            <a:r>
              <a:rPr lang="en-IN" dirty="0"/>
              <a:t>  // body of method</a:t>
            </a:r>
          </a:p>
          <a:p>
            <a:pPr marL="0" indent="0">
              <a:buNone/>
            </a:pPr>
            <a:r>
              <a:rPr lang="en-IN" dirty="0"/>
              <a:t>   }</a:t>
            </a:r>
          </a:p>
          <a:p>
            <a:pPr marL="0" indent="0">
              <a:buNone/>
            </a:pPr>
            <a:r>
              <a:rPr lang="en-IN" dirty="0"/>
              <a:t>   // ...</a:t>
            </a:r>
          </a:p>
          <a:p>
            <a:pPr marL="0" indent="0">
              <a:buNone/>
            </a:pPr>
            <a:r>
              <a:rPr lang="en-IN" dirty="0"/>
              <a:t>    Type </a:t>
            </a:r>
            <a:r>
              <a:rPr lang="en-IN" dirty="0" err="1"/>
              <a:t>methodnameN</a:t>
            </a:r>
            <a:r>
              <a:rPr lang="en-IN" dirty="0"/>
              <a:t>(parameter-list) {</a:t>
            </a:r>
          </a:p>
          <a:p>
            <a:pPr marL="0" indent="0">
              <a:buNone/>
            </a:pPr>
            <a:r>
              <a:rPr lang="en-IN" dirty="0"/>
              <a:t>   // body of method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3039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2">
            <a:extLst>
              <a:ext uri="{FF2B5EF4-FFF2-40B4-BE49-F238E27FC236}">
                <a16:creationId xmlns:a16="http://schemas.microsoft.com/office/drawing/2014/main" id="{A3782A07-1A35-BCCF-2A2C-50E4C592EE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2pPr>
            <a:lvl3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3pPr>
            <a:lvl4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4pPr>
            <a:lvl5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9pPr>
          </a:lstStyle>
          <a:p>
            <a:fld id="{78CED42D-593F-46D6-AA2B-A09C7D023DDB}" type="slidenum">
              <a:rPr lang="en-US" altLang="en-US" sz="1400">
                <a:latin typeface="Times" panose="02020603050405020304" pitchFamily="18" charset="0"/>
              </a:rPr>
              <a:pPr/>
              <a:t>7</a:t>
            </a:fld>
            <a:endParaRPr lang="en-US" altLang="en-US" sz="1400">
              <a:latin typeface="Times" panose="02020603050405020304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EE35F33-4F1A-D8E7-7B1A-F8E7D369DE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example of a class</a:t>
            </a:r>
          </a:p>
        </p:txBody>
      </p:sp>
      <p:sp>
        <p:nvSpPr>
          <p:cNvPr id="121859" name="Text Box 3">
            <a:extLst>
              <a:ext uri="{FF2B5EF4-FFF2-40B4-BE49-F238E27FC236}">
                <a16:creationId xmlns:a16="http://schemas.microsoft.com/office/drawing/2014/main" id="{5FBA40DA-8609-FBF0-6DCF-F1D0D3576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981201"/>
            <a:ext cx="83820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2pPr>
            <a:lvl3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3pPr>
            <a:lvl4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4pPr>
            <a:lvl5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>
                <a:latin typeface="Courier"/>
              </a:rPr>
              <a:t>class Students {</a:t>
            </a:r>
            <a:br>
              <a:rPr lang="en-US" altLang="en-US" b="1" dirty="0">
                <a:latin typeface="Courier"/>
              </a:rPr>
            </a:br>
            <a:r>
              <a:rPr lang="en-US" altLang="en-US" b="1" dirty="0">
                <a:latin typeface="Courier"/>
              </a:rPr>
              <a:t>   String name;</a:t>
            </a:r>
            <a:br>
              <a:rPr lang="en-US" altLang="en-US" b="1" dirty="0">
                <a:latin typeface="Courier"/>
              </a:rPr>
            </a:br>
            <a:r>
              <a:rPr lang="en-US" altLang="en-US" b="1" dirty="0">
                <a:latin typeface="Courier"/>
              </a:rPr>
              <a:t>   int </a:t>
            </a:r>
            <a:r>
              <a:rPr lang="en-US" altLang="en-US" b="1" dirty="0" err="1">
                <a:latin typeface="Courier"/>
              </a:rPr>
              <a:t>sem</a:t>
            </a:r>
            <a:r>
              <a:rPr lang="en-US" altLang="en-US" b="1" dirty="0">
                <a:latin typeface="Courier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en-US" b="1" dirty="0">
                <a:latin typeface="Courier"/>
              </a:rPr>
              <a:t>   void display(){</a:t>
            </a:r>
            <a:br>
              <a:rPr lang="en-US" altLang="en-US" b="1" dirty="0">
                <a:latin typeface="Courier"/>
              </a:rPr>
            </a:br>
            <a:r>
              <a:rPr lang="en-US" altLang="en-US" b="1" dirty="0">
                <a:latin typeface="Courier"/>
              </a:rPr>
              <a:t>       </a:t>
            </a:r>
            <a:r>
              <a:rPr lang="en-US" altLang="en-US" b="1" dirty="0" err="1">
                <a:latin typeface="Courier"/>
              </a:rPr>
              <a:t>sem</a:t>
            </a:r>
            <a:r>
              <a:rPr lang="en-US" altLang="en-US" b="1" dirty="0">
                <a:latin typeface="Courier"/>
              </a:rPr>
              <a:t>=3;</a:t>
            </a:r>
            <a:br>
              <a:rPr lang="en-US" altLang="en-US" b="1" dirty="0">
                <a:latin typeface="Courier"/>
              </a:rPr>
            </a:br>
            <a:r>
              <a:rPr lang="en-US" altLang="en-US" b="1" dirty="0">
                <a:latin typeface="Courier"/>
              </a:rPr>
              <a:t>       </a:t>
            </a:r>
            <a:r>
              <a:rPr lang="en-US" altLang="en-US" b="1" dirty="0" err="1">
                <a:latin typeface="Courier"/>
              </a:rPr>
              <a:t>System.out.println</a:t>
            </a:r>
            <a:r>
              <a:rPr lang="en-US" altLang="en-US" b="1" dirty="0">
                <a:latin typeface="Courier"/>
              </a:rPr>
              <a:t>(“name=“+name);</a:t>
            </a:r>
          </a:p>
          <a:p>
            <a:pPr>
              <a:spcBef>
                <a:spcPct val="50000"/>
              </a:spcBef>
            </a:pPr>
            <a:r>
              <a:rPr lang="en-US" altLang="en-US" b="1" dirty="0">
                <a:latin typeface="Courier"/>
              </a:rPr>
              <a:t>		  </a:t>
            </a:r>
            <a:r>
              <a:rPr lang="en-US" altLang="en-US" b="1" dirty="0" err="1">
                <a:latin typeface="Courier"/>
              </a:rPr>
              <a:t>System.out.println</a:t>
            </a:r>
            <a:r>
              <a:rPr lang="en-US" altLang="en-US" b="1" dirty="0">
                <a:latin typeface="Courier"/>
              </a:rPr>
              <a:t>(“Sem=“+</a:t>
            </a:r>
            <a:r>
              <a:rPr lang="en-US" altLang="en-US" b="1" dirty="0" err="1">
                <a:latin typeface="Courier"/>
              </a:rPr>
              <a:t>sem</a:t>
            </a:r>
            <a:r>
              <a:rPr lang="en-US" altLang="en-US" b="1" dirty="0">
                <a:latin typeface="Courier"/>
              </a:rPr>
              <a:t>);</a:t>
            </a:r>
            <a:br>
              <a:rPr lang="en-US" altLang="en-US" b="1" dirty="0">
                <a:latin typeface="Courier"/>
              </a:rPr>
            </a:br>
            <a:r>
              <a:rPr lang="en-US" altLang="en-US" b="1" dirty="0">
                <a:latin typeface="Courier"/>
              </a:rPr>
              <a:t>   }</a:t>
            </a:r>
            <a:br>
              <a:rPr lang="en-US" altLang="en-US" b="1" dirty="0">
                <a:latin typeface="Courier"/>
              </a:rPr>
            </a:br>
            <a:r>
              <a:rPr lang="en-US" altLang="en-US" b="1" dirty="0">
                <a:latin typeface="Courier"/>
              </a:rPr>
              <a:t>}</a:t>
            </a:r>
            <a:endParaRPr lang="en-US" altLang="en-US" sz="2000" b="1" dirty="0">
              <a:latin typeface="Courier"/>
            </a:endParaRPr>
          </a:p>
        </p:txBody>
      </p:sp>
      <p:sp>
        <p:nvSpPr>
          <p:cNvPr id="18437" name="Text Box 4">
            <a:extLst>
              <a:ext uri="{FF2B5EF4-FFF2-40B4-BE49-F238E27FC236}">
                <a16:creationId xmlns:a16="http://schemas.microsoft.com/office/drawing/2014/main" id="{843BE0C1-AF00-B351-891C-26CE01BA1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1830388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2pPr>
            <a:lvl3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3pPr>
            <a:lvl4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4pPr>
            <a:lvl5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9pPr>
          </a:lstStyle>
          <a:p>
            <a:r>
              <a:rPr lang="en-US" altLang="en-US" i="1">
                <a:solidFill>
                  <a:srgbClr val="FF0000"/>
                </a:solidFill>
                <a:latin typeface="Times New Roman" panose="02020603050405020304" pitchFamily="18" charset="0"/>
              </a:rPr>
              <a:t>Variable</a:t>
            </a:r>
          </a:p>
        </p:txBody>
      </p:sp>
      <p:sp>
        <p:nvSpPr>
          <p:cNvPr id="18438" name="Text Box 5">
            <a:extLst>
              <a:ext uri="{FF2B5EF4-FFF2-40B4-BE49-F238E27FC236}">
                <a16:creationId xmlns:a16="http://schemas.microsoft.com/office/drawing/2014/main" id="{2D9E2217-EB16-3EF6-E3A2-72DD00F4B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1" y="259080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2pPr>
            <a:lvl3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3pPr>
            <a:lvl4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4pPr>
            <a:lvl5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ヒラギノ角ゴ Pro W3" pitchFamily="-107" charset="-128"/>
              </a:defRPr>
            </a:lvl9pPr>
          </a:lstStyle>
          <a:p>
            <a:r>
              <a:rPr lang="en-US" altLang="en-US" i="1">
                <a:solidFill>
                  <a:srgbClr val="FF0000"/>
                </a:solidFill>
                <a:latin typeface="Times New Roman" panose="02020603050405020304" pitchFamily="18" charset="0"/>
              </a:rPr>
              <a:t>Method</a:t>
            </a:r>
          </a:p>
        </p:txBody>
      </p:sp>
      <p:sp>
        <p:nvSpPr>
          <p:cNvPr id="18439" name="Line 6">
            <a:extLst>
              <a:ext uri="{FF2B5EF4-FFF2-40B4-BE49-F238E27FC236}">
                <a16:creationId xmlns:a16="http://schemas.microsoft.com/office/drawing/2014/main" id="{D3DD4EDC-2FED-D738-5A09-5831FDFEEB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2057400"/>
            <a:ext cx="2362200" cy="990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40" name="Line 7">
            <a:extLst>
              <a:ext uri="{FF2B5EF4-FFF2-40B4-BE49-F238E27FC236}">
                <a16:creationId xmlns:a16="http://schemas.microsoft.com/office/drawing/2014/main" id="{96A665D7-E647-C40C-41CA-54F9A3AC8A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2971800"/>
            <a:ext cx="2362200" cy="533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54E61-FC27-8556-68C4-3D17E0C46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3300" y="166910"/>
            <a:ext cx="8911687" cy="1280890"/>
          </a:xfrm>
        </p:spPr>
        <p:txBody>
          <a:bodyPr/>
          <a:lstStyle/>
          <a:p>
            <a:r>
              <a:rPr lang="en-IN" dirty="0"/>
              <a:t>Class Box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40562-BB0D-71D2-110B-680113495E74}"/>
              </a:ext>
            </a:extLst>
          </p:cNvPr>
          <p:cNvSpPr txBox="1"/>
          <p:nvPr/>
        </p:nvSpPr>
        <p:spPr>
          <a:xfrm>
            <a:off x="2010987" y="1012575"/>
            <a:ext cx="9144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0" i="0" u="none" strike="noStrike" baseline="0" dirty="0">
                <a:latin typeface="NewBaskervilleStd-Roman"/>
              </a:rPr>
              <a:t>Here is a class called </a:t>
            </a:r>
            <a:r>
              <a:rPr lang="en-IN" sz="2400" b="1" i="0" u="none" strike="noStrike" baseline="0" dirty="0">
                <a:latin typeface="NewBaskervilleStd-Bold"/>
              </a:rPr>
              <a:t>Box </a:t>
            </a:r>
            <a:r>
              <a:rPr lang="en-IN" sz="2400" b="0" i="0" u="none" strike="noStrike" baseline="0" dirty="0">
                <a:latin typeface="NewBaskervilleStd-Roman"/>
              </a:rPr>
              <a:t>that defines three instance variables: </a:t>
            </a:r>
            <a:r>
              <a:rPr lang="en-IN" sz="2400" b="1" i="0" u="none" strike="noStrike" baseline="0" dirty="0">
                <a:latin typeface="NewBaskervilleStd-Bold"/>
              </a:rPr>
              <a:t>width</a:t>
            </a:r>
            <a:r>
              <a:rPr lang="en-IN" sz="2400" b="0" i="0" u="none" strike="noStrike" baseline="0" dirty="0">
                <a:latin typeface="NewBaskervilleStd-Roman"/>
              </a:rPr>
              <a:t>, </a:t>
            </a:r>
            <a:r>
              <a:rPr lang="en-IN" sz="2400" b="1" i="0" u="none" strike="noStrike" baseline="0" dirty="0">
                <a:latin typeface="NewBaskervilleStd-Bold"/>
              </a:rPr>
              <a:t>height</a:t>
            </a:r>
            <a:r>
              <a:rPr lang="en-IN" sz="2400" b="0" i="0" u="none" strike="noStrike" baseline="0" dirty="0">
                <a:latin typeface="NewBaskervilleStd-Roman"/>
              </a:rPr>
              <a:t>, and </a:t>
            </a:r>
            <a:r>
              <a:rPr lang="en-IN" sz="2400" b="1" i="0" u="none" strike="noStrike" baseline="0" dirty="0">
                <a:latin typeface="NewBaskervilleStd-Bold"/>
              </a:rPr>
              <a:t>depth.</a:t>
            </a:r>
          </a:p>
          <a:p>
            <a:pPr algn="l"/>
            <a:endParaRPr lang="en-IN" sz="2400" b="1" i="0" u="none" strike="noStrike" baseline="0" dirty="0">
              <a:latin typeface="NewBaskervilleStd-Bold"/>
            </a:endParaRPr>
          </a:p>
          <a:p>
            <a:pPr algn="l"/>
            <a:r>
              <a:rPr lang="en-IN" sz="2400" dirty="0"/>
              <a:t>class Box {</a:t>
            </a:r>
          </a:p>
          <a:p>
            <a:pPr algn="l"/>
            <a:r>
              <a:rPr lang="en-IN" sz="2400" dirty="0"/>
              <a:t>double width;</a:t>
            </a:r>
          </a:p>
          <a:p>
            <a:pPr algn="l"/>
            <a:r>
              <a:rPr lang="en-IN" sz="2400" dirty="0"/>
              <a:t>double height;</a:t>
            </a:r>
          </a:p>
          <a:p>
            <a:pPr algn="l"/>
            <a:r>
              <a:rPr lang="en-IN" sz="2400" dirty="0"/>
              <a:t>double depth;</a:t>
            </a:r>
          </a:p>
          <a:p>
            <a:pPr algn="l"/>
            <a:r>
              <a:rPr lang="en-IN" sz="2400" dirty="0"/>
              <a:t>}</a:t>
            </a:r>
          </a:p>
          <a:p>
            <a:pPr algn="l"/>
            <a:endParaRPr lang="en-IN" sz="2400" dirty="0"/>
          </a:p>
          <a:p>
            <a:pPr algn="l"/>
            <a:r>
              <a:rPr lang="en-IN" sz="2400" dirty="0"/>
              <a:t>To actually create a </a:t>
            </a:r>
            <a:r>
              <a:rPr lang="en-IN" sz="2400" b="1" dirty="0"/>
              <a:t>Box</a:t>
            </a:r>
            <a:r>
              <a:rPr lang="en-IN" sz="2400" dirty="0"/>
              <a:t> object, you will use a statement like the following:</a:t>
            </a:r>
          </a:p>
          <a:p>
            <a:pPr algn="l"/>
            <a:r>
              <a:rPr lang="en-IN" sz="2400" dirty="0"/>
              <a:t>Box </a:t>
            </a:r>
            <a:r>
              <a:rPr lang="en-IN" sz="2400" dirty="0" err="1"/>
              <a:t>mybox</a:t>
            </a:r>
            <a:r>
              <a:rPr lang="en-IN" sz="2400" dirty="0"/>
              <a:t> = new Box(); </a:t>
            </a:r>
          </a:p>
          <a:p>
            <a:pPr algn="l"/>
            <a:r>
              <a:rPr lang="en-IN" sz="2400" dirty="0"/>
              <a:t>// create a Box object called </a:t>
            </a:r>
            <a:r>
              <a:rPr lang="en-IN" sz="2400" dirty="0" err="1"/>
              <a:t>mybox</a:t>
            </a:r>
            <a:endParaRPr lang="en-IN" sz="2400" dirty="0"/>
          </a:p>
          <a:p>
            <a:pPr algn="l"/>
            <a:r>
              <a:rPr lang="en-IN" sz="2400" dirty="0" err="1"/>
              <a:t>mybox.width</a:t>
            </a:r>
            <a:r>
              <a:rPr lang="en-IN" sz="2400" dirty="0"/>
              <a:t> = 100;</a:t>
            </a:r>
          </a:p>
        </p:txBody>
      </p:sp>
    </p:spTree>
    <p:extLst>
      <p:ext uri="{BB962C8B-B14F-4D97-AF65-F5344CB8AC3E}">
        <p14:creationId xmlns:p14="http://schemas.microsoft.com/office/powerpoint/2010/main" val="60183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A2E008-EA45-A439-FAB2-1EC3AFEB6E54}"/>
              </a:ext>
            </a:extLst>
          </p:cNvPr>
          <p:cNvSpPr txBox="1"/>
          <p:nvPr/>
        </p:nvSpPr>
        <p:spPr>
          <a:xfrm>
            <a:off x="1515036" y="166876"/>
            <a:ext cx="10587318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u="none" strike="noStrike" baseline="0" dirty="0">
                <a:latin typeface="CourierStd"/>
              </a:rPr>
              <a:t>/* A program that uses the Box class. Call this file BoxDemo.java */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class Box {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	double width;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	double height;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	double depth;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}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// This class declares an object of type Box.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class </a:t>
            </a:r>
            <a:r>
              <a:rPr lang="en-IN" sz="2000" b="1" i="0" u="none" strike="noStrike" baseline="0" dirty="0" err="1">
                <a:latin typeface="CourierStd"/>
              </a:rPr>
              <a:t>BoxDemo</a:t>
            </a:r>
            <a:r>
              <a:rPr lang="en-IN" sz="2000" b="1" i="0" u="none" strike="noStrike" baseline="0" dirty="0">
                <a:latin typeface="CourierStd"/>
              </a:rPr>
              <a:t> {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	public static void main(String </a:t>
            </a:r>
            <a:r>
              <a:rPr lang="en-IN" sz="2000" b="1" i="0" u="none" strike="noStrike" baseline="0" dirty="0" err="1">
                <a:latin typeface="CourierStd"/>
              </a:rPr>
              <a:t>args</a:t>
            </a:r>
            <a:r>
              <a:rPr lang="en-IN" sz="2000" b="1" i="0" u="none" strike="noStrike" baseline="0" dirty="0">
                <a:latin typeface="CourierStd"/>
              </a:rPr>
              <a:t>[]) {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		Box </a:t>
            </a:r>
            <a:r>
              <a:rPr lang="en-IN" sz="2000" b="1" i="0" u="none" strike="noStrike" baseline="0" dirty="0" err="1">
                <a:latin typeface="CourierStd"/>
              </a:rPr>
              <a:t>mybox</a:t>
            </a:r>
            <a:r>
              <a:rPr lang="en-IN" sz="2000" b="1" i="0" u="none" strike="noStrike" baseline="0" dirty="0">
                <a:latin typeface="CourierStd"/>
              </a:rPr>
              <a:t> = new Box();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		double vol;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		// assign values to </a:t>
            </a:r>
            <a:r>
              <a:rPr lang="en-IN" sz="2000" b="1" i="0" u="none" strike="noStrike" baseline="0" dirty="0" err="1">
                <a:latin typeface="CourierStd"/>
              </a:rPr>
              <a:t>mybox's</a:t>
            </a:r>
            <a:r>
              <a:rPr lang="en-IN" sz="2000" b="1" i="0" u="none" strike="noStrike" baseline="0" dirty="0">
                <a:latin typeface="CourierStd"/>
              </a:rPr>
              <a:t> instance variables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		</a:t>
            </a:r>
            <a:r>
              <a:rPr lang="en-IN" sz="2000" b="1" i="0" u="none" strike="noStrike" baseline="0" dirty="0" err="1">
                <a:latin typeface="CourierStd"/>
              </a:rPr>
              <a:t>mybox.width</a:t>
            </a:r>
            <a:r>
              <a:rPr lang="en-IN" sz="2000" b="1" i="0" u="none" strike="noStrike" baseline="0" dirty="0">
                <a:latin typeface="CourierStd"/>
              </a:rPr>
              <a:t> = 10;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		</a:t>
            </a:r>
            <a:r>
              <a:rPr lang="en-IN" sz="2000" b="1" i="0" u="none" strike="noStrike" baseline="0" dirty="0" err="1">
                <a:latin typeface="CourierStd"/>
              </a:rPr>
              <a:t>mybox.height</a:t>
            </a:r>
            <a:r>
              <a:rPr lang="en-IN" sz="2000" b="1" i="0" u="none" strike="noStrike" baseline="0" dirty="0">
                <a:latin typeface="CourierStd"/>
              </a:rPr>
              <a:t> = 20;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		</a:t>
            </a:r>
            <a:r>
              <a:rPr lang="en-IN" sz="2000" b="1" i="0" u="none" strike="noStrike" baseline="0" dirty="0" err="1">
                <a:latin typeface="CourierStd"/>
              </a:rPr>
              <a:t>mybox.depth</a:t>
            </a:r>
            <a:r>
              <a:rPr lang="en-IN" sz="2000" b="1" i="0" u="none" strike="noStrike" baseline="0" dirty="0">
                <a:latin typeface="CourierStd"/>
              </a:rPr>
              <a:t> = 15;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		// compute volume of box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		vol = </a:t>
            </a:r>
            <a:r>
              <a:rPr lang="en-IN" sz="2000" b="1" i="0" u="none" strike="noStrike" baseline="0" dirty="0" err="1">
                <a:latin typeface="CourierStd"/>
              </a:rPr>
              <a:t>mybox.width</a:t>
            </a:r>
            <a:r>
              <a:rPr lang="en-IN" sz="2000" b="1" i="0" u="none" strike="noStrike" baseline="0" dirty="0">
                <a:latin typeface="CourierStd"/>
              </a:rPr>
              <a:t> * </a:t>
            </a:r>
            <a:r>
              <a:rPr lang="en-IN" sz="2000" b="1" i="0" u="none" strike="noStrike" baseline="0" dirty="0" err="1">
                <a:latin typeface="CourierStd"/>
              </a:rPr>
              <a:t>mybox.height</a:t>
            </a:r>
            <a:r>
              <a:rPr lang="en-IN" sz="2000" b="1" i="0" u="none" strike="noStrike" baseline="0" dirty="0">
                <a:latin typeface="CourierStd"/>
              </a:rPr>
              <a:t> * </a:t>
            </a:r>
            <a:r>
              <a:rPr lang="en-IN" sz="2000" b="1" i="0" u="none" strike="noStrike" baseline="0" dirty="0" err="1">
                <a:latin typeface="CourierStd"/>
              </a:rPr>
              <a:t>mybox.depth</a:t>
            </a:r>
            <a:r>
              <a:rPr lang="en-IN" sz="2000" b="1" i="0" u="none" strike="noStrike" baseline="0" dirty="0">
                <a:latin typeface="CourierStd"/>
              </a:rPr>
              <a:t>;</a:t>
            </a:r>
          </a:p>
          <a:p>
            <a:pPr algn="l"/>
            <a:r>
              <a:rPr lang="nl-NL" sz="2000" b="1" i="0" u="none" strike="noStrike" baseline="0" dirty="0">
                <a:latin typeface="CourierStd"/>
              </a:rPr>
              <a:t>		System.out.println("Volume is " + vol);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	}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}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28602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ECEAAE-77A0-1354-CE13-A5B4D11D8BB6}"/>
              </a:ext>
            </a:extLst>
          </p:cNvPr>
          <p:cNvSpPr txBox="1"/>
          <p:nvPr/>
        </p:nvSpPr>
        <p:spPr>
          <a:xfrm>
            <a:off x="1864659" y="238593"/>
            <a:ext cx="943983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i="0" u="none" strike="noStrike" baseline="0" dirty="0">
                <a:latin typeface="CourierStd"/>
              </a:rPr>
              <a:t>class BoxDemo2 {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public static void main(String </a:t>
            </a:r>
            <a:r>
              <a:rPr lang="en-IN" sz="1800" b="1" i="0" u="none" strike="noStrike" baseline="0" dirty="0" err="1">
                <a:latin typeface="CourierStd"/>
              </a:rPr>
              <a:t>args</a:t>
            </a:r>
            <a:r>
              <a:rPr lang="en-IN" sz="1800" b="1" i="0" u="none" strike="noStrike" baseline="0" dirty="0">
                <a:latin typeface="CourierStd"/>
              </a:rPr>
              <a:t>[]) {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	Box mybox1 = new Box();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	Box mybox2 = new Box();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	double vol;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	// assign values to mybox1's instance variables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	mybox1.width = 10;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	mybox1.height = 20;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	mybox1.depth = 15;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	/* assign different values to mybox2’s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	instance variables */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	mybox2.width = 3;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	mybox2.height = 6;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	mybox2.depth = 9;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	// compute volume of first box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	vol = mybox1.width * mybox1.height * mybox1.depth;</a:t>
            </a:r>
          </a:p>
          <a:p>
            <a:pPr algn="l"/>
            <a:r>
              <a:rPr lang="nl-NL" sz="1800" b="1" i="0" u="none" strike="noStrike" baseline="0" dirty="0">
                <a:latin typeface="CourierStd"/>
              </a:rPr>
              <a:t>		System.out.println("Volume is " + vol);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	// compute volume of second box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	vol = mybox2.width * mybox2.height * mybox2.depth;</a:t>
            </a:r>
          </a:p>
          <a:p>
            <a:pPr algn="l"/>
            <a:r>
              <a:rPr lang="nl-NL" sz="1800" b="1" i="0" u="none" strike="noStrike" baseline="0" dirty="0">
                <a:latin typeface="CourierStd"/>
              </a:rPr>
              <a:t>		System.out.println("Volume is " + vol);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	}</a:t>
            </a:r>
          </a:p>
          <a:p>
            <a:pPr algn="l"/>
            <a:r>
              <a:rPr lang="en-IN" sz="1800" b="1" i="0" u="none" strike="noStrike" baseline="0" dirty="0">
                <a:latin typeface="CourierStd"/>
              </a:rPr>
              <a:t>}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22009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D0E04-35E0-355D-4F15-A055542DD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Declaring Objects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1A3031-8FF9-13CC-27F4-124FCAEF1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682" y="1703294"/>
            <a:ext cx="9837177" cy="4625788"/>
          </a:xfrm>
        </p:spPr>
        <p:txBody>
          <a:bodyPr>
            <a:normAutofit/>
          </a:bodyPr>
          <a:lstStyle/>
          <a:p>
            <a:r>
              <a:rPr lang="en-IN" sz="2200" dirty="0"/>
              <a:t>Box </a:t>
            </a:r>
            <a:r>
              <a:rPr lang="en-IN" sz="2200" dirty="0" err="1"/>
              <a:t>mybox</a:t>
            </a:r>
            <a:r>
              <a:rPr lang="en-IN" sz="2200" dirty="0"/>
              <a:t>; // declare reference to object</a:t>
            </a:r>
          </a:p>
          <a:p>
            <a:r>
              <a:rPr lang="en-IN" sz="2200" dirty="0" err="1"/>
              <a:t>mybox</a:t>
            </a:r>
            <a:r>
              <a:rPr lang="en-IN" sz="2200" dirty="0"/>
              <a:t> = new Box(); // allocate a Box object</a:t>
            </a:r>
          </a:p>
          <a:p>
            <a:pPr algn="l"/>
            <a:r>
              <a:rPr lang="en-IN" sz="2200" dirty="0"/>
              <a:t>The first line declares </a:t>
            </a:r>
            <a:r>
              <a:rPr lang="en-IN" sz="2200" dirty="0" err="1"/>
              <a:t>mybox</a:t>
            </a:r>
            <a:r>
              <a:rPr lang="en-IN" sz="2200" dirty="0"/>
              <a:t> as a reference to an object </a:t>
            </a:r>
            <a:r>
              <a:rPr lang="en-IN" sz="2200" b="0" i="0" u="none" strike="noStrike" baseline="0" dirty="0"/>
              <a:t>of type </a:t>
            </a:r>
            <a:r>
              <a:rPr lang="en-IN" sz="2200" b="1" i="0" u="none" strike="noStrike" baseline="0" dirty="0"/>
              <a:t>Box</a:t>
            </a:r>
            <a:r>
              <a:rPr lang="en-IN" sz="2200" b="0" i="0" u="none" strike="noStrike" baseline="0" dirty="0"/>
              <a:t>. At this point, </a:t>
            </a:r>
            <a:r>
              <a:rPr lang="en-IN" sz="2200" b="1" i="0" u="none" strike="noStrike" baseline="0" dirty="0" err="1"/>
              <a:t>mybox</a:t>
            </a:r>
            <a:r>
              <a:rPr lang="en-IN" sz="2200" b="1" i="0" u="none" strike="noStrike" baseline="0" dirty="0"/>
              <a:t>  </a:t>
            </a:r>
            <a:r>
              <a:rPr lang="en-IN" sz="2200" b="0" i="0" u="none" strike="noStrike" baseline="0" dirty="0"/>
              <a:t>does not yet refer to an actual object. </a:t>
            </a:r>
          </a:p>
          <a:p>
            <a:pPr algn="l"/>
            <a:r>
              <a:rPr lang="en-IN" sz="2200" b="0" i="0" u="none" strike="noStrike" baseline="0" dirty="0"/>
              <a:t>The next line allocates an object and assigns a reference to it to </a:t>
            </a:r>
            <a:r>
              <a:rPr lang="en-IN" sz="2200" b="1" i="0" u="none" strike="noStrike" baseline="0" dirty="0" err="1"/>
              <a:t>mybox</a:t>
            </a:r>
            <a:r>
              <a:rPr lang="en-IN" sz="2200" b="0" i="0" u="none" strike="noStrike" baseline="0" dirty="0"/>
              <a:t>. After the second line executes, you can use </a:t>
            </a:r>
            <a:r>
              <a:rPr lang="en-IN" sz="2200" b="1" i="0" u="none" strike="noStrike" baseline="0" dirty="0" err="1"/>
              <a:t>mybox</a:t>
            </a:r>
            <a:r>
              <a:rPr lang="en-IN" sz="2200" b="1" i="0" u="none" strike="noStrike" baseline="0" dirty="0"/>
              <a:t> </a:t>
            </a:r>
            <a:r>
              <a:rPr lang="en-IN" sz="2200" b="0" i="0" u="none" strike="noStrike" baseline="0" dirty="0"/>
              <a:t>as if it were a </a:t>
            </a:r>
            <a:r>
              <a:rPr lang="en-IN" sz="2200" b="1" i="0" u="none" strike="noStrike" baseline="0" dirty="0"/>
              <a:t>Box </a:t>
            </a:r>
            <a:r>
              <a:rPr lang="en-IN" sz="2200" b="0" i="0" u="none" strike="noStrike" baseline="0" dirty="0"/>
              <a:t>object.</a:t>
            </a:r>
          </a:p>
          <a:p>
            <a:pPr algn="l"/>
            <a:r>
              <a:rPr lang="en-IN" sz="2200" b="0" i="0" u="none" strike="noStrike" baseline="0" dirty="0"/>
              <a:t>But in reality, </a:t>
            </a:r>
            <a:r>
              <a:rPr lang="en-IN" sz="2200" b="1" i="0" u="none" strike="noStrike" baseline="0" dirty="0" err="1"/>
              <a:t>mybox</a:t>
            </a:r>
            <a:r>
              <a:rPr lang="en-IN" sz="2200" b="1" i="0" u="none" strike="noStrike" baseline="0" dirty="0"/>
              <a:t> </a:t>
            </a:r>
            <a:r>
              <a:rPr lang="en-IN" sz="2200" b="0" i="0" u="none" strike="noStrike" baseline="0" dirty="0"/>
              <a:t>simply holds, in essence, the memory address of the actual</a:t>
            </a:r>
          </a:p>
          <a:p>
            <a:pPr algn="l"/>
            <a:r>
              <a:rPr lang="en-IN" sz="2200" b="1" i="0" u="none" strike="noStrike" baseline="0" dirty="0"/>
              <a:t>Box </a:t>
            </a:r>
            <a:r>
              <a:rPr lang="en-IN" sz="2200" b="0" i="0" u="none" strike="noStrike" baseline="0" dirty="0"/>
              <a:t>object.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220185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22296-CD6F-75E9-E46B-78FC6131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964D84-AFD0-16CE-1E5C-8EB3B7D8A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043" y="543427"/>
            <a:ext cx="10209367" cy="4835397"/>
          </a:xfrm>
        </p:spPr>
      </p:pic>
    </p:spTree>
    <p:extLst>
      <p:ext uri="{BB962C8B-B14F-4D97-AF65-F5344CB8AC3E}">
        <p14:creationId xmlns:p14="http://schemas.microsoft.com/office/powerpoint/2010/main" val="1047434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3FF2E-06C2-43C1-E512-F76C2682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Assigning Object Reference Variables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CE88E4-56BD-EB2E-E45A-63D8BA282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120" y="2061882"/>
            <a:ext cx="7150459" cy="2061884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C10BEF-364F-B390-4E31-04D664E9B481}"/>
              </a:ext>
            </a:extLst>
          </p:cNvPr>
          <p:cNvSpPr txBox="1"/>
          <p:nvPr/>
        </p:nvSpPr>
        <p:spPr>
          <a:xfrm>
            <a:off x="2268071" y="4383922"/>
            <a:ext cx="923654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i="0" u="none" strike="noStrike" baseline="0" dirty="0">
                <a:latin typeface="CourierStd"/>
              </a:rPr>
              <a:t>Box b1 = new Box();</a:t>
            </a:r>
          </a:p>
          <a:p>
            <a:pPr algn="l"/>
            <a:r>
              <a:rPr lang="en-IN" sz="2000" b="0" i="0" u="none" strike="noStrike" baseline="0" dirty="0">
                <a:latin typeface="CourierStd"/>
              </a:rPr>
              <a:t>Box b2 = b1;</a:t>
            </a:r>
          </a:p>
          <a:p>
            <a:pPr algn="l"/>
            <a:r>
              <a:rPr lang="en-IN" sz="2000" b="0" i="0" u="none" strike="noStrike" baseline="0" dirty="0">
                <a:latin typeface="CourierStd"/>
              </a:rPr>
              <a:t>// ...</a:t>
            </a:r>
          </a:p>
          <a:p>
            <a:pPr algn="l"/>
            <a:r>
              <a:rPr lang="en-IN" sz="2000" b="0" i="0" u="none" strike="noStrike" baseline="0" dirty="0">
                <a:latin typeface="CourierStd"/>
              </a:rPr>
              <a:t>b1 = null;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Here, </a:t>
            </a:r>
            <a:r>
              <a:rPr lang="en-IN" sz="2400" b="1" i="0" u="none" strike="noStrike" baseline="0" dirty="0">
                <a:latin typeface="NewBaskervilleStd-Bold"/>
              </a:rPr>
              <a:t>b1 </a:t>
            </a:r>
            <a:r>
              <a:rPr lang="en-IN" sz="2400" b="0" i="0" u="none" strike="noStrike" baseline="0" dirty="0">
                <a:latin typeface="NewBaskervilleStd-Roman"/>
              </a:rPr>
              <a:t>has been set to </a:t>
            </a:r>
            <a:r>
              <a:rPr lang="en-IN" sz="2400" b="1" i="0" u="none" strike="noStrike" baseline="0" dirty="0">
                <a:latin typeface="NewBaskervilleStd-Bold"/>
              </a:rPr>
              <a:t>null</a:t>
            </a:r>
            <a:r>
              <a:rPr lang="en-IN" sz="2400" b="0" i="0" u="none" strike="noStrike" baseline="0" dirty="0">
                <a:latin typeface="NewBaskervilleStd-Roman"/>
              </a:rPr>
              <a:t>, but </a:t>
            </a:r>
            <a:r>
              <a:rPr lang="en-IN" sz="2400" b="1" i="0" u="none" strike="noStrike" baseline="0" dirty="0">
                <a:latin typeface="NewBaskervilleStd-Bold"/>
              </a:rPr>
              <a:t>b2 </a:t>
            </a:r>
            <a:r>
              <a:rPr lang="en-IN" sz="2400" b="0" i="0" u="none" strike="noStrike" baseline="0" dirty="0">
                <a:latin typeface="NewBaskervilleStd-Roman"/>
              </a:rPr>
              <a:t>still points to the original object.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20015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BAED1-5EED-7497-E184-D4D06EB08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Adding a Method That Takes Parameters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9005F-1553-E82E-5F4D-0E8AAF09F823}"/>
              </a:ext>
            </a:extLst>
          </p:cNvPr>
          <p:cNvSpPr txBox="1"/>
          <p:nvPr/>
        </p:nvSpPr>
        <p:spPr>
          <a:xfrm>
            <a:off x="2510116" y="1905000"/>
            <a:ext cx="917089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i="0" u="none" strike="noStrike" baseline="0" dirty="0"/>
              <a:t>While some methods don’t need parameters, most do. Parameters allow a method to be generalized. </a:t>
            </a:r>
          </a:p>
          <a:p>
            <a:pPr algn="l"/>
            <a:endParaRPr lang="en-IN" sz="2000" dirty="0"/>
          </a:p>
          <a:p>
            <a:pPr algn="l"/>
            <a:r>
              <a:rPr lang="en-IN" sz="2000" b="0" i="0" u="none" strike="noStrike" baseline="0" dirty="0"/>
              <a:t>That is, a parameterized method can operate on a variety of data and/or be used in a number of slightly different situations.</a:t>
            </a:r>
          </a:p>
          <a:p>
            <a:pPr algn="l"/>
            <a:endParaRPr lang="en-IN" sz="1100" b="0" i="0" u="none" strike="noStrike" baseline="0" dirty="0"/>
          </a:p>
          <a:p>
            <a:pPr algn="l"/>
            <a:r>
              <a:rPr lang="en-IN" sz="2000" b="0" i="0" u="none" strike="noStrike" baseline="0" dirty="0"/>
              <a:t>int square()</a:t>
            </a:r>
          </a:p>
          <a:p>
            <a:pPr algn="l"/>
            <a:r>
              <a:rPr lang="en-IN" sz="2000" b="0" i="0" u="none" strike="noStrike" baseline="0" dirty="0"/>
              <a:t>{     return 10 * 10;</a:t>
            </a:r>
          </a:p>
          <a:p>
            <a:pPr algn="l"/>
            <a:r>
              <a:rPr lang="en-IN" sz="2000" b="0" i="0" u="none" strike="noStrike" baseline="0" dirty="0"/>
              <a:t>}</a:t>
            </a:r>
          </a:p>
          <a:p>
            <a:pPr algn="l"/>
            <a:r>
              <a:rPr lang="en-IN" sz="2000" b="0" i="0" u="none" strike="noStrike" baseline="0" dirty="0"/>
              <a:t>However, if you modify the method so that it takes a parameter, as shown next, then you can make </a:t>
            </a:r>
            <a:r>
              <a:rPr lang="en-IN" sz="2000" b="1" i="0" u="none" strike="noStrike" baseline="0" dirty="0"/>
              <a:t>square( ) </a:t>
            </a:r>
            <a:r>
              <a:rPr lang="en-IN" sz="2000" b="0" i="0" u="none" strike="noStrike" baseline="0" dirty="0"/>
              <a:t>much more useful.</a:t>
            </a:r>
          </a:p>
          <a:p>
            <a:pPr algn="l"/>
            <a:endParaRPr lang="en-IN" sz="2000" dirty="0"/>
          </a:p>
          <a:p>
            <a:pPr algn="l"/>
            <a:r>
              <a:rPr lang="en-IN" sz="2000" b="0" i="0" u="none" strike="noStrike" baseline="0" dirty="0"/>
              <a:t>int square(int </a:t>
            </a:r>
            <a:r>
              <a:rPr lang="en-IN" sz="2000" b="0" i="0" u="none" strike="noStrike" baseline="0" dirty="0" err="1"/>
              <a:t>i</a:t>
            </a:r>
            <a:r>
              <a:rPr lang="en-IN" sz="2000" b="0" i="0" u="none" strike="noStrike" baseline="0" dirty="0"/>
              <a:t>)</a:t>
            </a:r>
          </a:p>
          <a:p>
            <a:pPr algn="l"/>
            <a:r>
              <a:rPr lang="en-IN" sz="2000" b="0" i="0" u="none" strike="noStrike" baseline="0" dirty="0"/>
              <a:t>{    return </a:t>
            </a:r>
            <a:r>
              <a:rPr lang="en-IN" sz="2000" b="0" i="0" u="none" strike="noStrike" baseline="0" dirty="0" err="1"/>
              <a:t>i</a:t>
            </a:r>
            <a:r>
              <a:rPr lang="en-IN" sz="2000" b="0" i="0" u="none" strike="noStrike" baseline="0" dirty="0"/>
              <a:t> * </a:t>
            </a:r>
            <a:r>
              <a:rPr lang="en-IN" sz="2000" b="0" i="0" u="none" strike="noStrike" baseline="0" dirty="0" err="1"/>
              <a:t>i</a:t>
            </a:r>
            <a:r>
              <a:rPr lang="en-IN" sz="2000" b="0" i="0" u="none" strike="noStrike" baseline="0" dirty="0"/>
              <a:t>;</a:t>
            </a:r>
          </a:p>
          <a:p>
            <a:pPr algn="l"/>
            <a:r>
              <a:rPr lang="en-IN" sz="2000" b="0" i="0" u="none" strike="noStrike" baseline="0" dirty="0"/>
              <a:t>}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0031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6A6F2-1B1A-D64A-CBD1-2243BC501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Overloading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576CAB-C9B1-07B7-3B2A-026A5B9FC1D4}"/>
              </a:ext>
            </a:extLst>
          </p:cNvPr>
          <p:cNvSpPr txBox="1"/>
          <p:nvPr/>
        </p:nvSpPr>
        <p:spPr>
          <a:xfrm>
            <a:off x="2088776" y="1739153"/>
            <a:ext cx="69924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 int  y= square(7);</a:t>
            </a:r>
          </a:p>
          <a:p>
            <a:r>
              <a:rPr lang="en-IN" sz="2400" b="1" dirty="0"/>
              <a:t> int x= square();</a:t>
            </a:r>
          </a:p>
          <a:p>
            <a:r>
              <a:rPr lang="en-IN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1286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1040-5599-577C-A5A9-43F7FC105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Constructors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6528C-6372-1677-8A61-5003BF9980E9}"/>
              </a:ext>
            </a:extLst>
          </p:cNvPr>
          <p:cNvSpPr txBox="1"/>
          <p:nvPr/>
        </p:nvSpPr>
        <p:spPr>
          <a:xfrm>
            <a:off x="2163002" y="1430394"/>
            <a:ext cx="977153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strike="noStrike" baseline="0" dirty="0">
                <a:latin typeface="NewBaskervilleStd-Roman"/>
              </a:rPr>
              <a:t>A </a:t>
            </a:r>
            <a:r>
              <a:rPr lang="en-IN" sz="2400" b="1" i="1" u="none" strike="noStrike" baseline="0" dirty="0">
                <a:latin typeface="NewBaskervilleStd-Italic"/>
              </a:rPr>
              <a:t>constructor </a:t>
            </a:r>
            <a:r>
              <a:rPr lang="en-IN" sz="2400" b="1" i="0" u="none" strike="noStrike" baseline="0" dirty="0">
                <a:latin typeface="NewBaskervilleStd-Roman"/>
              </a:rPr>
              <a:t>initializes an object immediately upon creation. </a:t>
            </a:r>
          </a:p>
          <a:p>
            <a:pPr algn="l"/>
            <a:endParaRPr lang="en-IN" sz="2400" b="1" i="0" u="none" strike="noStrike" baseline="0" dirty="0">
              <a:latin typeface="NewBaskervilleStd-Roman"/>
            </a:endParaRPr>
          </a:p>
          <a:p>
            <a:pPr algn="l"/>
            <a:r>
              <a:rPr lang="en-IN" sz="2400" b="1" i="0" u="none" strike="noStrike" baseline="0" dirty="0">
                <a:latin typeface="NewBaskervilleStd-Roman"/>
              </a:rPr>
              <a:t>It has the same name as the class in which it resides and is syntactically similar to a method. </a:t>
            </a:r>
          </a:p>
          <a:p>
            <a:pPr algn="l"/>
            <a:endParaRPr lang="en-IN" sz="2400" b="1" i="0" u="none" strike="noStrike" baseline="0" dirty="0">
              <a:latin typeface="NewBaskervilleStd-Roman"/>
            </a:endParaRPr>
          </a:p>
          <a:p>
            <a:pPr algn="l"/>
            <a:r>
              <a:rPr lang="en-IN" sz="2400" b="1" i="0" u="none" strike="noStrike" baseline="0" dirty="0">
                <a:latin typeface="NewBaskervilleStd-Roman"/>
              </a:rPr>
              <a:t>Once defined, the constructor is automatically called when the object is created, before the </a:t>
            </a:r>
            <a:r>
              <a:rPr lang="en-IN" sz="2400" b="1" i="0" u="none" strike="noStrike" baseline="0" dirty="0">
                <a:latin typeface="NewBaskervilleStd-Bold"/>
              </a:rPr>
              <a:t>new </a:t>
            </a:r>
            <a:r>
              <a:rPr lang="en-IN" sz="2400" b="1" i="0" u="none" strike="noStrike" baseline="0" dirty="0">
                <a:latin typeface="NewBaskervilleStd-Roman"/>
              </a:rPr>
              <a:t>operator completes. </a:t>
            </a:r>
          </a:p>
          <a:p>
            <a:pPr algn="l"/>
            <a:endParaRPr lang="en-IN" sz="2400" b="1" i="0" u="none" strike="noStrike" baseline="0" dirty="0">
              <a:latin typeface="NewBaskervilleStd-Roman"/>
            </a:endParaRPr>
          </a:p>
          <a:p>
            <a:pPr algn="l"/>
            <a:r>
              <a:rPr lang="en-IN" sz="2400" b="1" i="0" u="none" strike="noStrike" baseline="0" dirty="0">
                <a:latin typeface="NewBaskervilleStd-Roman"/>
              </a:rPr>
              <a:t>Constructors have no return type, not even </a:t>
            </a:r>
            <a:r>
              <a:rPr lang="en-IN" sz="2400" b="1" i="0" u="none" strike="noStrike" baseline="0" dirty="0">
                <a:latin typeface="NewBaskervilleStd-Bold"/>
              </a:rPr>
              <a:t>void</a:t>
            </a:r>
            <a:r>
              <a:rPr lang="en-IN" sz="2400" b="1" i="0" u="none" strike="noStrike" baseline="0" dirty="0">
                <a:latin typeface="NewBaskervilleStd-Roman"/>
              </a:rPr>
              <a:t>. This is because the implicit return type of a </a:t>
            </a:r>
            <a:r>
              <a:rPr lang="en-IN" sz="2400" b="1" i="0" u="none" strike="noStrike" baseline="0" dirty="0" err="1">
                <a:latin typeface="NewBaskervilleStd-Roman"/>
              </a:rPr>
              <a:t>class’</a:t>
            </a:r>
            <a:r>
              <a:rPr lang="en-IN" sz="2400" b="1" i="0" u="none" strike="noStrike" baseline="0" dirty="0">
                <a:latin typeface="NewBaskervilleStd-Roman"/>
              </a:rPr>
              <a:t> constructor is the class type itself.</a:t>
            </a:r>
          </a:p>
          <a:p>
            <a:pPr algn="l"/>
            <a:endParaRPr lang="en-IN" sz="2400" b="1" i="0" u="none" strike="noStrike" baseline="0" dirty="0">
              <a:latin typeface="NewBaskervilleStd-Roman"/>
            </a:endParaRPr>
          </a:p>
          <a:p>
            <a:pPr algn="l"/>
            <a:r>
              <a:rPr lang="en-IN" sz="2400" b="1" i="0" u="none" strike="noStrike" baseline="0" dirty="0">
                <a:latin typeface="NewBaskervilleStd-Roman"/>
              </a:rPr>
              <a:t>It is the constructor’s job to initialize the internal state of an object so that the code creating an instance will have a fully initialized, usable object immediately.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393632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90D447-D230-3321-35DF-712DEAB6D391}"/>
              </a:ext>
            </a:extLst>
          </p:cNvPr>
          <p:cNvSpPr txBox="1"/>
          <p:nvPr/>
        </p:nvSpPr>
        <p:spPr>
          <a:xfrm>
            <a:off x="2510118" y="428686"/>
            <a:ext cx="884816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0" i="0" u="none" strike="noStrike" baseline="0" dirty="0">
                <a:latin typeface="CourierStd"/>
              </a:rPr>
              <a:t>class Box {</a:t>
            </a:r>
          </a:p>
          <a:p>
            <a:pPr algn="l"/>
            <a:r>
              <a:rPr lang="en-IN" sz="2400" b="0" i="0" u="none" strike="noStrike" baseline="0" dirty="0">
                <a:latin typeface="CourierStd"/>
              </a:rPr>
              <a:t>double width;</a:t>
            </a:r>
          </a:p>
          <a:p>
            <a:pPr algn="l"/>
            <a:r>
              <a:rPr lang="en-IN" sz="2400" b="0" i="0" u="none" strike="noStrike" baseline="0" dirty="0">
                <a:latin typeface="CourierStd"/>
              </a:rPr>
              <a:t>double height;</a:t>
            </a:r>
          </a:p>
          <a:p>
            <a:pPr algn="l"/>
            <a:r>
              <a:rPr lang="en-IN" sz="2400" b="0" i="0" u="none" strike="noStrike" baseline="0" dirty="0">
                <a:latin typeface="CourierStd"/>
              </a:rPr>
              <a:t>double depth;</a:t>
            </a:r>
          </a:p>
          <a:p>
            <a:pPr algn="l"/>
            <a:r>
              <a:rPr lang="en-IN" sz="2400" b="0" i="0" u="none" strike="noStrike" baseline="0" dirty="0">
                <a:latin typeface="CourierStd"/>
              </a:rPr>
              <a:t>// This is the constructor for Box.</a:t>
            </a:r>
          </a:p>
          <a:p>
            <a:pPr algn="l"/>
            <a:r>
              <a:rPr lang="en-IN" sz="2400" b="0" i="0" u="none" strike="noStrike" baseline="0" dirty="0">
                <a:latin typeface="CourierStd"/>
              </a:rPr>
              <a:t>Box() {</a:t>
            </a:r>
          </a:p>
          <a:p>
            <a:pPr algn="l"/>
            <a:r>
              <a:rPr lang="en-IN" sz="2400" b="0" i="0" u="none" strike="noStrike" baseline="0" dirty="0" err="1">
                <a:latin typeface="CourierStd"/>
              </a:rPr>
              <a:t>System.out.println</a:t>
            </a:r>
            <a:r>
              <a:rPr lang="en-IN" sz="2400" b="0" i="0" u="none" strike="noStrike" baseline="0" dirty="0">
                <a:latin typeface="CourierStd"/>
              </a:rPr>
              <a:t>("Constructing Box");</a:t>
            </a:r>
          </a:p>
          <a:p>
            <a:pPr algn="l"/>
            <a:r>
              <a:rPr lang="en-IN" sz="2400" b="0" i="0" u="none" strike="noStrike" baseline="0" dirty="0">
                <a:latin typeface="CourierStd"/>
              </a:rPr>
              <a:t>width = 10;</a:t>
            </a:r>
          </a:p>
          <a:p>
            <a:pPr algn="l"/>
            <a:r>
              <a:rPr lang="en-IN" sz="2400" b="0" i="0" u="none" strike="noStrike" baseline="0" dirty="0">
                <a:latin typeface="CourierStd"/>
              </a:rPr>
              <a:t>height = 10;</a:t>
            </a:r>
          </a:p>
          <a:p>
            <a:pPr algn="l"/>
            <a:r>
              <a:rPr lang="en-IN" sz="2400" b="0" i="0" u="none" strike="noStrike" baseline="0" dirty="0">
                <a:latin typeface="CourierStd"/>
              </a:rPr>
              <a:t>depth = 10;</a:t>
            </a:r>
          </a:p>
          <a:p>
            <a:pPr algn="l"/>
            <a:r>
              <a:rPr lang="en-IN" sz="2400" b="0" i="0" u="none" strike="noStrike" baseline="0" dirty="0">
                <a:latin typeface="CourierStd"/>
              </a:rPr>
              <a:t>}</a:t>
            </a:r>
          </a:p>
          <a:p>
            <a:pPr algn="l"/>
            <a:r>
              <a:rPr lang="en-IN" sz="2400" b="0" i="0" u="none" strike="noStrike" baseline="0" dirty="0">
                <a:latin typeface="CourierStd"/>
              </a:rPr>
              <a:t>// compute and return volume</a:t>
            </a:r>
          </a:p>
          <a:p>
            <a:pPr algn="l"/>
            <a:r>
              <a:rPr lang="en-IN" sz="2400" b="0" i="0" u="none" strike="noStrike" baseline="0" dirty="0">
                <a:latin typeface="CourierStd"/>
              </a:rPr>
              <a:t>double volume() {</a:t>
            </a:r>
          </a:p>
          <a:p>
            <a:pPr algn="l"/>
            <a:r>
              <a:rPr lang="en-IN" sz="2400" b="0" i="0" u="none" strike="noStrike" baseline="0" dirty="0">
                <a:latin typeface="CourierStd"/>
              </a:rPr>
              <a:t>return width * height * depth;</a:t>
            </a:r>
          </a:p>
          <a:p>
            <a:pPr algn="l"/>
            <a:r>
              <a:rPr lang="en-IN" sz="2400" b="0" i="0" u="none" strike="noStrike" baseline="0" dirty="0">
                <a:latin typeface="CourierStd"/>
              </a:rPr>
              <a:t>}</a:t>
            </a:r>
          </a:p>
          <a:p>
            <a:pPr algn="l"/>
            <a:r>
              <a:rPr lang="en-IN" sz="2400" b="0" i="0" u="none" strike="noStrike" baseline="0" dirty="0">
                <a:latin typeface="CourierStd"/>
              </a:rPr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01214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7A1E9-F938-CB12-221C-AA67ED9FE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Parameterized Constructors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F50819-C42E-0025-8FF8-93EAA39657E4}"/>
              </a:ext>
            </a:extLst>
          </p:cNvPr>
          <p:cNvSpPr txBox="1"/>
          <p:nvPr/>
        </p:nvSpPr>
        <p:spPr>
          <a:xfrm>
            <a:off x="2592924" y="1749496"/>
            <a:ext cx="76447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latin typeface="CourierStd"/>
              </a:rPr>
              <a:t>// This is the constructor for Box.</a:t>
            </a:r>
          </a:p>
          <a:p>
            <a:pPr algn="l"/>
            <a:r>
              <a:rPr lang="fr-FR" sz="2800" b="1" i="0" u="none" strike="noStrike" baseline="0" dirty="0">
                <a:latin typeface="CourierStd"/>
              </a:rPr>
              <a:t>Box(double w, double h, double d) {</a:t>
            </a:r>
          </a:p>
          <a:p>
            <a:pPr algn="l"/>
            <a:r>
              <a:rPr lang="en-IN" sz="2800" b="1" i="0" u="none" strike="noStrike" baseline="0" dirty="0">
                <a:latin typeface="CourierStd"/>
              </a:rPr>
              <a:t>width = w;</a:t>
            </a:r>
          </a:p>
          <a:p>
            <a:pPr algn="l"/>
            <a:r>
              <a:rPr lang="en-IN" sz="2800" b="1" i="0" u="none" strike="noStrike" baseline="0" dirty="0">
                <a:latin typeface="CourierStd"/>
              </a:rPr>
              <a:t>height = h;</a:t>
            </a:r>
          </a:p>
          <a:p>
            <a:pPr algn="l"/>
            <a:r>
              <a:rPr lang="en-IN" sz="2800" b="1" i="0" u="none" strike="noStrike" baseline="0" dirty="0">
                <a:latin typeface="CourierStd"/>
              </a:rPr>
              <a:t>depth = d;</a:t>
            </a:r>
          </a:p>
          <a:p>
            <a:pPr algn="l"/>
            <a:r>
              <a:rPr lang="en-IN" sz="2800" b="1" i="0" u="none" strike="noStrike" baseline="0" dirty="0">
                <a:latin typeface="CourierStd"/>
              </a:rPr>
              <a:t>}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59986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A39F7-D1EB-C515-220F-2837777A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this Keyword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4F3B4-ABF4-885B-C248-390A7592408A}"/>
              </a:ext>
            </a:extLst>
          </p:cNvPr>
          <p:cNvSpPr txBox="1"/>
          <p:nvPr/>
        </p:nvSpPr>
        <p:spPr>
          <a:xfrm>
            <a:off x="2592923" y="1703765"/>
            <a:ext cx="88460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>
                <a:latin typeface="NewBaskervilleStd-Roman"/>
              </a:rPr>
              <a:t>Sometimes a method will need to refer to the object that invoked it. </a:t>
            </a:r>
          </a:p>
          <a:p>
            <a:pPr algn="l"/>
            <a:r>
              <a:rPr lang="en-IN" sz="2800" b="1" i="0" u="none" strike="noStrike" baseline="0">
                <a:latin typeface="NewBaskervilleStd-Roman"/>
              </a:rPr>
              <a:t>To allow this, Java defines the </a:t>
            </a:r>
            <a:r>
              <a:rPr lang="en-IN" sz="2800" b="1" i="0" u="none" strike="noStrike" baseline="0">
                <a:latin typeface="NewBaskervilleStd-Bold"/>
              </a:rPr>
              <a:t>this </a:t>
            </a:r>
            <a:r>
              <a:rPr lang="en-IN" sz="2800" b="1" i="0" u="none" strike="noStrike" baseline="0">
                <a:latin typeface="NewBaskervilleStd-Roman"/>
              </a:rPr>
              <a:t>keyword. </a:t>
            </a:r>
            <a:r>
              <a:rPr lang="en-IN" sz="2800" b="1" i="0" u="none" strike="noStrike" baseline="0">
                <a:latin typeface="NewBaskervilleStd-Bold"/>
              </a:rPr>
              <a:t>this </a:t>
            </a:r>
            <a:r>
              <a:rPr lang="en-IN" sz="2800" b="1" i="0" u="none" strike="noStrike" baseline="0">
                <a:latin typeface="NewBaskervilleStd-Roman"/>
              </a:rPr>
              <a:t>can be used inside any method to refer to the </a:t>
            </a:r>
            <a:r>
              <a:rPr lang="en-IN" sz="2800" b="1" i="1" u="none" strike="noStrike" baseline="0">
                <a:latin typeface="NewBaskervilleStd-Italic"/>
              </a:rPr>
              <a:t>current </a:t>
            </a:r>
            <a:r>
              <a:rPr lang="en-IN" sz="2800" b="1" i="0" u="none" strike="noStrike" baseline="0">
                <a:latin typeface="NewBaskervilleStd-Roman"/>
              </a:rPr>
              <a:t>object.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065542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245B61-3ED6-94B5-1715-8ADAF3B8EF68}"/>
              </a:ext>
            </a:extLst>
          </p:cNvPr>
          <p:cNvSpPr txBox="1"/>
          <p:nvPr/>
        </p:nvSpPr>
        <p:spPr>
          <a:xfrm>
            <a:off x="1120589" y="1507449"/>
            <a:ext cx="1120588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latin typeface="CourierStd"/>
              </a:rPr>
              <a:t>// A redundant use of this.</a:t>
            </a:r>
          </a:p>
          <a:p>
            <a:pPr algn="l"/>
            <a:r>
              <a:rPr lang="fr-FR" sz="2800" b="1" i="0" u="none" strike="noStrike" baseline="0" dirty="0">
                <a:latin typeface="CourierStd"/>
              </a:rPr>
              <a:t>Box(double </a:t>
            </a:r>
            <a:r>
              <a:rPr lang="en-IN" sz="2800" b="1" i="0" u="none" strike="noStrike" baseline="0" dirty="0">
                <a:latin typeface="CourierStd"/>
              </a:rPr>
              <a:t>width</a:t>
            </a:r>
            <a:r>
              <a:rPr lang="fr-FR" sz="2800" b="1" i="0" u="none" strike="noStrike" baseline="0" dirty="0">
                <a:latin typeface="CourierStd"/>
              </a:rPr>
              <a:t>, double </a:t>
            </a:r>
            <a:r>
              <a:rPr lang="en-IN" sz="2800" b="1" i="0" u="none" strike="noStrike" baseline="0" dirty="0">
                <a:latin typeface="CourierStd"/>
              </a:rPr>
              <a:t>height</a:t>
            </a:r>
            <a:r>
              <a:rPr lang="fr-FR" sz="2800" b="1" i="0" u="none" strike="noStrike" baseline="0" dirty="0">
                <a:latin typeface="CourierStd"/>
              </a:rPr>
              <a:t>,double </a:t>
            </a:r>
            <a:r>
              <a:rPr lang="en-IN" sz="2800" b="1" i="0" u="none" strike="noStrike" baseline="0" dirty="0">
                <a:latin typeface="CourierStd"/>
              </a:rPr>
              <a:t>depth</a:t>
            </a:r>
            <a:r>
              <a:rPr lang="fr-FR" sz="2800" b="1" i="0" u="none" strike="noStrike" baseline="0" dirty="0">
                <a:latin typeface="CourierStd"/>
              </a:rPr>
              <a:t>) {</a:t>
            </a:r>
          </a:p>
          <a:p>
            <a:pPr algn="l"/>
            <a:r>
              <a:rPr lang="en-IN" sz="2800" b="1" i="0" u="none" strike="noStrike" baseline="0" dirty="0" err="1">
                <a:latin typeface="CourierStd"/>
              </a:rPr>
              <a:t>this.width</a:t>
            </a:r>
            <a:r>
              <a:rPr lang="en-IN" sz="2800" b="1" i="0" u="none" strike="noStrike" baseline="0" dirty="0">
                <a:latin typeface="CourierStd"/>
              </a:rPr>
              <a:t> = width ;</a:t>
            </a:r>
          </a:p>
          <a:p>
            <a:pPr algn="l"/>
            <a:r>
              <a:rPr lang="en-IN" sz="2800" b="1" i="0" u="none" strike="noStrike" baseline="0" dirty="0" err="1">
                <a:latin typeface="CourierStd"/>
              </a:rPr>
              <a:t>this.height</a:t>
            </a:r>
            <a:r>
              <a:rPr lang="en-IN" sz="2800" b="1" i="0" u="none" strike="noStrike" baseline="0" dirty="0">
                <a:latin typeface="CourierStd"/>
              </a:rPr>
              <a:t> = height;</a:t>
            </a:r>
          </a:p>
          <a:p>
            <a:pPr algn="l"/>
            <a:r>
              <a:rPr lang="en-IN" sz="2800" b="1" i="0" u="none" strike="noStrike" baseline="0" dirty="0" err="1">
                <a:latin typeface="CourierStd"/>
              </a:rPr>
              <a:t>this.depth</a:t>
            </a:r>
            <a:r>
              <a:rPr lang="en-IN" sz="2800" b="1" i="0" u="none" strike="noStrike" baseline="0" dirty="0">
                <a:latin typeface="CourierStd"/>
              </a:rPr>
              <a:t> = depth;</a:t>
            </a:r>
          </a:p>
          <a:p>
            <a:pPr algn="l"/>
            <a:r>
              <a:rPr lang="en-IN" sz="2800" b="1" i="0" u="none" strike="noStrike" baseline="0" dirty="0">
                <a:latin typeface="CourierStd"/>
              </a:rPr>
              <a:t>}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719743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56C2AE-3949-181A-CBB4-0D744283C79A}"/>
              </a:ext>
            </a:extLst>
          </p:cNvPr>
          <p:cNvSpPr txBox="1"/>
          <p:nvPr/>
        </p:nvSpPr>
        <p:spPr>
          <a:xfrm>
            <a:off x="1748118" y="612337"/>
            <a:ext cx="990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dirty="0">
                <a:latin typeface="NewBaskervilleStd-Roman"/>
              </a:rPr>
              <a:t>It </a:t>
            </a:r>
            <a:r>
              <a:rPr lang="en-IN" sz="2400" b="0" i="0" u="none" strike="noStrike" baseline="0" dirty="0">
                <a:latin typeface="NewBaskervilleStd-Roman"/>
              </a:rPr>
              <a:t>is illegal in Java to declare two local variables with the same name inside the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same or enclosing scopes. </a:t>
            </a:r>
          </a:p>
          <a:p>
            <a:pPr algn="l"/>
            <a:endParaRPr lang="en-IN" sz="2400" dirty="0">
              <a:latin typeface="NewBaskervilleStd-Roman"/>
            </a:endParaRP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Interestingly, you can have local variables, including formal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parameters to methods, which overlap with the names of the </a:t>
            </a:r>
            <a:r>
              <a:rPr lang="en-IN" sz="2400" b="0" i="0" u="none" strike="noStrike" baseline="0" dirty="0" err="1">
                <a:latin typeface="NewBaskervilleStd-Roman"/>
              </a:rPr>
              <a:t>class’</a:t>
            </a:r>
            <a:r>
              <a:rPr lang="en-IN" sz="2400" b="0" i="0" u="none" strike="noStrike" baseline="0" dirty="0">
                <a:latin typeface="NewBaskervilleStd-Roman"/>
              </a:rPr>
              <a:t> instance variables. </a:t>
            </a:r>
          </a:p>
          <a:p>
            <a:pPr algn="l"/>
            <a:endParaRPr lang="en-IN" sz="2400" dirty="0">
              <a:latin typeface="NewBaskervilleStd-Roman"/>
            </a:endParaRP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However, when a local variable has the same name as an instance variable, the local variable </a:t>
            </a:r>
            <a:r>
              <a:rPr lang="en-IN" sz="2400" b="0" i="1" u="none" strike="noStrike" baseline="0" dirty="0">
                <a:latin typeface="NewBaskervilleStd-Italic"/>
              </a:rPr>
              <a:t>hides </a:t>
            </a:r>
            <a:r>
              <a:rPr lang="en-IN" sz="2400" b="0" i="0" u="none" strike="noStrike" baseline="0" dirty="0">
                <a:latin typeface="NewBaskervilleStd-Roman"/>
              </a:rPr>
              <a:t>the instance variable. </a:t>
            </a:r>
          </a:p>
          <a:p>
            <a:pPr algn="l"/>
            <a:endParaRPr lang="en-IN" sz="2400" dirty="0">
              <a:latin typeface="NewBaskervilleStd-Roman"/>
            </a:endParaRPr>
          </a:p>
          <a:p>
            <a:pPr algn="l"/>
            <a:endParaRPr lang="en-IN" sz="2400" dirty="0">
              <a:latin typeface="NewBaskervilleStd-Roman"/>
            </a:endParaRPr>
          </a:p>
          <a:p>
            <a:pPr algn="l"/>
            <a:r>
              <a:rPr lang="en-IN" sz="2400" b="1" i="0" u="none" strike="noStrike" baseline="0" dirty="0">
                <a:latin typeface="NewBaskervilleStd-Bold"/>
              </a:rPr>
              <a:t>this </a:t>
            </a:r>
            <a:r>
              <a:rPr lang="en-IN" sz="2400" b="0" i="0" u="none" strike="noStrike" baseline="0" dirty="0">
                <a:latin typeface="NewBaskervilleStd-Roman"/>
              </a:rPr>
              <a:t>lets you refer directly to the object, you can use it to resolve any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namespace collisions that might occur between instance variables and local variables.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84914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025F4-A82F-D5DC-77C2-CB08CAECE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Garbage Collection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26F58-BDE2-866A-3A43-AC7192448897}"/>
              </a:ext>
            </a:extLst>
          </p:cNvPr>
          <p:cNvSpPr txBox="1"/>
          <p:nvPr/>
        </p:nvSpPr>
        <p:spPr>
          <a:xfrm>
            <a:off x="1801906" y="1542400"/>
            <a:ext cx="1013011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0" i="0" u="none" strike="noStrike" baseline="0" dirty="0">
                <a:latin typeface="NewBaskervilleStd-Roman"/>
              </a:rPr>
              <a:t>Since objects are dynamically allocated by using the </a:t>
            </a:r>
            <a:r>
              <a:rPr lang="en-IN" sz="2400" b="1" i="0" u="none" strike="noStrike" baseline="0" dirty="0">
                <a:latin typeface="NewBaskervilleStd-Bold"/>
              </a:rPr>
              <a:t>new </a:t>
            </a:r>
            <a:r>
              <a:rPr lang="en-IN" sz="2400" b="0" i="0" u="none" strike="noStrike" baseline="0" dirty="0">
                <a:latin typeface="NewBaskervilleStd-Roman"/>
              </a:rPr>
              <a:t>operator, you might be wondering how such objects are destroyed and their memory released for later reallocation.</a:t>
            </a:r>
          </a:p>
          <a:p>
            <a:pPr algn="l"/>
            <a:endParaRPr lang="en-IN" sz="2400" dirty="0">
              <a:latin typeface="NewBaskervilleStd-Roman"/>
            </a:endParaRP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Java takes a different approach; it handles deallocation for you automatically.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The technique that accomplishes this is called </a:t>
            </a:r>
            <a:r>
              <a:rPr lang="en-IN" sz="2400" b="0" i="1" u="none" strike="noStrike" baseline="0" dirty="0">
                <a:latin typeface="NewBaskervilleStd-Italic"/>
              </a:rPr>
              <a:t>garbage collection</a:t>
            </a:r>
            <a:r>
              <a:rPr lang="en-IN" sz="2400" b="0" i="0" u="none" strike="noStrike" baseline="0" dirty="0">
                <a:latin typeface="NewBaskervilleStd-Roman"/>
              </a:rPr>
              <a:t>. </a:t>
            </a:r>
          </a:p>
          <a:p>
            <a:pPr algn="l"/>
            <a:endParaRPr lang="en-IN" sz="2400" b="0" i="0" u="none" strike="noStrike" baseline="0" dirty="0">
              <a:latin typeface="NewBaskervilleStd-Roman"/>
            </a:endParaRP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It works like this: when no references to an object exist, that object is assumed to be no longer needed, and the memory occupied by the object can be reclaimed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24718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CD5D1-4099-E3B7-6594-345075EEA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finalize( )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E107A4-A78C-1635-B4E0-07E43D5008E7}"/>
              </a:ext>
            </a:extLst>
          </p:cNvPr>
          <p:cNvSpPr txBox="1"/>
          <p:nvPr/>
        </p:nvSpPr>
        <p:spPr>
          <a:xfrm>
            <a:off x="687389" y="1264555"/>
            <a:ext cx="1137013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i="0" u="none" strike="noStrike" baseline="0" dirty="0">
                <a:latin typeface="NewBaskervilleStd-Roman"/>
              </a:rPr>
              <a:t>To add a finalizer to a class, you simply define the </a:t>
            </a:r>
            <a:r>
              <a:rPr lang="en-IN" sz="2000" b="1" i="0" u="none" strike="noStrike" baseline="0" dirty="0">
                <a:latin typeface="NewBaskervilleStd-Bold"/>
              </a:rPr>
              <a:t>finalize( ) </a:t>
            </a:r>
            <a:r>
              <a:rPr lang="en-IN" sz="2000" b="0" i="0" u="none" strike="noStrike" baseline="0" dirty="0">
                <a:latin typeface="NewBaskervilleStd-Roman"/>
              </a:rPr>
              <a:t>method. </a:t>
            </a:r>
          </a:p>
          <a:p>
            <a:pPr algn="l"/>
            <a:r>
              <a:rPr lang="en-IN" sz="2000" b="0" i="0" u="none" strike="noStrike" baseline="0" dirty="0">
                <a:latin typeface="NewBaskervilleStd-Roman"/>
              </a:rPr>
              <a:t>The Java run time calls that method whenever it is about to recycle an object of that class. Inside the </a:t>
            </a:r>
            <a:r>
              <a:rPr lang="en-IN" sz="2000" b="1" i="0" u="none" strike="noStrike" baseline="0" dirty="0">
                <a:latin typeface="NewBaskervilleStd-Bold"/>
              </a:rPr>
              <a:t>finalize( ) </a:t>
            </a:r>
            <a:r>
              <a:rPr lang="en-IN" sz="2000" b="0" i="0" u="none" strike="noStrike" baseline="0" dirty="0">
                <a:latin typeface="NewBaskervilleStd-Roman"/>
              </a:rPr>
              <a:t>method, you will specify those actions that must be performed before an object is destroyed.</a:t>
            </a:r>
          </a:p>
          <a:p>
            <a:pPr algn="l"/>
            <a:endParaRPr lang="en-IN" sz="2000" b="0" i="0" u="none" strike="noStrike" baseline="0" dirty="0">
              <a:latin typeface="NewBaskervilleStd-Roman"/>
            </a:endParaRPr>
          </a:p>
          <a:p>
            <a:pPr algn="l"/>
            <a:r>
              <a:rPr lang="en-IN" sz="2000" b="0" i="0" u="none" strike="noStrike" baseline="0" dirty="0">
                <a:latin typeface="NewBaskervilleStd-Roman"/>
              </a:rPr>
              <a:t>The garbage collector runs periodically, checking for objects that are no longer referenced</a:t>
            </a:r>
          </a:p>
          <a:p>
            <a:pPr algn="l"/>
            <a:r>
              <a:rPr lang="en-IN" sz="2000" b="0" i="0" u="none" strike="noStrike" baseline="0" dirty="0">
                <a:latin typeface="NewBaskervilleStd-Roman"/>
              </a:rPr>
              <a:t>by any running state or indirectly through other referenced objects.  Right before an asset is freed, the Java run time calls the </a:t>
            </a:r>
            <a:r>
              <a:rPr lang="en-IN" sz="2000" b="1" i="0" u="none" strike="noStrike" baseline="0" dirty="0">
                <a:latin typeface="NewBaskervilleStd-Bold"/>
              </a:rPr>
              <a:t>finalize( ) </a:t>
            </a:r>
            <a:r>
              <a:rPr lang="en-IN" sz="2000" b="0" i="0" u="none" strike="noStrike" baseline="0" dirty="0">
                <a:latin typeface="NewBaskervilleStd-Roman"/>
              </a:rPr>
              <a:t>method on the object.</a:t>
            </a:r>
          </a:p>
          <a:p>
            <a:pPr algn="l"/>
            <a:endParaRPr lang="en-IN" sz="2000" b="0" i="0" u="none" strike="noStrike" baseline="0" dirty="0">
              <a:latin typeface="NewBaskervilleStd-Roman"/>
            </a:endParaRPr>
          </a:p>
          <a:p>
            <a:pPr algn="l"/>
            <a:r>
              <a:rPr lang="en-IN" sz="2000" b="0" i="0" u="none" strike="noStrike" baseline="0" dirty="0">
                <a:latin typeface="NewBaskervilleStd-Roman"/>
              </a:rPr>
              <a:t>The </a:t>
            </a:r>
            <a:r>
              <a:rPr lang="en-IN" sz="2000" b="1" i="0" u="none" strike="noStrike" baseline="0" dirty="0">
                <a:latin typeface="NewBaskervilleStd-Bold"/>
              </a:rPr>
              <a:t>finalize( ) </a:t>
            </a:r>
            <a:r>
              <a:rPr lang="en-IN" sz="2000" b="0" i="0" u="none" strike="noStrike" baseline="0" dirty="0">
                <a:latin typeface="NewBaskervilleStd-Roman"/>
              </a:rPr>
              <a:t>method has this general form:</a:t>
            </a:r>
          </a:p>
          <a:p>
            <a:pPr algn="l"/>
            <a:r>
              <a:rPr lang="en-IN" sz="2000" b="0" i="0" u="none" strike="noStrike" baseline="0" dirty="0">
                <a:latin typeface="NewBaskervilleStd-Roman"/>
              </a:rPr>
              <a:t>protected void finalize( )</a:t>
            </a:r>
          </a:p>
          <a:p>
            <a:pPr algn="l"/>
            <a:r>
              <a:rPr lang="en-IN" sz="2000" b="0" i="0" u="none" strike="noStrike" baseline="0" dirty="0">
                <a:latin typeface="NewBaskervilleStd-Roman"/>
              </a:rPr>
              <a:t>{</a:t>
            </a:r>
          </a:p>
          <a:p>
            <a:pPr algn="l"/>
            <a:r>
              <a:rPr lang="en-IN" sz="2000" b="0" i="0" u="none" strike="noStrike" baseline="0" dirty="0">
                <a:latin typeface="NewBaskervilleStd-Roman"/>
              </a:rPr>
              <a:t>// finalization code here</a:t>
            </a:r>
          </a:p>
          <a:p>
            <a:pPr algn="l"/>
            <a:r>
              <a:rPr lang="en-IN" sz="2000" b="0" i="0" u="none" strike="noStrike" baseline="0" dirty="0">
                <a:latin typeface="NewBaskervilleStd-Roman"/>
              </a:rPr>
              <a:t>}</a:t>
            </a:r>
          </a:p>
          <a:p>
            <a:pPr algn="l"/>
            <a:r>
              <a:rPr lang="en-IN" sz="2000" b="0" i="0" u="none" strike="noStrike" baseline="0" dirty="0">
                <a:latin typeface="NewBaskervilleStd-Roman"/>
              </a:rPr>
              <a:t>Here, the keyword </a:t>
            </a:r>
            <a:r>
              <a:rPr lang="en-IN" sz="2000" b="1" i="0" u="none" strike="noStrike" baseline="0" dirty="0">
                <a:latin typeface="NewBaskervilleStd-Bold"/>
              </a:rPr>
              <a:t>protected </a:t>
            </a:r>
            <a:r>
              <a:rPr lang="en-IN" sz="2000" b="0" i="0" u="none" strike="noStrike" baseline="0" dirty="0">
                <a:latin typeface="NewBaskervilleStd-Roman"/>
              </a:rPr>
              <a:t>is a specifier that limits access to </a:t>
            </a:r>
            <a:r>
              <a:rPr lang="en-IN" sz="2000" b="1" i="0" u="none" strike="noStrike" baseline="0" dirty="0">
                <a:latin typeface="NewBaskervilleStd-Bold"/>
              </a:rPr>
              <a:t>finalize( )</a:t>
            </a:r>
            <a:r>
              <a:rPr lang="en-IN" sz="2000" b="0" i="0" u="none" strike="noStrike" baseline="0" dirty="0">
                <a:latin typeface="NewBaskervilleStd-Roman"/>
              </a:rPr>
              <a:t>.</a:t>
            </a:r>
          </a:p>
          <a:p>
            <a:pPr algn="l"/>
            <a:r>
              <a:rPr lang="en-IN" sz="2000" b="0" i="0" u="none" strike="noStrike" baseline="0" dirty="0">
                <a:latin typeface="NewBaskervilleStd-Roman"/>
              </a:rPr>
              <a:t>It is important to understand that </a:t>
            </a:r>
            <a:r>
              <a:rPr lang="en-IN" sz="2000" b="1" i="0" u="none" strike="noStrike" baseline="0" dirty="0">
                <a:latin typeface="NewBaskervilleStd-Bold"/>
              </a:rPr>
              <a:t>finalize( ) </a:t>
            </a:r>
            <a:r>
              <a:rPr lang="en-IN" sz="2000" b="0" i="0" u="none" strike="noStrike" baseline="0" dirty="0">
                <a:latin typeface="NewBaskervilleStd-Roman"/>
              </a:rPr>
              <a:t>is only called just prior to garbage collection.</a:t>
            </a:r>
          </a:p>
          <a:p>
            <a:pPr algn="l"/>
            <a:r>
              <a:rPr lang="en-IN" sz="2000" b="0" i="0" u="none" strike="noStrike" baseline="0" dirty="0">
                <a:latin typeface="NewBaskervilleStd-Roman"/>
              </a:rPr>
              <a:t>It is not called when an object goes out-of-scope, for example. This means that you cannot</a:t>
            </a:r>
          </a:p>
          <a:p>
            <a:pPr algn="l"/>
            <a:r>
              <a:rPr lang="en-IN" sz="2000" b="0" i="0" u="none" strike="noStrike" baseline="0" dirty="0">
                <a:latin typeface="NewBaskervilleStd-Roman"/>
              </a:rPr>
              <a:t>know when—or even if—</a:t>
            </a:r>
            <a:r>
              <a:rPr lang="en-IN" sz="2000" b="1" i="0" u="none" strike="noStrike" baseline="0" dirty="0">
                <a:latin typeface="NewBaskervilleStd-Bold"/>
              </a:rPr>
              <a:t>finalize( ) </a:t>
            </a:r>
            <a:r>
              <a:rPr lang="en-IN" sz="2000" b="0" i="0" u="none" strike="noStrike" baseline="0" dirty="0">
                <a:latin typeface="NewBaskervilleStd-Roman"/>
              </a:rPr>
              <a:t>will be executed.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3376336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1994</TotalTime>
  <Words>1801</Words>
  <Application>Microsoft Office PowerPoint</Application>
  <PresentationFormat>Widescreen</PresentationFormat>
  <Paragraphs>210</Paragraphs>
  <Slides>23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Arial</vt:lpstr>
      <vt:lpstr>Calibri</vt:lpstr>
      <vt:lpstr>Century Gothic</vt:lpstr>
      <vt:lpstr>Courier</vt:lpstr>
      <vt:lpstr>Courier New</vt:lpstr>
      <vt:lpstr>CourierStd</vt:lpstr>
      <vt:lpstr>NewBaskervilleStd-Bold</vt:lpstr>
      <vt:lpstr>NewBaskervilleStd-Italic</vt:lpstr>
      <vt:lpstr>NewBaskervilleStd-Roman</vt:lpstr>
      <vt:lpstr>Times</vt:lpstr>
      <vt:lpstr>Times New Roman</vt:lpstr>
      <vt:lpstr>Wingdings 3</vt:lpstr>
      <vt:lpstr>Wisp</vt:lpstr>
      <vt:lpstr>Picture</vt:lpstr>
      <vt:lpstr>OOPs  with Java Chapter 6 Class and Objects</vt:lpstr>
      <vt:lpstr>Object-oriented programming (OOP)</vt:lpstr>
      <vt:lpstr>Methods</vt:lpstr>
      <vt:lpstr>Class &amp; Objects</vt:lpstr>
      <vt:lpstr>Class Objects</vt:lpstr>
      <vt:lpstr>General Form of a Class</vt:lpstr>
      <vt:lpstr>An example of a class</vt:lpstr>
      <vt:lpstr>Class Box</vt:lpstr>
      <vt:lpstr>PowerPoint Presentation</vt:lpstr>
      <vt:lpstr>PowerPoint Presentation</vt:lpstr>
      <vt:lpstr>Declaring Objects</vt:lpstr>
      <vt:lpstr>PowerPoint Presentation</vt:lpstr>
      <vt:lpstr>Assigning Object Reference Variables</vt:lpstr>
      <vt:lpstr>Adding a Method That Takes Parameters</vt:lpstr>
      <vt:lpstr>Method Overloading</vt:lpstr>
      <vt:lpstr>Constructors</vt:lpstr>
      <vt:lpstr>PowerPoint Presentation</vt:lpstr>
      <vt:lpstr>Parameterized Constructors</vt:lpstr>
      <vt:lpstr>The this Keyword</vt:lpstr>
      <vt:lpstr>PowerPoint Presentation</vt:lpstr>
      <vt:lpstr>PowerPoint Presentation</vt:lpstr>
      <vt:lpstr>Garbage Collection</vt:lpstr>
      <vt:lpstr>The finalize( )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>ganga holi</dc:creator>
  <cp:lastModifiedBy>ganga holi</cp:lastModifiedBy>
  <cp:revision>73</cp:revision>
  <dcterms:created xsi:type="dcterms:W3CDTF">2023-11-30T17:44:15Z</dcterms:created>
  <dcterms:modified xsi:type="dcterms:W3CDTF">2024-09-02T16:12:51Z</dcterms:modified>
</cp:coreProperties>
</file>