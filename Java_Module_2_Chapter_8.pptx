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258" r:id="rId2"/>
    <p:sldId id="257" r:id="rId3"/>
    <p:sldId id="259" r:id="rId4"/>
    <p:sldId id="260" r:id="rId5"/>
    <p:sldId id="261" r:id="rId6"/>
    <p:sldId id="262" r:id="rId7"/>
    <p:sldId id="263" r:id="rId8"/>
    <p:sldId id="267" r:id="rId9"/>
    <p:sldId id="268" r:id="rId10"/>
    <p:sldId id="264" r:id="rId11"/>
    <p:sldId id="269" r:id="rId12"/>
    <p:sldId id="270" r:id="rId13"/>
    <p:sldId id="265" r:id="rId14"/>
    <p:sldId id="272" r:id="rId15"/>
    <p:sldId id="273" r:id="rId16"/>
    <p:sldId id="266" r:id="rId17"/>
    <p:sldId id="274" r:id="rId18"/>
    <p:sldId id="275" r:id="rId19"/>
    <p:sldId id="276" r:id="rId20"/>
    <p:sldId id="277" r:id="rId21"/>
    <p:sldId id="279" r:id="rId22"/>
    <p:sldId id="298" r:id="rId23"/>
    <p:sldId id="280" r:id="rId24"/>
    <p:sldId id="281" r:id="rId25"/>
    <p:sldId id="282" r:id="rId26"/>
    <p:sldId id="283" r:id="rId27"/>
    <p:sldId id="284" r:id="rId28"/>
    <p:sldId id="285" r:id="rId29"/>
    <p:sldId id="286" r:id="rId30"/>
    <p:sldId id="288" r:id="rId31"/>
    <p:sldId id="289" r:id="rId32"/>
    <p:sldId id="290" r:id="rId33"/>
    <p:sldId id="292" r:id="rId34"/>
    <p:sldId id="291" r:id="rId35"/>
    <p:sldId id="293" r:id="rId36"/>
    <p:sldId id="294" r:id="rId37"/>
    <p:sldId id="295" r:id="rId38"/>
    <p:sldId id="296" r:id="rId39"/>
    <p:sldId id="297" r:id="rId40"/>
    <p:sldId id="287" r:id="rId41"/>
    <p:sldId id="300" r:id="rId42"/>
    <p:sldId id="302" r:id="rId43"/>
    <p:sldId id="303" r:id="rId44"/>
    <p:sldId id="304" r:id="rId45"/>
    <p:sldId id="305" r:id="rId46"/>
    <p:sldId id="306"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7827A0-67AE-4C1C-B6DF-BD079FEF1B0D}" type="datetimeFigureOut">
              <a:rPr lang="en-IN" smtClean="0"/>
              <a:t>27-10-2024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EA2680-8BF1-4901-B07D-5B5A43B9DE3F}" type="slidenum">
              <a:rPr lang="en-IN" smtClean="0"/>
              <a:t>‹#›</a:t>
            </a:fld>
            <a:endParaRPr lang="en-IN"/>
          </a:p>
        </p:txBody>
      </p:sp>
    </p:spTree>
    <p:extLst>
      <p:ext uri="{BB962C8B-B14F-4D97-AF65-F5344CB8AC3E}">
        <p14:creationId xmlns:p14="http://schemas.microsoft.com/office/powerpoint/2010/main" val="2036163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EEA2680-8BF1-4901-B07D-5B5A43B9DE3F}" type="slidenum">
              <a:rPr lang="en-IN" smtClean="0"/>
              <a:t>21</a:t>
            </a:fld>
            <a:endParaRPr lang="en-IN"/>
          </a:p>
        </p:txBody>
      </p:sp>
    </p:spTree>
    <p:extLst>
      <p:ext uri="{BB962C8B-B14F-4D97-AF65-F5344CB8AC3E}">
        <p14:creationId xmlns:p14="http://schemas.microsoft.com/office/powerpoint/2010/main" val="3068824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7EA703-9F6E-46A4-992F-501DD36524E4}" type="datetimeFigureOut">
              <a:rPr lang="en-IN" smtClean="0"/>
              <a:t>27-10-2024</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2884F238-93B7-4037-810F-989180BC9636}" type="slidenum">
              <a:rPr lang="en-IN" smtClean="0"/>
              <a:t>‹#›</a:t>
            </a:fld>
            <a:endParaRPr lang="en-IN"/>
          </a:p>
        </p:txBody>
      </p:sp>
    </p:spTree>
    <p:extLst>
      <p:ext uri="{BB962C8B-B14F-4D97-AF65-F5344CB8AC3E}">
        <p14:creationId xmlns:p14="http://schemas.microsoft.com/office/powerpoint/2010/main" val="3751770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7EA703-9F6E-46A4-992F-501DD36524E4}" type="datetimeFigureOut">
              <a:rPr lang="en-IN" smtClean="0"/>
              <a:t>27-10-2024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884F238-93B7-4037-810F-989180BC9636}" type="slidenum">
              <a:rPr lang="en-IN" smtClean="0"/>
              <a:t>‹#›</a:t>
            </a:fld>
            <a:endParaRPr lang="en-IN"/>
          </a:p>
        </p:txBody>
      </p:sp>
    </p:spTree>
    <p:extLst>
      <p:ext uri="{BB962C8B-B14F-4D97-AF65-F5344CB8AC3E}">
        <p14:creationId xmlns:p14="http://schemas.microsoft.com/office/powerpoint/2010/main" val="746988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7EA703-9F6E-46A4-992F-501DD36524E4}" type="datetimeFigureOut">
              <a:rPr lang="en-IN" smtClean="0"/>
              <a:t>27-10-2024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884F238-93B7-4037-810F-989180BC9636}" type="slidenum">
              <a:rPr lang="en-IN" smtClean="0"/>
              <a:t>‹#›</a:t>
            </a:fld>
            <a:endParaRPr lang="en-IN"/>
          </a:p>
        </p:txBody>
      </p:sp>
    </p:spTree>
    <p:extLst>
      <p:ext uri="{BB962C8B-B14F-4D97-AF65-F5344CB8AC3E}">
        <p14:creationId xmlns:p14="http://schemas.microsoft.com/office/powerpoint/2010/main" val="616483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7EA703-9F6E-46A4-992F-501DD36524E4}" type="datetimeFigureOut">
              <a:rPr lang="en-IN" smtClean="0"/>
              <a:t>27-10-2024</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2884F238-93B7-4037-810F-989180BC9636}" type="slidenum">
              <a:rPr lang="en-IN" smtClean="0"/>
              <a:t>‹#›</a:t>
            </a:fld>
            <a:endParaRPr lang="en-IN"/>
          </a:p>
        </p:txBody>
      </p:sp>
    </p:spTree>
    <p:extLst>
      <p:ext uri="{BB962C8B-B14F-4D97-AF65-F5344CB8AC3E}">
        <p14:creationId xmlns:p14="http://schemas.microsoft.com/office/powerpoint/2010/main" val="1772694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7EA703-9F6E-46A4-992F-501DD36524E4}" type="datetimeFigureOut">
              <a:rPr lang="en-IN" smtClean="0"/>
              <a:t>27-10-2024</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884F238-93B7-4037-810F-989180BC9636}" type="slidenum">
              <a:rPr lang="en-IN" smtClean="0"/>
              <a:t>‹#›</a:t>
            </a:fld>
            <a:endParaRPr lang="en-IN"/>
          </a:p>
        </p:txBody>
      </p:sp>
    </p:spTree>
    <p:extLst>
      <p:ext uri="{BB962C8B-B14F-4D97-AF65-F5344CB8AC3E}">
        <p14:creationId xmlns:p14="http://schemas.microsoft.com/office/powerpoint/2010/main" val="1582440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7EA703-9F6E-46A4-992F-501DD36524E4}" type="datetimeFigureOut">
              <a:rPr lang="en-IN" smtClean="0"/>
              <a:t>27-10-2024</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884F238-93B7-4037-810F-989180BC9636}" type="slidenum">
              <a:rPr lang="en-IN" smtClean="0"/>
              <a:t>‹#›</a:t>
            </a:fld>
            <a:endParaRPr lang="en-IN"/>
          </a:p>
        </p:txBody>
      </p:sp>
    </p:spTree>
    <p:extLst>
      <p:ext uri="{BB962C8B-B14F-4D97-AF65-F5344CB8AC3E}">
        <p14:creationId xmlns:p14="http://schemas.microsoft.com/office/powerpoint/2010/main" val="340681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7EA703-9F6E-46A4-992F-501DD36524E4}" type="datetimeFigureOut">
              <a:rPr lang="en-IN" smtClean="0"/>
              <a:t>27-10-2024</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884F238-93B7-4037-810F-989180BC9636}" type="slidenum">
              <a:rPr lang="en-IN" smtClean="0"/>
              <a:t>‹#›</a:t>
            </a:fld>
            <a:endParaRPr lang="en-IN"/>
          </a:p>
        </p:txBody>
      </p:sp>
    </p:spTree>
    <p:extLst>
      <p:ext uri="{BB962C8B-B14F-4D97-AF65-F5344CB8AC3E}">
        <p14:creationId xmlns:p14="http://schemas.microsoft.com/office/powerpoint/2010/main" val="3667062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7EA703-9F6E-46A4-992F-501DD36524E4}" type="datetimeFigureOut">
              <a:rPr lang="en-IN" smtClean="0"/>
              <a:t>27-10-2024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884F238-93B7-4037-810F-989180BC9636}" type="slidenum">
              <a:rPr lang="en-IN" smtClean="0"/>
              <a:t>‹#›</a:t>
            </a:fld>
            <a:endParaRPr lang="en-IN"/>
          </a:p>
        </p:txBody>
      </p:sp>
    </p:spTree>
    <p:extLst>
      <p:ext uri="{BB962C8B-B14F-4D97-AF65-F5344CB8AC3E}">
        <p14:creationId xmlns:p14="http://schemas.microsoft.com/office/powerpoint/2010/main" val="2809468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7EA703-9F6E-46A4-992F-501DD36524E4}" type="datetimeFigureOut">
              <a:rPr lang="en-IN" smtClean="0"/>
              <a:t>27-10-2024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884F238-93B7-4037-810F-989180BC9636}" type="slidenum">
              <a:rPr lang="en-IN" smtClean="0"/>
              <a:t>‹#›</a:t>
            </a:fld>
            <a:endParaRPr lang="en-IN"/>
          </a:p>
        </p:txBody>
      </p:sp>
    </p:spTree>
    <p:extLst>
      <p:ext uri="{BB962C8B-B14F-4D97-AF65-F5344CB8AC3E}">
        <p14:creationId xmlns:p14="http://schemas.microsoft.com/office/powerpoint/2010/main" val="428674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7EA703-9F6E-46A4-992F-501DD36524E4}" type="datetimeFigureOut">
              <a:rPr lang="en-IN" smtClean="0"/>
              <a:t>27-10-2024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884F238-93B7-4037-810F-989180BC9636}" type="slidenum">
              <a:rPr lang="en-IN" smtClean="0"/>
              <a:t>‹#›</a:t>
            </a:fld>
            <a:endParaRPr lang="en-IN"/>
          </a:p>
        </p:txBody>
      </p:sp>
    </p:spTree>
    <p:extLst>
      <p:ext uri="{BB962C8B-B14F-4D97-AF65-F5344CB8AC3E}">
        <p14:creationId xmlns:p14="http://schemas.microsoft.com/office/powerpoint/2010/main" val="512877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7EA703-9F6E-46A4-992F-501DD36524E4}" type="datetimeFigureOut">
              <a:rPr lang="en-IN" smtClean="0"/>
              <a:t>27-10-2024</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884F238-93B7-4037-810F-989180BC9636}"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913257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47EA703-9F6E-46A4-992F-501DD36524E4}" type="datetimeFigureOut">
              <a:rPr lang="en-IN" smtClean="0"/>
              <a:t>27-10-2024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884F238-93B7-4037-810F-989180BC9636}" type="slidenum">
              <a:rPr lang="en-IN" smtClean="0"/>
              <a:t>‹#›</a:t>
            </a:fld>
            <a:endParaRPr lang="en-IN"/>
          </a:p>
        </p:txBody>
      </p:sp>
    </p:spTree>
    <p:extLst>
      <p:ext uri="{BB962C8B-B14F-4D97-AF65-F5344CB8AC3E}">
        <p14:creationId xmlns:p14="http://schemas.microsoft.com/office/powerpoint/2010/main" val="4175650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47EA703-9F6E-46A4-992F-501DD36524E4}" type="datetimeFigureOut">
              <a:rPr lang="en-IN" smtClean="0"/>
              <a:t>27-10-2024</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884F238-93B7-4037-810F-989180BC9636}"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239079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47EA703-9F6E-46A4-992F-501DD36524E4}" type="datetimeFigureOut">
              <a:rPr lang="en-IN" smtClean="0"/>
              <a:t>27-10-2024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884F238-93B7-4037-810F-989180BC9636}" type="slidenum">
              <a:rPr lang="en-IN" smtClean="0"/>
              <a:t>‹#›</a:t>
            </a:fld>
            <a:endParaRPr lang="en-IN"/>
          </a:p>
        </p:txBody>
      </p:sp>
    </p:spTree>
    <p:extLst>
      <p:ext uri="{BB962C8B-B14F-4D97-AF65-F5344CB8AC3E}">
        <p14:creationId xmlns:p14="http://schemas.microsoft.com/office/powerpoint/2010/main" val="7123233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7EA703-9F6E-46A4-992F-501DD36524E4}" type="datetimeFigureOut">
              <a:rPr lang="en-IN" smtClean="0"/>
              <a:t>27-10-2024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884F238-93B7-4037-810F-989180BC9636}" type="slidenum">
              <a:rPr lang="en-IN" smtClean="0"/>
              <a:t>‹#›</a:t>
            </a:fld>
            <a:endParaRPr lang="en-IN"/>
          </a:p>
        </p:txBody>
      </p:sp>
    </p:spTree>
    <p:extLst>
      <p:ext uri="{BB962C8B-B14F-4D97-AF65-F5344CB8AC3E}">
        <p14:creationId xmlns:p14="http://schemas.microsoft.com/office/powerpoint/2010/main" val="32104138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7EA703-9F6E-46A4-992F-501DD36524E4}" type="datetimeFigureOut">
              <a:rPr lang="en-IN" smtClean="0"/>
              <a:t>27-10-2024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884F238-93B7-4037-810F-989180BC9636}" type="slidenum">
              <a:rPr lang="en-IN" smtClean="0"/>
              <a:t>‹#›</a:t>
            </a:fld>
            <a:endParaRPr lang="en-IN"/>
          </a:p>
        </p:txBody>
      </p:sp>
    </p:spTree>
    <p:extLst>
      <p:ext uri="{BB962C8B-B14F-4D97-AF65-F5344CB8AC3E}">
        <p14:creationId xmlns:p14="http://schemas.microsoft.com/office/powerpoint/2010/main" val="2440514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47EA703-9F6E-46A4-992F-501DD36524E4}" type="datetimeFigureOut">
              <a:rPr lang="en-IN" smtClean="0"/>
              <a:t>27-10-2024</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884F238-93B7-4037-810F-989180BC9636}" type="slidenum">
              <a:rPr lang="en-IN" smtClean="0"/>
              <a:t>‹#›</a:t>
            </a:fld>
            <a:endParaRPr lang="en-IN"/>
          </a:p>
        </p:txBody>
      </p:sp>
    </p:spTree>
    <p:extLst>
      <p:ext uri="{BB962C8B-B14F-4D97-AF65-F5344CB8AC3E}">
        <p14:creationId xmlns:p14="http://schemas.microsoft.com/office/powerpoint/2010/main" val="9453255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javatpoint.com/runtime-polymorphism-in-java" TargetMode="External"/><Relationship Id="rId2" Type="http://schemas.openxmlformats.org/officeDocument/2006/relationships/hyperlink" Target="https://www.javatpoint.com/method-overriding-in-jav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Java_Programs/Java_Programs/Inheritance/A%20complete%20implementation%20of%20BoxWeight.docx"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Java_Programs/Java_Programs/Inheritance/Dynamic%20Method%20Dispatch.docx"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D0C2F-B4B2-7DF3-8150-527D236278F0}"/>
              </a:ext>
            </a:extLst>
          </p:cNvPr>
          <p:cNvSpPr>
            <a:spLocks noGrp="1"/>
          </p:cNvSpPr>
          <p:nvPr>
            <p:ph type="ctrTitle"/>
          </p:nvPr>
        </p:nvSpPr>
        <p:spPr>
          <a:xfrm>
            <a:off x="1783978" y="842683"/>
            <a:ext cx="9908894" cy="3163734"/>
          </a:xfrm>
        </p:spPr>
        <p:txBody>
          <a:bodyPr>
            <a:normAutofit/>
          </a:bodyPr>
          <a:lstStyle/>
          <a:p>
            <a:r>
              <a:rPr lang="en-IN" b="1" dirty="0"/>
              <a:t>OOP</a:t>
            </a:r>
            <a:r>
              <a:rPr lang="en-IN" sz="4800" b="1" dirty="0"/>
              <a:t>s  with Java</a:t>
            </a:r>
            <a:br>
              <a:rPr lang="en-IN" sz="4800" b="1" dirty="0"/>
            </a:br>
            <a:r>
              <a:rPr lang="en-IN" sz="4800" b="1" dirty="0"/>
              <a:t>Chapter 8 Inheritance</a:t>
            </a:r>
            <a:endParaRPr lang="en-IN" b="1" dirty="0"/>
          </a:p>
        </p:txBody>
      </p:sp>
      <p:sp>
        <p:nvSpPr>
          <p:cNvPr id="3" name="Subtitle 2">
            <a:extLst>
              <a:ext uri="{FF2B5EF4-FFF2-40B4-BE49-F238E27FC236}">
                <a16:creationId xmlns:a16="http://schemas.microsoft.com/office/drawing/2014/main" id="{4A9A476A-7C1D-BE23-D0F4-71547039F8D1}"/>
              </a:ext>
            </a:extLst>
          </p:cNvPr>
          <p:cNvSpPr>
            <a:spLocks noGrp="1"/>
          </p:cNvSpPr>
          <p:nvPr>
            <p:ph type="subTitle" idx="1"/>
          </p:nvPr>
        </p:nvSpPr>
        <p:spPr/>
        <p:txBody>
          <a:bodyPr>
            <a:normAutofit/>
          </a:bodyPr>
          <a:lstStyle/>
          <a:p>
            <a:r>
              <a:rPr lang="en-IN" sz="2800" b="1" dirty="0" err="1"/>
              <a:t>Dr.</a:t>
            </a:r>
            <a:r>
              <a:rPr lang="en-IN" sz="2800" b="1" dirty="0"/>
              <a:t> Ganga Holi </a:t>
            </a:r>
          </a:p>
          <a:p>
            <a:r>
              <a:rPr lang="en-IN" sz="2800" b="1" dirty="0"/>
              <a:t>Professor &amp; Head, Dept of CSE(ICB)</a:t>
            </a:r>
          </a:p>
        </p:txBody>
      </p:sp>
    </p:spTree>
    <p:extLst>
      <p:ext uri="{BB962C8B-B14F-4D97-AF65-F5344CB8AC3E}">
        <p14:creationId xmlns:p14="http://schemas.microsoft.com/office/powerpoint/2010/main" val="1575618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3C650-3C2B-D674-E5C0-263D4A44ECAC}"/>
              </a:ext>
            </a:extLst>
          </p:cNvPr>
          <p:cNvSpPr>
            <a:spLocks noGrp="1"/>
          </p:cNvSpPr>
          <p:nvPr>
            <p:ph type="title"/>
          </p:nvPr>
        </p:nvSpPr>
        <p:spPr/>
        <p:txBody>
          <a:bodyPr/>
          <a:lstStyle/>
          <a:p>
            <a:r>
              <a:rPr lang="en-IN" dirty="0"/>
              <a:t>Inheritance</a:t>
            </a:r>
          </a:p>
        </p:txBody>
      </p:sp>
      <p:sp>
        <p:nvSpPr>
          <p:cNvPr id="3" name="Content Placeholder 2">
            <a:extLst>
              <a:ext uri="{FF2B5EF4-FFF2-40B4-BE49-F238E27FC236}">
                <a16:creationId xmlns:a16="http://schemas.microsoft.com/office/drawing/2014/main" id="{64FB7D76-4A95-B23C-E1ED-E6C34085D16B}"/>
              </a:ext>
            </a:extLst>
          </p:cNvPr>
          <p:cNvSpPr>
            <a:spLocks noGrp="1"/>
          </p:cNvSpPr>
          <p:nvPr>
            <p:ph idx="1"/>
          </p:nvPr>
        </p:nvSpPr>
        <p:spPr>
          <a:xfrm>
            <a:off x="1677971" y="1593130"/>
            <a:ext cx="9826641" cy="4318092"/>
          </a:xfrm>
        </p:spPr>
        <p:txBody>
          <a:bodyPr>
            <a:normAutofit/>
          </a:bodyPr>
          <a:lstStyle/>
          <a:p>
            <a:r>
              <a:rPr lang="en-IN" sz="2000" b="0" i="0" dirty="0">
                <a:solidFill>
                  <a:srgbClr val="2B2A29"/>
                </a:solidFill>
                <a:effectLst/>
                <a:latin typeface="montserrat" panose="00000500000000000000" pitchFamily="2" charset="0"/>
              </a:rPr>
              <a:t>Inheritance represents the </a:t>
            </a:r>
            <a:r>
              <a:rPr lang="en-IN" sz="2000" b="1" i="0" dirty="0">
                <a:solidFill>
                  <a:srgbClr val="2B2A29"/>
                </a:solidFill>
                <a:effectLst/>
                <a:latin typeface="montserrat" panose="00000500000000000000" pitchFamily="2" charset="0"/>
              </a:rPr>
              <a:t>IS-A relationship</a:t>
            </a:r>
            <a:r>
              <a:rPr lang="en-IN" sz="2000" b="0" i="0" dirty="0">
                <a:solidFill>
                  <a:srgbClr val="2B2A29"/>
                </a:solidFill>
                <a:effectLst/>
                <a:latin typeface="montserrat" panose="00000500000000000000" pitchFamily="2" charset="0"/>
              </a:rPr>
              <a:t> which is also known as a </a:t>
            </a:r>
            <a:r>
              <a:rPr lang="en-IN" sz="2000" b="0" i="1" dirty="0">
                <a:solidFill>
                  <a:srgbClr val="2B2A29"/>
                </a:solidFill>
                <a:effectLst/>
                <a:latin typeface="montserrat" panose="00000500000000000000" pitchFamily="2" charset="0"/>
              </a:rPr>
              <a:t>parent-child</a:t>
            </a:r>
            <a:r>
              <a:rPr lang="en-IN" sz="2000" b="0" i="0" dirty="0">
                <a:solidFill>
                  <a:srgbClr val="2B2A29"/>
                </a:solidFill>
                <a:effectLst/>
                <a:latin typeface="montserrat" panose="00000500000000000000" pitchFamily="2" charset="0"/>
              </a:rPr>
              <a:t> relationship.</a:t>
            </a:r>
          </a:p>
          <a:p>
            <a:r>
              <a:rPr lang="en-IN" sz="2000" b="0" i="0" dirty="0">
                <a:solidFill>
                  <a:srgbClr val="2B2A29"/>
                </a:solidFill>
                <a:effectLst/>
                <a:latin typeface="montserrat" panose="00000500000000000000" pitchFamily="2" charset="0"/>
              </a:rPr>
              <a:t>When you inherit from an existing class, you can reuse methods and fields of the parent class. Moreover, you can add new methods and fields in your current class also.</a:t>
            </a:r>
            <a:endParaRPr lang="en-IN" sz="2000" dirty="0">
              <a:solidFill>
                <a:srgbClr val="2B2A29"/>
              </a:solidFill>
              <a:latin typeface="montserrat" panose="00000500000000000000" pitchFamily="2" charset="0"/>
            </a:endParaRPr>
          </a:p>
          <a:p>
            <a:endParaRPr lang="en-IN" sz="2000" dirty="0">
              <a:solidFill>
                <a:srgbClr val="2B2A29"/>
              </a:solidFill>
              <a:latin typeface="montserrat" panose="00000500000000000000" pitchFamily="2" charset="0"/>
            </a:endParaRPr>
          </a:p>
          <a:p>
            <a:pPr algn="l"/>
            <a:r>
              <a:rPr lang="en-IN" sz="2000" b="0" i="0" dirty="0">
                <a:solidFill>
                  <a:srgbClr val="1D1D27"/>
                </a:solidFill>
                <a:effectLst/>
                <a:latin typeface="montserrat" panose="00000500000000000000" pitchFamily="2" charset="0"/>
              </a:rPr>
              <a:t>Why use inheritance in java</a:t>
            </a:r>
          </a:p>
          <a:p>
            <a:pPr algn="just">
              <a:buFont typeface="Arial" panose="020B0604020202020204" pitchFamily="34" charset="0"/>
              <a:buChar char="•"/>
            </a:pPr>
            <a:r>
              <a:rPr lang="en-IN" sz="2000" b="0" i="0" dirty="0">
                <a:solidFill>
                  <a:srgbClr val="2B2A29"/>
                </a:solidFill>
                <a:effectLst/>
                <a:latin typeface="montserrat" panose="00000500000000000000" pitchFamily="2" charset="0"/>
              </a:rPr>
              <a:t>For </a:t>
            </a:r>
            <a:r>
              <a:rPr lang="en-IN" sz="2000" b="0" i="0" u="none" strike="noStrike" dirty="0">
                <a:solidFill>
                  <a:srgbClr val="008000"/>
                </a:solidFill>
                <a:effectLst/>
                <a:latin typeface="montserrat" panose="00000500000000000000" pitchFamily="2" charset="0"/>
                <a:hlinkClick r:id="rId2"/>
              </a:rPr>
              <a:t>Method Overriding</a:t>
            </a:r>
            <a:r>
              <a:rPr lang="en-IN" sz="2000" b="0" i="0" dirty="0">
                <a:solidFill>
                  <a:srgbClr val="2B2A29"/>
                </a:solidFill>
                <a:effectLst/>
                <a:latin typeface="montserrat" panose="00000500000000000000" pitchFamily="2" charset="0"/>
              </a:rPr>
              <a:t> (so </a:t>
            </a:r>
            <a:r>
              <a:rPr lang="en-IN" sz="2000" b="0" i="0" u="none" strike="noStrike" dirty="0">
                <a:solidFill>
                  <a:srgbClr val="008000"/>
                </a:solidFill>
                <a:effectLst/>
                <a:latin typeface="montserrat" panose="00000500000000000000" pitchFamily="2" charset="0"/>
                <a:hlinkClick r:id="rId3"/>
              </a:rPr>
              <a:t>runtime polymorphism</a:t>
            </a:r>
            <a:r>
              <a:rPr lang="en-IN" sz="2000" b="0" i="0" dirty="0">
                <a:solidFill>
                  <a:srgbClr val="2B2A29"/>
                </a:solidFill>
                <a:effectLst/>
                <a:latin typeface="montserrat" panose="00000500000000000000" pitchFamily="2" charset="0"/>
              </a:rPr>
              <a:t> can be achieved).</a:t>
            </a:r>
          </a:p>
          <a:p>
            <a:pPr algn="just">
              <a:buFont typeface="Arial" panose="020B0604020202020204" pitchFamily="34" charset="0"/>
              <a:buChar char="•"/>
            </a:pPr>
            <a:r>
              <a:rPr lang="en-IN" sz="2000" b="0" i="0" dirty="0">
                <a:solidFill>
                  <a:srgbClr val="2B2A29"/>
                </a:solidFill>
                <a:effectLst/>
                <a:latin typeface="montserrat" panose="00000500000000000000" pitchFamily="2" charset="0"/>
              </a:rPr>
              <a:t>For Code Reusability.</a:t>
            </a:r>
          </a:p>
          <a:p>
            <a:endParaRPr lang="en-IN" sz="2000" dirty="0"/>
          </a:p>
        </p:txBody>
      </p:sp>
    </p:spTree>
    <p:extLst>
      <p:ext uri="{BB962C8B-B14F-4D97-AF65-F5344CB8AC3E}">
        <p14:creationId xmlns:p14="http://schemas.microsoft.com/office/powerpoint/2010/main" val="1011884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D1C0C-5217-3DF3-CD23-B30534DF2402}"/>
              </a:ext>
            </a:extLst>
          </p:cNvPr>
          <p:cNvSpPr>
            <a:spLocks noGrp="1"/>
          </p:cNvSpPr>
          <p:nvPr>
            <p:ph type="title"/>
          </p:nvPr>
        </p:nvSpPr>
        <p:spPr/>
        <p:txBody>
          <a:bodyPr/>
          <a:lstStyle/>
          <a:p>
            <a:r>
              <a:rPr lang="en-IN" b="0" i="0" dirty="0">
                <a:solidFill>
                  <a:srgbClr val="1D1D27"/>
                </a:solidFill>
                <a:effectLst/>
                <a:latin typeface="montserrat" panose="00000500000000000000" pitchFamily="2" charset="0"/>
              </a:rPr>
              <a:t>Terms used in Inheritance</a:t>
            </a:r>
            <a:endParaRPr lang="en-IN" dirty="0"/>
          </a:p>
        </p:txBody>
      </p:sp>
      <p:sp>
        <p:nvSpPr>
          <p:cNvPr id="3" name="Content Placeholder 2">
            <a:extLst>
              <a:ext uri="{FF2B5EF4-FFF2-40B4-BE49-F238E27FC236}">
                <a16:creationId xmlns:a16="http://schemas.microsoft.com/office/drawing/2014/main" id="{82143A7C-353A-3724-D70F-DC908C1E2B26}"/>
              </a:ext>
            </a:extLst>
          </p:cNvPr>
          <p:cNvSpPr>
            <a:spLocks noGrp="1"/>
          </p:cNvSpPr>
          <p:nvPr>
            <p:ph idx="1"/>
          </p:nvPr>
        </p:nvSpPr>
        <p:spPr>
          <a:xfrm>
            <a:off x="2083324" y="1781666"/>
            <a:ext cx="9421288" cy="4129556"/>
          </a:xfrm>
        </p:spPr>
        <p:txBody>
          <a:bodyPr>
            <a:normAutofit lnSpcReduction="10000"/>
          </a:bodyPr>
          <a:lstStyle/>
          <a:p>
            <a:pPr algn="l"/>
            <a:endParaRPr lang="en-IN" sz="2000" b="0" i="0" dirty="0">
              <a:solidFill>
                <a:srgbClr val="1D1D27"/>
              </a:solidFill>
              <a:effectLst/>
              <a:latin typeface="montserrat" panose="00000500000000000000" pitchFamily="2" charset="0"/>
            </a:endParaRPr>
          </a:p>
          <a:p>
            <a:pPr algn="just">
              <a:buFont typeface="Arial" panose="020B0604020202020204" pitchFamily="34" charset="0"/>
              <a:buChar char="•"/>
            </a:pPr>
            <a:r>
              <a:rPr lang="en-IN" sz="2000" b="1" i="0" dirty="0">
                <a:solidFill>
                  <a:srgbClr val="2B2A29"/>
                </a:solidFill>
                <a:effectLst/>
                <a:latin typeface="montserrat" panose="00000500000000000000" pitchFamily="2" charset="0"/>
              </a:rPr>
              <a:t>Class:</a:t>
            </a:r>
            <a:r>
              <a:rPr lang="en-IN" sz="2000" b="0" i="0" dirty="0">
                <a:solidFill>
                  <a:srgbClr val="2B2A29"/>
                </a:solidFill>
                <a:effectLst/>
                <a:latin typeface="montserrat" panose="00000500000000000000" pitchFamily="2" charset="0"/>
              </a:rPr>
              <a:t> A class is a group of objects which have common properties. It is a template or blueprint from which objects are created.</a:t>
            </a:r>
          </a:p>
          <a:p>
            <a:pPr algn="just">
              <a:buFont typeface="Arial" panose="020B0604020202020204" pitchFamily="34" charset="0"/>
              <a:buChar char="•"/>
            </a:pPr>
            <a:r>
              <a:rPr lang="en-IN" sz="2000" b="1" i="0" dirty="0">
                <a:solidFill>
                  <a:srgbClr val="2B2A29"/>
                </a:solidFill>
                <a:effectLst/>
                <a:latin typeface="montserrat" panose="00000500000000000000" pitchFamily="2" charset="0"/>
              </a:rPr>
              <a:t>Sub Class/Child Class:</a:t>
            </a:r>
            <a:r>
              <a:rPr lang="en-IN" sz="2000" b="0" i="0" dirty="0">
                <a:solidFill>
                  <a:srgbClr val="2B2A29"/>
                </a:solidFill>
                <a:effectLst/>
                <a:latin typeface="montserrat" panose="00000500000000000000" pitchFamily="2" charset="0"/>
              </a:rPr>
              <a:t> Subclass is a class which inherits the other class. It is also called a derived class, extended class, or child class.</a:t>
            </a:r>
          </a:p>
          <a:p>
            <a:pPr algn="just">
              <a:buFont typeface="Arial" panose="020B0604020202020204" pitchFamily="34" charset="0"/>
              <a:buChar char="•"/>
            </a:pPr>
            <a:r>
              <a:rPr lang="en-IN" sz="2000" b="1" i="0" dirty="0">
                <a:solidFill>
                  <a:srgbClr val="2B2A29"/>
                </a:solidFill>
                <a:effectLst/>
                <a:latin typeface="montserrat" panose="00000500000000000000" pitchFamily="2" charset="0"/>
              </a:rPr>
              <a:t>Super Class/Parent Class:</a:t>
            </a:r>
            <a:r>
              <a:rPr lang="en-IN" sz="2000" b="0" i="0" dirty="0">
                <a:solidFill>
                  <a:srgbClr val="2B2A29"/>
                </a:solidFill>
                <a:effectLst/>
                <a:latin typeface="montserrat" panose="00000500000000000000" pitchFamily="2" charset="0"/>
              </a:rPr>
              <a:t> Superclass is the class from where a subclass inherits the features. It is also called a base class or a parent class.</a:t>
            </a:r>
          </a:p>
          <a:p>
            <a:pPr algn="just">
              <a:buFont typeface="Arial" panose="020B0604020202020204" pitchFamily="34" charset="0"/>
              <a:buChar char="•"/>
            </a:pPr>
            <a:r>
              <a:rPr lang="en-IN" sz="2000" b="1" i="0" dirty="0">
                <a:solidFill>
                  <a:srgbClr val="2B2A29"/>
                </a:solidFill>
                <a:effectLst/>
                <a:latin typeface="montserrat" panose="00000500000000000000" pitchFamily="2" charset="0"/>
              </a:rPr>
              <a:t>Reusability:</a:t>
            </a:r>
            <a:r>
              <a:rPr lang="en-IN" sz="2000" b="0" i="0" dirty="0">
                <a:solidFill>
                  <a:srgbClr val="2B2A29"/>
                </a:solidFill>
                <a:effectLst/>
                <a:latin typeface="montserrat" panose="00000500000000000000" pitchFamily="2" charset="0"/>
              </a:rPr>
              <a:t> As the name specifies, reusability is a mechanism which facilitates you to reuse the fields and methods of the existing class when you create a new class. You can use the same fields and methods already defined in the previous class.</a:t>
            </a:r>
          </a:p>
          <a:p>
            <a:endParaRPr lang="en-IN" sz="2000" dirty="0"/>
          </a:p>
        </p:txBody>
      </p:sp>
    </p:spTree>
    <p:extLst>
      <p:ext uri="{BB962C8B-B14F-4D97-AF65-F5344CB8AC3E}">
        <p14:creationId xmlns:p14="http://schemas.microsoft.com/office/powerpoint/2010/main" val="3611758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395EA-B4C8-C2F3-9190-10C88F8D9058}"/>
              </a:ext>
            </a:extLst>
          </p:cNvPr>
          <p:cNvSpPr>
            <a:spLocks noGrp="1"/>
          </p:cNvSpPr>
          <p:nvPr>
            <p:ph type="title"/>
          </p:nvPr>
        </p:nvSpPr>
        <p:spPr/>
        <p:txBody>
          <a:bodyPr/>
          <a:lstStyle/>
          <a:p>
            <a:r>
              <a:rPr lang="en-IN" b="0" i="0" dirty="0">
                <a:solidFill>
                  <a:srgbClr val="1D1D27"/>
                </a:solidFill>
                <a:effectLst/>
                <a:latin typeface="montserrat" panose="00000500000000000000" pitchFamily="2" charset="0"/>
              </a:rPr>
              <a:t>The syntax of Java Inheritance</a:t>
            </a:r>
            <a:br>
              <a:rPr lang="en-IN" b="0" i="0" dirty="0">
                <a:solidFill>
                  <a:srgbClr val="1D1D27"/>
                </a:solidFill>
                <a:effectLst/>
                <a:latin typeface="montserrat" panose="00000500000000000000" pitchFamily="2" charset="0"/>
              </a:rPr>
            </a:br>
            <a:endParaRPr lang="en-IN" dirty="0"/>
          </a:p>
        </p:txBody>
      </p:sp>
      <p:sp>
        <p:nvSpPr>
          <p:cNvPr id="3" name="Content Placeholder 2">
            <a:extLst>
              <a:ext uri="{FF2B5EF4-FFF2-40B4-BE49-F238E27FC236}">
                <a16:creationId xmlns:a16="http://schemas.microsoft.com/office/drawing/2014/main" id="{D33B2121-82D3-1646-BFFA-0BBEB803D86C}"/>
              </a:ext>
            </a:extLst>
          </p:cNvPr>
          <p:cNvSpPr>
            <a:spLocks noGrp="1"/>
          </p:cNvSpPr>
          <p:nvPr>
            <p:ph idx="1"/>
          </p:nvPr>
        </p:nvSpPr>
        <p:spPr/>
        <p:txBody>
          <a:bodyPr>
            <a:normAutofit/>
          </a:bodyPr>
          <a:lstStyle/>
          <a:p>
            <a:pPr marL="0" indent="0">
              <a:buNone/>
            </a:pPr>
            <a:r>
              <a:rPr lang="en-IN" sz="2800" b="1" dirty="0"/>
              <a:t>class Subclass-name extends Superclass-name  </a:t>
            </a:r>
          </a:p>
          <a:p>
            <a:pPr marL="0" indent="0">
              <a:buNone/>
            </a:pPr>
            <a:r>
              <a:rPr lang="en-IN" sz="2800" b="1" dirty="0"/>
              <a:t>{  </a:t>
            </a:r>
          </a:p>
          <a:p>
            <a:pPr marL="0" indent="0">
              <a:buNone/>
            </a:pPr>
            <a:r>
              <a:rPr lang="en-IN" sz="2800" b="1" dirty="0"/>
              <a:t>   //methods and fields  </a:t>
            </a:r>
          </a:p>
          <a:p>
            <a:pPr marL="0" indent="0">
              <a:buNone/>
            </a:pPr>
            <a:r>
              <a:rPr lang="en-IN" sz="2800" b="1" dirty="0"/>
              <a:t>} </a:t>
            </a:r>
          </a:p>
        </p:txBody>
      </p:sp>
    </p:spTree>
    <p:extLst>
      <p:ext uri="{BB962C8B-B14F-4D97-AF65-F5344CB8AC3E}">
        <p14:creationId xmlns:p14="http://schemas.microsoft.com/office/powerpoint/2010/main" val="2565680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35FB6-5119-3C20-97C1-8B2C33FD149E}"/>
              </a:ext>
            </a:extLst>
          </p:cNvPr>
          <p:cNvSpPr>
            <a:spLocks noGrp="1"/>
          </p:cNvSpPr>
          <p:nvPr>
            <p:ph type="title"/>
          </p:nvPr>
        </p:nvSpPr>
        <p:spPr/>
        <p:txBody>
          <a:bodyPr/>
          <a:lstStyle/>
          <a:p>
            <a:r>
              <a:rPr lang="en-IN" b="0" i="0" dirty="0">
                <a:solidFill>
                  <a:srgbClr val="1D1D27"/>
                </a:solidFill>
                <a:effectLst/>
                <a:latin typeface="montserrat" panose="00000500000000000000" pitchFamily="2" charset="0"/>
              </a:rPr>
              <a:t>Types of inheritance in java</a:t>
            </a:r>
            <a:br>
              <a:rPr lang="en-IN" b="0" i="0" dirty="0">
                <a:solidFill>
                  <a:srgbClr val="1D1D27"/>
                </a:solidFill>
                <a:effectLst/>
                <a:latin typeface="montserrat" panose="00000500000000000000" pitchFamily="2" charset="0"/>
              </a:rPr>
            </a:br>
            <a:endParaRPr lang="en-IN" dirty="0"/>
          </a:p>
        </p:txBody>
      </p:sp>
      <p:pic>
        <p:nvPicPr>
          <p:cNvPr id="1026" name="Picture 2" descr="Types of inheritance in Java">
            <a:extLst>
              <a:ext uri="{FF2B5EF4-FFF2-40B4-BE49-F238E27FC236}">
                <a16:creationId xmlns:a16="http://schemas.microsoft.com/office/drawing/2014/main" id="{B20AFE4E-891B-4C10-F675-E7CAB8BB8BE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0373" y="1905000"/>
            <a:ext cx="8428476" cy="4472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242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696E7-DAF9-F63A-0A86-A689426A5310}"/>
              </a:ext>
            </a:extLst>
          </p:cNvPr>
          <p:cNvSpPr>
            <a:spLocks noGrp="1"/>
          </p:cNvSpPr>
          <p:nvPr>
            <p:ph type="title"/>
          </p:nvPr>
        </p:nvSpPr>
        <p:spPr>
          <a:xfrm>
            <a:off x="1500805" y="141402"/>
            <a:ext cx="10003807" cy="1763598"/>
          </a:xfrm>
        </p:spPr>
        <p:txBody>
          <a:bodyPr>
            <a:normAutofit fontScale="90000"/>
          </a:bodyPr>
          <a:lstStyle/>
          <a:p>
            <a:r>
              <a:rPr lang="en-IN" sz="3100" dirty="0"/>
              <a:t>Multiple and Hybrid inheritance is not supported in Java through class.</a:t>
            </a:r>
            <a:br>
              <a:rPr lang="en-IN" sz="3100" dirty="0"/>
            </a:br>
            <a:r>
              <a:rPr lang="en-IN" sz="3100" b="1" dirty="0"/>
              <a:t>But achieved using Interface.</a:t>
            </a:r>
            <a:br>
              <a:rPr lang="en-IN" sz="3100" b="1" dirty="0"/>
            </a:br>
            <a:r>
              <a:rPr lang="en-IN" sz="3100" b="0" i="0" dirty="0">
                <a:solidFill>
                  <a:srgbClr val="2B2A29"/>
                </a:solidFill>
                <a:effectLst/>
                <a:latin typeface="montserrat" panose="00000500000000000000" pitchFamily="2" charset="0"/>
              </a:rPr>
              <a:t>To reduce the complexity and simplify the language, multiple inheritance is not supported in java.</a:t>
            </a:r>
            <a:br>
              <a:rPr lang="en-IN" dirty="0"/>
            </a:br>
            <a:endParaRPr lang="en-IN" dirty="0"/>
          </a:p>
        </p:txBody>
      </p:sp>
      <p:pic>
        <p:nvPicPr>
          <p:cNvPr id="2050" name="Picture 2" descr="Multiple inheritance in Java">
            <a:extLst>
              <a:ext uri="{FF2B5EF4-FFF2-40B4-BE49-F238E27FC236}">
                <a16:creationId xmlns:a16="http://schemas.microsoft.com/office/drawing/2014/main" id="{8C10E375-7A09-F264-3772-17D1C49F6B8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3989" y="2369597"/>
            <a:ext cx="8911686" cy="4347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3778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89211A-39CE-18F6-04D9-D3DC5B4D0CF8}"/>
              </a:ext>
            </a:extLst>
          </p:cNvPr>
          <p:cNvSpPr>
            <a:spLocks noGrp="1"/>
          </p:cNvSpPr>
          <p:nvPr>
            <p:ph idx="1"/>
          </p:nvPr>
        </p:nvSpPr>
        <p:spPr>
          <a:xfrm>
            <a:off x="2083324" y="-65988"/>
            <a:ext cx="9421288" cy="5581284"/>
          </a:xfrm>
        </p:spPr>
        <p:txBody>
          <a:bodyPr>
            <a:noAutofit/>
          </a:bodyPr>
          <a:lstStyle/>
          <a:p>
            <a:pPr marL="0" indent="0" algn="l">
              <a:buNone/>
            </a:pPr>
            <a:r>
              <a:rPr lang="en-IN" sz="2400" b="1" i="0" baseline="-25000" dirty="0">
                <a:solidFill>
                  <a:srgbClr val="2B2A29"/>
                </a:solidFill>
                <a:effectLst/>
                <a:ea typeface="Calibri" panose="020F0502020204030204" pitchFamily="34" charset="0"/>
                <a:cs typeface="Calibri" panose="020F0502020204030204" pitchFamily="34" charset="0"/>
              </a:rPr>
              <a:t>class Animal</a:t>
            </a:r>
          </a:p>
          <a:p>
            <a:pPr marL="0" indent="0" algn="l">
              <a:buNone/>
            </a:pPr>
            <a:r>
              <a:rPr lang="en-IN" sz="2400" b="1" i="0" baseline="-25000" dirty="0">
                <a:solidFill>
                  <a:srgbClr val="2B2A29"/>
                </a:solidFill>
                <a:effectLst/>
                <a:ea typeface="Calibri" panose="020F0502020204030204" pitchFamily="34" charset="0"/>
                <a:cs typeface="Calibri" panose="020F0502020204030204" pitchFamily="34" charset="0"/>
              </a:rPr>
              <a:t>{  </a:t>
            </a:r>
            <a:r>
              <a:rPr lang="en-IN" sz="2400" b="1" i="0" baseline="-25000" dirty="0">
                <a:solidFill>
                  <a:srgbClr val="006699"/>
                </a:solidFill>
                <a:effectLst/>
                <a:ea typeface="Calibri" panose="020F0502020204030204" pitchFamily="34" charset="0"/>
                <a:cs typeface="Calibri" panose="020F0502020204030204" pitchFamily="34" charset="0"/>
              </a:rPr>
              <a:t>	void</a:t>
            </a:r>
            <a:r>
              <a:rPr lang="en-IN" sz="2400" b="1" i="0" baseline="-25000" dirty="0">
                <a:solidFill>
                  <a:srgbClr val="2B2A29"/>
                </a:solidFill>
                <a:effectLst/>
                <a:ea typeface="Calibri" panose="020F0502020204030204" pitchFamily="34" charset="0"/>
                <a:cs typeface="Calibri" panose="020F0502020204030204" pitchFamily="34" charset="0"/>
              </a:rPr>
              <a:t> eat()</a:t>
            </a:r>
          </a:p>
          <a:p>
            <a:pPr marL="0" indent="0" algn="l">
              <a:buNone/>
            </a:pPr>
            <a:r>
              <a:rPr lang="en-IN" sz="2400" b="1" i="0" baseline="-25000" dirty="0">
                <a:solidFill>
                  <a:srgbClr val="2B2A29"/>
                </a:solidFill>
                <a:effectLst/>
                <a:ea typeface="Calibri" panose="020F0502020204030204" pitchFamily="34" charset="0"/>
                <a:cs typeface="Calibri" panose="020F0502020204030204" pitchFamily="34" charset="0"/>
              </a:rPr>
              <a:t>	{    </a:t>
            </a:r>
            <a:r>
              <a:rPr lang="en-IN" sz="2400" b="1" i="0" baseline="-25000" dirty="0" err="1">
                <a:solidFill>
                  <a:srgbClr val="2B2A29"/>
                </a:solidFill>
                <a:effectLst/>
                <a:ea typeface="Calibri" panose="020F0502020204030204" pitchFamily="34" charset="0"/>
                <a:cs typeface="Calibri" panose="020F0502020204030204" pitchFamily="34" charset="0"/>
              </a:rPr>
              <a:t>System.out.println</a:t>
            </a:r>
            <a:r>
              <a:rPr lang="en-IN" sz="2400" b="1" i="0" baseline="-25000" dirty="0">
                <a:solidFill>
                  <a:srgbClr val="2B2A29"/>
                </a:solidFill>
                <a:effectLst/>
                <a:ea typeface="Calibri" panose="020F0502020204030204" pitchFamily="34" charset="0"/>
                <a:cs typeface="Calibri" panose="020F0502020204030204" pitchFamily="34" charset="0"/>
              </a:rPr>
              <a:t>("eating...");}  </a:t>
            </a:r>
          </a:p>
          <a:p>
            <a:pPr marL="0" indent="0" algn="l">
              <a:buNone/>
            </a:pPr>
            <a:r>
              <a:rPr lang="en-IN" sz="2400" b="1" i="0" baseline="-25000" dirty="0">
                <a:solidFill>
                  <a:srgbClr val="2B2A29"/>
                </a:solidFill>
                <a:effectLst/>
                <a:ea typeface="Calibri" panose="020F0502020204030204" pitchFamily="34" charset="0"/>
                <a:cs typeface="Calibri" panose="020F0502020204030204" pitchFamily="34" charset="0"/>
              </a:rPr>
              <a:t>}  </a:t>
            </a:r>
          </a:p>
          <a:p>
            <a:pPr marL="0" indent="0" algn="l">
              <a:buNone/>
            </a:pPr>
            <a:r>
              <a:rPr lang="en-IN" sz="2400" b="1" i="0" baseline="-25000" dirty="0">
                <a:solidFill>
                  <a:srgbClr val="006699"/>
                </a:solidFill>
                <a:effectLst/>
                <a:ea typeface="Calibri" panose="020F0502020204030204" pitchFamily="34" charset="0"/>
                <a:cs typeface="Calibri" panose="020F0502020204030204" pitchFamily="34" charset="0"/>
              </a:rPr>
              <a:t>class</a:t>
            </a:r>
            <a:r>
              <a:rPr lang="en-IN" sz="2400" b="1" i="0" baseline="-25000" dirty="0">
                <a:solidFill>
                  <a:srgbClr val="2B2A29"/>
                </a:solidFill>
                <a:effectLst/>
                <a:ea typeface="Calibri" panose="020F0502020204030204" pitchFamily="34" charset="0"/>
                <a:cs typeface="Calibri" panose="020F0502020204030204" pitchFamily="34" charset="0"/>
              </a:rPr>
              <a:t> Dog </a:t>
            </a:r>
            <a:r>
              <a:rPr lang="en-IN" sz="2400" b="1" i="0" baseline="-25000" dirty="0">
                <a:solidFill>
                  <a:srgbClr val="006699"/>
                </a:solidFill>
                <a:effectLst/>
                <a:ea typeface="Calibri" panose="020F0502020204030204" pitchFamily="34" charset="0"/>
                <a:cs typeface="Calibri" panose="020F0502020204030204" pitchFamily="34" charset="0"/>
              </a:rPr>
              <a:t>extends</a:t>
            </a:r>
            <a:r>
              <a:rPr lang="en-IN" sz="2400" b="1" i="0" baseline="-25000" dirty="0">
                <a:solidFill>
                  <a:srgbClr val="2B2A29"/>
                </a:solidFill>
                <a:effectLst/>
                <a:ea typeface="Calibri" panose="020F0502020204030204" pitchFamily="34" charset="0"/>
                <a:cs typeface="Calibri" panose="020F0502020204030204" pitchFamily="34" charset="0"/>
              </a:rPr>
              <a:t> Animal</a:t>
            </a:r>
          </a:p>
          <a:p>
            <a:pPr marL="0" indent="0" algn="l">
              <a:buNone/>
            </a:pPr>
            <a:r>
              <a:rPr lang="en-IN" sz="2400" b="1" i="0" baseline="-25000" dirty="0">
                <a:solidFill>
                  <a:srgbClr val="2B2A29"/>
                </a:solidFill>
                <a:effectLst/>
                <a:ea typeface="Calibri" panose="020F0502020204030204" pitchFamily="34" charset="0"/>
                <a:cs typeface="Calibri" panose="020F0502020204030204" pitchFamily="34" charset="0"/>
              </a:rPr>
              <a:t>{  </a:t>
            </a:r>
          </a:p>
          <a:p>
            <a:pPr marL="0" indent="0" algn="l">
              <a:buNone/>
            </a:pPr>
            <a:r>
              <a:rPr lang="en-IN" sz="2400" b="1" i="0" baseline="-25000" dirty="0">
                <a:solidFill>
                  <a:srgbClr val="006699"/>
                </a:solidFill>
                <a:effectLst/>
                <a:ea typeface="Calibri" panose="020F0502020204030204" pitchFamily="34" charset="0"/>
                <a:cs typeface="Calibri" panose="020F0502020204030204" pitchFamily="34" charset="0"/>
              </a:rPr>
              <a:t>	void</a:t>
            </a:r>
            <a:r>
              <a:rPr lang="en-IN" sz="2400" b="1" i="0" baseline="-25000" dirty="0">
                <a:solidFill>
                  <a:srgbClr val="2B2A29"/>
                </a:solidFill>
                <a:effectLst/>
                <a:ea typeface="Calibri" panose="020F0502020204030204" pitchFamily="34" charset="0"/>
                <a:cs typeface="Calibri" panose="020F0502020204030204" pitchFamily="34" charset="0"/>
              </a:rPr>
              <a:t> bark()</a:t>
            </a:r>
          </a:p>
          <a:p>
            <a:pPr marL="0" indent="0" algn="l">
              <a:buNone/>
            </a:pPr>
            <a:r>
              <a:rPr lang="en-IN" sz="2400" b="1" baseline="-25000" dirty="0">
                <a:solidFill>
                  <a:srgbClr val="2B2A29"/>
                </a:solidFill>
                <a:ea typeface="Calibri" panose="020F0502020204030204" pitchFamily="34" charset="0"/>
                <a:cs typeface="Calibri" panose="020F0502020204030204" pitchFamily="34" charset="0"/>
              </a:rPr>
              <a:t>	</a:t>
            </a:r>
            <a:r>
              <a:rPr lang="en-IN" sz="2400" b="1" i="0" baseline="-25000" dirty="0">
                <a:solidFill>
                  <a:srgbClr val="2B2A29"/>
                </a:solidFill>
                <a:effectLst/>
                <a:ea typeface="Calibri" panose="020F0502020204030204" pitchFamily="34" charset="0"/>
                <a:cs typeface="Calibri" panose="020F0502020204030204" pitchFamily="34" charset="0"/>
              </a:rPr>
              <a:t>{       </a:t>
            </a:r>
            <a:r>
              <a:rPr lang="en-IN" sz="2400" b="1" i="0" baseline="-25000" dirty="0" err="1">
                <a:solidFill>
                  <a:srgbClr val="2B2A29"/>
                </a:solidFill>
                <a:effectLst/>
                <a:ea typeface="Calibri" panose="020F0502020204030204" pitchFamily="34" charset="0"/>
                <a:cs typeface="Calibri" panose="020F0502020204030204" pitchFamily="34" charset="0"/>
              </a:rPr>
              <a:t>System.out.println</a:t>
            </a:r>
            <a:r>
              <a:rPr lang="en-IN" sz="2400" b="1" i="0" baseline="-25000" dirty="0">
                <a:solidFill>
                  <a:srgbClr val="2B2A29"/>
                </a:solidFill>
                <a:effectLst/>
                <a:ea typeface="Calibri" panose="020F0502020204030204" pitchFamily="34" charset="0"/>
                <a:cs typeface="Calibri" panose="020F0502020204030204" pitchFamily="34" charset="0"/>
              </a:rPr>
              <a:t>("barking...");}  </a:t>
            </a:r>
          </a:p>
          <a:p>
            <a:pPr marL="0" indent="0" algn="l">
              <a:buNone/>
            </a:pPr>
            <a:r>
              <a:rPr lang="en-IN" sz="2400" b="1" i="0" baseline="-25000" dirty="0">
                <a:solidFill>
                  <a:srgbClr val="2B2A29"/>
                </a:solidFill>
                <a:effectLst/>
                <a:ea typeface="Calibri" panose="020F0502020204030204" pitchFamily="34" charset="0"/>
                <a:cs typeface="Calibri" panose="020F0502020204030204" pitchFamily="34" charset="0"/>
              </a:rPr>
              <a:t>}  </a:t>
            </a:r>
          </a:p>
          <a:p>
            <a:pPr marL="0" indent="0" algn="l">
              <a:buNone/>
            </a:pPr>
            <a:r>
              <a:rPr lang="en-IN" sz="2400" b="1" i="0" baseline="-25000" dirty="0">
                <a:solidFill>
                  <a:srgbClr val="006699"/>
                </a:solidFill>
                <a:effectLst/>
                <a:ea typeface="Calibri" panose="020F0502020204030204" pitchFamily="34" charset="0"/>
                <a:cs typeface="Calibri" panose="020F0502020204030204" pitchFamily="34" charset="0"/>
              </a:rPr>
              <a:t>class</a:t>
            </a:r>
            <a:r>
              <a:rPr lang="en-IN" sz="2400" b="1" i="0" baseline="-25000" dirty="0">
                <a:solidFill>
                  <a:srgbClr val="2B2A29"/>
                </a:solidFill>
                <a:effectLst/>
                <a:ea typeface="Calibri" panose="020F0502020204030204" pitchFamily="34" charset="0"/>
                <a:cs typeface="Calibri" panose="020F0502020204030204" pitchFamily="34" charset="0"/>
              </a:rPr>
              <a:t> </a:t>
            </a:r>
            <a:r>
              <a:rPr lang="en-IN" sz="2400" b="1" i="0" baseline="-25000" dirty="0" err="1">
                <a:solidFill>
                  <a:srgbClr val="2B2A29"/>
                </a:solidFill>
                <a:effectLst/>
                <a:ea typeface="Calibri" panose="020F0502020204030204" pitchFamily="34" charset="0"/>
                <a:cs typeface="Calibri" panose="020F0502020204030204" pitchFamily="34" charset="0"/>
              </a:rPr>
              <a:t>TestInheritance</a:t>
            </a:r>
            <a:endParaRPr lang="en-IN" sz="2400" b="1" i="0" baseline="-25000" dirty="0">
              <a:solidFill>
                <a:srgbClr val="2B2A29"/>
              </a:solidFill>
              <a:effectLst/>
              <a:ea typeface="Calibri" panose="020F0502020204030204" pitchFamily="34" charset="0"/>
              <a:cs typeface="Calibri" panose="020F0502020204030204" pitchFamily="34" charset="0"/>
            </a:endParaRPr>
          </a:p>
          <a:p>
            <a:pPr marL="0" indent="0" algn="l">
              <a:buNone/>
            </a:pPr>
            <a:r>
              <a:rPr lang="en-IN" sz="2400" b="1" i="0" baseline="-25000" dirty="0">
                <a:solidFill>
                  <a:srgbClr val="2B2A29"/>
                </a:solidFill>
                <a:effectLst/>
                <a:ea typeface="Calibri" panose="020F0502020204030204" pitchFamily="34" charset="0"/>
                <a:cs typeface="Calibri" panose="020F0502020204030204" pitchFamily="34" charset="0"/>
              </a:rPr>
              <a:t>{       </a:t>
            </a:r>
            <a:r>
              <a:rPr lang="en-IN" sz="2400" b="1" i="0" baseline="-25000" dirty="0">
                <a:solidFill>
                  <a:srgbClr val="006699"/>
                </a:solidFill>
                <a:effectLst/>
                <a:ea typeface="Calibri" panose="020F0502020204030204" pitchFamily="34" charset="0"/>
                <a:cs typeface="Calibri" panose="020F0502020204030204" pitchFamily="34" charset="0"/>
              </a:rPr>
              <a:t>public</a:t>
            </a:r>
            <a:r>
              <a:rPr lang="en-IN" sz="2400" b="1" i="0" baseline="-25000" dirty="0">
                <a:solidFill>
                  <a:srgbClr val="2B2A29"/>
                </a:solidFill>
                <a:effectLst/>
                <a:ea typeface="Calibri" panose="020F0502020204030204" pitchFamily="34" charset="0"/>
                <a:cs typeface="Calibri" panose="020F0502020204030204" pitchFamily="34" charset="0"/>
              </a:rPr>
              <a:t> </a:t>
            </a:r>
            <a:r>
              <a:rPr lang="en-IN" sz="2400" b="1" i="0" baseline="-25000" dirty="0">
                <a:solidFill>
                  <a:srgbClr val="006699"/>
                </a:solidFill>
                <a:effectLst/>
                <a:ea typeface="Calibri" panose="020F0502020204030204" pitchFamily="34" charset="0"/>
                <a:cs typeface="Calibri" panose="020F0502020204030204" pitchFamily="34" charset="0"/>
              </a:rPr>
              <a:t>static</a:t>
            </a:r>
            <a:r>
              <a:rPr lang="en-IN" sz="2400" b="1" i="0" baseline="-25000" dirty="0">
                <a:solidFill>
                  <a:srgbClr val="2B2A29"/>
                </a:solidFill>
                <a:effectLst/>
                <a:ea typeface="Calibri" panose="020F0502020204030204" pitchFamily="34" charset="0"/>
                <a:cs typeface="Calibri" panose="020F0502020204030204" pitchFamily="34" charset="0"/>
              </a:rPr>
              <a:t> </a:t>
            </a:r>
            <a:r>
              <a:rPr lang="en-IN" sz="2400" b="1" i="0" baseline="-25000" dirty="0">
                <a:solidFill>
                  <a:srgbClr val="006699"/>
                </a:solidFill>
                <a:effectLst/>
                <a:ea typeface="Calibri" panose="020F0502020204030204" pitchFamily="34" charset="0"/>
                <a:cs typeface="Calibri" panose="020F0502020204030204" pitchFamily="34" charset="0"/>
              </a:rPr>
              <a:t>void</a:t>
            </a:r>
            <a:r>
              <a:rPr lang="en-IN" sz="2400" b="1" i="0" baseline="-25000" dirty="0">
                <a:solidFill>
                  <a:srgbClr val="2B2A29"/>
                </a:solidFill>
                <a:effectLst/>
                <a:ea typeface="Calibri" panose="020F0502020204030204" pitchFamily="34" charset="0"/>
                <a:cs typeface="Calibri" panose="020F0502020204030204" pitchFamily="34" charset="0"/>
              </a:rPr>
              <a:t> main(String </a:t>
            </a:r>
            <a:r>
              <a:rPr lang="en-IN" sz="2400" b="1" i="0" baseline="-25000" dirty="0" err="1">
                <a:solidFill>
                  <a:srgbClr val="2B2A29"/>
                </a:solidFill>
                <a:effectLst/>
                <a:ea typeface="Calibri" panose="020F0502020204030204" pitchFamily="34" charset="0"/>
                <a:cs typeface="Calibri" panose="020F0502020204030204" pitchFamily="34" charset="0"/>
              </a:rPr>
              <a:t>args</a:t>
            </a:r>
            <a:r>
              <a:rPr lang="en-IN" sz="2400" b="1" i="0" baseline="-25000" dirty="0">
                <a:solidFill>
                  <a:srgbClr val="2B2A29"/>
                </a:solidFill>
                <a:effectLst/>
                <a:ea typeface="Calibri" panose="020F0502020204030204" pitchFamily="34" charset="0"/>
                <a:cs typeface="Calibri" panose="020F0502020204030204" pitchFamily="34" charset="0"/>
              </a:rPr>
              <a:t>[])</a:t>
            </a:r>
          </a:p>
          <a:p>
            <a:pPr marL="0" indent="0" algn="l">
              <a:buNone/>
            </a:pPr>
            <a:r>
              <a:rPr lang="en-IN" sz="2400" b="1" baseline="-25000" dirty="0">
                <a:solidFill>
                  <a:srgbClr val="2B2A29"/>
                </a:solidFill>
                <a:ea typeface="Calibri" panose="020F0502020204030204" pitchFamily="34" charset="0"/>
                <a:cs typeface="Calibri" panose="020F0502020204030204" pitchFamily="34" charset="0"/>
              </a:rPr>
              <a:t>	</a:t>
            </a:r>
            <a:r>
              <a:rPr lang="en-IN" sz="2400" b="1" i="0" baseline="-25000" dirty="0">
                <a:solidFill>
                  <a:srgbClr val="2B2A29"/>
                </a:solidFill>
                <a:effectLst/>
                <a:ea typeface="Calibri" panose="020F0502020204030204" pitchFamily="34" charset="0"/>
                <a:cs typeface="Calibri" panose="020F0502020204030204" pitchFamily="34" charset="0"/>
              </a:rPr>
              <a:t>{  </a:t>
            </a:r>
          </a:p>
          <a:p>
            <a:pPr marL="0" indent="0" algn="l">
              <a:buNone/>
            </a:pPr>
            <a:r>
              <a:rPr lang="en-IN" sz="2400" b="1" i="0" baseline="-25000" dirty="0">
                <a:solidFill>
                  <a:srgbClr val="2B2A29"/>
                </a:solidFill>
                <a:effectLst/>
                <a:ea typeface="Calibri" panose="020F0502020204030204" pitchFamily="34" charset="0"/>
                <a:cs typeface="Calibri" panose="020F0502020204030204" pitchFamily="34" charset="0"/>
              </a:rPr>
              <a:t>		Dog d=</a:t>
            </a:r>
            <a:r>
              <a:rPr lang="en-IN" sz="2400" b="1" i="0" baseline="-25000" dirty="0">
                <a:solidFill>
                  <a:srgbClr val="006699"/>
                </a:solidFill>
                <a:effectLst/>
                <a:ea typeface="Calibri" panose="020F0502020204030204" pitchFamily="34" charset="0"/>
                <a:cs typeface="Calibri" panose="020F0502020204030204" pitchFamily="34" charset="0"/>
              </a:rPr>
              <a:t>new</a:t>
            </a:r>
            <a:r>
              <a:rPr lang="en-IN" sz="2400" b="1" i="0" baseline="-25000" dirty="0">
                <a:solidFill>
                  <a:srgbClr val="2B2A29"/>
                </a:solidFill>
                <a:effectLst/>
                <a:ea typeface="Calibri" panose="020F0502020204030204" pitchFamily="34" charset="0"/>
                <a:cs typeface="Calibri" panose="020F0502020204030204" pitchFamily="34" charset="0"/>
              </a:rPr>
              <a:t> Dog();     Animal a = new Animal(); </a:t>
            </a:r>
          </a:p>
          <a:p>
            <a:pPr marL="0" indent="0" algn="l">
              <a:buNone/>
            </a:pPr>
            <a:r>
              <a:rPr lang="en-IN" sz="2400" b="1" baseline="-25000" dirty="0">
                <a:solidFill>
                  <a:srgbClr val="2B2A29"/>
                </a:solidFill>
                <a:ea typeface="Calibri" panose="020F0502020204030204" pitchFamily="34" charset="0"/>
                <a:cs typeface="Calibri" panose="020F0502020204030204" pitchFamily="34" charset="0"/>
              </a:rPr>
              <a:t>		</a:t>
            </a:r>
            <a:r>
              <a:rPr lang="en-IN" sz="2400" b="1" i="0" baseline="-25000" dirty="0" err="1">
                <a:solidFill>
                  <a:srgbClr val="2B2A29"/>
                </a:solidFill>
                <a:effectLst/>
                <a:ea typeface="Calibri" panose="020F0502020204030204" pitchFamily="34" charset="0"/>
                <a:cs typeface="Calibri" panose="020F0502020204030204" pitchFamily="34" charset="0"/>
              </a:rPr>
              <a:t>a.eat</a:t>
            </a:r>
            <a:r>
              <a:rPr lang="en-IN" sz="2400" b="1" i="0" baseline="-25000" dirty="0">
                <a:solidFill>
                  <a:srgbClr val="2B2A29"/>
                </a:solidFill>
                <a:effectLst/>
                <a:ea typeface="Calibri" panose="020F0502020204030204" pitchFamily="34" charset="0"/>
                <a:cs typeface="Calibri" panose="020F0502020204030204" pitchFamily="34" charset="0"/>
              </a:rPr>
              <a:t>();</a:t>
            </a:r>
          </a:p>
          <a:p>
            <a:pPr marL="0" indent="0" algn="l">
              <a:buNone/>
            </a:pPr>
            <a:r>
              <a:rPr lang="en-IN" sz="2400" b="1" i="0" baseline="-25000" dirty="0">
                <a:solidFill>
                  <a:srgbClr val="2B2A29"/>
                </a:solidFill>
                <a:effectLst/>
                <a:ea typeface="Calibri" panose="020F0502020204030204" pitchFamily="34" charset="0"/>
                <a:cs typeface="Calibri" panose="020F0502020204030204" pitchFamily="34" charset="0"/>
              </a:rPr>
              <a:t>		</a:t>
            </a:r>
            <a:r>
              <a:rPr lang="en-IN" sz="2400" b="1" i="0" baseline="-25000" dirty="0" err="1">
                <a:solidFill>
                  <a:srgbClr val="2B2A29"/>
                </a:solidFill>
                <a:effectLst/>
                <a:ea typeface="Calibri" panose="020F0502020204030204" pitchFamily="34" charset="0"/>
                <a:cs typeface="Calibri" panose="020F0502020204030204" pitchFamily="34" charset="0"/>
              </a:rPr>
              <a:t>d.bark</a:t>
            </a:r>
            <a:r>
              <a:rPr lang="en-IN" sz="2400" b="1" i="0" baseline="-25000" dirty="0">
                <a:solidFill>
                  <a:srgbClr val="2B2A29"/>
                </a:solidFill>
                <a:effectLst/>
                <a:ea typeface="Calibri" panose="020F0502020204030204" pitchFamily="34" charset="0"/>
                <a:cs typeface="Calibri" panose="020F0502020204030204" pitchFamily="34" charset="0"/>
              </a:rPr>
              <a:t>();   		</a:t>
            </a:r>
            <a:r>
              <a:rPr lang="en-IN" sz="2400" b="1" i="0" baseline="-25000" dirty="0" err="1">
                <a:solidFill>
                  <a:srgbClr val="2B2A29"/>
                </a:solidFill>
                <a:effectLst/>
                <a:ea typeface="Calibri" panose="020F0502020204030204" pitchFamily="34" charset="0"/>
                <a:cs typeface="Calibri" panose="020F0502020204030204" pitchFamily="34" charset="0"/>
              </a:rPr>
              <a:t>d.eat</a:t>
            </a:r>
            <a:r>
              <a:rPr lang="en-IN" sz="2400" b="1" i="0" baseline="-25000" dirty="0">
                <a:solidFill>
                  <a:srgbClr val="2B2A29"/>
                </a:solidFill>
                <a:effectLst/>
                <a:ea typeface="Calibri" panose="020F0502020204030204" pitchFamily="34" charset="0"/>
                <a:cs typeface="Calibri" panose="020F0502020204030204" pitchFamily="34" charset="0"/>
              </a:rPr>
              <a:t>();  </a:t>
            </a:r>
          </a:p>
          <a:p>
            <a:pPr marL="0" indent="0" algn="l">
              <a:buNone/>
            </a:pPr>
            <a:r>
              <a:rPr lang="en-IN" sz="2400" b="1" i="0" baseline="-25000" dirty="0">
                <a:solidFill>
                  <a:srgbClr val="2B2A29"/>
                </a:solidFill>
                <a:effectLst/>
                <a:ea typeface="Calibri" panose="020F0502020204030204" pitchFamily="34" charset="0"/>
                <a:cs typeface="Calibri" panose="020F0502020204030204" pitchFamily="34" charset="0"/>
              </a:rPr>
              <a:t>	}</a:t>
            </a:r>
          </a:p>
          <a:p>
            <a:pPr marL="0" indent="0" algn="l">
              <a:buNone/>
            </a:pPr>
            <a:r>
              <a:rPr lang="en-IN" sz="2400" b="1" i="0" baseline="-25000" dirty="0">
                <a:solidFill>
                  <a:srgbClr val="2B2A29"/>
                </a:solidFill>
                <a:effectLst/>
                <a:ea typeface="Calibri" panose="020F0502020204030204" pitchFamily="34" charset="0"/>
                <a:cs typeface="Calibri" panose="020F0502020204030204" pitchFamily="34" charset="0"/>
              </a:rPr>
              <a:t>}  </a:t>
            </a:r>
          </a:p>
          <a:p>
            <a:pPr marL="0" indent="0">
              <a:buNone/>
            </a:pPr>
            <a:endParaRPr lang="en-IN" sz="2400" b="1" baseline="-250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37513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6EBCC-7C66-5EA6-DBD3-A6C8BDD9FFEE}"/>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id="{652F41D3-2821-E375-EE44-16D7B123E856}"/>
              </a:ext>
            </a:extLst>
          </p:cNvPr>
          <p:cNvPicPr>
            <a:picLocks noGrp="1" noChangeAspect="1"/>
          </p:cNvPicPr>
          <p:nvPr>
            <p:ph idx="1"/>
          </p:nvPr>
        </p:nvPicPr>
        <p:blipFill>
          <a:blip r:embed="rId2"/>
          <a:stretch>
            <a:fillRect/>
          </a:stretch>
        </p:blipFill>
        <p:spPr>
          <a:xfrm>
            <a:off x="2042048" y="624110"/>
            <a:ext cx="9159351" cy="5776690"/>
          </a:xfrm>
        </p:spPr>
      </p:pic>
    </p:spTree>
    <p:extLst>
      <p:ext uri="{BB962C8B-B14F-4D97-AF65-F5344CB8AC3E}">
        <p14:creationId xmlns:p14="http://schemas.microsoft.com/office/powerpoint/2010/main" val="1307637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8053B1-4807-09DA-E057-64C0D8B37D8E}"/>
              </a:ext>
            </a:extLst>
          </p:cNvPr>
          <p:cNvSpPr>
            <a:spLocks noGrp="1"/>
          </p:cNvSpPr>
          <p:nvPr>
            <p:ph idx="1"/>
          </p:nvPr>
        </p:nvSpPr>
        <p:spPr>
          <a:xfrm>
            <a:off x="2589212" y="254523"/>
            <a:ext cx="8915400" cy="6231117"/>
          </a:xfrm>
        </p:spPr>
        <p:txBody>
          <a:bodyPr>
            <a:normAutofit/>
          </a:bodyPr>
          <a:lstStyle/>
          <a:p>
            <a:pPr marL="0" indent="0">
              <a:buNone/>
            </a:pPr>
            <a:r>
              <a:rPr lang="en-IN" sz="2400" b="1" dirty="0"/>
              <a:t>Class Variables</a:t>
            </a:r>
          </a:p>
          <a:p>
            <a:pPr marL="0" indent="0">
              <a:buNone/>
            </a:pPr>
            <a:r>
              <a:rPr lang="en-IN" sz="2400" b="1" dirty="0"/>
              <a:t>{</a:t>
            </a:r>
          </a:p>
          <a:p>
            <a:pPr marL="0" indent="0">
              <a:buNone/>
            </a:pPr>
            <a:r>
              <a:rPr lang="en-IN" sz="2400" b="1" dirty="0"/>
              <a:t>    int  </a:t>
            </a:r>
            <a:r>
              <a:rPr lang="en-IN" sz="2400" b="1" dirty="0" err="1"/>
              <a:t>x,y</a:t>
            </a:r>
            <a:r>
              <a:rPr lang="en-IN" sz="2400" b="1" dirty="0"/>
              <a:t>;    // instance Variable</a:t>
            </a:r>
          </a:p>
          <a:p>
            <a:pPr marL="0" indent="0">
              <a:buNone/>
            </a:pPr>
            <a:r>
              <a:rPr lang="en-IN" sz="2400" b="1" dirty="0"/>
              <a:t>   static int a=10;  //---</a:t>
            </a:r>
            <a:r>
              <a:rPr lang="en-IN" sz="2400" b="1" dirty="0">
                <a:sym typeface="Wingdings" panose="05000000000000000000" pitchFamily="2" charset="2"/>
              </a:rPr>
              <a:t> static variable</a:t>
            </a:r>
            <a:endParaRPr lang="en-IN" sz="2400" b="1" dirty="0"/>
          </a:p>
          <a:p>
            <a:pPr marL="0" indent="0">
              <a:buNone/>
            </a:pPr>
            <a:r>
              <a:rPr lang="en-IN" sz="2400" b="1" dirty="0"/>
              <a:t>   final int MAX=100;  // constant Variable</a:t>
            </a:r>
          </a:p>
          <a:p>
            <a:pPr marL="0" indent="0">
              <a:buNone/>
            </a:pPr>
            <a:r>
              <a:rPr lang="en-IN" sz="2400" b="1" dirty="0"/>
              <a:t>   void sum()</a:t>
            </a:r>
          </a:p>
          <a:p>
            <a:pPr marL="0" indent="0">
              <a:buNone/>
            </a:pPr>
            <a:r>
              <a:rPr lang="en-IN" sz="2400" b="1" dirty="0"/>
              <a:t>    {  int s=0;</a:t>
            </a:r>
          </a:p>
          <a:p>
            <a:pPr marL="0" indent="0">
              <a:buNone/>
            </a:pPr>
            <a:r>
              <a:rPr lang="en-IN" sz="2400" b="1" dirty="0"/>
              <a:t>        for(int </a:t>
            </a:r>
            <a:r>
              <a:rPr lang="en-IN" sz="2400" b="1" dirty="0" err="1"/>
              <a:t>i</a:t>
            </a:r>
            <a:r>
              <a:rPr lang="en-IN" sz="2400" b="1" dirty="0"/>
              <a:t>=1;i&lt;=10;i++)</a:t>
            </a:r>
          </a:p>
          <a:p>
            <a:pPr marL="0" indent="0">
              <a:buNone/>
            </a:pPr>
            <a:r>
              <a:rPr lang="en-IN" sz="2400" b="1" dirty="0"/>
              <a:t>	   {     s=</a:t>
            </a:r>
            <a:r>
              <a:rPr lang="en-IN" sz="2400" b="1" dirty="0" err="1"/>
              <a:t>s+i</a:t>
            </a:r>
            <a:r>
              <a:rPr lang="en-IN" sz="2400" b="1" dirty="0"/>
              <a:t>;   }</a:t>
            </a:r>
          </a:p>
          <a:p>
            <a:pPr marL="514350" lvl="1" indent="0">
              <a:buNone/>
            </a:pPr>
            <a:r>
              <a:rPr lang="en-IN" sz="2600" b="1" dirty="0"/>
              <a:t>}</a:t>
            </a:r>
            <a:endParaRPr lang="en-IN" sz="2400" b="1" dirty="0"/>
          </a:p>
          <a:p>
            <a:pPr marL="114300" indent="0">
              <a:buNone/>
            </a:pPr>
            <a:r>
              <a:rPr lang="en-IN" sz="2800" b="1" dirty="0"/>
              <a:t>}</a:t>
            </a:r>
          </a:p>
          <a:p>
            <a:pPr marL="914400" lvl="2" indent="0">
              <a:buNone/>
            </a:pPr>
            <a:endParaRPr lang="en-IN" sz="2400" b="1" dirty="0"/>
          </a:p>
        </p:txBody>
      </p:sp>
    </p:spTree>
    <p:extLst>
      <p:ext uri="{BB962C8B-B14F-4D97-AF65-F5344CB8AC3E}">
        <p14:creationId xmlns:p14="http://schemas.microsoft.com/office/powerpoint/2010/main" val="931128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9E504-E924-2A96-A66C-2D5F89B26B3D}"/>
              </a:ext>
            </a:extLst>
          </p:cNvPr>
          <p:cNvSpPr>
            <a:spLocks noGrp="1"/>
          </p:cNvSpPr>
          <p:nvPr>
            <p:ph type="title"/>
          </p:nvPr>
        </p:nvSpPr>
        <p:spPr/>
        <p:txBody>
          <a:bodyPr/>
          <a:lstStyle/>
          <a:p>
            <a:r>
              <a:rPr lang="en-IN" dirty="0"/>
              <a:t>Access Specifier</a:t>
            </a:r>
          </a:p>
        </p:txBody>
      </p:sp>
      <p:pic>
        <p:nvPicPr>
          <p:cNvPr id="6" name="Content Placeholder 5">
            <a:extLst>
              <a:ext uri="{FF2B5EF4-FFF2-40B4-BE49-F238E27FC236}">
                <a16:creationId xmlns:a16="http://schemas.microsoft.com/office/drawing/2014/main" id="{35908166-A8A1-7B61-B110-D9727C2574E0}"/>
              </a:ext>
            </a:extLst>
          </p:cNvPr>
          <p:cNvPicPr>
            <a:picLocks noGrp="1" noChangeAspect="1"/>
          </p:cNvPicPr>
          <p:nvPr>
            <p:ph idx="1"/>
          </p:nvPr>
        </p:nvPicPr>
        <p:blipFill>
          <a:blip r:embed="rId2"/>
          <a:stretch>
            <a:fillRect/>
          </a:stretch>
        </p:blipFill>
        <p:spPr>
          <a:xfrm>
            <a:off x="1768475" y="2069306"/>
            <a:ext cx="9525000" cy="3590925"/>
          </a:xfrm>
          <a:prstGeom prst="rect">
            <a:avLst/>
          </a:prstGeom>
        </p:spPr>
      </p:pic>
    </p:spTree>
    <p:extLst>
      <p:ext uri="{BB962C8B-B14F-4D97-AF65-F5344CB8AC3E}">
        <p14:creationId xmlns:p14="http://schemas.microsoft.com/office/powerpoint/2010/main" val="538860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96FCB-1E24-FCBF-6A6F-7342C7F4B13E}"/>
              </a:ext>
            </a:extLst>
          </p:cNvPr>
          <p:cNvSpPr>
            <a:spLocks noGrp="1"/>
          </p:cNvSpPr>
          <p:nvPr>
            <p:ph type="title"/>
          </p:nvPr>
        </p:nvSpPr>
        <p:spPr>
          <a:xfrm>
            <a:off x="1859328" y="433015"/>
            <a:ext cx="9512526" cy="1280890"/>
          </a:xfrm>
        </p:spPr>
        <p:txBody>
          <a:bodyPr/>
          <a:lstStyle/>
          <a:p>
            <a:r>
              <a:rPr lang="en-IN" dirty="0"/>
              <a:t>Access Specifier</a:t>
            </a:r>
          </a:p>
        </p:txBody>
      </p:sp>
      <p:pic>
        <p:nvPicPr>
          <p:cNvPr id="5" name="Content Placeholder 4">
            <a:extLst>
              <a:ext uri="{FF2B5EF4-FFF2-40B4-BE49-F238E27FC236}">
                <a16:creationId xmlns:a16="http://schemas.microsoft.com/office/drawing/2014/main" id="{9720D7A7-08C5-FDD7-41CD-D084F3170EE3}"/>
              </a:ext>
            </a:extLst>
          </p:cNvPr>
          <p:cNvPicPr>
            <a:picLocks noGrp="1" noChangeAspect="1"/>
          </p:cNvPicPr>
          <p:nvPr>
            <p:ph idx="1"/>
          </p:nvPr>
        </p:nvPicPr>
        <p:blipFill>
          <a:blip r:embed="rId2"/>
          <a:stretch>
            <a:fillRect/>
          </a:stretch>
        </p:blipFill>
        <p:spPr>
          <a:xfrm>
            <a:off x="1160513" y="1432099"/>
            <a:ext cx="10910157" cy="4298601"/>
          </a:xfrm>
          <a:prstGeom prst="rect">
            <a:avLst/>
          </a:prstGeom>
        </p:spPr>
      </p:pic>
      <p:sp>
        <p:nvSpPr>
          <p:cNvPr id="4" name="AutoShape 4" descr="Access-Modifiers-in-Java-2">
            <a:extLst>
              <a:ext uri="{FF2B5EF4-FFF2-40B4-BE49-F238E27FC236}">
                <a16:creationId xmlns:a16="http://schemas.microsoft.com/office/drawing/2014/main" id="{29DA6B21-A1A5-2874-9D51-7487DC24023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545271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2F77-875D-B526-686A-90565F57130E}"/>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8C02372C-C51F-5D22-6CCC-0E959854C07A}"/>
              </a:ext>
            </a:extLst>
          </p:cNvPr>
          <p:cNvGraphicFramePr>
            <a:graphicFrameLocks noGrp="1"/>
          </p:cNvGraphicFramePr>
          <p:nvPr>
            <p:ph idx="1"/>
            <p:extLst>
              <p:ext uri="{D42A27DB-BD31-4B8C-83A1-F6EECF244321}">
                <p14:modId xmlns:p14="http://schemas.microsoft.com/office/powerpoint/2010/main" val="3510226014"/>
              </p:ext>
            </p:extLst>
          </p:nvPr>
        </p:nvGraphicFramePr>
        <p:xfrm>
          <a:off x="1230086" y="624109"/>
          <a:ext cx="10689771" cy="5746849"/>
        </p:xfrm>
        <a:graphic>
          <a:graphicData uri="http://schemas.openxmlformats.org/drawingml/2006/table">
            <a:tbl>
              <a:tblPr firstRow="1" bandRow="1">
                <a:tableStyleId>{5C22544A-7EE6-4342-B048-85BDC9FD1C3A}</a:tableStyleId>
              </a:tblPr>
              <a:tblGrid>
                <a:gridCol w="2619535">
                  <a:extLst>
                    <a:ext uri="{9D8B030D-6E8A-4147-A177-3AD203B41FA5}">
                      <a16:colId xmlns:a16="http://schemas.microsoft.com/office/drawing/2014/main" val="532873943"/>
                    </a:ext>
                  </a:extLst>
                </a:gridCol>
                <a:gridCol w="2035508">
                  <a:extLst>
                    <a:ext uri="{9D8B030D-6E8A-4147-A177-3AD203B41FA5}">
                      <a16:colId xmlns:a16="http://schemas.microsoft.com/office/drawing/2014/main" val="1364657972"/>
                    </a:ext>
                  </a:extLst>
                </a:gridCol>
                <a:gridCol w="2011576">
                  <a:extLst>
                    <a:ext uri="{9D8B030D-6E8A-4147-A177-3AD203B41FA5}">
                      <a16:colId xmlns:a16="http://schemas.microsoft.com/office/drawing/2014/main" val="1507937341"/>
                    </a:ext>
                  </a:extLst>
                </a:gridCol>
                <a:gridCol w="2011576">
                  <a:extLst>
                    <a:ext uri="{9D8B030D-6E8A-4147-A177-3AD203B41FA5}">
                      <a16:colId xmlns:a16="http://schemas.microsoft.com/office/drawing/2014/main" val="3298280244"/>
                    </a:ext>
                  </a:extLst>
                </a:gridCol>
                <a:gridCol w="2011576">
                  <a:extLst>
                    <a:ext uri="{9D8B030D-6E8A-4147-A177-3AD203B41FA5}">
                      <a16:colId xmlns:a16="http://schemas.microsoft.com/office/drawing/2014/main" val="3686653854"/>
                    </a:ext>
                  </a:extLst>
                </a:gridCol>
              </a:tblGrid>
              <a:tr h="1465948">
                <a:tc>
                  <a:txBody>
                    <a:bodyPr/>
                    <a:lstStyle/>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2400" b="1" i="0" kern="1200" dirty="0">
                          <a:solidFill>
                            <a:srgbClr val="FFFF00"/>
                          </a:solidFill>
                          <a:effectLst/>
                          <a:latin typeface="+mn-lt"/>
                          <a:ea typeface="+mn-ea"/>
                          <a:cs typeface="+mn-cs"/>
                        </a:rPr>
                        <a:t>Private</a:t>
                      </a:r>
                    </a:p>
                    <a:p>
                      <a:endParaRPr lang="en-IN" sz="2400" b="1" dirty="0">
                        <a:solidFill>
                          <a:srgbClr val="FFFF00"/>
                        </a:solidFill>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2400" b="1" i="0" kern="1200" dirty="0">
                          <a:solidFill>
                            <a:srgbClr val="FFFF00"/>
                          </a:solidFill>
                          <a:effectLst/>
                          <a:latin typeface="+mn-lt"/>
                          <a:ea typeface="+mn-ea"/>
                          <a:cs typeface="+mn-cs"/>
                        </a:rPr>
                        <a:t>Default – No keyword required</a:t>
                      </a:r>
                    </a:p>
                    <a:p>
                      <a:endParaRPr lang="en-IN" sz="2400" b="1" dirty="0">
                        <a:solidFill>
                          <a:srgbClr val="FFFF00"/>
                        </a:solidFill>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2400" b="1" i="0" kern="1200" dirty="0">
                          <a:solidFill>
                            <a:srgbClr val="FFFF00"/>
                          </a:solidFill>
                          <a:effectLst/>
                          <a:latin typeface="+mn-lt"/>
                          <a:ea typeface="+mn-ea"/>
                          <a:cs typeface="+mn-cs"/>
                        </a:rPr>
                        <a:t>Protected</a:t>
                      </a:r>
                    </a:p>
                    <a:p>
                      <a:endParaRPr lang="en-IN" sz="2400" b="1" dirty="0">
                        <a:solidFill>
                          <a:srgbClr val="FFFF00"/>
                        </a:solidFill>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2400" b="1" i="0" kern="1200" dirty="0">
                          <a:solidFill>
                            <a:srgbClr val="FFFF00"/>
                          </a:solidFill>
                          <a:effectLst/>
                          <a:latin typeface="+mn-lt"/>
                          <a:ea typeface="+mn-ea"/>
                          <a:cs typeface="+mn-cs"/>
                        </a:rPr>
                        <a:t>Public</a:t>
                      </a:r>
                    </a:p>
                    <a:p>
                      <a:endParaRPr lang="en-IN" sz="2400" b="1" dirty="0">
                        <a:solidFill>
                          <a:srgbClr val="FFFF00"/>
                        </a:solidFill>
                      </a:endParaRPr>
                    </a:p>
                  </a:txBody>
                  <a:tcPr/>
                </a:tc>
                <a:extLst>
                  <a:ext uri="{0D108BD9-81ED-4DB2-BD59-A6C34878D82A}">
                    <a16:rowId xmlns:a16="http://schemas.microsoft.com/office/drawing/2014/main" val="3548426759"/>
                  </a:ext>
                </a:extLst>
              </a:tr>
              <a:tr h="773408">
                <a:tc>
                  <a:txBody>
                    <a:bodyPr/>
                    <a:lstStyle/>
                    <a:p>
                      <a:r>
                        <a:rPr lang="en-IN" sz="2000" b="1" dirty="0"/>
                        <a:t>Same Class</a:t>
                      </a:r>
                    </a:p>
                  </a:txBody>
                  <a:tcPr/>
                </a:tc>
                <a:tc>
                  <a:txBody>
                    <a:bodyPr/>
                    <a:lstStyle/>
                    <a:p>
                      <a:pPr algn="ctr"/>
                      <a:r>
                        <a:rPr lang="en-IN" sz="2000" b="1" dirty="0"/>
                        <a:t>YES</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000" b="1" dirty="0"/>
                        <a:t>YES</a:t>
                      </a:r>
                    </a:p>
                    <a:p>
                      <a:pPr algn="ctr"/>
                      <a:endParaRPr lang="en-IN" sz="20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000" b="1" dirty="0"/>
                        <a:t>YES</a:t>
                      </a:r>
                    </a:p>
                    <a:p>
                      <a:pPr algn="ctr"/>
                      <a:endParaRPr lang="en-IN" sz="20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prstClr val="black"/>
                          </a:solidFill>
                          <a:effectLst/>
                          <a:uLnTx/>
                          <a:uFillTx/>
                          <a:latin typeface="Century Gothic" panose="020B0502020202020204"/>
                          <a:ea typeface="+mn-ea"/>
                          <a:cs typeface="+mn-cs"/>
                        </a:rPr>
                        <a:t>YES</a:t>
                      </a:r>
                      <a:endParaRPr kumimoji="0" lang="en-IN" sz="2000" b="1" i="0" u="none" strike="noStrike" kern="1200" cap="none" spc="0" normalizeH="0" baseline="0" noProof="0" dirty="0">
                        <a:ln>
                          <a:noFill/>
                        </a:ln>
                        <a:solidFill>
                          <a:prstClr val="black"/>
                        </a:solidFill>
                        <a:effectLst/>
                        <a:uLnTx/>
                        <a:uFillTx/>
                        <a:latin typeface="Century Gothic" panose="020B0502020202020204"/>
                        <a:ea typeface="+mn-ea"/>
                        <a:cs typeface="+mn-cs"/>
                      </a:endParaRPr>
                    </a:p>
                  </a:txBody>
                  <a:tcPr/>
                </a:tc>
                <a:extLst>
                  <a:ext uri="{0D108BD9-81ED-4DB2-BD59-A6C34878D82A}">
                    <a16:rowId xmlns:a16="http://schemas.microsoft.com/office/drawing/2014/main" val="2503368301"/>
                  </a:ext>
                </a:extLst>
              </a:tr>
              <a:tr h="773408">
                <a:tc>
                  <a:txBody>
                    <a:bodyPr/>
                    <a:lstStyle/>
                    <a:p>
                      <a:r>
                        <a:rPr lang="en-IN" sz="2000" b="1" dirty="0"/>
                        <a:t>Same package</a:t>
                      </a:r>
                    </a:p>
                    <a:p>
                      <a:r>
                        <a:rPr lang="en-IN" sz="2000" b="1" dirty="0"/>
                        <a:t>Sub class</a:t>
                      </a:r>
                    </a:p>
                  </a:txBody>
                  <a:tcPr/>
                </a:tc>
                <a:tc>
                  <a:txBody>
                    <a:bodyPr/>
                    <a:lstStyle/>
                    <a:p>
                      <a:pPr algn="ctr"/>
                      <a:r>
                        <a:rPr lang="en-IN" sz="2000" b="1" dirty="0"/>
                        <a:t>NO</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000" b="1" dirty="0"/>
                        <a:t>YES</a:t>
                      </a:r>
                    </a:p>
                    <a:p>
                      <a:pPr algn="ctr"/>
                      <a:endParaRPr lang="en-IN" sz="20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000" b="1" dirty="0"/>
                        <a:t>YES</a:t>
                      </a:r>
                    </a:p>
                    <a:p>
                      <a:pPr algn="ctr"/>
                      <a:endParaRPr lang="en-IN" sz="20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prstClr val="black"/>
                          </a:solidFill>
                          <a:effectLst/>
                          <a:uLnTx/>
                          <a:uFillTx/>
                          <a:latin typeface="Century Gothic" panose="020B0502020202020204"/>
                          <a:ea typeface="+mn-ea"/>
                          <a:cs typeface="+mn-cs"/>
                        </a:rPr>
                        <a:t>YES</a:t>
                      </a:r>
                      <a:endParaRPr kumimoji="0" lang="en-IN" sz="2000" b="1" i="0" u="none" strike="noStrike" kern="1200" cap="none" spc="0" normalizeH="0" baseline="0" noProof="0" dirty="0">
                        <a:ln>
                          <a:noFill/>
                        </a:ln>
                        <a:solidFill>
                          <a:prstClr val="black"/>
                        </a:solidFill>
                        <a:effectLst/>
                        <a:uLnTx/>
                        <a:uFillTx/>
                        <a:latin typeface="Century Gothic" panose="020B0502020202020204"/>
                        <a:ea typeface="+mn-ea"/>
                        <a:cs typeface="+mn-cs"/>
                      </a:endParaRPr>
                    </a:p>
                  </a:txBody>
                  <a:tcPr/>
                </a:tc>
                <a:extLst>
                  <a:ext uri="{0D108BD9-81ED-4DB2-BD59-A6C34878D82A}">
                    <a16:rowId xmlns:a16="http://schemas.microsoft.com/office/drawing/2014/main" val="3473733456"/>
                  </a:ext>
                </a:extLst>
              </a:tr>
              <a:tr h="881851">
                <a:tc>
                  <a:txBody>
                    <a:bodyPr/>
                    <a:lstStyle/>
                    <a:p>
                      <a:r>
                        <a:rPr lang="en-IN" sz="2000" b="1" dirty="0"/>
                        <a:t>Same package non sub class</a:t>
                      </a:r>
                    </a:p>
                  </a:txBody>
                  <a:tcPr/>
                </a:tc>
                <a:tc>
                  <a:txBody>
                    <a:bodyPr/>
                    <a:lstStyle/>
                    <a:p>
                      <a:pPr algn="ctr"/>
                      <a:r>
                        <a:rPr lang="en-IN" sz="2000" b="1" dirty="0"/>
                        <a:t>NO</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000" b="1" dirty="0"/>
                        <a:t>YES</a:t>
                      </a:r>
                    </a:p>
                    <a:p>
                      <a:pPr algn="ctr"/>
                      <a:endParaRPr lang="en-IN" sz="20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000" b="1" dirty="0"/>
                        <a:t>YES</a:t>
                      </a:r>
                    </a:p>
                    <a:p>
                      <a:pPr algn="ctr"/>
                      <a:endParaRPr lang="en-IN" sz="20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Century Gothic" panose="020B0502020202020204"/>
                          <a:ea typeface="+mn-ea"/>
                          <a:cs typeface="+mn-cs"/>
                        </a:rPr>
                        <a:t>YES</a:t>
                      </a:r>
                    </a:p>
                  </a:txBody>
                  <a:tcPr/>
                </a:tc>
                <a:extLst>
                  <a:ext uri="{0D108BD9-81ED-4DB2-BD59-A6C34878D82A}">
                    <a16:rowId xmlns:a16="http://schemas.microsoft.com/office/drawing/2014/main" val="3287570860"/>
                  </a:ext>
                </a:extLst>
              </a:tr>
              <a:tr h="881851">
                <a:tc>
                  <a:txBody>
                    <a:bodyPr/>
                    <a:lstStyle/>
                    <a:p>
                      <a:r>
                        <a:rPr lang="en-IN" sz="2000" b="1" dirty="0"/>
                        <a:t>Different package</a:t>
                      </a:r>
                    </a:p>
                    <a:p>
                      <a:r>
                        <a:rPr lang="en-IN" sz="2000" b="1" dirty="0"/>
                        <a:t>Sub class</a:t>
                      </a:r>
                    </a:p>
                  </a:txBody>
                  <a:tcPr/>
                </a:tc>
                <a:tc>
                  <a:txBody>
                    <a:bodyPr/>
                    <a:lstStyle/>
                    <a:p>
                      <a:pPr algn="ctr"/>
                      <a:r>
                        <a:rPr lang="en-IN" sz="2000" b="1" dirty="0"/>
                        <a:t>NO</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000" b="1" dirty="0"/>
                        <a:t>NO</a:t>
                      </a:r>
                    </a:p>
                    <a:p>
                      <a:pPr algn="ctr"/>
                      <a:endParaRPr lang="en-IN" sz="20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000" b="1" dirty="0"/>
                        <a:t>YES</a:t>
                      </a:r>
                    </a:p>
                    <a:p>
                      <a:pPr algn="ctr"/>
                      <a:endParaRPr lang="en-IN" sz="20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Century Gothic" panose="020B0502020202020204"/>
                          <a:ea typeface="+mn-ea"/>
                          <a:cs typeface="+mn-cs"/>
                        </a:rPr>
                        <a:t>YES</a:t>
                      </a:r>
                    </a:p>
                  </a:txBody>
                  <a:tcPr/>
                </a:tc>
                <a:extLst>
                  <a:ext uri="{0D108BD9-81ED-4DB2-BD59-A6C34878D82A}">
                    <a16:rowId xmlns:a16="http://schemas.microsoft.com/office/drawing/2014/main" val="3632020710"/>
                  </a:ext>
                </a:extLst>
              </a:tr>
              <a:tr h="881851">
                <a:tc>
                  <a:txBody>
                    <a:bodyPr/>
                    <a:lstStyle/>
                    <a:p>
                      <a:r>
                        <a:rPr lang="en-IN" sz="2000" b="1" dirty="0"/>
                        <a:t>Different package</a:t>
                      </a:r>
                    </a:p>
                    <a:p>
                      <a:r>
                        <a:rPr lang="en-IN" sz="2000" b="1" dirty="0"/>
                        <a:t>Non subclass</a:t>
                      </a:r>
                    </a:p>
                  </a:txBody>
                  <a:tcPr/>
                </a:tc>
                <a:tc>
                  <a:txBody>
                    <a:bodyPr/>
                    <a:lstStyle/>
                    <a:p>
                      <a:pPr algn="ctr"/>
                      <a:r>
                        <a:rPr lang="en-IN" sz="2000" b="1" dirty="0"/>
                        <a:t>NO</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000" b="1" dirty="0"/>
                        <a:t>NO</a:t>
                      </a:r>
                    </a:p>
                    <a:p>
                      <a:pPr algn="ctr"/>
                      <a:endParaRPr lang="en-IN" sz="20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000" b="1" dirty="0"/>
                        <a:t>NO</a:t>
                      </a:r>
                    </a:p>
                    <a:p>
                      <a:pPr algn="ctr"/>
                      <a:endParaRPr lang="en-IN" sz="20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Century Gothic" panose="020B0502020202020204"/>
                          <a:ea typeface="+mn-ea"/>
                          <a:cs typeface="+mn-cs"/>
                        </a:rPr>
                        <a:t>YES</a:t>
                      </a:r>
                    </a:p>
                  </a:txBody>
                  <a:tcPr/>
                </a:tc>
                <a:extLst>
                  <a:ext uri="{0D108BD9-81ED-4DB2-BD59-A6C34878D82A}">
                    <a16:rowId xmlns:a16="http://schemas.microsoft.com/office/drawing/2014/main" val="4091956075"/>
                  </a:ext>
                </a:extLst>
              </a:tr>
            </a:tbl>
          </a:graphicData>
        </a:graphic>
      </p:graphicFrame>
    </p:spTree>
    <p:extLst>
      <p:ext uri="{BB962C8B-B14F-4D97-AF65-F5344CB8AC3E}">
        <p14:creationId xmlns:p14="http://schemas.microsoft.com/office/powerpoint/2010/main" val="3526393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B21F1-9656-2929-92D3-DA7E1A632166}"/>
              </a:ext>
            </a:extLst>
          </p:cNvPr>
          <p:cNvSpPr>
            <a:spLocks noGrp="1"/>
          </p:cNvSpPr>
          <p:nvPr>
            <p:ph type="title"/>
          </p:nvPr>
        </p:nvSpPr>
        <p:spPr>
          <a:xfrm>
            <a:off x="1589315" y="624110"/>
            <a:ext cx="9915298" cy="1280890"/>
          </a:xfrm>
        </p:spPr>
        <p:txBody>
          <a:bodyPr/>
          <a:lstStyle/>
          <a:p>
            <a:r>
              <a:rPr lang="en-IN" dirty="0"/>
              <a:t>A Superclass Variable Can Reference a Subclass Object</a:t>
            </a:r>
          </a:p>
        </p:txBody>
      </p:sp>
      <p:sp>
        <p:nvSpPr>
          <p:cNvPr id="3" name="Content Placeholder 2">
            <a:extLst>
              <a:ext uri="{FF2B5EF4-FFF2-40B4-BE49-F238E27FC236}">
                <a16:creationId xmlns:a16="http://schemas.microsoft.com/office/drawing/2014/main" id="{A2A878A0-0651-D433-CB35-18239E8FF4C0}"/>
              </a:ext>
            </a:extLst>
          </p:cNvPr>
          <p:cNvSpPr>
            <a:spLocks noGrp="1"/>
          </p:cNvSpPr>
          <p:nvPr>
            <p:ph idx="1"/>
          </p:nvPr>
        </p:nvSpPr>
        <p:spPr>
          <a:xfrm>
            <a:off x="1034143" y="1905000"/>
            <a:ext cx="10470469" cy="4328890"/>
          </a:xfrm>
        </p:spPr>
        <p:txBody>
          <a:bodyPr>
            <a:noAutofit/>
          </a:bodyPr>
          <a:lstStyle/>
          <a:p>
            <a:r>
              <a:rPr lang="en-IN" sz="2400" dirty="0"/>
              <a:t>A reference variable of a superclass can be assigned a reference to any subclass derived  from that superclass.</a:t>
            </a:r>
          </a:p>
          <a:p>
            <a:r>
              <a:rPr lang="en-IN" sz="2400" dirty="0"/>
              <a:t>It is important to understand that it is the type of the reference variable—not the type of the object that it refers to—that determines what members can be accessed. </a:t>
            </a:r>
          </a:p>
          <a:p>
            <a:r>
              <a:rPr lang="en-IN" sz="2400" dirty="0"/>
              <a:t>That is, when a reference to a subclass object is assigned to a superclass reference variable, you will have access only to those parts of the object defined by the superclass</a:t>
            </a:r>
          </a:p>
          <a:p>
            <a:endParaRPr lang="en-IN" sz="2400" dirty="0"/>
          </a:p>
        </p:txBody>
      </p:sp>
    </p:spTree>
    <p:extLst>
      <p:ext uri="{BB962C8B-B14F-4D97-AF65-F5344CB8AC3E}">
        <p14:creationId xmlns:p14="http://schemas.microsoft.com/office/powerpoint/2010/main" val="18593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5DA02-2340-83A5-36B5-A84500BC3D11}"/>
              </a:ext>
            </a:extLst>
          </p:cNvPr>
          <p:cNvSpPr>
            <a:spLocks noGrp="1"/>
          </p:cNvSpPr>
          <p:nvPr>
            <p:ph type="title"/>
          </p:nvPr>
        </p:nvSpPr>
        <p:spPr>
          <a:xfrm>
            <a:off x="1654629" y="624110"/>
            <a:ext cx="9849983" cy="1280890"/>
          </a:xfrm>
        </p:spPr>
        <p:txBody>
          <a:bodyPr>
            <a:normAutofit fontScale="90000"/>
          </a:bodyPr>
          <a:lstStyle/>
          <a:p>
            <a:pPr algn="l"/>
            <a:r>
              <a:rPr lang="en-IN" dirty="0"/>
              <a:t>Using super- </a:t>
            </a:r>
            <a:r>
              <a:rPr lang="en-IN" sz="2700" b="1" i="1" u="none" strike="noStrike" baseline="0" dirty="0">
                <a:solidFill>
                  <a:srgbClr val="C00000"/>
                </a:solidFill>
                <a:latin typeface="NewBaskervilleStd-Roman"/>
              </a:rPr>
              <a:t>Whenever a subclass needs to</a:t>
            </a:r>
            <a:br>
              <a:rPr lang="en-IN" sz="2700" b="1" i="1" u="none" strike="noStrike" baseline="0" dirty="0">
                <a:solidFill>
                  <a:srgbClr val="C00000"/>
                </a:solidFill>
                <a:latin typeface="NewBaskervilleStd-Roman"/>
              </a:rPr>
            </a:br>
            <a:r>
              <a:rPr lang="en-IN" sz="2700" b="1" i="1" u="none" strike="noStrike" baseline="0" dirty="0">
                <a:solidFill>
                  <a:srgbClr val="C00000"/>
                </a:solidFill>
                <a:latin typeface="NewBaskervilleStd-Roman"/>
              </a:rPr>
              <a:t>refer to its immediate superclass, it can do so by use of the keyword </a:t>
            </a:r>
            <a:r>
              <a:rPr lang="en-IN" sz="2700" b="1" i="1" u="none" strike="noStrike" baseline="0" dirty="0">
                <a:solidFill>
                  <a:srgbClr val="C00000"/>
                </a:solidFill>
                <a:latin typeface="NewBaskervilleStd-Bold"/>
              </a:rPr>
              <a:t>super</a:t>
            </a:r>
            <a:r>
              <a:rPr lang="en-IN" sz="2700" b="1" i="1" u="none" strike="noStrike" baseline="0" dirty="0">
                <a:solidFill>
                  <a:srgbClr val="C00000"/>
                </a:solidFill>
                <a:latin typeface="NewBaskervilleStd-Roman"/>
              </a:rPr>
              <a:t>.</a:t>
            </a:r>
            <a:endParaRPr lang="en-IN" sz="4900" b="1" i="1" dirty="0">
              <a:solidFill>
                <a:srgbClr val="C00000"/>
              </a:solidFill>
            </a:endParaRPr>
          </a:p>
        </p:txBody>
      </p:sp>
      <p:sp>
        <p:nvSpPr>
          <p:cNvPr id="3" name="Content Placeholder 2">
            <a:extLst>
              <a:ext uri="{FF2B5EF4-FFF2-40B4-BE49-F238E27FC236}">
                <a16:creationId xmlns:a16="http://schemas.microsoft.com/office/drawing/2014/main" id="{3008BC32-B6A7-1CE5-0321-79FD2150009F}"/>
              </a:ext>
            </a:extLst>
          </p:cNvPr>
          <p:cNvSpPr>
            <a:spLocks noGrp="1"/>
          </p:cNvSpPr>
          <p:nvPr>
            <p:ph idx="1"/>
          </p:nvPr>
        </p:nvSpPr>
        <p:spPr>
          <a:xfrm>
            <a:off x="1306286" y="1992086"/>
            <a:ext cx="10198326" cy="3919136"/>
          </a:xfrm>
        </p:spPr>
        <p:txBody>
          <a:bodyPr>
            <a:normAutofit/>
          </a:bodyPr>
          <a:lstStyle/>
          <a:p>
            <a:pPr algn="l"/>
            <a:r>
              <a:rPr lang="en-IN" sz="2800" i="0" u="none" strike="noStrike" baseline="0" dirty="0">
                <a:solidFill>
                  <a:srgbClr val="002060"/>
                </a:solidFill>
                <a:latin typeface="NewBaskervilleStd-Bold"/>
              </a:rPr>
              <a:t>super </a:t>
            </a:r>
            <a:r>
              <a:rPr lang="en-IN" sz="2800" i="0" u="none" strike="noStrike" baseline="0" dirty="0">
                <a:solidFill>
                  <a:srgbClr val="002060"/>
                </a:solidFill>
                <a:latin typeface="NewBaskervilleStd-Roman"/>
              </a:rPr>
              <a:t>has two general forms. </a:t>
            </a:r>
          </a:p>
          <a:p>
            <a:pPr marL="514350" indent="-514350" algn="l">
              <a:buFont typeface="+mj-lt"/>
              <a:buAutoNum type="arabicPeriod"/>
            </a:pPr>
            <a:r>
              <a:rPr lang="en-IN" sz="2800" i="0" u="none" strike="noStrike" baseline="0" dirty="0">
                <a:solidFill>
                  <a:srgbClr val="002060"/>
                </a:solidFill>
                <a:latin typeface="NewBaskervilleStd-Roman"/>
              </a:rPr>
              <a:t>The first calls the superclass’ constructor. </a:t>
            </a:r>
          </a:p>
          <a:p>
            <a:pPr marL="514350" indent="-514350" algn="l">
              <a:buFont typeface="+mj-lt"/>
              <a:buAutoNum type="arabicPeriod"/>
            </a:pPr>
            <a:r>
              <a:rPr lang="en-IN" sz="2800" i="0" u="none" strike="noStrike" baseline="0" dirty="0">
                <a:solidFill>
                  <a:srgbClr val="002060"/>
                </a:solidFill>
                <a:latin typeface="NewBaskervilleStd-Roman"/>
              </a:rPr>
              <a:t>The second is used to access a member of the superclass that has been hidden by a member of a subclass.</a:t>
            </a:r>
            <a:endParaRPr lang="en-IN" sz="2800" dirty="0">
              <a:solidFill>
                <a:srgbClr val="002060"/>
              </a:solidFill>
            </a:endParaRPr>
          </a:p>
        </p:txBody>
      </p:sp>
    </p:spTree>
    <p:extLst>
      <p:ext uri="{BB962C8B-B14F-4D97-AF65-F5344CB8AC3E}">
        <p14:creationId xmlns:p14="http://schemas.microsoft.com/office/powerpoint/2010/main" val="394194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C26A5-B8C7-4619-6753-3EAC350B5F4A}"/>
              </a:ext>
            </a:extLst>
          </p:cNvPr>
          <p:cNvSpPr>
            <a:spLocks noGrp="1"/>
          </p:cNvSpPr>
          <p:nvPr>
            <p:ph type="title"/>
          </p:nvPr>
        </p:nvSpPr>
        <p:spPr>
          <a:xfrm>
            <a:off x="1524001" y="624110"/>
            <a:ext cx="9980612" cy="1280890"/>
          </a:xfrm>
        </p:spPr>
        <p:txBody>
          <a:bodyPr/>
          <a:lstStyle/>
          <a:p>
            <a:r>
              <a:rPr lang="en-IN" b="1" dirty="0"/>
              <a:t>Using super to Call Superclass Constructors</a:t>
            </a:r>
          </a:p>
        </p:txBody>
      </p:sp>
      <p:sp>
        <p:nvSpPr>
          <p:cNvPr id="3" name="Content Placeholder 2">
            <a:extLst>
              <a:ext uri="{FF2B5EF4-FFF2-40B4-BE49-F238E27FC236}">
                <a16:creationId xmlns:a16="http://schemas.microsoft.com/office/drawing/2014/main" id="{B4A054A8-BFC6-5DED-405A-A56A822A6469}"/>
              </a:ext>
            </a:extLst>
          </p:cNvPr>
          <p:cNvSpPr>
            <a:spLocks noGrp="1"/>
          </p:cNvSpPr>
          <p:nvPr>
            <p:ph idx="1"/>
          </p:nvPr>
        </p:nvSpPr>
        <p:spPr>
          <a:xfrm>
            <a:off x="1240971" y="1730829"/>
            <a:ext cx="10874829" cy="4180393"/>
          </a:xfrm>
        </p:spPr>
        <p:txBody>
          <a:bodyPr>
            <a:normAutofit fontScale="92500"/>
          </a:bodyPr>
          <a:lstStyle/>
          <a:p>
            <a:pPr marL="0" indent="0" algn="l">
              <a:buNone/>
            </a:pPr>
            <a:r>
              <a:rPr lang="en-IN" sz="2800" b="0" i="0" u="none" strike="noStrike" baseline="0" dirty="0">
                <a:latin typeface="NewBaskervilleStd-Roman"/>
              </a:rPr>
              <a:t>A subclass can call a constructor defined by its superclass by use of the following form of</a:t>
            </a:r>
          </a:p>
          <a:p>
            <a:pPr marL="0" indent="0" algn="l">
              <a:buNone/>
            </a:pPr>
            <a:r>
              <a:rPr lang="en-IN" sz="2800" b="1" i="0" u="none" strike="noStrike" baseline="0" dirty="0">
                <a:latin typeface="NewBaskervilleStd-Bold"/>
              </a:rPr>
              <a:t>super</a:t>
            </a:r>
            <a:r>
              <a:rPr lang="en-IN" sz="2800" b="0" i="0" u="none" strike="noStrike" baseline="0" dirty="0">
                <a:latin typeface="NewBaskervilleStd-Roman"/>
              </a:rPr>
              <a:t>:</a:t>
            </a:r>
          </a:p>
          <a:p>
            <a:pPr marL="0" indent="0" algn="l">
              <a:buNone/>
            </a:pPr>
            <a:r>
              <a:rPr lang="en-IN" sz="2800" b="0" i="0" u="none" strike="noStrike" baseline="0" dirty="0">
                <a:latin typeface="NewBaskervilleStd-Roman"/>
              </a:rPr>
              <a:t>super(</a:t>
            </a:r>
            <a:r>
              <a:rPr lang="en-IN" sz="2800" b="0" i="1" u="none" strike="noStrike" baseline="0" dirty="0" err="1">
                <a:latin typeface="NewBaskervilleStd-Italic"/>
              </a:rPr>
              <a:t>arg</a:t>
            </a:r>
            <a:r>
              <a:rPr lang="en-IN" sz="2800" b="0" i="1" u="none" strike="noStrike" baseline="0" dirty="0">
                <a:latin typeface="NewBaskervilleStd-Italic"/>
              </a:rPr>
              <a:t>-list</a:t>
            </a:r>
            <a:r>
              <a:rPr lang="en-IN" sz="2800" b="0" i="0" u="none" strike="noStrike" baseline="0" dirty="0">
                <a:latin typeface="NewBaskervilleStd-Roman"/>
              </a:rPr>
              <a:t>);</a:t>
            </a:r>
          </a:p>
          <a:p>
            <a:pPr marL="0" indent="0" algn="l">
              <a:buNone/>
            </a:pPr>
            <a:r>
              <a:rPr lang="en-IN" sz="2800" b="0" i="0" u="none" strike="noStrike" baseline="0" dirty="0">
                <a:latin typeface="NewBaskervilleStd-Roman"/>
              </a:rPr>
              <a:t>Here, </a:t>
            </a:r>
            <a:r>
              <a:rPr lang="en-IN" sz="2800" b="0" i="1" u="none" strike="noStrike" baseline="0" dirty="0" err="1">
                <a:latin typeface="NewBaskervilleStd-Italic"/>
              </a:rPr>
              <a:t>arg</a:t>
            </a:r>
            <a:r>
              <a:rPr lang="en-IN" sz="2800" b="0" i="1" u="none" strike="noStrike" baseline="0" dirty="0">
                <a:latin typeface="NewBaskervilleStd-Italic"/>
              </a:rPr>
              <a:t>-list </a:t>
            </a:r>
            <a:r>
              <a:rPr lang="en-IN" sz="2800" b="0" i="0" u="none" strike="noStrike" baseline="0" dirty="0">
                <a:latin typeface="NewBaskervilleStd-Roman"/>
              </a:rPr>
              <a:t>specifies any arguments needed by the constructor in the superclass.</a:t>
            </a:r>
          </a:p>
          <a:p>
            <a:pPr marL="0" indent="0" algn="l">
              <a:buNone/>
            </a:pPr>
            <a:r>
              <a:rPr lang="en-IN" sz="2800" b="1" i="0" u="none" strike="noStrike" baseline="0" dirty="0">
                <a:latin typeface="NewBaskervilleStd-Bold"/>
              </a:rPr>
              <a:t>super( )</a:t>
            </a:r>
          </a:p>
          <a:p>
            <a:pPr marL="0" indent="0" algn="l">
              <a:buNone/>
            </a:pPr>
            <a:r>
              <a:rPr lang="en-IN" sz="2800" b="0" i="0" u="none" strike="noStrike" baseline="0" dirty="0">
                <a:latin typeface="NewBaskervilleStd-Roman"/>
              </a:rPr>
              <a:t>must always be the first statement executed inside a subclass’ constructor.</a:t>
            </a:r>
            <a:endParaRPr lang="en-IN" sz="2800" dirty="0"/>
          </a:p>
        </p:txBody>
      </p:sp>
    </p:spTree>
    <p:extLst>
      <p:ext uri="{BB962C8B-B14F-4D97-AF65-F5344CB8AC3E}">
        <p14:creationId xmlns:p14="http://schemas.microsoft.com/office/powerpoint/2010/main" val="4199132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EAE96-8511-C4EA-4C4A-30F27D362845}"/>
              </a:ext>
            </a:extLst>
          </p:cNvPr>
          <p:cNvSpPr>
            <a:spLocks noGrp="1"/>
          </p:cNvSpPr>
          <p:nvPr>
            <p:ph type="title"/>
          </p:nvPr>
        </p:nvSpPr>
        <p:spPr/>
        <p:txBody>
          <a:bodyPr/>
          <a:lstStyle/>
          <a:p>
            <a:r>
              <a:rPr lang="en-IN" dirty="0"/>
              <a:t>Using super</a:t>
            </a:r>
          </a:p>
        </p:txBody>
      </p:sp>
      <p:sp>
        <p:nvSpPr>
          <p:cNvPr id="3" name="Content Placeholder 2">
            <a:extLst>
              <a:ext uri="{FF2B5EF4-FFF2-40B4-BE49-F238E27FC236}">
                <a16:creationId xmlns:a16="http://schemas.microsoft.com/office/drawing/2014/main" id="{E8D5D724-3396-056E-5007-AAC48C24746C}"/>
              </a:ext>
            </a:extLst>
          </p:cNvPr>
          <p:cNvSpPr>
            <a:spLocks noGrp="1"/>
          </p:cNvSpPr>
          <p:nvPr>
            <p:ph idx="1"/>
          </p:nvPr>
        </p:nvSpPr>
        <p:spPr>
          <a:xfrm>
            <a:off x="1741715" y="1491343"/>
            <a:ext cx="10874828" cy="4419879"/>
          </a:xfrm>
        </p:spPr>
        <p:txBody>
          <a:bodyPr>
            <a:normAutofit fontScale="85000" lnSpcReduction="10000"/>
          </a:bodyPr>
          <a:lstStyle/>
          <a:p>
            <a:pPr marL="0" indent="0" algn="l">
              <a:buNone/>
            </a:pPr>
            <a:r>
              <a:rPr lang="en-IN" sz="2800" b="1" i="0" u="none" strike="noStrike" baseline="0" dirty="0">
                <a:latin typeface="CourierStd"/>
              </a:rPr>
              <a:t>class </a:t>
            </a:r>
            <a:r>
              <a:rPr lang="en-IN" sz="2800" b="1" i="0" u="none" strike="noStrike" baseline="0" dirty="0" err="1">
                <a:latin typeface="CourierStd"/>
              </a:rPr>
              <a:t>BoxWeight</a:t>
            </a:r>
            <a:r>
              <a:rPr lang="en-IN" sz="2800" b="1" i="0" u="none" strike="noStrike" baseline="0" dirty="0">
                <a:latin typeface="CourierStd"/>
              </a:rPr>
              <a:t> extends Box </a:t>
            </a:r>
          </a:p>
          <a:p>
            <a:pPr marL="0" indent="0" algn="l">
              <a:buNone/>
            </a:pPr>
            <a:r>
              <a:rPr lang="en-IN" sz="2800" b="1" i="0" u="none" strike="noStrike" baseline="0" dirty="0">
                <a:latin typeface="CourierStd"/>
              </a:rPr>
              <a:t>{</a:t>
            </a:r>
          </a:p>
          <a:p>
            <a:pPr marL="0" indent="0" algn="l">
              <a:buNone/>
            </a:pPr>
            <a:r>
              <a:rPr lang="en-IN" sz="2800" b="1" i="0" u="none" strike="noStrike" baseline="0" dirty="0">
                <a:latin typeface="CourierStd"/>
              </a:rPr>
              <a:t>	double weight; // weight of box</a:t>
            </a:r>
          </a:p>
          <a:p>
            <a:pPr marL="0" indent="0" algn="l">
              <a:buNone/>
            </a:pPr>
            <a:r>
              <a:rPr lang="en-IN" sz="2800" b="1" i="0" u="none" strike="noStrike" baseline="0" dirty="0">
                <a:latin typeface="CourierStd"/>
              </a:rPr>
              <a:t>	// initialize width, height, and depth using 	super()</a:t>
            </a:r>
          </a:p>
          <a:p>
            <a:pPr marL="0" indent="0" algn="l">
              <a:buNone/>
            </a:pPr>
            <a:r>
              <a:rPr lang="en-IN" sz="2800" b="1" i="0" u="none" strike="noStrike" baseline="0" dirty="0">
                <a:latin typeface="CourierStd"/>
              </a:rPr>
              <a:t>	</a:t>
            </a:r>
            <a:r>
              <a:rPr lang="en-IN" sz="2800" b="1" i="0" u="none" strike="noStrike" baseline="0" dirty="0" err="1">
                <a:latin typeface="CourierStd"/>
              </a:rPr>
              <a:t>BoxWeight</a:t>
            </a:r>
            <a:r>
              <a:rPr lang="en-IN" sz="2800" b="1" i="0" u="none" strike="noStrike" baseline="0" dirty="0">
                <a:latin typeface="CourierStd"/>
              </a:rPr>
              <a:t>(double w, double h, double d, double m)</a:t>
            </a:r>
          </a:p>
          <a:p>
            <a:pPr marL="0" indent="0" algn="l">
              <a:buNone/>
            </a:pPr>
            <a:r>
              <a:rPr lang="en-IN" sz="2800" b="1" i="0" u="none" strike="noStrike" baseline="0" dirty="0">
                <a:latin typeface="CourierStd"/>
              </a:rPr>
              <a:t>  {  		super(w, h, d); // call superclass constructor</a:t>
            </a:r>
          </a:p>
          <a:p>
            <a:pPr marL="0" indent="0" algn="l">
              <a:buNone/>
            </a:pPr>
            <a:r>
              <a:rPr lang="en-IN" sz="2800" b="1" i="0" u="none" strike="noStrike" baseline="0" dirty="0">
                <a:latin typeface="CourierStd"/>
              </a:rPr>
              <a:t>			weight = m;</a:t>
            </a:r>
          </a:p>
          <a:p>
            <a:pPr marL="0" indent="0" algn="l">
              <a:buNone/>
            </a:pPr>
            <a:r>
              <a:rPr lang="en-IN" sz="2800" b="1" i="0" u="none" strike="noStrike" baseline="0" dirty="0">
                <a:latin typeface="CourierStd"/>
              </a:rPr>
              <a:t>	}</a:t>
            </a:r>
          </a:p>
          <a:p>
            <a:pPr marL="0" indent="0" algn="l">
              <a:buNone/>
            </a:pPr>
            <a:r>
              <a:rPr lang="en-IN" sz="2800" b="1" i="0" u="none" strike="noStrike" baseline="0" dirty="0">
                <a:latin typeface="CourierStd"/>
              </a:rPr>
              <a:t>}</a:t>
            </a:r>
            <a:endParaRPr lang="en-IN" sz="2800" b="1" dirty="0"/>
          </a:p>
        </p:txBody>
      </p:sp>
    </p:spTree>
    <p:extLst>
      <p:ext uri="{BB962C8B-B14F-4D97-AF65-F5344CB8AC3E}">
        <p14:creationId xmlns:p14="http://schemas.microsoft.com/office/powerpoint/2010/main" val="4012829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2E7ED-6D58-6DC3-3D6D-C8217DC8A978}"/>
              </a:ext>
            </a:extLst>
          </p:cNvPr>
          <p:cNvSpPr>
            <a:spLocks noGrp="1"/>
          </p:cNvSpPr>
          <p:nvPr>
            <p:ph type="title"/>
          </p:nvPr>
        </p:nvSpPr>
        <p:spPr/>
        <p:txBody>
          <a:bodyPr/>
          <a:lstStyle/>
          <a:p>
            <a:r>
              <a:rPr lang="en-IN" dirty="0"/>
              <a:t>Program example</a:t>
            </a:r>
          </a:p>
        </p:txBody>
      </p:sp>
      <p:sp>
        <p:nvSpPr>
          <p:cNvPr id="3" name="Content Placeholder 2">
            <a:extLst>
              <a:ext uri="{FF2B5EF4-FFF2-40B4-BE49-F238E27FC236}">
                <a16:creationId xmlns:a16="http://schemas.microsoft.com/office/drawing/2014/main" id="{511652EB-5329-2F3C-910B-20BCD3F6D4B1}"/>
              </a:ext>
            </a:extLst>
          </p:cNvPr>
          <p:cNvSpPr>
            <a:spLocks noGrp="1"/>
          </p:cNvSpPr>
          <p:nvPr>
            <p:ph idx="1"/>
          </p:nvPr>
        </p:nvSpPr>
        <p:spPr/>
        <p:txBody>
          <a:bodyPr/>
          <a:lstStyle/>
          <a:p>
            <a:r>
              <a:rPr lang="en-IN" dirty="0">
                <a:hlinkClick r:id="rId2" action="ppaction://hlinkfile"/>
              </a:rPr>
              <a:t>Program example</a:t>
            </a:r>
            <a:endParaRPr lang="en-IN" dirty="0"/>
          </a:p>
        </p:txBody>
      </p:sp>
    </p:spTree>
    <p:extLst>
      <p:ext uri="{BB962C8B-B14F-4D97-AF65-F5344CB8AC3E}">
        <p14:creationId xmlns:p14="http://schemas.microsoft.com/office/powerpoint/2010/main" val="2958921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22311-04C7-9241-D684-CC3303DBE236}"/>
              </a:ext>
            </a:extLst>
          </p:cNvPr>
          <p:cNvSpPr>
            <a:spLocks noGrp="1"/>
          </p:cNvSpPr>
          <p:nvPr>
            <p:ph type="title"/>
          </p:nvPr>
        </p:nvSpPr>
        <p:spPr>
          <a:xfrm>
            <a:off x="1819927" y="209331"/>
            <a:ext cx="8911687" cy="1280890"/>
          </a:xfrm>
        </p:spPr>
        <p:txBody>
          <a:bodyPr/>
          <a:lstStyle/>
          <a:p>
            <a:r>
              <a:rPr lang="en-IN" dirty="0"/>
              <a:t>A Second Use for super</a:t>
            </a:r>
          </a:p>
        </p:txBody>
      </p:sp>
      <p:sp>
        <p:nvSpPr>
          <p:cNvPr id="3" name="Content Placeholder 2">
            <a:extLst>
              <a:ext uri="{FF2B5EF4-FFF2-40B4-BE49-F238E27FC236}">
                <a16:creationId xmlns:a16="http://schemas.microsoft.com/office/drawing/2014/main" id="{DB749241-E86F-11FF-419E-8C2464908D07}"/>
              </a:ext>
            </a:extLst>
          </p:cNvPr>
          <p:cNvSpPr>
            <a:spLocks noGrp="1"/>
          </p:cNvSpPr>
          <p:nvPr>
            <p:ph idx="1"/>
          </p:nvPr>
        </p:nvSpPr>
        <p:spPr>
          <a:xfrm>
            <a:off x="1687398" y="1027522"/>
            <a:ext cx="9817214" cy="4883700"/>
          </a:xfrm>
        </p:spPr>
        <p:txBody>
          <a:bodyPr>
            <a:normAutofit/>
          </a:bodyPr>
          <a:lstStyle/>
          <a:p>
            <a:pPr algn="l"/>
            <a:r>
              <a:rPr lang="en-IN" sz="2800" b="0" i="0" u="none" strike="noStrike" baseline="0" dirty="0">
                <a:latin typeface="NewBaskervilleStd-Roman"/>
              </a:rPr>
              <a:t>The second form of </a:t>
            </a:r>
            <a:r>
              <a:rPr lang="en-IN" sz="2800" b="1" i="0" u="none" strike="noStrike" baseline="0" dirty="0">
                <a:latin typeface="NewBaskervilleStd-Bold"/>
              </a:rPr>
              <a:t>super </a:t>
            </a:r>
            <a:r>
              <a:rPr lang="en-IN" sz="2800" b="0" i="0" u="none" strike="noStrike" baseline="0" dirty="0">
                <a:latin typeface="NewBaskervilleStd-Roman"/>
              </a:rPr>
              <a:t>acts somewhat like </a:t>
            </a:r>
            <a:r>
              <a:rPr lang="en-IN" sz="2800" b="1" i="0" u="none" strike="noStrike" baseline="0" dirty="0">
                <a:latin typeface="NewBaskervilleStd-Bold"/>
              </a:rPr>
              <a:t>this</a:t>
            </a:r>
            <a:r>
              <a:rPr lang="en-IN" sz="2800" b="0" i="0" u="none" strike="noStrike" baseline="0" dirty="0">
                <a:latin typeface="NewBaskervilleStd-Roman"/>
              </a:rPr>
              <a:t>, except that it always refers to the superclass of the subclass in which it is used. This usage has the following general form:</a:t>
            </a:r>
          </a:p>
          <a:p>
            <a:pPr marL="0" indent="0" algn="l">
              <a:buNone/>
            </a:pPr>
            <a:r>
              <a:rPr lang="en-IN" sz="2800" b="0" i="0" u="none" strike="noStrike" baseline="0" dirty="0">
                <a:latin typeface="NewBaskervilleStd-Roman"/>
              </a:rPr>
              <a:t>    </a:t>
            </a:r>
            <a:r>
              <a:rPr lang="en-IN" sz="2800" b="0" i="0" u="none" strike="noStrike" baseline="0" dirty="0" err="1">
                <a:latin typeface="NewBaskervilleStd-Roman"/>
              </a:rPr>
              <a:t>super.</a:t>
            </a:r>
            <a:r>
              <a:rPr lang="en-IN" sz="2800" b="0" i="1" u="none" strike="noStrike" baseline="0" dirty="0" err="1">
                <a:latin typeface="NewBaskervilleStd-Italic"/>
              </a:rPr>
              <a:t>member</a:t>
            </a:r>
            <a:endParaRPr lang="en-IN" sz="2800" b="0" i="1" u="none" strike="noStrike" baseline="0" dirty="0">
              <a:latin typeface="NewBaskervilleStd-Italic"/>
            </a:endParaRPr>
          </a:p>
          <a:p>
            <a:pPr algn="l"/>
            <a:r>
              <a:rPr lang="en-IN" sz="2800" b="0" i="0" u="none" strike="noStrike" baseline="0" dirty="0">
                <a:latin typeface="NewBaskervilleStd-Roman"/>
              </a:rPr>
              <a:t>Here, </a:t>
            </a:r>
            <a:r>
              <a:rPr lang="en-IN" sz="2800" b="0" i="1" u="none" strike="noStrike" baseline="0" dirty="0">
                <a:latin typeface="NewBaskervilleStd-Italic"/>
              </a:rPr>
              <a:t>member </a:t>
            </a:r>
            <a:r>
              <a:rPr lang="en-IN" sz="2800" b="0" i="0" u="none" strike="noStrike" baseline="0" dirty="0">
                <a:latin typeface="NewBaskervilleStd-Roman"/>
              </a:rPr>
              <a:t>can be either a method or an instance variable.</a:t>
            </a:r>
          </a:p>
          <a:p>
            <a:pPr algn="l"/>
            <a:r>
              <a:rPr lang="en-IN" sz="2800" b="0" i="0" u="none" strike="noStrike" baseline="0" dirty="0">
                <a:latin typeface="NewBaskervilleStd-Roman"/>
              </a:rPr>
              <a:t>This second form of </a:t>
            </a:r>
            <a:r>
              <a:rPr lang="en-IN" sz="2800" b="1" i="0" u="none" strike="noStrike" baseline="0" dirty="0">
                <a:latin typeface="NewBaskervilleStd-Bold"/>
              </a:rPr>
              <a:t>super </a:t>
            </a:r>
            <a:r>
              <a:rPr lang="en-IN" sz="2800" b="0" i="0" u="none" strike="noStrike" baseline="0" dirty="0">
                <a:latin typeface="NewBaskervilleStd-Roman"/>
              </a:rPr>
              <a:t>is most applicable to situations in which member names of a subclass hide members by the same name in the superclass.</a:t>
            </a:r>
          </a:p>
        </p:txBody>
      </p:sp>
    </p:spTree>
    <p:extLst>
      <p:ext uri="{BB962C8B-B14F-4D97-AF65-F5344CB8AC3E}">
        <p14:creationId xmlns:p14="http://schemas.microsoft.com/office/powerpoint/2010/main" val="2913163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06CA4-59A6-44BB-7756-BA559971396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77A55A2-425E-B49F-E4E0-13A9448CD5F1}"/>
              </a:ext>
            </a:extLst>
          </p:cNvPr>
          <p:cNvSpPr>
            <a:spLocks noGrp="1"/>
          </p:cNvSpPr>
          <p:nvPr>
            <p:ph idx="1"/>
          </p:nvPr>
        </p:nvSpPr>
        <p:spPr/>
        <p:txBody>
          <a:bodyPr>
            <a:normAutofit/>
          </a:bodyPr>
          <a:lstStyle/>
          <a:p>
            <a:pPr marL="0" indent="0" algn="l">
              <a:buNone/>
            </a:pPr>
            <a:r>
              <a:rPr lang="en-IN" sz="2400" b="1" i="0" u="none" strike="noStrike" baseline="0" dirty="0">
                <a:latin typeface="CourierStd"/>
              </a:rPr>
              <a:t>// Using super to overcome name hiding.</a:t>
            </a:r>
          </a:p>
          <a:p>
            <a:pPr marL="0" indent="0" algn="l">
              <a:buNone/>
            </a:pPr>
            <a:r>
              <a:rPr lang="en-IN" sz="2400" b="1" i="0" u="none" strike="noStrike" baseline="0" dirty="0">
                <a:latin typeface="CourierStd"/>
              </a:rPr>
              <a:t>class A {</a:t>
            </a:r>
          </a:p>
          <a:p>
            <a:pPr marL="0" indent="0" algn="l">
              <a:buNone/>
            </a:pPr>
            <a:r>
              <a:rPr lang="en-IN" sz="2400" b="1" i="0" u="none" strike="noStrike" baseline="0" dirty="0">
                <a:latin typeface="CourierStd"/>
              </a:rPr>
              <a:t>int </a:t>
            </a:r>
            <a:r>
              <a:rPr lang="en-IN" sz="2400" b="1" i="0" u="none" strike="noStrike" baseline="0" dirty="0" err="1">
                <a:latin typeface="CourierStd"/>
              </a:rPr>
              <a:t>i</a:t>
            </a:r>
            <a:r>
              <a:rPr lang="en-IN" sz="2400" b="1" i="0" u="none" strike="noStrike" baseline="0" dirty="0">
                <a:latin typeface="CourierStd"/>
              </a:rPr>
              <a:t>;</a:t>
            </a:r>
          </a:p>
          <a:p>
            <a:pPr marL="0" indent="0" algn="l">
              <a:buNone/>
            </a:pPr>
            <a:r>
              <a:rPr lang="en-IN" sz="2400" b="1" i="0" u="none" strike="noStrike" baseline="0" dirty="0">
                <a:latin typeface="CourierStd"/>
              </a:rPr>
              <a:t>}</a:t>
            </a:r>
          </a:p>
          <a:p>
            <a:pPr marL="0" indent="0" algn="l">
              <a:buNone/>
            </a:pPr>
            <a:r>
              <a:rPr lang="en-IN" sz="2400" b="1" i="0" u="none" strike="noStrike" baseline="0" dirty="0">
                <a:latin typeface="CourierStd"/>
              </a:rPr>
              <a:t>// Create a subclass by extending class A.</a:t>
            </a:r>
          </a:p>
          <a:p>
            <a:pPr marL="0" indent="0" algn="l">
              <a:buNone/>
            </a:pPr>
            <a:endParaRPr lang="en-IN" sz="2400" b="1" dirty="0"/>
          </a:p>
        </p:txBody>
      </p:sp>
    </p:spTree>
    <p:extLst>
      <p:ext uri="{BB962C8B-B14F-4D97-AF65-F5344CB8AC3E}">
        <p14:creationId xmlns:p14="http://schemas.microsoft.com/office/powerpoint/2010/main" val="2688484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591F32-F1C2-8824-DEF0-A15A4EC091CE}"/>
              </a:ext>
            </a:extLst>
          </p:cNvPr>
          <p:cNvSpPr>
            <a:spLocks noGrp="1"/>
          </p:cNvSpPr>
          <p:nvPr>
            <p:ph idx="1"/>
          </p:nvPr>
        </p:nvSpPr>
        <p:spPr>
          <a:xfrm>
            <a:off x="2589211" y="87086"/>
            <a:ext cx="9428617" cy="7228114"/>
          </a:xfrm>
        </p:spPr>
        <p:txBody>
          <a:bodyPr>
            <a:normAutofit/>
          </a:bodyPr>
          <a:lstStyle/>
          <a:p>
            <a:pPr marL="0" indent="0" algn="l">
              <a:buNone/>
            </a:pPr>
            <a:r>
              <a:rPr lang="en-IN" sz="1800" b="1" i="0" u="none" strike="noStrike" baseline="0" dirty="0">
                <a:latin typeface="CourierStd"/>
              </a:rPr>
              <a:t>class B extends A {</a:t>
            </a:r>
          </a:p>
          <a:p>
            <a:pPr marL="0" indent="0" algn="l">
              <a:buNone/>
            </a:pPr>
            <a:r>
              <a:rPr lang="en-IN" sz="1800" b="1" i="0" u="none" strike="noStrike" baseline="0" dirty="0">
                <a:latin typeface="CourierStd"/>
              </a:rPr>
              <a:t>int </a:t>
            </a:r>
            <a:r>
              <a:rPr lang="en-IN" sz="1800" b="1" i="0" u="none" strike="noStrike" baseline="0" dirty="0" err="1">
                <a:latin typeface="CourierStd"/>
              </a:rPr>
              <a:t>i</a:t>
            </a:r>
            <a:r>
              <a:rPr lang="en-IN" sz="1800" b="1" i="0" u="none" strike="noStrike" baseline="0" dirty="0">
                <a:latin typeface="CourierStd"/>
              </a:rPr>
              <a:t>; // this </a:t>
            </a:r>
            <a:r>
              <a:rPr lang="en-IN" sz="1800" b="1" i="0" u="none" strike="noStrike" baseline="0" dirty="0" err="1">
                <a:latin typeface="CourierStd"/>
              </a:rPr>
              <a:t>i</a:t>
            </a:r>
            <a:r>
              <a:rPr lang="en-IN" sz="1800" b="1" i="0" u="none" strike="noStrike" baseline="0" dirty="0">
                <a:latin typeface="CourierStd"/>
              </a:rPr>
              <a:t> hides the </a:t>
            </a:r>
            <a:r>
              <a:rPr lang="en-IN" sz="1800" b="1" i="0" u="none" strike="noStrike" baseline="0" dirty="0" err="1">
                <a:latin typeface="CourierStd"/>
              </a:rPr>
              <a:t>i</a:t>
            </a:r>
            <a:r>
              <a:rPr lang="en-IN" sz="1800" b="1" i="0" u="none" strike="noStrike" baseline="0" dirty="0">
                <a:latin typeface="CourierStd"/>
              </a:rPr>
              <a:t> in A</a:t>
            </a:r>
          </a:p>
          <a:p>
            <a:pPr marL="0" indent="0" algn="l">
              <a:buNone/>
            </a:pPr>
            <a:r>
              <a:rPr lang="en-IN" sz="1800" b="1" i="0" u="none" strike="noStrike" baseline="0" dirty="0">
                <a:latin typeface="CourierStd"/>
              </a:rPr>
              <a:t>B(int a, int b) {</a:t>
            </a:r>
          </a:p>
          <a:p>
            <a:pPr marL="0" indent="0" algn="l">
              <a:buNone/>
            </a:pPr>
            <a:r>
              <a:rPr lang="it-IT" sz="1800" b="1" i="0" u="none" strike="noStrike" baseline="0" dirty="0" err="1">
                <a:latin typeface="CourierStd"/>
              </a:rPr>
              <a:t>super.i</a:t>
            </a:r>
            <a:r>
              <a:rPr lang="it-IT" sz="1800" b="1" i="0" u="none" strike="noStrike" baseline="0" dirty="0">
                <a:latin typeface="CourierStd"/>
              </a:rPr>
              <a:t> = a; // i in A</a:t>
            </a:r>
          </a:p>
          <a:p>
            <a:pPr marL="0" indent="0" algn="l">
              <a:buNone/>
            </a:pPr>
            <a:r>
              <a:rPr lang="it-IT" sz="1800" b="1" i="0" u="none" strike="noStrike" baseline="0" dirty="0">
                <a:latin typeface="CourierStd"/>
              </a:rPr>
              <a:t>i = b; // i in B</a:t>
            </a:r>
          </a:p>
          <a:p>
            <a:pPr marL="0" indent="0" algn="l">
              <a:buNone/>
            </a:pPr>
            <a:r>
              <a:rPr lang="en-IN" sz="1800" b="1" i="0" u="none" strike="noStrike" baseline="0" dirty="0">
                <a:latin typeface="CourierStd"/>
              </a:rPr>
              <a:t>}</a:t>
            </a:r>
          </a:p>
          <a:p>
            <a:pPr marL="0" indent="0" algn="l">
              <a:buNone/>
            </a:pPr>
            <a:r>
              <a:rPr lang="en-IN" sz="1800" b="1" i="0" u="none" strike="noStrike" baseline="0" dirty="0">
                <a:latin typeface="CourierStd"/>
              </a:rPr>
              <a:t>void show() {</a:t>
            </a:r>
          </a:p>
          <a:p>
            <a:pPr marL="0" indent="0" algn="l">
              <a:buNone/>
            </a:pPr>
            <a:r>
              <a:rPr lang="en-IN" sz="1800" b="1" i="0" u="none" strike="noStrike" baseline="0" dirty="0" err="1">
                <a:latin typeface="CourierStd"/>
              </a:rPr>
              <a:t>System.out.println</a:t>
            </a:r>
            <a:r>
              <a:rPr lang="en-IN" sz="1800" b="1" i="0" u="none" strike="noStrike" baseline="0" dirty="0">
                <a:latin typeface="CourierStd"/>
              </a:rPr>
              <a:t>("</a:t>
            </a:r>
            <a:r>
              <a:rPr lang="en-IN" sz="1800" b="1" i="0" u="none" strike="noStrike" baseline="0" dirty="0" err="1">
                <a:latin typeface="CourierStd"/>
              </a:rPr>
              <a:t>i</a:t>
            </a:r>
            <a:r>
              <a:rPr lang="en-IN" sz="1800" b="1" i="0" u="none" strike="noStrike" baseline="0" dirty="0">
                <a:latin typeface="CourierStd"/>
              </a:rPr>
              <a:t> in superclass: " + </a:t>
            </a:r>
            <a:r>
              <a:rPr lang="en-IN" sz="1800" b="1" i="0" u="none" strike="noStrike" baseline="0" dirty="0" err="1">
                <a:latin typeface="CourierStd"/>
              </a:rPr>
              <a:t>super.i</a:t>
            </a:r>
            <a:r>
              <a:rPr lang="en-IN" sz="1800" b="1" i="0" u="none" strike="noStrike" baseline="0" dirty="0">
                <a:latin typeface="CourierStd"/>
              </a:rPr>
              <a:t>);</a:t>
            </a:r>
          </a:p>
          <a:p>
            <a:pPr marL="0" indent="0" algn="l">
              <a:buNone/>
            </a:pPr>
            <a:r>
              <a:rPr lang="en-IN" sz="1800" b="1" i="0" u="none" strike="noStrike" baseline="0" dirty="0" err="1">
                <a:latin typeface="CourierStd"/>
              </a:rPr>
              <a:t>System.out.println</a:t>
            </a:r>
            <a:r>
              <a:rPr lang="en-IN" sz="1800" b="1" i="0" u="none" strike="noStrike" baseline="0" dirty="0">
                <a:latin typeface="CourierStd"/>
              </a:rPr>
              <a:t>("</a:t>
            </a:r>
            <a:r>
              <a:rPr lang="en-IN" sz="1800" b="1" i="0" u="none" strike="noStrike" baseline="0" dirty="0" err="1">
                <a:latin typeface="CourierStd"/>
              </a:rPr>
              <a:t>i</a:t>
            </a:r>
            <a:r>
              <a:rPr lang="en-IN" sz="1800" b="1" i="0" u="none" strike="noStrike" baseline="0" dirty="0">
                <a:latin typeface="CourierStd"/>
              </a:rPr>
              <a:t> in subclass: " + </a:t>
            </a:r>
            <a:r>
              <a:rPr lang="en-IN" sz="1800" b="1" i="0" u="none" strike="noStrike" baseline="0" dirty="0" err="1">
                <a:latin typeface="CourierStd"/>
              </a:rPr>
              <a:t>i</a:t>
            </a:r>
            <a:r>
              <a:rPr lang="en-IN" sz="1800" b="1" i="0" u="none" strike="noStrike" baseline="0" dirty="0">
                <a:latin typeface="CourierStd"/>
              </a:rPr>
              <a:t>);</a:t>
            </a:r>
          </a:p>
          <a:p>
            <a:pPr marL="0" indent="0" algn="l">
              <a:buNone/>
            </a:pPr>
            <a:r>
              <a:rPr lang="en-IN" sz="1800" b="1" i="0" u="none" strike="noStrike" baseline="0" dirty="0">
                <a:latin typeface="CourierStd"/>
              </a:rPr>
              <a:t>}</a:t>
            </a:r>
          </a:p>
          <a:p>
            <a:pPr marL="0" indent="0" algn="l">
              <a:buNone/>
            </a:pPr>
            <a:r>
              <a:rPr lang="en-IN" sz="1800" b="1" i="0" u="none" strike="noStrike" baseline="0" dirty="0">
                <a:latin typeface="CourierStd"/>
              </a:rPr>
              <a:t>}</a:t>
            </a:r>
          </a:p>
          <a:p>
            <a:pPr marL="0" indent="0" algn="l">
              <a:buNone/>
            </a:pPr>
            <a:r>
              <a:rPr lang="en-IN" sz="1800" b="1" i="0" u="none" strike="noStrike" baseline="0" dirty="0">
                <a:latin typeface="CourierStd"/>
              </a:rPr>
              <a:t>class </a:t>
            </a:r>
            <a:r>
              <a:rPr lang="en-IN" sz="1800" b="1" i="0" u="none" strike="noStrike" baseline="0" dirty="0" err="1">
                <a:latin typeface="CourierStd"/>
              </a:rPr>
              <a:t>UseSuper</a:t>
            </a:r>
            <a:r>
              <a:rPr lang="en-IN" sz="1800" b="1" i="0" u="none" strike="noStrike" baseline="0" dirty="0">
                <a:latin typeface="CourierStd"/>
              </a:rPr>
              <a:t> {</a:t>
            </a:r>
          </a:p>
          <a:p>
            <a:pPr marL="0" indent="0" algn="l">
              <a:buNone/>
            </a:pPr>
            <a:r>
              <a:rPr lang="en-IN" sz="1800" b="1" i="0" u="none" strike="noStrike" baseline="0" dirty="0">
                <a:latin typeface="CourierStd"/>
              </a:rPr>
              <a:t>public static void main(String </a:t>
            </a:r>
            <a:r>
              <a:rPr lang="en-IN" sz="1800" b="1" i="0" u="none" strike="noStrike" baseline="0" dirty="0" err="1">
                <a:latin typeface="CourierStd"/>
              </a:rPr>
              <a:t>args</a:t>
            </a:r>
            <a:r>
              <a:rPr lang="en-IN" sz="1800" b="1" i="0" u="none" strike="noStrike" baseline="0" dirty="0">
                <a:latin typeface="CourierStd"/>
              </a:rPr>
              <a:t>[]) {</a:t>
            </a:r>
          </a:p>
          <a:p>
            <a:pPr marL="0" indent="0" algn="l">
              <a:buNone/>
            </a:pPr>
            <a:r>
              <a:rPr lang="en-IN" sz="1800" b="1" i="0" u="none" strike="noStrike" baseline="0" dirty="0">
                <a:latin typeface="CourierStd"/>
              </a:rPr>
              <a:t>B </a:t>
            </a:r>
            <a:r>
              <a:rPr lang="en-IN" sz="1800" b="1" i="0" u="none" strike="noStrike" baseline="0" dirty="0" err="1">
                <a:latin typeface="CourierStd"/>
              </a:rPr>
              <a:t>subOb</a:t>
            </a:r>
            <a:r>
              <a:rPr lang="en-IN" sz="1800" b="1" i="0" u="none" strike="noStrike" baseline="0" dirty="0">
                <a:latin typeface="CourierStd"/>
              </a:rPr>
              <a:t> = new B(1, 2);</a:t>
            </a:r>
          </a:p>
          <a:p>
            <a:pPr marL="0" indent="0" algn="l">
              <a:buNone/>
            </a:pPr>
            <a:r>
              <a:rPr lang="en-IN" sz="1800" b="1" i="0" u="none" strike="noStrike" baseline="0" dirty="0" err="1">
                <a:latin typeface="CourierStd"/>
              </a:rPr>
              <a:t>subOb.show</a:t>
            </a:r>
            <a:r>
              <a:rPr lang="en-IN" sz="1800" b="1" i="0" u="none" strike="noStrike" baseline="0" dirty="0">
                <a:latin typeface="CourierStd"/>
              </a:rPr>
              <a:t>();</a:t>
            </a:r>
          </a:p>
          <a:p>
            <a:pPr marL="0" indent="0" algn="l">
              <a:buNone/>
            </a:pPr>
            <a:r>
              <a:rPr lang="en-IN" sz="1800" b="1" i="0" u="none" strike="noStrike" baseline="0" dirty="0">
                <a:latin typeface="CourierStd"/>
              </a:rPr>
              <a:t>}</a:t>
            </a:r>
          </a:p>
          <a:p>
            <a:pPr marL="0" indent="0" algn="l">
              <a:buNone/>
            </a:pPr>
            <a:r>
              <a:rPr lang="en-IN" sz="1800" b="1" i="0" u="none" strike="noStrike" baseline="0" dirty="0">
                <a:latin typeface="CourierStd"/>
              </a:rPr>
              <a:t>}</a:t>
            </a:r>
            <a:endParaRPr lang="en-IN" b="1" dirty="0"/>
          </a:p>
        </p:txBody>
      </p:sp>
    </p:spTree>
    <p:extLst>
      <p:ext uri="{BB962C8B-B14F-4D97-AF65-F5344CB8AC3E}">
        <p14:creationId xmlns:p14="http://schemas.microsoft.com/office/powerpoint/2010/main" val="2492633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413E4-553C-3087-F665-DC9C29AF0AD2}"/>
              </a:ext>
            </a:extLst>
          </p:cNvPr>
          <p:cNvSpPr>
            <a:spLocks noGrp="1"/>
          </p:cNvSpPr>
          <p:nvPr>
            <p:ph type="title"/>
          </p:nvPr>
        </p:nvSpPr>
        <p:spPr/>
        <p:txBody>
          <a:bodyPr/>
          <a:lstStyle/>
          <a:p>
            <a:r>
              <a:rPr lang="en-IN" dirty="0"/>
              <a:t>Dynamic Dispatch Method</a:t>
            </a:r>
            <a:br>
              <a:rPr lang="en-IN" dirty="0"/>
            </a:br>
            <a:endParaRPr lang="en-IN" dirty="0"/>
          </a:p>
        </p:txBody>
      </p:sp>
      <p:sp>
        <p:nvSpPr>
          <p:cNvPr id="3" name="Content Placeholder 2">
            <a:extLst>
              <a:ext uri="{FF2B5EF4-FFF2-40B4-BE49-F238E27FC236}">
                <a16:creationId xmlns:a16="http://schemas.microsoft.com/office/drawing/2014/main" id="{15C344F2-4F54-660C-8993-0548F0089A02}"/>
              </a:ext>
            </a:extLst>
          </p:cNvPr>
          <p:cNvSpPr>
            <a:spLocks noGrp="1"/>
          </p:cNvSpPr>
          <p:nvPr>
            <p:ph idx="1"/>
          </p:nvPr>
        </p:nvSpPr>
        <p:spPr/>
        <p:txBody>
          <a:bodyPr/>
          <a:lstStyle/>
          <a:p>
            <a:r>
              <a:rPr lang="en-IN" dirty="0">
                <a:hlinkClick r:id="rId3" action="ppaction://hlinkfile"/>
              </a:rPr>
              <a:t>..\</a:t>
            </a:r>
            <a:r>
              <a:rPr lang="en-IN" dirty="0" err="1">
                <a:hlinkClick r:id="rId3" action="ppaction://hlinkfile"/>
              </a:rPr>
              <a:t>Java_Programs</a:t>
            </a:r>
            <a:r>
              <a:rPr lang="en-IN" dirty="0">
                <a:hlinkClick r:id="rId3" action="ppaction://hlinkfile"/>
              </a:rPr>
              <a:t>\</a:t>
            </a:r>
            <a:r>
              <a:rPr lang="en-IN" dirty="0" err="1">
                <a:hlinkClick r:id="rId3" action="ppaction://hlinkfile"/>
              </a:rPr>
              <a:t>Java_Programs</a:t>
            </a:r>
            <a:r>
              <a:rPr lang="en-IN" dirty="0">
                <a:hlinkClick r:id="rId3" action="ppaction://hlinkfile"/>
              </a:rPr>
              <a:t>\Inheritance\Dynamic Method Dispatch.docx</a:t>
            </a:r>
            <a:endParaRPr lang="en-IN" dirty="0"/>
          </a:p>
        </p:txBody>
      </p:sp>
    </p:spTree>
    <p:extLst>
      <p:ext uri="{BB962C8B-B14F-4D97-AF65-F5344CB8AC3E}">
        <p14:creationId xmlns:p14="http://schemas.microsoft.com/office/powerpoint/2010/main" val="3944010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D0C61-3613-0DBC-8CC7-2E9721156208}"/>
              </a:ext>
            </a:extLst>
          </p:cNvPr>
          <p:cNvSpPr>
            <a:spLocks noGrp="1"/>
          </p:cNvSpPr>
          <p:nvPr>
            <p:ph type="title"/>
          </p:nvPr>
        </p:nvSpPr>
        <p:spPr/>
        <p:txBody>
          <a:bodyPr/>
          <a:lstStyle/>
          <a:p>
            <a:r>
              <a:rPr lang="en-IN" b="0" i="0" dirty="0">
                <a:solidFill>
                  <a:srgbClr val="272C37"/>
                </a:solidFill>
                <a:effectLst/>
                <a:latin typeface="Roboto" panose="02000000000000000000" pitchFamily="2" charset="0"/>
              </a:rPr>
              <a:t>Characteristics of Super Keywords in Java</a:t>
            </a:r>
            <a:endParaRPr lang="en-IN" dirty="0"/>
          </a:p>
        </p:txBody>
      </p:sp>
      <p:sp>
        <p:nvSpPr>
          <p:cNvPr id="3" name="Content Placeholder 2">
            <a:extLst>
              <a:ext uri="{FF2B5EF4-FFF2-40B4-BE49-F238E27FC236}">
                <a16:creationId xmlns:a16="http://schemas.microsoft.com/office/drawing/2014/main" id="{B5B7783B-7964-BAED-7C13-465CBFBA60FB}"/>
              </a:ext>
            </a:extLst>
          </p:cNvPr>
          <p:cNvSpPr>
            <a:spLocks noGrp="1"/>
          </p:cNvSpPr>
          <p:nvPr>
            <p:ph idx="1"/>
          </p:nvPr>
        </p:nvSpPr>
        <p:spPr>
          <a:xfrm>
            <a:off x="2121031" y="1489435"/>
            <a:ext cx="9383581" cy="5015060"/>
          </a:xfrm>
        </p:spPr>
        <p:txBody>
          <a:bodyPr>
            <a:normAutofit/>
          </a:bodyPr>
          <a:lstStyle/>
          <a:p>
            <a:r>
              <a:rPr lang="en-IN" sz="2800" b="1" dirty="0">
                <a:latin typeface="Arial" panose="020B0604020202020204" pitchFamily="34" charset="0"/>
                <a:cs typeface="Arial" panose="020B0604020202020204" pitchFamily="34" charset="0"/>
              </a:rPr>
              <a:t>Accessing Superclass Members</a:t>
            </a:r>
          </a:p>
          <a:p>
            <a:r>
              <a:rPr lang="en-IN" sz="2800" b="1" i="0" dirty="0">
                <a:solidFill>
                  <a:srgbClr val="272C37"/>
                </a:solidFill>
                <a:effectLst/>
                <a:latin typeface="Arial" panose="020B0604020202020204" pitchFamily="34" charset="0"/>
                <a:cs typeface="Arial" panose="020B0604020202020204" pitchFamily="34" charset="0"/>
              </a:rPr>
              <a:t>Avoiding Name Conflicts</a:t>
            </a:r>
          </a:p>
          <a:p>
            <a:r>
              <a:rPr lang="en-IN" sz="2800" b="1" i="0" dirty="0">
                <a:solidFill>
                  <a:srgbClr val="272C37"/>
                </a:solidFill>
                <a:effectLst/>
                <a:latin typeface="Arial" panose="020B0604020202020204" pitchFamily="34" charset="0"/>
                <a:cs typeface="Arial" panose="020B0604020202020204" pitchFamily="34" charset="0"/>
              </a:rPr>
              <a:t>Calling Superclass Constructors</a:t>
            </a:r>
          </a:p>
          <a:p>
            <a:r>
              <a:rPr lang="en-IN" sz="2800" b="1" i="0" dirty="0">
                <a:solidFill>
                  <a:srgbClr val="272C37"/>
                </a:solidFill>
                <a:effectLst/>
                <a:latin typeface="Arial" panose="020B0604020202020204" pitchFamily="34" charset="0"/>
                <a:cs typeface="Arial" panose="020B0604020202020204" pitchFamily="34" charset="0"/>
              </a:rPr>
              <a:t>Maintaining Inheritance</a:t>
            </a:r>
          </a:p>
          <a:p>
            <a:r>
              <a:rPr lang="en-IN" sz="2800" b="1" i="0" dirty="0">
                <a:solidFill>
                  <a:srgbClr val="272C37"/>
                </a:solidFill>
                <a:effectLst/>
                <a:latin typeface="Arial" panose="020B0604020202020204" pitchFamily="34" charset="0"/>
                <a:cs typeface="Arial" panose="020B0604020202020204" pitchFamily="34" charset="0"/>
              </a:rPr>
              <a:t>Chaining Constructors</a:t>
            </a:r>
          </a:p>
          <a:p>
            <a:r>
              <a:rPr lang="en-IN" sz="2800" b="1" i="0" dirty="0">
                <a:solidFill>
                  <a:srgbClr val="272C37"/>
                </a:solidFill>
                <a:effectLst/>
                <a:latin typeface="Arial" panose="020B0604020202020204" pitchFamily="34" charset="0"/>
                <a:cs typeface="Arial" panose="020B0604020202020204" pitchFamily="34" charset="0"/>
              </a:rPr>
              <a:t>Initialization super class data members</a:t>
            </a:r>
          </a:p>
          <a:p>
            <a:r>
              <a:rPr lang="en-IN" sz="2800" b="1" i="0" dirty="0">
                <a:solidFill>
                  <a:srgbClr val="272C37"/>
                </a:solidFill>
                <a:effectLst/>
                <a:latin typeface="Arial" panose="020B0604020202020204" pitchFamily="34" charset="0"/>
                <a:cs typeface="Arial" panose="020B0604020202020204" pitchFamily="34" charset="0"/>
              </a:rPr>
              <a:t>Helps Prevent Errors</a:t>
            </a:r>
          </a:p>
          <a:p>
            <a:pPr marL="0" indent="0">
              <a:buNone/>
            </a:pPr>
            <a:endParaRPr lang="en-IN" sz="2800" b="1" i="0" dirty="0">
              <a:solidFill>
                <a:srgbClr val="272C37"/>
              </a:solidFill>
              <a:effectLst/>
              <a:latin typeface="Arial" panose="020B0604020202020204" pitchFamily="34" charset="0"/>
              <a:cs typeface="Arial" panose="020B0604020202020204" pitchFamily="34" charset="0"/>
            </a:endParaRPr>
          </a:p>
          <a:p>
            <a:endParaRPr lang="en-IN"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9166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A2D7C-6D4F-8289-E449-CC7B02ADB8BF}"/>
              </a:ext>
            </a:extLst>
          </p:cNvPr>
          <p:cNvSpPr>
            <a:spLocks noGrp="1"/>
          </p:cNvSpPr>
          <p:nvPr>
            <p:ph type="title"/>
          </p:nvPr>
        </p:nvSpPr>
        <p:spPr/>
        <p:txBody>
          <a:bodyPr/>
          <a:lstStyle/>
          <a:p>
            <a:r>
              <a:rPr lang="en-IN" dirty="0"/>
              <a:t>Dynamic Dispatch Method</a:t>
            </a:r>
            <a:br>
              <a:rPr lang="en-IN" dirty="0"/>
            </a:br>
            <a:endParaRPr lang="en-IN" dirty="0"/>
          </a:p>
        </p:txBody>
      </p:sp>
      <p:sp>
        <p:nvSpPr>
          <p:cNvPr id="3" name="Content Placeholder 2">
            <a:extLst>
              <a:ext uri="{FF2B5EF4-FFF2-40B4-BE49-F238E27FC236}">
                <a16:creationId xmlns:a16="http://schemas.microsoft.com/office/drawing/2014/main" id="{53CCE8A0-0276-2552-87DE-2C30859E55AC}"/>
              </a:ext>
            </a:extLst>
          </p:cNvPr>
          <p:cNvSpPr>
            <a:spLocks noGrp="1"/>
          </p:cNvSpPr>
          <p:nvPr>
            <p:ph idx="1"/>
          </p:nvPr>
        </p:nvSpPr>
        <p:spPr>
          <a:xfrm>
            <a:off x="1763486" y="1534886"/>
            <a:ext cx="9741126" cy="4376336"/>
          </a:xfrm>
        </p:spPr>
        <p:txBody>
          <a:bodyPr>
            <a:normAutofit/>
          </a:bodyPr>
          <a:lstStyle/>
          <a:p>
            <a:pPr algn="l"/>
            <a:r>
              <a:rPr lang="en-IN" sz="3200" b="1" i="0" u="none" strike="noStrike" baseline="0" dirty="0">
                <a:latin typeface="NewBaskervilleStd-Roman"/>
              </a:rPr>
              <a:t>Method overriding forms the basis for one of Java’s most powerful concepts: </a:t>
            </a:r>
            <a:r>
              <a:rPr lang="en-IN" sz="3200" b="1" i="1" u="none" strike="noStrike" baseline="0" dirty="0">
                <a:latin typeface="NewBaskervilleStd-Italic"/>
              </a:rPr>
              <a:t>dynamic method dispatch</a:t>
            </a:r>
            <a:r>
              <a:rPr lang="en-IN" sz="3200" b="1" i="0" u="none" strike="noStrike" baseline="0" dirty="0">
                <a:latin typeface="NewBaskervilleStd-Roman"/>
              </a:rPr>
              <a:t>. </a:t>
            </a:r>
          </a:p>
          <a:p>
            <a:pPr algn="l"/>
            <a:r>
              <a:rPr lang="en-IN" sz="3200" b="1" i="0" u="none" strike="noStrike" baseline="0" dirty="0">
                <a:latin typeface="NewBaskervilleStd-Roman"/>
              </a:rPr>
              <a:t>Dynamic method dispatch is the mechanism by which a call to an overridden method is resolved at run time, rather than compile time. ‘</a:t>
            </a:r>
          </a:p>
          <a:p>
            <a:pPr algn="l"/>
            <a:r>
              <a:rPr lang="en-IN" sz="3200" b="1" i="0" u="none" strike="noStrike" baseline="0" dirty="0">
                <a:latin typeface="NewBaskervilleStd-Roman"/>
              </a:rPr>
              <a:t>Dynamic method dispatch is important because this is how Java implements run-time polymorphism.</a:t>
            </a:r>
            <a:endParaRPr lang="en-IN" sz="3200" b="1" dirty="0"/>
          </a:p>
        </p:txBody>
      </p:sp>
    </p:spTree>
    <p:extLst>
      <p:ext uri="{BB962C8B-B14F-4D97-AF65-F5344CB8AC3E}">
        <p14:creationId xmlns:p14="http://schemas.microsoft.com/office/powerpoint/2010/main" val="2464324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F95C7C-5A21-B53E-0B7D-0ECEC5D9F8D1}"/>
              </a:ext>
            </a:extLst>
          </p:cNvPr>
          <p:cNvSpPr>
            <a:spLocks noGrp="1"/>
          </p:cNvSpPr>
          <p:nvPr>
            <p:ph idx="1"/>
          </p:nvPr>
        </p:nvSpPr>
        <p:spPr>
          <a:xfrm>
            <a:off x="1524794" y="624110"/>
            <a:ext cx="9142412" cy="7032172"/>
          </a:xfrm>
        </p:spPr>
        <p:txBody>
          <a:bodyPr>
            <a:normAutofit/>
          </a:bodyPr>
          <a:lstStyle/>
          <a:p>
            <a:pPr algn="l"/>
            <a:r>
              <a:rPr lang="en-IN" sz="2400" b="0" i="0" u="none" strike="noStrike" baseline="0" dirty="0">
                <a:latin typeface="NewBaskervilleStd-Roman"/>
              </a:rPr>
              <a:t>When an overridden method is called through a superclass reference, Java determines which version of that method to execute based upon the type of the object being referred to at the time the call occurs. Thus, this determination is made at run time.</a:t>
            </a:r>
          </a:p>
          <a:p>
            <a:pPr algn="l"/>
            <a:r>
              <a:rPr lang="en-IN" sz="2400" b="0" i="0" u="none" strike="noStrike" baseline="0" dirty="0">
                <a:latin typeface="NewBaskervilleStd-Roman"/>
              </a:rPr>
              <a:t>When different types of objects are referred to, different versions of an overridden method will be called. In other words, </a:t>
            </a:r>
            <a:r>
              <a:rPr lang="en-IN" sz="2400" b="0" i="1" u="none" strike="noStrike" baseline="0" dirty="0">
                <a:latin typeface="NewBaskervilleStd-Italic"/>
              </a:rPr>
              <a:t>it is the type of the object being referred to </a:t>
            </a:r>
            <a:r>
              <a:rPr lang="en-IN" sz="2400" b="0" i="0" u="none" strike="noStrike" baseline="0" dirty="0">
                <a:latin typeface="NewBaskervilleStd-Roman"/>
              </a:rPr>
              <a:t>(not the type of the reference variable) that determines which version of an overridden method will be executed.</a:t>
            </a:r>
          </a:p>
          <a:p>
            <a:pPr algn="l"/>
            <a:r>
              <a:rPr lang="en-IN" sz="2400" b="0" i="0" u="none" strike="noStrike" baseline="0" dirty="0">
                <a:latin typeface="NewBaskervilleStd-Roman"/>
              </a:rPr>
              <a:t>Therefore, if a superclass contains a method that is overridden by a subclass, then when different types of objects are referred to through a superclass reference variable, different versions of the method are executed.</a:t>
            </a:r>
            <a:endParaRPr lang="en-IN" sz="2400" dirty="0"/>
          </a:p>
        </p:txBody>
      </p:sp>
    </p:spTree>
    <p:extLst>
      <p:ext uri="{BB962C8B-B14F-4D97-AF65-F5344CB8AC3E}">
        <p14:creationId xmlns:p14="http://schemas.microsoft.com/office/powerpoint/2010/main" val="1555261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BE78F-D8D0-E9FA-2449-F929CE3DE12E}"/>
              </a:ext>
            </a:extLst>
          </p:cNvPr>
          <p:cNvSpPr>
            <a:spLocks noGrp="1"/>
          </p:cNvSpPr>
          <p:nvPr>
            <p:ph type="title"/>
          </p:nvPr>
        </p:nvSpPr>
        <p:spPr>
          <a:xfrm>
            <a:off x="2592925" y="624110"/>
            <a:ext cx="8911687" cy="780484"/>
          </a:xfrm>
        </p:spPr>
        <p:txBody>
          <a:bodyPr/>
          <a:lstStyle/>
          <a:p>
            <a:r>
              <a:rPr lang="en-IN" b="1" dirty="0"/>
              <a:t>Why Overridden Methods?</a:t>
            </a:r>
          </a:p>
        </p:txBody>
      </p:sp>
      <p:sp>
        <p:nvSpPr>
          <p:cNvPr id="3" name="Content Placeholder 2">
            <a:extLst>
              <a:ext uri="{FF2B5EF4-FFF2-40B4-BE49-F238E27FC236}">
                <a16:creationId xmlns:a16="http://schemas.microsoft.com/office/drawing/2014/main" id="{959CA3DA-7FBA-E34A-98C5-1DF4FC19BC83}"/>
              </a:ext>
            </a:extLst>
          </p:cNvPr>
          <p:cNvSpPr>
            <a:spLocks noGrp="1"/>
          </p:cNvSpPr>
          <p:nvPr>
            <p:ph idx="1"/>
          </p:nvPr>
        </p:nvSpPr>
        <p:spPr>
          <a:xfrm>
            <a:off x="1263192" y="1234911"/>
            <a:ext cx="10241420" cy="4676311"/>
          </a:xfrm>
        </p:spPr>
        <p:txBody>
          <a:bodyPr>
            <a:normAutofit/>
          </a:bodyPr>
          <a:lstStyle/>
          <a:p>
            <a:pPr>
              <a:lnSpc>
                <a:spcPct val="90000"/>
              </a:lnSpc>
            </a:pPr>
            <a:r>
              <a:rPr lang="en-IN" sz="2200" b="1" dirty="0"/>
              <a:t>Overridden methods allow Java to support run-time polymorphism.</a:t>
            </a:r>
          </a:p>
          <a:p>
            <a:pPr>
              <a:lnSpc>
                <a:spcPct val="90000"/>
              </a:lnSpc>
            </a:pPr>
            <a:r>
              <a:rPr lang="en-IN" sz="2200" b="1" dirty="0"/>
              <a:t>Polymorphism is essential to object-oriented programming for one reason: it allows a general class to specify methods that will be common to all of its derivatives, while allowing subclasses to define the specific implementation of some or all of those methods.</a:t>
            </a:r>
          </a:p>
          <a:p>
            <a:pPr>
              <a:lnSpc>
                <a:spcPct val="90000"/>
              </a:lnSpc>
            </a:pPr>
            <a:r>
              <a:rPr lang="en-IN" sz="2200" b="1" dirty="0"/>
              <a:t>Overridden methods are another way that Java implements the “one interface, multiple methods” aspect of polymorphism.</a:t>
            </a:r>
          </a:p>
          <a:p>
            <a:pPr>
              <a:lnSpc>
                <a:spcPct val="90000"/>
              </a:lnSpc>
            </a:pPr>
            <a:r>
              <a:rPr lang="en-IN" sz="2000" b="1" dirty="0"/>
              <a:t>Dynamic, </a:t>
            </a:r>
            <a:r>
              <a:rPr lang="en-IN" sz="2200" b="1" dirty="0"/>
              <a:t>run-time polymorphism is one of the most powerful mechanisms that object oriented design brings to bear on code reuse and robustness. </a:t>
            </a:r>
          </a:p>
          <a:p>
            <a:pPr>
              <a:lnSpc>
                <a:spcPct val="90000"/>
              </a:lnSpc>
            </a:pPr>
            <a:r>
              <a:rPr lang="en-IN" sz="2200" b="1" dirty="0"/>
              <a:t>The ability of existing code libraries to call methods on instances of new classes without recompiling while maintaining </a:t>
            </a:r>
            <a:r>
              <a:rPr lang="en-IN" sz="2000" b="1" dirty="0"/>
              <a:t>a clean abstract interface is a profoundly powerful tool.</a:t>
            </a:r>
          </a:p>
        </p:txBody>
      </p:sp>
    </p:spTree>
    <p:extLst>
      <p:ext uri="{BB962C8B-B14F-4D97-AF65-F5344CB8AC3E}">
        <p14:creationId xmlns:p14="http://schemas.microsoft.com/office/powerpoint/2010/main" val="2743932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4FA9D-65A4-E7A2-8411-7BAA24472682}"/>
              </a:ext>
            </a:extLst>
          </p:cNvPr>
          <p:cNvSpPr>
            <a:spLocks noGrp="1"/>
          </p:cNvSpPr>
          <p:nvPr>
            <p:ph type="title"/>
          </p:nvPr>
        </p:nvSpPr>
        <p:spPr/>
        <p:txBody>
          <a:bodyPr/>
          <a:lstStyle/>
          <a:p>
            <a:r>
              <a:rPr lang="en-IN" dirty="0"/>
              <a:t>Using Abstract Classes</a:t>
            </a:r>
          </a:p>
        </p:txBody>
      </p:sp>
      <p:sp>
        <p:nvSpPr>
          <p:cNvPr id="3" name="Content Placeholder 2">
            <a:extLst>
              <a:ext uri="{FF2B5EF4-FFF2-40B4-BE49-F238E27FC236}">
                <a16:creationId xmlns:a16="http://schemas.microsoft.com/office/drawing/2014/main" id="{5D640366-6479-79AE-8956-0379F181FBAB}"/>
              </a:ext>
            </a:extLst>
          </p:cNvPr>
          <p:cNvSpPr>
            <a:spLocks noGrp="1"/>
          </p:cNvSpPr>
          <p:nvPr>
            <p:ph idx="1"/>
          </p:nvPr>
        </p:nvSpPr>
        <p:spPr>
          <a:xfrm>
            <a:off x="1621410" y="1762811"/>
            <a:ext cx="9883202" cy="4364611"/>
          </a:xfrm>
        </p:spPr>
        <p:txBody>
          <a:bodyPr>
            <a:normAutofit/>
          </a:bodyPr>
          <a:lstStyle/>
          <a:p>
            <a:pPr algn="l"/>
            <a:r>
              <a:rPr lang="en-IN" sz="2400" b="1" i="0" u="none" strike="noStrike" baseline="0" dirty="0">
                <a:latin typeface="Arial" panose="020B0604020202020204" pitchFamily="34" charset="0"/>
                <a:cs typeface="Arial" panose="020B0604020202020204" pitchFamily="34" charset="0"/>
              </a:rPr>
              <a:t>There are situations in which you will want to define a superclass that declares the structure of a given abstraction without providing a complete implementation of every method.</a:t>
            </a:r>
          </a:p>
          <a:p>
            <a:pPr marL="0" indent="0" algn="l">
              <a:buNone/>
            </a:pPr>
            <a:endParaRPr lang="en-IN" sz="2400" b="1" dirty="0">
              <a:latin typeface="Arial" panose="020B0604020202020204" pitchFamily="34" charset="0"/>
              <a:cs typeface="Arial" panose="020B0604020202020204" pitchFamily="34" charset="0"/>
            </a:endParaRPr>
          </a:p>
          <a:p>
            <a:r>
              <a:rPr lang="en-IN" sz="2400" b="1" dirty="0">
                <a:latin typeface="Arial" panose="020B0604020202020204" pitchFamily="34" charset="0"/>
                <a:cs typeface="Arial" panose="020B0604020202020204" pitchFamily="34" charset="0"/>
              </a:rPr>
              <a:t>This can be achieved by specifying the Java abstract type modifier. </a:t>
            </a:r>
          </a:p>
          <a:p>
            <a:pPr marL="0" indent="0">
              <a:buNone/>
            </a:pPr>
            <a:endParaRPr lang="en-IN" sz="2400" b="1" dirty="0">
              <a:latin typeface="Arial" panose="020B0604020202020204" pitchFamily="34" charset="0"/>
              <a:cs typeface="Arial" panose="020B0604020202020204" pitchFamily="34" charset="0"/>
            </a:endParaRPr>
          </a:p>
          <a:p>
            <a:r>
              <a:rPr lang="en-IN" sz="2400" b="1" dirty="0">
                <a:latin typeface="Arial" panose="020B0604020202020204" pitchFamily="34" charset="0"/>
                <a:cs typeface="Arial" panose="020B0604020202020204" pitchFamily="34" charset="0"/>
              </a:rPr>
              <a:t>Abstraction can be achieved using abstract class and abstract methods</a:t>
            </a:r>
          </a:p>
        </p:txBody>
      </p:sp>
    </p:spTree>
    <p:extLst>
      <p:ext uri="{BB962C8B-B14F-4D97-AF65-F5344CB8AC3E}">
        <p14:creationId xmlns:p14="http://schemas.microsoft.com/office/powerpoint/2010/main" val="603754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BF931-27FB-F937-8F96-6571BAC964B8}"/>
              </a:ext>
            </a:extLst>
          </p:cNvPr>
          <p:cNvSpPr>
            <a:spLocks noGrp="1"/>
          </p:cNvSpPr>
          <p:nvPr>
            <p:ph type="title"/>
          </p:nvPr>
        </p:nvSpPr>
        <p:spPr>
          <a:xfrm>
            <a:off x="2592925" y="624110"/>
            <a:ext cx="8911687" cy="739023"/>
          </a:xfrm>
        </p:spPr>
        <p:txBody>
          <a:bodyPr/>
          <a:lstStyle/>
          <a:p>
            <a:r>
              <a:rPr lang="en-IN" dirty="0"/>
              <a:t>Abstract Method</a:t>
            </a:r>
          </a:p>
        </p:txBody>
      </p:sp>
      <p:sp>
        <p:nvSpPr>
          <p:cNvPr id="3" name="Content Placeholder 2">
            <a:extLst>
              <a:ext uri="{FF2B5EF4-FFF2-40B4-BE49-F238E27FC236}">
                <a16:creationId xmlns:a16="http://schemas.microsoft.com/office/drawing/2014/main" id="{82CC8B83-104E-36D5-A7B4-66610FE90212}"/>
              </a:ext>
            </a:extLst>
          </p:cNvPr>
          <p:cNvSpPr>
            <a:spLocks noGrp="1"/>
          </p:cNvSpPr>
          <p:nvPr>
            <p:ph idx="1"/>
          </p:nvPr>
        </p:nvSpPr>
        <p:spPr>
          <a:xfrm>
            <a:off x="1507067" y="1363133"/>
            <a:ext cx="9997545" cy="4548089"/>
          </a:xfrm>
        </p:spPr>
        <p:txBody>
          <a:bodyPr>
            <a:normAutofit fontScale="92500"/>
          </a:bodyPr>
          <a:lstStyle/>
          <a:p>
            <a:r>
              <a:rPr lang="en-IN" sz="2400" b="1" dirty="0"/>
              <a:t>The abstract Method is used for creating blueprints for classes or interfaces. </a:t>
            </a:r>
          </a:p>
          <a:p>
            <a:r>
              <a:rPr lang="en-IN" sz="2400" b="1" dirty="0"/>
              <a:t>Here methods are defined but these methods don’t provide the implementation. </a:t>
            </a:r>
          </a:p>
          <a:p>
            <a:r>
              <a:rPr lang="en-IN" sz="2400" b="1" dirty="0"/>
              <a:t>Abstract Methods can only be implemented using subclasses or classes that implement the interfaces. </a:t>
            </a:r>
          </a:p>
          <a:p>
            <a:r>
              <a:rPr lang="en-IN" sz="2400" b="1" dirty="0"/>
              <a:t>These methods are sometimes referred to as subclass responsibility because they have no implementation specified in the super-class. </a:t>
            </a:r>
          </a:p>
          <a:p>
            <a:r>
              <a:rPr lang="en-IN" sz="2400" b="1" dirty="0"/>
              <a:t>Thus, a subclass must override them to provide a method definition. </a:t>
            </a:r>
          </a:p>
          <a:p>
            <a:r>
              <a:rPr lang="en-IN" sz="2400" b="1" dirty="0"/>
              <a:t>To declare an abstract method, use this general form:</a:t>
            </a:r>
          </a:p>
          <a:p>
            <a:pPr marL="0" indent="0">
              <a:buNone/>
            </a:pPr>
            <a:r>
              <a:rPr lang="en-IN" sz="2400" b="1" i="1" dirty="0"/>
              <a:t>	abstract type method-name(parameter-list);</a:t>
            </a:r>
            <a:r>
              <a:rPr lang="en-IN" sz="2400" b="1" dirty="0"/>
              <a:t> </a:t>
            </a:r>
          </a:p>
          <a:p>
            <a:endParaRPr lang="en-IN" sz="2400" b="1" dirty="0"/>
          </a:p>
        </p:txBody>
      </p:sp>
      <p:sp>
        <p:nvSpPr>
          <p:cNvPr id="5" name="Rectangle 2">
            <a:extLst>
              <a:ext uri="{FF2B5EF4-FFF2-40B4-BE49-F238E27FC236}">
                <a16:creationId xmlns:a16="http://schemas.microsoft.com/office/drawing/2014/main" id="{3B0AC9F3-4A29-1071-4FBD-CB24B6430B32}"/>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65232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F95744-1D35-4DEB-0445-F77FB8EA1457}"/>
              </a:ext>
            </a:extLst>
          </p:cNvPr>
          <p:cNvSpPr>
            <a:spLocks noGrp="1"/>
          </p:cNvSpPr>
          <p:nvPr>
            <p:ph idx="1"/>
          </p:nvPr>
        </p:nvSpPr>
        <p:spPr>
          <a:xfrm>
            <a:off x="1752600" y="355601"/>
            <a:ext cx="9752012" cy="5555622"/>
          </a:xfrm>
        </p:spPr>
        <p:txBody>
          <a:bodyPr>
            <a:normAutofit fontScale="92500" lnSpcReduction="20000"/>
          </a:bodyPr>
          <a:lstStyle/>
          <a:p>
            <a:r>
              <a:rPr lang="en-IN" sz="2800" b="1" i="1" dirty="0"/>
              <a:t>Important rules for abstract methods are mentioned below:</a:t>
            </a:r>
          </a:p>
          <a:p>
            <a:endParaRPr lang="en-IN" sz="2400" b="1" dirty="0"/>
          </a:p>
          <a:p>
            <a:pPr>
              <a:buFont typeface="+mj-lt"/>
              <a:buAutoNum type="arabicPeriod"/>
            </a:pPr>
            <a:r>
              <a:rPr lang="en-IN" sz="2400" b="1" dirty="0"/>
              <a:t>Any class that contains one or more abstract methods must also be declared abstract.</a:t>
            </a:r>
          </a:p>
          <a:p>
            <a:pPr>
              <a:buFont typeface="+mj-lt"/>
              <a:buAutoNum type="arabicPeriod"/>
            </a:pPr>
            <a:r>
              <a:rPr lang="en-IN" sz="2400" b="1" dirty="0"/>
              <a:t>If a class contains an abstract method it needs to be abstract and vice versa is not true.</a:t>
            </a:r>
          </a:p>
          <a:p>
            <a:pPr>
              <a:buFont typeface="+mj-lt"/>
              <a:buAutoNum type="arabicPeriod"/>
            </a:pPr>
            <a:r>
              <a:rPr lang="en-IN" sz="2400" b="1" dirty="0"/>
              <a:t>If a non-abstract class extends an abstract class, then the class must implement all the abstract methods of the abstract class else the concrete class has to be declared as abstract as well.</a:t>
            </a:r>
          </a:p>
          <a:p>
            <a:pPr>
              <a:buFont typeface="+mj-lt"/>
              <a:buAutoNum type="arabicPeriod"/>
            </a:pPr>
            <a:r>
              <a:rPr lang="en-IN" sz="2400" b="1" dirty="0"/>
              <a:t>The following are various illegal combinations of other modifiers for methods with respect to abstract modifiers: </a:t>
            </a:r>
          </a:p>
          <a:p>
            <a:pPr lvl="1">
              <a:buFont typeface="+mj-lt"/>
              <a:buAutoNum type="arabicPeriod"/>
            </a:pPr>
            <a:r>
              <a:rPr lang="en-IN" sz="2000" b="1" dirty="0"/>
              <a:t>final</a:t>
            </a:r>
          </a:p>
          <a:p>
            <a:pPr lvl="1">
              <a:buFont typeface="+mj-lt"/>
              <a:buAutoNum type="arabicPeriod"/>
            </a:pPr>
            <a:r>
              <a:rPr lang="en-IN" sz="2000" b="1" dirty="0"/>
              <a:t>abstract synchronized</a:t>
            </a:r>
          </a:p>
          <a:p>
            <a:pPr lvl="1">
              <a:buFont typeface="+mj-lt"/>
              <a:buAutoNum type="arabicPeriod"/>
            </a:pPr>
            <a:r>
              <a:rPr lang="en-IN" sz="2000" b="1" dirty="0"/>
              <a:t>abstract static</a:t>
            </a:r>
          </a:p>
          <a:p>
            <a:pPr lvl="1">
              <a:buFont typeface="+mj-lt"/>
              <a:buAutoNum type="arabicPeriod"/>
            </a:pPr>
            <a:r>
              <a:rPr lang="en-IN" sz="2000" b="1" dirty="0"/>
              <a:t>abstract private</a:t>
            </a:r>
          </a:p>
          <a:p>
            <a:pPr marL="457200" lvl="1" indent="0">
              <a:buNone/>
            </a:pPr>
            <a:endParaRPr lang="en-IN" sz="2000" b="1" dirty="0"/>
          </a:p>
        </p:txBody>
      </p:sp>
    </p:spTree>
    <p:extLst>
      <p:ext uri="{BB962C8B-B14F-4D97-AF65-F5344CB8AC3E}">
        <p14:creationId xmlns:p14="http://schemas.microsoft.com/office/powerpoint/2010/main" val="90604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1909B8-1D4F-D083-CD93-16C2D145F0AB}"/>
              </a:ext>
            </a:extLst>
          </p:cNvPr>
          <p:cNvSpPr>
            <a:spLocks noGrp="1"/>
          </p:cNvSpPr>
          <p:nvPr>
            <p:ph idx="1"/>
          </p:nvPr>
        </p:nvSpPr>
        <p:spPr>
          <a:xfrm>
            <a:off x="1693333" y="838200"/>
            <a:ext cx="9870545" cy="5911222"/>
          </a:xfrm>
        </p:spPr>
        <p:txBody>
          <a:bodyPr>
            <a:noAutofit/>
          </a:bodyPr>
          <a:lstStyle/>
          <a:p>
            <a:pPr marL="0" indent="0">
              <a:buNone/>
            </a:pPr>
            <a:r>
              <a:rPr lang="en-IN" sz="2000" b="1" dirty="0"/>
              <a:t>// Abstract Class</a:t>
            </a:r>
          </a:p>
          <a:p>
            <a:pPr marL="0" indent="0">
              <a:buNone/>
            </a:pPr>
            <a:r>
              <a:rPr lang="en-IN" sz="2000" b="1" dirty="0"/>
              <a:t>abstract class </a:t>
            </a:r>
            <a:r>
              <a:rPr lang="en-IN" sz="2000" b="1" dirty="0" err="1"/>
              <a:t>arithmetic_operation</a:t>
            </a:r>
            <a:r>
              <a:rPr lang="en-IN" sz="2000" b="1" dirty="0"/>
              <a:t> </a:t>
            </a:r>
          </a:p>
          <a:p>
            <a:pPr marL="0" indent="0">
              <a:buNone/>
            </a:pPr>
            <a:r>
              <a:rPr lang="en-IN" sz="2000" b="1" dirty="0"/>
              <a:t>{        abstract void </a:t>
            </a:r>
            <a:r>
              <a:rPr lang="en-IN" sz="2000" b="1" dirty="0" err="1"/>
              <a:t>printInfo</a:t>
            </a:r>
            <a:r>
              <a:rPr lang="en-IN" sz="2000" b="1" dirty="0"/>
              <a:t>();</a:t>
            </a:r>
          </a:p>
          <a:p>
            <a:pPr marL="0" indent="0">
              <a:buNone/>
            </a:pPr>
            <a:r>
              <a:rPr lang="en-IN" sz="2000" b="1" dirty="0"/>
              <a:t>}</a:t>
            </a:r>
          </a:p>
          <a:p>
            <a:pPr marL="0" indent="0">
              <a:buNone/>
            </a:pPr>
            <a:r>
              <a:rPr lang="en-IN" sz="2000" b="1" dirty="0"/>
              <a:t>class add extends </a:t>
            </a:r>
            <a:r>
              <a:rPr lang="en-IN" sz="2000" b="1" dirty="0" err="1"/>
              <a:t>arithmetic_operation</a:t>
            </a:r>
            <a:r>
              <a:rPr lang="en-IN" sz="2000" b="1" dirty="0"/>
              <a:t> </a:t>
            </a:r>
          </a:p>
          <a:p>
            <a:pPr marL="0" indent="0">
              <a:buNone/>
            </a:pPr>
            <a:r>
              <a:rPr lang="en-IN" sz="2000" b="1" dirty="0"/>
              <a:t>{	void </a:t>
            </a:r>
            <a:r>
              <a:rPr lang="en-IN" sz="2000" b="1" dirty="0" err="1"/>
              <a:t>printInfo</a:t>
            </a:r>
            <a:r>
              <a:rPr lang="en-IN" sz="2000" b="1" dirty="0"/>
              <a:t>()</a:t>
            </a:r>
          </a:p>
          <a:p>
            <a:pPr marL="0" indent="0">
              <a:buNone/>
            </a:pPr>
            <a:r>
              <a:rPr lang="en-IN" sz="2000" b="1" dirty="0"/>
              <a:t>    	{</a:t>
            </a:r>
          </a:p>
          <a:p>
            <a:pPr marL="0" indent="0">
              <a:buNone/>
            </a:pPr>
            <a:r>
              <a:rPr lang="en-IN" sz="2000" b="1" dirty="0"/>
              <a:t>       		 int a = 3;</a:t>
            </a:r>
          </a:p>
          <a:p>
            <a:pPr marL="0" indent="0">
              <a:buNone/>
            </a:pPr>
            <a:r>
              <a:rPr lang="en-IN" sz="2000" b="1" dirty="0"/>
              <a:t>        	int b = 4;</a:t>
            </a:r>
          </a:p>
          <a:p>
            <a:pPr marL="0" indent="0">
              <a:buNone/>
            </a:pPr>
            <a:r>
              <a:rPr lang="en-IN" sz="2000" b="1" dirty="0"/>
              <a:t>        	</a:t>
            </a:r>
            <a:r>
              <a:rPr lang="en-IN" sz="2000" b="1" dirty="0" err="1"/>
              <a:t>System.out.println</a:t>
            </a:r>
            <a:r>
              <a:rPr lang="en-IN" sz="2000" b="1" dirty="0"/>
              <a:t>(a + b);</a:t>
            </a:r>
          </a:p>
          <a:p>
            <a:pPr marL="0" indent="0">
              <a:buNone/>
            </a:pPr>
            <a:r>
              <a:rPr lang="en-IN" sz="2000" b="1" dirty="0"/>
              <a:t>    }</a:t>
            </a:r>
          </a:p>
          <a:p>
            <a:pPr marL="0" indent="0">
              <a:buNone/>
            </a:pPr>
            <a:r>
              <a:rPr lang="en-IN" sz="2000" b="1" dirty="0"/>
              <a:t>}</a:t>
            </a:r>
          </a:p>
          <a:p>
            <a:pPr marL="0" indent="0">
              <a:buNone/>
            </a:pPr>
            <a:endParaRPr lang="en-IN" sz="2000" b="1" dirty="0"/>
          </a:p>
        </p:txBody>
      </p:sp>
    </p:spTree>
    <p:extLst>
      <p:ext uri="{BB962C8B-B14F-4D97-AF65-F5344CB8AC3E}">
        <p14:creationId xmlns:p14="http://schemas.microsoft.com/office/powerpoint/2010/main" val="18906311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8A436-2115-9DF2-3168-1D03DAAFD71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8DABAFF-9341-61D5-540B-03DDA4D6FFDE}"/>
              </a:ext>
            </a:extLst>
          </p:cNvPr>
          <p:cNvSpPr>
            <a:spLocks noGrp="1"/>
          </p:cNvSpPr>
          <p:nvPr>
            <p:ph idx="1"/>
          </p:nvPr>
        </p:nvSpPr>
        <p:spPr>
          <a:xfrm>
            <a:off x="2592925" y="1422400"/>
            <a:ext cx="8915400" cy="3777622"/>
          </a:xfrm>
        </p:spPr>
        <p:txBody>
          <a:bodyPr>
            <a:noAutofit/>
          </a:bodyPr>
          <a:lstStyle/>
          <a:p>
            <a:pPr marL="0" indent="0">
              <a:buNone/>
            </a:pPr>
            <a:r>
              <a:rPr lang="en-IN" sz="2000" b="1" dirty="0"/>
              <a:t>class </a:t>
            </a:r>
            <a:r>
              <a:rPr lang="en-IN" sz="2000" b="1" dirty="0">
                <a:solidFill>
                  <a:srgbClr val="FF0000"/>
                </a:solidFill>
              </a:rPr>
              <a:t>sub</a:t>
            </a:r>
            <a:r>
              <a:rPr lang="en-IN" sz="2000" b="1" dirty="0"/>
              <a:t> extends </a:t>
            </a:r>
            <a:r>
              <a:rPr lang="en-IN" sz="2000" b="1" dirty="0" err="1"/>
              <a:t>arithmetic_operation</a:t>
            </a:r>
            <a:r>
              <a:rPr lang="en-IN" sz="2000" b="1" dirty="0"/>
              <a:t> {</a:t>
            </a:r>
          </a:p>
          <a:p>
            <a:pPr marL="0" indent="0">
              <a:buNone/>
            </a:pPr>
            <a:r>
              <a:rPr lang="en-IN" sz="2000" b="1" dirty="0"/>
              <a:t>    // class sub must override </a:t>
            </a:r>
            <a:r>
              <a:rPr lang="en-IN" sz="2000" b="1" dirty="0" err="1"/>
              <a:t>printInfo</a:t>
            </a:r>
            <a:r>
              <a:rPr lang="en-IN" sz="2000" b="1" dirty="0"/>
              <a:t>() method</a:t>
            </a:r>
          </a:p>
          <a:p>
            <a:pPr marL="0" indent="0">
              <a:buNone/>
            </a:pPr>
            <a:r>
              <a:rPr lang="en-IN" sz="2000" b="1" dirty="0"/>
              <a:t>    // otherwise, compile-time</a:t>
            </a:r>
          </a:p>
          <a:p>
            <a:pPr marL="0" indent="0">
              <a:buNone/>
            </a:pPr>
            <a:r>
              <a:rPr lang="en-IN" sz="2000" b="1" dirty="0"/>
              <a:t>    // exception will be thrown</a:t>
            </a:r>
          </a:p>
          <a:p>
            <a:pPr marL="0" indent="0">
              <a:buNone/>
            </a:pPr>
            <a:r>
              <a:rPr lang="en-IN" sz="2000" b="1" dirty="0"/>
              <a:t>    void </a:t>
            </a:r>
            <a:r>
              <a:rPr lang="en-IN" sz="2000" b="1" dirty="0" err="1"/>
              <a:t>printInfo</a:t>
            </a:r>
            <a:r>
              <a:rPr lang="en-IN" sz="2000" b="1" dirty="0"/>
              <a:t>()</a:t>
            </a:r>
          </a:p>
          <a:p>
            <a:pPr marL="0" indent="0">
              <a:buNone/>
            </a:pPr>
            <a:r>
              <a:rPr lang="en-IN" sz="2000" b="1" dirty="0"/>
              <a:t>    {</a:t>
            </a:r>
          </a:p>
          <a:p>
            <a:pPr marL="0" indent="0">
              <a:buNone/>
            </a:pPr>
            <a:r>
              <a:rPr lang="en-IN" sz="2000" b="1" dirty="0"/>
              <a:t>        int c = 4;</a:t>
            </a:r>
          </a:p>
          <a:p>
            <a:pPr marL="0" indent="0">
              <a:buNone/>
            </a:pPr>
            <a:r>
              <a:rPr lang="en-IN" sz="2000" b="1" dirty="0"/>
              <a:t>        int d = 5;</a:t>
            </a:r>
          </a:p>
          <a:p>
            <a:pPr marL="0" indent="0">
              <a:buNone/>
            </a:pPr>
            <a:r>
              <a:rPr lang="en-IN" sz="2000" b="1" dirty="0"/>
              <a:t>        </a:t>
            </a:r>
            <a:r>
              <a:rPr lang="en-IN" sz="2000" b="1" dirty="0" err="1"/>
              <a:t>System.out.println</a:t>
            </a:r>
            <a:r>
              <a:rPr lang="en-IN" sz="2000" b="1" dirty="0"/>
              <a:t>(c - d);</a:t>
            </a:r>
          </a:p>
          <a:p>
            <a:pPr marL="0" indent="0">
              <a:buNone/>
            </a:pPr>
            <a:r>
              <a:rPr lang="en-IN" sz="2000" b="1" dirty="0"/>
              <a:t>    }</a:t>
            </a:r>
          </a:p>
          <a:p>
            <a:pPr marL="0" indent="0">
              <a:buNone/>
            </a:pPr>
            <a:r>
              <a:rPr lang="en-IN" sz="2000" b="1" dirty="0"/>
              <a:t>}</a:t>
            </a:r>
          </a:p>
        </p:txBody>
      </p:sp>
    </p:spTree>
    <p:extLst>
      <p:ext uri="{BB962C8B-B14F-4D97-AF65-F5344CB8AC3E}">
        <p14:creationId xmlns:p14="http://schemas.microsoft.com/office/powerpoint/2010/main" val="108609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C70D0D-995F-A450-D0F3-AD0FFCA8B4E6}"/>
              </a:ext>
            </a:extLst>
          </p:cNvPr>
          <p:cNvSpPr>
            <a:spLocks noGrp="1"/>
          </p:cNvSpPr>
          <p:nvPr>
            <p:ph idx="1"/>
          </p:nvPr>
        </p:nvSpPr>
        <p:spPr>
          <a:xfrm>
            <a:off x="2286000" y="1143000"/>
            <a:ext cx="9218612" cy="5461000"/>
          </a:xfrm>
        </p:spPr>
        <p:txBody>
          <a:bodyPr>
            <a:noAutofit/>
          </a:bodyPr>
          <a:lstStyle/>
          <a:p>
            <a:pPr marL="0" indent="0">
              <a:buNone/>
            </a:pPr>
            <a:r>
              <a:rPr lang="en-IN" sz="2400" b="1" dirty="0"/>
              <a:t>class abstraction {</a:t>
            </a:r>
          </a:p>
          <a:p>
            <a:pPr marL="0" indent="0">
              <a:buNone/>
            </a:pPr>
            <a:r>
              <a:rPr lang="en-IN" sz="2400" b="1" dirty="0"/>
              <a:t>    // Main Function</a:t>
            </a:r>
          </a:p>
          <a:p>
            <a:pPr marL="0" indent="0">
              <a:buNone/>
            </a:pPr>
            <a:r>
              <a:rPr lang="en-IN" sz="2400" b="1" dirty="0"/>
              <a:t>    public static void main(String </a:t>
            </a:r>
            <a:r>
              <a:rPr lang="en-IN" sz="2400" b="1" dirty="0" err="1"/>
              <a:t>args</a:t>
            </a:r>
            <a:r>
              <a:rPr lang="en-IN" sz="2400" b="1" dirty="0"/>
              <a:t>[])</a:t>
            </a:r>
          </a:p>
          <a:p>
            <a:pPr marL="0" indent="0">
              <a:buNone/>
            </a:pPr>
            <a:r>
              <a:rPr lang="en-IN" sz="2400" b="1" dirty="0"/>
              <a:t>    {</a:t>
            </a:r>
          </a:p>
          <a:p>
            <a:pPr marL="0" indent="0">
              <a:buNone/>
            </a:pPr>
            <a:r>
              <a:rPr lang="en-IN" sz="2400" b="1" dirty="0"/>
              <a:t>        </a:t>
            </a:r>
            <a:r>
              <a:rPr lang="en-IN" sz="2400" b="1" dirty="0" err="1"/>
              <a:t>arithmetic_operation</a:t>
            </a:r>
            <a:r>
              <a:rPr lang="en-IN" sz="2400" b="1" dirty="0"/>
              <a:t> n = new add();</a:t>
            </a:r>
          </a:p>
          <a:p>
            <a:pPr marL="0" indent="0">
              <a:buNone/>
            </a:pPr>
            <a:r>
              <a:rPr lang="en-IN" sz="2400" b="1" dirty="0"/>
              <a:t>        </a:t>
            </a:r>
            <a:r>
              <a:rPr lang="en-IN" sz="2400" b="1" dirty="0" err="1"/>
              <a:t>n.printInfo</a:t>
            </a:r>
            <a:r>
              <a:rPr lang="en-IN" sz="2400" b="1" dirty="0"/>
              <a:t>();</a:t>
            </a:r>
          </a:p>
          <a:p>
            <a:pPr marL="0" indent="0">
              <a:buNone/>
            </a:pPr>
            <a:r>
              <a:rPr lang="en-IN" sz="2400" b="1" dirty="0"/>
              <a:t>        </a:t>
            </a:r>
            <a:r>
              <a:rPr lang="en-IN" sz="2400" b="1" dirty="0" err="1"/>
              <a:t>arithmetic_operation</a:t>
            </a:r>
            <a:r>
              <a:rPr lang="en-IN" sz="2400" b="1" dirty="0"/>
              <a:t> y = new sub();</a:t>
            </a:r>
          </a:p>
          <a:p>
            <a:pPr marL="0" indent="0">
              <a:buNone/>
            </a:pPr>
            <a:r>
              <a:rPr lang="en-IN" sz="2400" b="1" dirty="0"/>
              <a:t>        </a:t>
            </a:r>
            <a:r>
              <a:rPr lang="en-IN" sz="2400" b="1" dirty="0" err="1"/>
              <a:t>y.printInfo</a:t>
            </a:r>
            <a:r>
              <a:rPr lang="en-IN" sz="2400" b="1" dirty="0"/>
              <a:t>();</a:t>
            </a:r>
          </a:p>
          <a:p>
            <a:pPr marL="0" indent="0">
              <a:buNone/>
            </a:pPr>
            <a:r>
              <a:rPr lang="en-IN" sz="2400" b="1" dirty="0"/>
              <a:t>    }</a:t>
            </a:r>
          </a:p>
          <a:p>
            <a:pPr marL="0" indent="0">
              <a:buNone/>
            </a:pPr>
            <a:r>
              <a:rPr lang="en-IN" sz="2400" b="1" dirty="0"/>
              <a:t>}</a:t>
            </a:r>
          </a:p>
        </p:txBody>
      </p:sp>
    </p:spTree>
    <p:extLst>
      <p:ext uri="{BB962C8B-B14F-4D97-AF65-F5344CB8AC3E}">
        <p14:creationId xmlns:p14="http://schemas.microsoft.com/office/powerpoint/2010/main" val="34345369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48A9D-BB49-6D17-7B76-485FDB907593}"/>
              </a:ext>
            </a:extLst>
          </p:cNvPr>
          <p:cNvSpPr>
            <a:spLocks noGrp="1"/>
          </p:cNvSpPr>
          <p:nvPr>
            <p:ph type="title"/>
          </p:nvPr>
        </p:nvSpPr>
        <p:spPr/>
        <p:txBody>
          <a:bodyPr/>
          <a:lstStyle/>
          <a:p>
            <a:r>
              <a:rPr lang="en-IN" sz="3600" b="1" dirty="0"/>
              <a:t>Abstract Class</a:t>
            </a:r>
            <a:endParaRPr lang="en-IN" dirty="0"/>
          </a:p>
        </p:txBody>
      </p:sp>
      <p:sp>
        <p:nvSpPr>
          <p:cNvPr id="3" name="Content Placeholder 2">
            <a:extLst>
              <a:ext uri="{FF2B5EF4-FFF2-40B4-BE49-F238E27FC236}">
                <a16:creationId xmlns:a16="http://schemas.microsoft.com/office/drawing/2014/main" id="{907FC0DA-F05D-A3FF-9ECF-3EEAA2E90690}"/>
              </a:ext>
            </a:extLst>
          </p:cNvPr>
          <p:cNvSpPr>
            <a:spLocks noGrp="1"/>
          </p:cNvSpPr>
          <p:nvPr>
            <p:ph idx="1"/>
          </p:nvPr>
        </p:nvSpPr>
        <p:spPr>
          <a:xfrm>
            <a:off x="1600200" y="1498600"/>
            <a:ext cx="9904412" cy="4412622"/>
          </a:xfrm>
        </p:spPr>
        <p:txBody>
          <a:bodyPr>
            <a:normAutofit/>
          </a:bodyPr>
          <a:lstStyle/>
          <a:p>
            <a:r>
              <a:rPr lang="en-IN" sz="2400" b="1" i="1" dirty="0"/>
              <a:t>Note: Although abstract classes cannot be used to instantiate objects, they can be used to create object references, because Java’s approach to run-time polymorphism is implemented through the use of super-class references. </a:t>
            </a:r>
          </a:p>
          <a:p>
            <a:r>
              <a:rPr lang="en-IN" sz="2400" b="1" i="1" dirty="0"/>
              <a:t>Thus, it must be possible to create a reference to an abstract class so that it can be used to point to a subclass object.</a:t>
            </a:r>
          </a:p>
        </p:txBody>
      </p:sp>
    </p:spTree>
    <p:extLst>
      <p:ext uri="{BB962C8B-B14F-4D97-AF65-F5344CB8AC3E}">
        <p14:creationId xmlns:p14="http://schemas.microsoft.com/office/powerpoint/2010/main" val="9489138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23061-3C24-6F71-CE66-E01462B561D3}"/>
              </a:ext>
            </a:extLst>
          </p:cNvPr>
          <p:cNvSpPr>
            <a:spLocks noGrp="1"/>
          </p:cNvSpPr>
          <p:nvPr>
            <p:ph type="title"/>
          </p:nvPr>
        </p:nvSpPr>
        <p:spPr/>
        <p:txBody>
          <a:bodyPr/>
          <a:lstStyle/>
          <a:p>
            <a:r>
              <a:rPr lang="en-IN" dirty="0"/>
              <a:t>Abstract class with an abstract method.</a:t>
            </a:r>
          </a:p>
        </p:txBody>
      </p:sp>
      <p:sp>
        <p:nvSpPr>
          <p:cNvPr id="3" name="Content Placeholder 2">
            <a:extLst>
              <a:ext uri="{FF2B5EF4-FFF2-40B4-BE49-F238E27FC236}">
                <a16:creationId xmlns:a16="http://schemas.microsoft.com/office/drawing/2014/main" id="{8C4DC4F1-47C4-8D98-22E4-C5A9C3C8C723}"/>
              </a:ext>
            </a:extLst>
          </p:cNvPr>
          <p:cNvSpPr>
            <a:spLocks noGrp="1"/>
          </p:cNvSpPr>
          <p:nvPr>
            <p:ph idx="1"/>
          </p:nvPr>
        </p:nvSpPr>
        <p:spPr>
          <a:xfrm>
            <a:off x="2064470" y="1905000"/>
            <a:ext cx="9440142" cy="4637202"/>
          </a:xfrm>
        </p:spPr>
        <p:txBody>
          <a:bodyPr>
            <a:normAutofit/>
          </a:bodyPr>
          <a:lstStyle/>
          <a:p>
            <a:r>
              <a:rPr lang="en-IN" sz="2400" b="1" dirty="0"/>
              <a:t>You can require that certain methods be overridden by subclasses by specifying the abstract type modifier.</a:t>
            </a:r>
          </a:p>
          <a:p>
            <a:r>
              <a:rPr lang="en-IN" sz="2400" b="1" dirty="0"/>
              <a:t> These methods are sometimes referred to as </a:t>
            </a:r>
            <a:r>
              <a:rPr lang="en-IN" sz="2400" b="1" dirty="0" err="1"/>
              <a:t>subclasser</a:t>
            </a:r>
            <a:r>
              <a:rPr lang="en-IN" sz="2400" b="1" dirty="0"/>
              <a:t> responsibility because they have no implementation specified in the superclass. </a:t>
            </a:r>
          </a:p>
          <a:p>
            <a:r>
              <a:rPr lang="en-IN" sz="2400" b="1" dirty="0"/>
              <a:t>A subclass must override them—it cannot simply use the version defined in the superclass.</a:t>
            </a:r>
          </a:p>
          <a:p>
            <a:r>
              <a:rPr lang="en-IN" sz="2400" b="1" dirty="0"/>
              <a:t>To declare an abstract method, use this general form:</a:t>
            </a:r>
          </a:p>
          <a:p>
            <a:r>
              <a:rPr lang="en-IN" sz="2400" b="1" i="1" dirty="0">
                <a:solidFill>
                  <a:srgbClr val="FF0000"/>
                </a:solidFill>
              </a:rPr>
              <a:t>abstract type name(parameter-list);</a:t>
            </a:r>
          </a:p>
        </p:txBody>
      </p:sp>
    </p:spTree>
    <p:extLst>
      <p:ext uri="{BB962C8B-B14F-4D97-AF65-F5344CB8AC3E}">
        <p14:creationId xmlns:p14="http://schemas.microsoft.com/office/powerpoint/2010/main" val="2729260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F224F-56B4-74A7-B062-CD2B2ECCD5B0}"/>
              </a:ext>
            </a:extLst>
          </p:cNvPr>
          <p:cNvSpPr>
            <a:spLocks noGrp="1"/>
          </p:cNvSpPr>
          <p:nvPr>
            <p:ph type="title"/>
          </p:nvPr>
        </p:nvSpPr>
        <p:spPr/>
        <p:txBody>
          <a:bodyPr/>
          <a:lstStyle/>
          <a:p>
            <a:r>
              <a:rPr lang="en-IN" sz="3600" b="1" i="0" u="none" strike="noStrike" baseline="0" dirty="0">
                <a:latin typeface="Arial Black" panose="020B0A04020102020204" pitchFamily="34" charset="0"/>
              </a:rPr>
              <a:t>abstract class</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E4404FD1-1638-254C-643D-AD1400576B57}"/>
              </a:ext>
            </a:extLst>
          </p:cNvPr>
          <p:cNvSpPr>
            <a:spLocks noGrp="1"/>
          </p:cNvSpPr>
          <p:nvPr>
            <p:ph idx="1"/>
          </p:nvPr>
        </p:nvSpPr>
        <p:spPr>
          <a:xfrm>
            <a:off x="1210733" y="1630837"/>
            <a:ext cx="10141479" cy="4603053"/>
          </a:xfrm>
        </p:spPr>
        <p:txBody>
          <a:bodyPr>
            <a:normAutofit lnSpcReduction="10000"/>
          </a:bodyPr>
          <a:lstStyle/>
          <a:p>
            <a:pPr marL="0" indent="0" algn="l">
              <a:buNone/>
            </a:pPr>
            <a:r>
              <a:rPr lang="en-IN" sz="2400" b="1" i="0" u="none" strike="noStrike" baseline="0" dirty="0">
                <a:latin typeface="Arial" panose="020B0604020202020204" pitchFamily="34" charset="0"/>
                <a:cs typeface="Arial" panose="020B0604020202020204" pitchFamily="34" charset="0"/>
              </a:rPr>
              <a:t>// A Simple demonstration of abstract.</a:t>
            </a:r>
          </a:p>
          <a:p>
            <a:pPr marL="0" indent="0" algn="l">
              <a:buNone/>
            </a:pPr>
            <a:r>
              <a:rPr lang="en-IN" sz="2400" b="1" i="0" u="none" strike="noStrike" baseline="0" dirty="0">
                <a:latin typeface="Arial" panose="020B0604020202020204" pitchFamily="34" charset="0"/>
                <a:cs typeface="Arial" panose="020B0604020202020204" pitchFamily="34" charset="0"/>
              </a:rPr>
              <a:t>abstract class A </a:t>
            </a:r>
          </a:p>
          <a:p>
            <a:pPr marL="0" indent="0" algn="l">
              <a:buNone/>
            </a:pPr>
            <a:r>
              <a:rPr lang="en-IN" sz="2400" b="1" i="0" u="none" strike="noStrike" baseline="0" dirty="0">
                <a:latin typeface="Arial" panose="020B0604020202020204" pitchFamily="34" charset="0"/>
                <a:cs typeface="Arial" panose="020B0604020202020204" pitchFamily="34" charset="0"/>
              </a:rPr>
              <a:t>{</a:t>
            </a:r>
          </a:p>
          <a:p>
            <a:pPr marL="0" indent="0" algn="l">
              <a:buNone/>
            </a:pPr>
            <a:r>
              <a:rPr lang="en-IN" sz="2400" b="1" i="0" u="none" strike="noStrike" baseline="0" dirty="0">
                <a:latin typeface="Arial" panose="020B0604020202020204" pitchFamily="34" charset="0"/>
                <a:cs typeface="Arial" panose="020B0604020202020204" pitchFamily="34" charset="0"/>
              </a:rPr>
              <a:t>	abstract void </a:t>
            </a:r>
            <a:r>
              <a:rPr lang="en-IN" sz="2400" b="1" i="0" u="none" strike="noStrike" baseline="0" dirty="0" err="1">
                <a:latin typeface="Arial" panose="020B0604020202020204" pitchFamily="34" charset="0"/>
                <a:cs typeface="Arial" panose="020B0604020202020204" pitchFamily="34" charset="0"/>
              </a:rPr>
              <a:t>callme</a:t>
            </a:r>
            <a:r>
              <a:rPr lang="en-IN" sz="2400" b="1" i="0" u="none" strike="noStrike" baseline="0" dirty="0">
                <a:latin typeface="Arial" panose="020B0604020202020204" pitchFamily="34" charset="0"/>
                <a:cs typeface="Arial" panose="020B0604020202020204" pitchFamily="34" charset="0"/>
              </a:rPr>
              <a:t>();</a:t>
            </a:r>
          </a:p>
          <a:p>
            <a:pPr marL="0" indent="0" algn="l">
              <a:buNone/>
            </a:pPr>
            <a:r>
              <a:rPr lang="en-IN" sz="2400" b="1" i="0" u="none" strike="noStrike" baseline="0" dirty="0">
                <a:solidFill>
                  <a:schemeClr val="accent2"/>
                </a:solidFill>
                <a:latin typeface="Arial" panose="020B0604020202020204" pitchFamily="34" charset="0"/>
                <a:cs typeface="Arial" panose="020B0604020202020204" pitchFamily="34" charset="0"/>
              </a:rPr>
              <a:t>	// concrete methods are still allowed in abstract classes</a:t>
            </a:r>
          </a:p>
          <a:p>
            <a:pPr marL="0" indent="0" algn="l">
              <a:buNone/>
            </a:pPr>
            <a:r>
              <a:rPr lang="en-IN" sz="2400" b="1" i="0" u="none" strike="noStrike" baseline="0" dirty="0">
                <a:latin typeface="Arial" panose="020B0604020202020204" pitchFamily="34" charset="0"/>
                <a:cs typeface="Arial" panose="020B0604020202020204" pitchFamily="34" charset="0"/>
              </a:rPr>
              <a:t>	void </a:t>
            </a:r>
            <a:r>
              <a:rPr lang="en-IN" sz="2400" b="1" i="0" u="none" strike="noStrike" baseline="0" dirty="0" err="1">
                <a:latin typeface="Arial" panose="020B0604020202020204" pitchFamily="34" charset="0"/>
                <a:cs typeface="Arial" panose="020B0604020202020204" pitchFamily="34" charset="0"/>
              </a:rPr>
              <a:t>callmetoo</a:t>
            </a:r>
            <a:r>
              <a:rPr lang="en-IN" sz="2400" b="1" i="0" u="none" strike="noStrike" baseline="0" dirty="0">
                <a:latin typeface="Arial" panose="020B0604020202020204" pitchFamily="34" charset="0"/>
                <a:cs typeface="Arial" panose="020B0604020202020204" pitchFamily="34" charset="0"/>
              </a:rPr>
              <a:t>() </a:t>
            </a:r>
          </a:p>
          <a:p>
            <a:pPr marL="0" indent="0" algn="l">
              <a:buNone/>
            </a:pPr>
            <a:r>
              <a:rPr lang="en-IN" sz="2400" b="1" i="0" u="none" strike="noStrike" baseline="0" dirty="0">
                <a:latin typeface="Arial" panose="020B0604020202020204" pitchFamily="34" charset="0"/>
                <a:cs typeface="Arial" panose="020B0604020202020204" pitchFamily="34" charset="0"/>
              </a:rPr>
              <a:t>	{</a:t>
            </a:r>
          </a:p>
          <a:p>
            <a:pPr marL="0" indent="0" algn="l">
              <a:buNone/>
            </a:pPr>
            <a:r>
              <a:rPr lang="en-IN" sz="2400" b="1" i="0" u="none" strike="noStrike" baseline="0" dirty="0">
                <a:latin typeface="Arial" panose="020B0604020202020204" pitchFamily="34" charset="0"/>
                <a:cs typeface="Arial" panose="020B0604020202020204" pitchFamily="34" charset="0"/>
              </a:rPr>
              <a:t>		</a:t>
            </a:r>
            <a:r>
              <a:rPr lang="en-IN" sz="2400" b="1" i="0" u="none" strike="noStrike" baseline="0" dirty="0" err="1">
                <a:latin typeface="Arial" panose="020B0604020202020204" pitchFamily="34" charset="0"/>
                <a:cs typeface="Arial" panose="020B0604020202020204" pitchFamily="34" charset="0"/>
              </a:rPr>
              <a:t>System.out.println</a:t>
            </a:r>
            <a:r>
              <a:rPr lang="en-IN" sz="2400" b="1" i="0" u="none" strike="noStrike" baseline="0" dirty="0">
                <a:latin typeface="Arial" panose="020B0604020202020204" pitchFamily="34" charset="0"/>
                <a:cs typeface="Arial" panose="020B0604020202020204" pitchFamily="34" charset="0"/>
              </a:rPr>
              <a:t>("This is a concrete method.");</a:t>
            </a:r>
          </a:p>
          <a:p>
            <a:pPr marL="0" indent="0" algn="l">
              <a:buNone/>
            </a:pPr>
            <a:r>
              <a:rPr lang="en-IN" sz="2400" b="1" i="0" u="none" strike="noStrike" baseline="0" dirty="0">
                <a:latin typeface="Arial" panose="020B0604020202020204" pitchFamily="34" charset="0"/>
                <a:cs typeface="Arial" panose="020B0604020202020204" pitchFamily="34" charset="0"/>
              </a:rPr>
              <a:t>	}</a:t>
            </a:r>
          </a:p>
          <a:p>
            <a:pPr marL="0" indent="0" algn="l">
              <a:buNone/>
            </a:pPr>
            <a:r>
              <a:rPr lang="en-IN" sz="2400" b="1" i="0" u="none" strike="noStrike" baseline="0" dirty="0">
                <a:latin typeface="Arial" panose="020B0604020202020204" pitchFamily="34" charset="0"/>
                <a:cs typeface="Arial" panose="020B0604020202020204" pitchFamily="34" charset="0"/>
              </a:rPr>
              <a:t>}</a:t>
            </a:r>
            <a:endParaRPr lang="en-IN"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2923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6C5A47-E8EB-8107-CE3D-85C7EC70963E}"/>
              </a:ext>
            </a:extLst>
          </p:cNvPr>
          <p:cNvSpPr>
            <a:spLocks noGrp="1"/>
          </p:cNvSpPr>
          <p:nvPr>
            <p:ph idx="1"/>
          </p:nvPr>
        </p:nvSpPr>
        <p:spPr>
          <a:xfrm>
            <a:off x="2311400" y="1058333"/>
            <a:ext cx="9193212" cy="4852889"/>
          </a:xfrm>
        </p:spPr>
        <p:txBody>
          <a:bodyPr>
            <a:normAutofit/>
          </a:bodyPr>
          <a:lstStyle/>
          <a:p>
            <a:pPr marL="0" indent="0" algn="l">
              <a:buNone/>
            </a:pPr>
            <a:r>
              <a:rPr lang="en-IN" sz="2400" b="1" i="0" u="none" strike="noStrike" baseline="0" dirty="0">
                <a:latin typeface="CourierStd"/>
              </a:rPr>
              <a:t>class B extends A </a:t>
            </a:r>
          </a:p>
          <a:p>
            <a:pPr marL="0" indent="0" algn="l">
              <a:buNone/>
            </a:pPr>
            <a:r>
              <a:rPr lang="en-IN" sz="2400" b="1" i="0" u="none" strike="noStrike" baseline="0" dirty="0">
                <a:latin typeface="CourierStd"/>
              </a:rPr>
              <a:t>{ 	 void </a:t>
            </a:r>
            <a:r>
              <a:rPr lang="en-IN" sz="2400" b="1" i="0" u="none" strike="noStrike" baseline="0" dirty="0" err="1">
                <a:latin typeface="CourierStd"/>
              </a:rPr>
              <a:t>callme</a:t>
            </a:r>
            <a:r>
              <a:rPr lang="en-IN" sz="2400" b="1" i="0" u="none" strike="noStrike" baseline="0" dirty="0">
                <a:latin typeface="CourierStd"/>
              </a:rPr>
              <a:t>() </a:t>
            </a:r>
          </a:p>
          <a:p>
            <a:pPr marL="0" indent="0" algn="l">
              <a:buNone/>
            </a:pPr>
            <a:r>
              <a:rPr lang="en-IN" sz="2400" b="1" dirty="0">
                <a:latin typeface="CourierStd"/>
              </a:rPr>
              <a:t>	 </a:t>
            </a:r>
            <a:r>
              <a:rPr lang="en-IN" sz="2400" b="1" i="0" u="none" strike="noStrike" baseline="0" dirty="0">
                <a:latin typeface="CourierStd"/>
              </a:rPr>
              <a:t>{</a:t>
            </a:r>
          </a:p>
          <a:p>
            <a:pPr marL="0" indent="0" algn="l">
              <a:buNone/>
            </a:pPr>
            <a:r>
              <a:rPr lang="en-IN" sz="2400" b="1" i="0" u="none" strike="noStrike" baseline="0" dirty="0">
                <a:latin typeface="CourierStd"/>
              </a:rPr>
              <a:t>		</a:t>
            </a:r>
            <a:r>
              <a:rPr lang="en-IN" sz="2400" b="1" i="0" u="none" strike="noStrike" baseline="0" dirty="0" err="1">
                <a:latin typeface="CourierStd"/>
              </a:rPr>
              <a:t>System.out.println</a:t>
            </a:r>
            <a:r>
              <a:rPr lang="en-IN" sz="2400" b="1" i="0" u="none" strike="noStrike" baseline="0" dirty="0">
                <a:latin typeface="CourierStd"/>
              </a:rPr>
              <a:t>("B's implementation of 											</a:t>
            </a:r>
            <a:r>
              <a:rPr lang="en-IN" sz="2400" b="1" i="0" u="none" strike="noStrike" baseline="0" dirty="0" err="1">
                <a:latin typeface="CourierStd"/>
              </a:rPr>
              <a:t>callme</a:t>
            </a:r>
            <a:r>
              <a:rPr lang="en-IN" sz="2400" b="1" i="0" u="none" strike="noStrike" baseline="0" dirty="0">
                <a:latin typeface="CourierStd"/>
              </a:rPr>
              <a:t>.");</a:t>
            </a:r>
          </a:p>
          <a:p>
            <a:pPr marL="0" indent="0" algn="l">
              <a:buNone/>
            </a:pPr>
            <a:r>
              <a:rPr lang="en-IN" sz="2400" b="1" i="0" u="none" strike="noStrike" baseline="0" dirty="0">
                <a:latin typeface="CourierStd"/>
              </a:rPr>
              <a:t>	}</a:t>
            </a:r>
          </a:p>
          <a:p>
            <a:pPr marL="0" indent="0" algn="l">
              <a:buNone/>
            </a:pPr>
            <a:r>
              <a:rPr lang="en-IN" sz="2400" b="1" i="0" u="none" strike="noStrike" baseline="0" dirty="0">
                <a:latin typeface="CourierStd"/>
              </a:rPr>
              <a:t>}</a:t>
            </a:r>
            <a:endParaRPr lang="en-IN" sz="2400" b="1" dirty="0"/>
          </a:p>
        </p:txBody>
      </p:sp>
    </p:spTree>
    <p:extLst>
      <p:ext uri="{BB962C8B-B14F-4D97-AF65-F5344CB8AC3E}">
        <p14:creationId xmlns:p14="http://schemas.microsoft.com/office/powerpoint/2010/main" val="2035392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80C561-EEB0-46B0-B849-3B184A183E9C}"/>
              </a:ext>
            </a:extLst>
          </p:cNvPr>
          <p:cNvSpPr>
            <a:spLocks noGrp="1"/>
          </p:cNvSpPr>
          <p:nvPr>
            <p:ph idx="1"/>
          </p:nvPr>
        </p:nvSpPr>
        <p:spPr>
          <a:xfrm>
            <a:off x="2413000" y="1278467"/>
            <a:ext cx="9091612" cy="4632755"/>
          </a:xfrm>
        </p:spPr>
        <p:txBody>
          <a:bodyPr>
            <a:normAutofit/>
          </a:bodyPr>
          <a:lstStyle/>
          <a:p>
            <a:pPr marL="0" indent="0">
              <a:buNone/>
            </a:pPr>
            <a:r>
              <a:rPr lang="en-IN" sz="2400" b="1" dirty="0"/>
              <a:t>class </a:t>
            </a:r>
            <a:r>
              <a:rPr lang="en-IN" sz="2400" b="1" dirty="0" err="1"/>
              <a:t>AbstractDemo</a:t>
            </a:r>
            <a:r>
              <a:rPr lang="en-IN" sz="2400" b="1" dirty="0"/>
              <a:t> </a:t>
            </a:r>
          </a:p>
          <a:p>
            <a:pPr marL="0" indent="0">
              <a:buNone/>
            </a:pPr>
            <a:r>
              <a:rPr lang="en-IN" sz="2400" b="1" dirty="0"/>
              <a:t>{</a:t>
            </a:r>
          </a:p>
          <a:p>
            <a:pPr marL="0" indent="0">
              <a:buNone/>
            </a:pPr>
            <a:r>
              <a:rPr lang="en-IN" sz="2400" b="1" dirty="0"/>
              <a:t>	public static void main(String </a:t>
            </a:r>
            <a:r>
              <a:rPr lang="en-IN" sz="2400" b="1" dirty="0" err="1"/>
              <a:t>args</a:t>
            </a:r>
            <a:r>
              <a:rPr lang="en-IN" sz="2400" b="1" dirty="0"/>
              <a:t>[]) </a:t>
            </a:r>
          </a:p>
          <a:p>
            <a:pPr marL="0" indent="0">
              <a:buNone/>
            </a:pPr>
            <a:r>
              <a:rPr lang="en-IN" sz="2400" b="1" dirty="0"/>
              <a:t>	{</a:t>
            </a:r>
          </a:p>
          <a:p>
            <a:pPr marL="0" indent="0">
              <a:buNone/>
            </a:pPr>
            <a:r>
              <a:rPr lang="en-IN" sz="2400" b="1" dirty="0"/>
              <a:t>		B </a:t>
            </a:r>
            <a:r>
              <a:rPr lang="en-IN" sz="2400" b="1" dirty="0" err="1"/>
              <a:t>b</a:t>
            </a:r>
            <a:r>
              <a:rPr lang="en-IN" sz="2400" b="1" dirty="0"/>
              <a:t> = new B();</a:t>
            </a:r>
          </a:p>
          <a:p>
            <a:pPr marL="0" indent="0">
              <a:buNone/>
            </a:pPr>
            <a:r>
              <a:rPr lang="en-IN" sz="2400" b="1" dirty="0"/>
              <a:t>		</a:t>
            </a:r>
            <a:r>
              <a:rPr lang="en-IN" sz="2400" b="1" dirty="0" err="1"/>
              <a:t>b.callme</a:t>
            </a:r>
            <a:r>
              <a:rPr lang="en-IN" sz="2400" b="1" dirty="0"/>
              <a:t>();</a:t>
            </a:r>
          </a:p>
          <a:p>
            <a:pPr marL="0" indent="0">
              <a:buNone/>
            </a:pPr>
            <a:r>
              <a:rPr lang="en-IN" sz="2400" b="1" dirty="0"/>
              <a:t>		</a:t>
            </a:r>
            <a:r>
              <a:rPr lang="en-IN" sz="2400" b="1" dirty="0" err="1"/>
              <a:t>b.callmetoo</a:t>
            </a:r>
            <a:r>
              <a:rPr lang="en-IN" sz="2400" b="1" dirty="0"/>
              <a:t>();</a:t>
            </a:r>
          </a:p>
          <a:p>
            <a:pPr marL="0" indent="0">
              <a:buNone/>
            </a:pPr>
            <a:r>
              <a:rPr lang="en-IN" sz="2400" b="1" dirty="0"/>
              <a:t>	}</a:t>
            </a:r>
          </a:p>
          <a:p>
            <a:pPr marL="0" indent="0">
              <a:buNone/>
            </a:pPr>
            <a:r>
              <a:rPr lang="en-IN" sz="2400" b="1" dirty="0"/>
              <a:t>}</a:t>
            </a:r>
          </a:p>
        </p:txBody>
      </p:sp>
    </p:spTree>
    <p:extLst>
      <p:ext uri="{BB962C8B-B14F-4D97-AF65-F5344CB8AC3E}">
        <p14:creationId xmlns:p14="http://schemas.microsoft.com/office/powerpoint/2010/main" val="2362946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32326-6D20-D21D-2278-1B8DC92B387D}"/>
              </a:ext>
            </a:extLst>
          </p:cNvPr>
          <p:cNvSpPr>
            <a:spLocks noGrp="1"/>
          </p:cNvSpPr>
          <p:nvPr>
            <p:ph type="title"/>
          </p:nvPr>
        </p:nvSpPr>
        <p:spPr/>
        <p:txBody>
          <a:bodyPr/>
          <a:lstStyle/>
          <a:p>
            <a:r>
              <a:rPr lang="en-IN" b="1" dirty="0"/>
              <a:t>Using final with Inheritance</a:t>
            </a:r>
          </a:p>
        </p:txBody>
      </p:sp>
      <p:sp>
        <p:nvSpPr>
          <p:cNvPr id="3" name="Content Placeholder 2">
            <a:extLst>
              <a:ext uri="{FF2B5EF4-FFF2-40B4-BE49-F238E27FC236}">
                <a16:creationId xmlns:a16="http://schemas.microsoft.com/office/drawing/2014/main" id="{DAE49111-196F-E8B0-4895-AA5030F29F13}"/>
              </a:ext>
            </a:extLst>
          </p:cNvPr>
          <p:cNvSpPr>
            <a:spLocks noGrp="1"/>
          </p:cNvSpPr>
          <p:nvPr>
            <p:ph idx="1"/>
          </p:nvPr>
        </p:nvSpPr>
        <p:spPr/>
        <p:txBody>
          <a:bodyPr>
            <a:normAutofit/>
          </a:bodyPr>
          <a:lstStyle/>
          <a:p>
            <a:r>
              <a:rPr lang="en-IN" sz="2800" b="1" i="0" u="none" strike="noStrike" baseline="0" dirty="0">
                <a:latin typeface="DINMittelEFOP-Bold"/>
              </a:rPr>
              <a:t>Using final to Prevent Overriding</a:t>
            </a:r>
          </a:p>
          <a:p>
            <a:r>
              <a:rPr lang="en-IN" sz="2800" b="1" i="0" u="none" strike="noStrike" baseline="0" dirty="0">
                <a:latin typeface="DINMittelEFOP-Bold"/>
              </a:rPr>
              <a:t>Using final to Prevent Inheritance</a:t>
            </a:r>
            <a:endParaRPr lang="en-IN" sz="2800" dirty="0"/>
          </a:p>
        </p:txBody>
      </p:sp>
    </p:spTree>
    <p:extLst>
      <p:ext uri="{BB962C8B-B14F-4D97-AF65-F5344CB8AC3E}">
        <p14:creationId xmlns:p14="http://schemas.microsoft.com/office/powerpoint/2010/main" val="29602029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DE7F3-2B84-6282-8362-E519CA05D0AE}"/>
              </a:ext>
            </a:extLst>
          </p:cNvPr>
          <p:cNvSpPr>
            <a:spLocks noGrp="1"/>
          </p:cNvSpPr>
          <p:nvPr>
            <p:ph type="title"/>
          </p:nvPr>
        </p:nvSpPr>
        <p:spPr/>
        <p:txBody>
          <a:bodyPr/>
          <a:lstStyle/>
          <a:p>
            <a:r>
              <a:rPr lang="en-IN" sz="3600" b="1" i="0" u="none" strike="noStrike" baseline="0" dirty="0">
                <a:latin typeface="DINMittelEFOP-Bold"/>
              </a:rPr>
              <a:t>Using final to Prevent Overriding</a:t>
            </a:r>
            <a:br>
              <a:rPr lang="en-IN" sz="3600" b="1" i="0" u="none" strike="noStrike" baseline="0" dirty="0">
                <a:latin typeface="DINMittelEFOP-Bold"/>
              </a:rPr>
            </a:br>
            <a:endParaRPr lang="en-IN" dirty="0"/>
          </a:p>
        </p:txBody>
      </p:sp>
      <p:sp>
        <p:nvSpPr>
          <p:cNvPr id="3" name="Content Placeholder 2">
            <a:extLst>
              <a:ext uri="{FF2B5EF4-FFF2-40B4-BE49-F238E27FC236}">
                <a16:creationId xmlns:a16="http://schemas.microsoft.com/office/drawing/2014/main" id="{D3BADA1F-E61B-BEF5-E4E3-58001BD65A4A}"/>
              </a:ext>
            </a:extLst>
          </p:cNvPr>
          <p:cNvSpPr>
            <a:spLocks noGrp="1"/>
          </p:cNvSpPr>
          <p:nvPr>
            <p:ph idx="1"/>
          </p:nvPr>
        </p:nvSpPr>
        <p:spPr>
          <a:xfrm>
            <a:off x="2413000" y="1303867"/>
            <a:ext cx="9091612" cy="4607355"/>
          </a:xfrm>
        </p:spPr>
        <p:txBody>
          <a:bodyPr>
            <a:noAutofit/>
          </a:bodyPr>
          <a:lstStyle/>
          <a:p>
            <a:pPr marL="0" indent="0">
              <a:buNone/>
            </a:pPr>
            <a:r>
              <a:rPr lang="en-IN" sz="2000" b="1" dirty="0"/>
              <a:t>class A </a:t>
            </a:r>
          </a:p>
          <a:p>
            <a:pPr marL="0" indent="0">
              <a:buNone/>
            </a:pPr>
            <a:r>
              <a:rPr lang="en-IN" sz="2000" b="1" dirty="0"/>
              <a:t>{	final void meth() </a:t>
            </a:r>
          </a:p>
          <a:p>
            <a:pPr marL="0" indent="0">
              <a:buNone/>
            </a:pPr>
            <a:r>
              <a:rPr lang="en-IN" sz="2000" b="1" dirty="0"/>
              <a:t>	{   </a:t>
            </a:r>
            <a:r>
              <a:rPr lang="en-IN" sz="2000" b="1" dirty="0" err="1"/>
              <a:t>System.out.println</a:t>
            </a:r>
            <a:r>
              <a:rPr lang="en-IN" sz="2000" b="1" dirty="0"/>
              <a:t>("This is a final method.");</a:t>
            </a:r>
          </a:p>
          <a:p>
            <a:pPr marL="0" indent="0">
              <a:buNone/>
            </a:pPr>
            <a:r>
              <a:rPr lang="en-IN" sz="2000" b="1" dirty="0"/>
              <a:t>       }</a:t>
            </a:r>
          </a:p>
          <a:p>
            <a:pPr marL="0" indent="0">
              <a:buNone/>
            </a:pPr>
            <a:r>
              <a:rPr lang="en-IN" sz="2000" b="1" dirty="0"/>
              <a:t>}</a:t>
            </a:r>
          </a:p>
          <a:p>
            <a:pPr marL="0" indent="0">
              <a:buNone/>
            </a:pPr>
            <a:r>
              <a:rPr lang="en-IN" sz="2000" b="1" dirty="0"/>
              <a:t>class B extends A </a:t>
            </a:r>
          </a:p>
          <a:p>
            <a:pPr marL="0" indent="0">
              <a:buNone/>
            </a:pPr>
            <a:r>
              <a:rPr lang="en-IN" sz="2000" b="1" dirty="0"/>
              <a:t>{      void meth()</a:t>
            </a:r>
          </a:p>
          <a:p>
            <a:pPr marL="0" indent="0">
              <a:buNone/>
            </a:pPr>
            <a:r>
              <a:rPr lang="en-IN" sz="2000" b="1" dirty="0"/>
              <a:t>        { // ERROR! Can't override.</a:t>
            </a:r>
          </a:p>
          <a:p>
            <a:pPr marL="0" indent="0">
              <a:buNone/>
            </a:pPr>
            <a:r>
              <a:rPr lang="en-IN" sz="2000" b="1" dirty="0"/>
              <a:t>		</a:t>
            </a:r>
            <a:r>
              <a:rPr lang="en-IN" sz="2000" b="1" dirty="0" err="1"/>
              <a:t>System.out.println</a:t>
            </a:r>
            <a:r>
              <a:rPr lang="en-IN" sz="2000" b="1" dirty="0"/>
              <a:t>("Illegal!");</a:t>
            </a:r>
          </a:p>
          <a:p>
            <a:pPr marL="0" indent="0">
              <a:buNone/>
            </a:pPr>
            <a:r>
              <a:rPr lang="en-IN" sz="2000" b="1" dirty="0"/>
              <a:t>	}</a:t>
            </a:r>
          </a:p>
          <a:p>
            <a:pPr marL="0" indent="0">
              <a:buNone/>
            </a:pPr>
            <a:r>
              <a:rPr lang="en-IN" sz="2000" b="1" dirty="0"/>
              <a:t>}</a:t>
            </a:r>
          </a:p>
        </p:txBody>
      </p:sp>
    </p:spTree>
    <p:extLst>
      <p:ext uri="{BB962C8B-B14F-4D97-AF65-F5344CB8AC3E}">
        <p14:creationId xmlns:p14="http://schemas.microsoft.com/office/powerpoint/2010/main" val="29843578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A6D72-EC45-337E-557B-503FAE353A94}"/>
              </a:ext>
            </a:extLst>
          </p:cNvPr>
          <p:cNvSpPr>
            <a:spLocks noGrp="1"/>
          </p:cNvSpPr>
          <p:nvPr>
            <p:ph type="title"/>
          </p:nvPr>
        </p:nvSpPr>
        <p:spPr/>
        <p:txBody>
          <a:bodyPr/>
          <a:lstStyle/>
          <a:p>
            <a:r>
              <a:rPr lang="en-IN" sz="3600" b="1" i="0" u="none" strike="noStrike" baseline="0" dirty="0">
                <a:latin typeface="DINMittelEFOP-Bold"/>
              </a:rPr>
              <a:t>Using final to Prevent Inheritance</a:t>
            </a:r>
            <a:endParaRPr lang="en-IN" dirty="0"/>
          </a:p>
        </p:txBody>
      </p:sp>
      <p:sp>
        <p:nvSpPr>
          <p:cNvPr id="3" name="Content Placeholder 2">
            <a:extLst>
              <a:ext uri="{FF2B5EF4-FFF2-40B4-BE49-F238E27FC236}">
                <a16:creationId xmlns:a16="http://schemas.microsoft.com/office/drawing/2014/main" id="{0EB40B99-8E81-B68C-5846-2679F50B4186}"/>
              </a:ext>
            </a:extLst>
          </p:cNvPr>
          <p:cNvSpPr>
            <a:spLocks noGrp="1"/>
          </p:cNvSpPr>
          <p:nvPr>
            <p:ph idx="1"/>
          </p:nvPr>
        </p:nvSpPr>
        <p:spPr/>
        <p:txBody>
          <a:bodyPr>
            <a:normAutofit/>
          </a:bodyPr>
          <a:lstStyle/>
          <a:p>
            <a:pPr marL="0" indent="0">
              <a:buNone/>
            </a:pPr>
            <a:r>
              <a:rPr lang="en-IN" sz="2400" b="1" dirty="0"/>
              <a:t>final class A {</a:t>
            </a:r>
          </a:p>
          <a:p>
            <a:pPr marL="0" indent="0">
              <a:buNone/>
            </a:pPr>
            <a:r>
              <a:rPr lang="en-IN" sz="2400" b="1" dirty="0"/>
              <a:t>//...</a:t>
            </a:r>
          </a:p>
          <a:p>
            <a:pPr marL="0" indent="0">
              <a:buNone/>
            </a:pPr>
            <a:r>
              <a:rPr lang="en-IN" sz="2400" b="1" dirty="0"/>
              <a:t>}</a:t>
            </a:r>
          </a:p>
          <a:p>
            <a:pPr marL="0" indent="0">
              <a:buNone/>
            </a:pPr>
            <a:r>
              <a:rPr lang="en-IN" sz="2400" b="1" dirty="0"/>
              <a:t>// The following class is illegal.</a:t>
            </a:r>
          </a:p>
          <a:p>
            <a:pPr marL="0" indent="0">
              <a:buNone/>
            </a:pPr>
            <a:r>
              <a:rPr lang="en-IN" sz="2400" b="1" dirty="0"/>
              <a:t>class B extends A { // ERROR! Can't subclass A</a:t>
            </a:r>
          </a:p>
          <a:p>
            <a:pPr marL="0" indent="0">
              <a:buNone/>
            </a:pPr>
            <a:r>
              <a:rPr lang="en-IN" sz="2400" b="1" dirty="0"/>
              <a:t>//...</a:t>
            </a:r>
          </a:p>
          <a:p>
            <a:pPr marL="0" indent="0">
              <a:buNone/>
            </a:pPr>
            <a:r>
              <a:rPr lang="en-IN" sz="2400" b="1" dirty="0"/>
              <a:t>}</a:t>
            </a:r>
          </a:p>
        </p:txBody>
      </p:sp>
    </p:spTree>
    <p:extLst>
      <p:ext uri="{BB962C8B-B14F-4D97-AF65-F5344CB8AC3E}">
        <p14:creationId xmlns:p14="http://schemas.microsoft.com/office/powerpoint/2010/main" val="42596353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C636B-5652-8311-0E2A-20B814545263}"/>
              </a:ext>
            </a:extLst>
          </p:cNvPr>
          <p:cNvSpPr>
            <a:spLocks noGrp="1"/>
          </p:cNvSpPr>
          <p:nvPr>
            <p:ph type="title"/>
          </p:nvPr>
        </p:nvSpPr>
        <p:spPr/>
        <p:txBody>
          <a:bodyPr/>
          <a:lstStyle/>
          <a:p>
            <a:r>
              <a:rPr lang="en-IN" b="0" i="0" dirty="0">
                <a:solidFill>
                  <a:srgbClr val="1D1D27"/>
                </a:solidFill>
                <a:effectLst/>
                <a:latin typeface="montserrat" panose="00000500000000000000" pitchFamily="2" charset="0"/>
              </a:rPr>
              <a:t>Final Keyword In Java</a:t>
            </a:r>
            <a:br>
              <a:rPr lang="en-IN" b="0" i="0" dirty="0">
                <a:solidFill>
                  <a:srgbClr val="1D1D27"/>
                </a:solidFill>
                <a:effectLst/>
                <a:latin typeface="montserrat" panose="00000500000000000000" pitchFamily="2" charset="0"/>
              </a:rPr>
            </a:br>
            <a:endParaRPr lang="en-IN" dirty="0"/>
          </a:p>
        </p:txBody>
      </p:sp>
      <p:sp>
        <p:nvSpPr>
          <p:cNvPr id="3" name="Content Placeholder 2">
            <a:extLst>
              <a:ext uri="{FF2B5EF4-FFF2-40B4-BE49-F238E27FC236}">
                <a16:creationId xmlns:a16="http://schemas.microsoft.com/office/drawing/2014/main" id="{760E6602-F943-789A-DF16-DDEBF128CCEB}"/>
              </a:ext>
            </a:extLst>
          </p:cNvPr>
          <p:cNvSpPr>
            <a:spLocks noGrp="1"/>
          </p:cNvSpPr>
          <p:nvPr>
            <p:ph idx="1"/>
          </p:nvPr>
        </p:nvSpPr>
        <p:spPr>
          <a:xfrm>
            <a:off x="1297739" y="1422661"/>
            <a:ext cx="6395797" cy="4572785"/>
          </a:xfrm>
        </p:spPr>
        <p:txBody>
          <a:bodyPr>
            <a:normAutofit/>
          </a:bodyPr>
          <a:lstStyle/>
          <a:p>
            <a:pPr algn="just"/>
            <a:r>
              <a:rPr lang="en-IN" sz="2400" b="1" i="0" dirty="0">
                <a:solidFill>
                  <a:srgbClr val="2B2A29"/>
                </a:solidFill>
                <a:effectLst/>
                <a:latin typeface="montserrat" panose="00000500000000000000" pitchFamily="2" charset="0"/>
              </a:rPr>
              <a:t>The final keyword in java is used to restrict the user. The java final keyword can be used in many context. Final can be:</a:t>
            </a:r>
          </a:p>
          <a:p>
            <a:pPr algn="l">
              <a:buFont typeface="+mj-lt"/>
              <a:buAutoNum type="arabicPeriod"/>
            </a:pPr>
            <a:r>
              <a:rPr lang="en-IN" sz="2400" b="1" i="0" dirty="0">
                <a:solidFill>
                  <a:srgbClr val="2B2A29"/>
                </a:solidFill>
                <a:effectLst/>
                <a:latin typeface="montserrat" panose="00000500000000000000" pitchFamily="2" charset="0"/>
              </a:rPr>
              <a:t>variable</a:t>
            </a:r>
          </a:p>
          <a:p>
            <a:pPr algn="l">
              <a:buFont typeface="+mj-lt"/>
              <a:buAutoNum type="arabicPeriod"/>
            </a:pPr>
            <a:r>
              <a:rPr lang="en-IN" sz="2400" b="1" i="0" dirty="0">
                <a:solidFill>
                  <a:srgbClr val="2B2A29"/>
                </a:solidFill>
                <a:effectLst/>
                <a:latin typeface="montserrat" panose="00000500000000000000" pitchFamily="2" charset="0"/>
              </a:rPr>
              <a:t>method</a:t>
            </a:r>
          </a:p>
          <a:p>
            <a:pPr algn="l">
              <a:buFont typeface="+mj-lt"/>
              <a:buAutoNum type="arabicPeriod"/>
            </a:pPr>
            <a:r>
              <a:rPr lang="en-IN" sz="2400" b="1" i="0" dirty="0">
                <a:solidFill>
                  <a:srgbClr val="2B2A29"/>
                </a:solidFill>
                <a:effectLst/>
                <a:latin typeface="montserrat" panose="00000500000000000000" pitchFamily="2" charset="0"/>
              </a:rPr>
              <a:t>class</a:t>
            </a:r>
          </a:p>
          <a:p>
            <a:endParaRPr lang="en-IN" sz="2400" b="1" dirty="0"/>
          </a:p>
        </p:txBody>
      </p:sp>
      <p:pic>
        <p:nvPicPr>
          <p:cNvPr id="1028" name="Picture 4" descr="final keyword in java">
            <a:extLst>
              <a:ext uri="{FF2B5EF4-FFF2-40B4-BE49-F238E27FC236}">
                <a16:creationId xmlns:a16="http://schemas.microsoft.com/office/drawing/2014/main" id="{35BFC211-AE72-481E-F241-5B1D77673E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2662" y="1761291"/>
            <a:ext cx="4177660" cy="3191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42656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78426B-FB3D-5D84-C45D-63F30B12A428}"/>
              </a:ext>
            </a:extLst>
          </p:cNvPr>
          <p:cNvSpPr>
            <a:spLocks noGrp="1"/>
          </p:cNvSpPr>
          <p:nvPr>
            <p:ph idx="1"/>
          </p:nvPr>
        </p:nvSpPr>
        <p:spPr>
          <a:xfrm>
            <a:off x="2268700" y="1209773"/>
            <a:ext cx="8915400" cy="3777622"/>
          </a:xfrm>
        </p:spPr>
        <p:txBody>
          <a:bodyPr>
            <a:noAutofit/>
          </a:bodyPr>
          <a:lstStyle/>
          <a:p>
            <a:pPr marL="0" indent="0" algn="l">
              <a:buNone/>
            </a:pPr>
            <a:r>
              <a:rPr lang="en-IN" sz="2400" b="0" i="0" dirty="0">
                <a:solidFill>
                  <a:srgbClr val="2B2A29"/>
                </a:solidFill>
                <a:effectLst/>
                <a:latin typeface="montserrat" panose="00000500000000000000" pitchFamily="2" charset="0"/>
              </a:rPr>
              <a:t>class Bike</a:t>
            </a:r>
          </a:p>
          <a:p>
            <a:pPr marL="0" indent="0" algn="l">
              <a:buNone/>
            </a:pPr>
            <a:r>
              <a:rPr lang="en-IN" sz="2400" b="0" i="0" dirty="0">
                <a:solidFill>
                  <a:srgbClr val="2B2A29"/>
                </a:solidFill>
                <a:effectLst/>
                <a:latin typeface="montserrat" panose="00000500000000000000" pitchFamily="2" charset="0"/>
              </a:rPr>
              <a:t>{   	</a:t>
            </a:r>
            <a:r>
              <a:rPr lang="en-IN" sz="2400" b="1" i="0" dirty="0">
                <a:solidFill>
                  <a:srgbClr val="006699"/>
                </a:solidFill>
                <a:effectLst/>
                <a:latin typeface="montserrat" panose="00000500000000000000" pitchFamily="2" charset="0"/>
              </a:rPr>
              <a:t>final</a:t>
            </a:r>
            <a:r>
              <a:rPr lang="en-IN" sz="2400" b="0" i="0" dirty="0">
                <a:solidFill>
                  <a:srgbClr val="2B2A29"/>
                </a:solidFill>
                <a:effectLst/>
                <a:latin typeface="montserrat" panose="00000500000000000000" pitchFamily="2" charset="0"/>
              </a:rPr>
              <a:t> </a:t>
            </a:r>
            <a:r>
              <a:rPr lang="en-IN" sz="2400" i="0" dirty="0">
                <a:solidFill>
                  <a:srgbClr val="006699"/>
                </a:solidFill>
                <a:effectLst/>
                <a:latin typeface="montserrat" panose="00000500000000000000" pitchFamily="2" charset="0"/>
              </a:rPr>
              <a:t>int</a:t>
            </a:r>
            <a:r>
              <a:rPr lang="en-IN" sz="2400" b="0" i="0" dirty="0">
                <a:solidFill>
                  <a:srgbClr val="2B2A29"/>
                </a:solidFill>
                <a:effectLst/>
                <a:latin typeface="montserrat" panose="00000500000000000000" pitchFamily="2" charset="0"/>
              </a:rPr>
              <a:t> </a:t>
            </a:r>
            <a:r>
              <a:rPr lang="en-IN" sz="2400" b="0" i="0" dirty="0" err="1">
                <a:solidFill>
                  <a:srgbClr val="2B2A29"/>
                </a:solidFill>
                <a:effectLst/>
                <a:latin typeface="montserrat" panose="00000500000000000000" pitchFamily="2" charset="0"/>
              </a:rPr>
              <a:t>speedlimit</a:t>
            </a:r>
            <a:r>
              <a:rPr lang="en-IN" sz="2400" b="0" i="0" dirty="0">
                <a:solidFill>
                  <a:srgbClr val="2B2A29"/>
                </a:solidFill>
                <a:effectLst/>
                <a:latin typeface="montserrat" panose="00000500000000000000" pitchFamily="2" charset="0"/>
              </a:rPr>
              <a:t>=</a:t>
            </a:r>
            <a:r>
              <a:rPr lang="en-IN" sz="2400" b="0" i="0" dirty="0">
                <a:solidFill>
                  <a:srgbClr val="C00000"/>
                </a:solidFill>
                <a:effectLst/>
                <a:latin typeface="montserrat" panose="00000500000000000000" pitchFamily="2" charset="0"/>
              </a:rPr>
              <a:t>90</a:t>
            </a:r>
            <a:r>
              <a:rPr lang="en-IN" sz="2400" b="0" i="0" dirty="0">
                <a:solidFill>
                  <a:srgbClr val="2B2A29"/>
                </a:solidFill>
                <a:effectLst/>
                <a:latin typeface="montserrat" panose="00000500000000000000" pitchFamily="2" charset="0"/>
              </a:rPr>
              <a:t>;//final variable  </a:t>
            </a:r>
          </a:p>
          <a:p>
            <a:pPr marL="0" indent="0" algn="l">
              <a:buNone/>
            </a:pPr>
            <a:r>
              <a:rPr lang="en-IN" sz="2400" b="0" i="0" dirty="0">
                <a:solidFill>
                  <a:srgbClr val="2B2A29"/>
                </a:solidFill>
                <a:effectLst/>
                <a:latin typeface="montserrat" panose="00000500000000000000" pitchFamily="2" charset="0"/>
              </a:rPr>
              <a:t> 	</a:t>
            </a:r>
            <a:r>
              <a:rPr lang="en-IN" sz="2400" b="1" i="0" dirty="0">
                <a:solidFill>
                  <a:srgbClr val="006699"/>
                </a:solidFill>
                <a:effectLst/>
                <a:latin typeface="montserrat" panose="00000500000000000000" pitchFamily="2" charset="0"/>
              </a:rPr>
              <a:t>void</a:t>
            </a:r>
            <a:r>
              <a:rPr lang="en-IN" sz="2400" b="0" i="0" dirty="0">
                <a:solidFill>
                  <a:srgbClr val="2B2A29"/>
                </a:solidFill>
                <a:effectLst/>
                <a:latin typeface="montserrat" panose="00000500000000000000" pitchFamily="2" charset="0"/>
              </a:rPr>
              <a:t> run()</a:t>
            </a:r>
          </a:p>
          <a:p>
            <a:pPr marL="0" indent="0" algn="l">
              <a:buNone/>
            </a:pPr>
            <a:r>
              <a:rPr lang="en-IN" sz="2400" dirty="0">
                <a:solidFill>
                  <a:srgbClr val="2B2A29"/>
                </a:solidFill>
                <a:latin typeface="montserrat" panose="00000500000000000000" pitchFamily="2" charset="0"/>
              </a:rPr>
              <a:t>	</a:t>
            </a:r>
            <a:r>
              <a:rPr lang="en-IN" sz="2400" b="0" i="0" dirty="0">
                <a:solidFill>
                  <a:srgbClr val="2B2A29"/>
                </a:solidFill>
                <a:effectLst/>
                <a:latin typeface="montserrat" panose="00000500000000000000" pitchFamily="2" charset="0"/>
              </a:rPr>
              <a:t>{     </a:t>
            </a:r>
            <a:r>
              <a:rPr lang="en-IN" sz="2400" b="0" i="0" dirty="0" err="1">
                <a:solidFill>
                  <a:srgbClr val="2B2A29"/>
                </a:solidFill>
                <a:effectLst/>
                <a:latin typeface="montserrat" panose="00000500000000000000" pitchFamily="2" charset="0"/>
              </a:rPr>
              <a:t>speedlimit</a:t>
            </a:r>
            <a:r>
              <a:rPr lang="en-IN" sz="2400" b="0" i="0" dirty="0">
                <a:solidFill>
                  <a:srgbClr val="2B2A29"/>
                </a:solidFill>
                <a:effectLst/>
                <a:latin typeface="montserrat" panose="00000500000000000000" pitchFamily="2" charset="0"/>
              </a:rPr>
              <a:t>=</a:t>
            </a:r>
            <a:r>
              <a:rPr lang="en-IN" sz="2400" b="0" i="0" dirty="0">
                <a:solidFill>
                  <a:srgbClr val="C00000"/>
                </a:solidFill>
                <a:effectLst/>
                <a:latin typeface="montserrat" panose="00000500000000000000" pitchFamily="2" charset="0"/>
              </a:rPr>
              <a:t>400</a:t>
            </a:r>
            <a:r>
              <a:rPr lang="en-IN" sz="2400" b="0" i="0" dirty="0">
                <a:solidFill>
                  <a:srgbClr val="2B2A29"/>
                </a:solidFill>
                <a:effectLst/>
                <a:latin typeface="montserrat" panose="00000500000000000000" pitchFamily="2" charset="0"/>
              </a:rPr>
              <a:t>;    }   // compile tile error</a:t>
            </a:r>
          </a:p>
          <a:p>
            <a:pPr marL="0" indent="0" algn="l">
              <a:buNone/>
            </a:pPr>
            <a:r>
              <a:rPr lang="en-IN" sz="2400" b="0" i="0" dirty="0">
                <a:solidFill>
                  <a:srgbClr val="2B2A29"/>
                </a:solidFill>
                <a:effectLst/>
                <a:latin typeface="montserrat" panose="00000500000000000000" pitchFamily="2" charset="0"/>
              </a:rPr>
              <a:t>      </a:t>
            </a:r>
            <a:r>
              <a:rPr lang="en-IN" sz="2400" b="1" i="0" dirty="0">
                <a:solidFill>
                  <a:srgbClr val="006699"/>
                </a:solidFill>
                <a:effectLst/>
                <a:latin typeface="montserrat" panose="00000500000000000000" pitchFamily="2" charset="0"/>
              </a:rPr>
              <a:t>public</a:t>
            </a:r>
            <a:r>
              <a:rPr lang="en-IN" sz="2400" b="0" i="0" dirty="0">
                <a:solidFill>
                  <a:srgbClr val="2B2A29"/>
                </a:solidFill>
                <a:effectLst/>
                <a:latin typeface="montserrat" panose="00000500000000000000" pitchFamily="2" charset="0"/>
              </a:rPr>
              <a:t> </a:t>
            </a:r>
            <a:r>
              <a:rPr lang="en-IN" sz="2400" b="1" i="0" dirty="0">
                <a:solidFill>
                  <a:srgbClr val="006699"/>
                </a:solidFill>
                <a:effectLst/>
                <a:latin typeface="montserrat" panose="00000500000000000000" pitchFamily="2" charset="0"/>
              </a:rPr>
              <a:t>static</a:t>
            </a:r>
            <a:r>
              <a:rPr lang="en-IN" sz="2400" b="0" i="0" dirty="0">
                <a:solidFill>
                  <a:srgbClr val="2B2A29"/>
                </a:solidFill>
                <a:effectLst/>
                <a:latin typeface="montserrat" panose="00000500000000000000" pitchFamily="2" charset="0"/>
              </a:rPr>
              <a:t> </a:t>
            </a:r>
            <a:r>
              <a:rPr lang="en-IN" sz="2400" b="1" i="0" dirty="0">
                <a:solidFill>
                  <a:srgbClr val="006699"/>
                </a:solidFill>
                <a:effectLst/>
                <a:latin typeface="montserrat" panose="00000500000000000000" pitchFamily="2" charset="0"/>
              </a:rPr>
              <a:t>void</a:t>
            </a:r>
            <a:r>
              <a:rPr lang="en-IN" sz="2400" b="0" i="0" dirty="0">
                <a:solidFill>
                  <a:srgbClr val="2B2A29"/>
                </a:solidFill>
                <a:effectLst/>
                <a:latin typeface="montserrat" panose="00000500000000000000" pitchFamily="2" charset="0"/>
              </a:rPr>
              <a:t> main(String </a:t>
            </a:r>
            <a:r>
              <a:rPr lang="en-IN" sz="2400" b="0" i="0" dirty="0" err="1">
                <a:solidFill>
                  <a:srgbClr val="2B2A29"/>
                </a:solidFill>
                <a:effectLst/>
                <a:latin typeface="montserrat" panose="00000500000000000000" pitchFamily="2" charset="0"/>
              </a:rPr>
              <a:t>args</a:t>
            </a:r>
            <a:r>
              <a:rPr lang="en-IN" sz="2400" b="0" i="0" dirty="0">
                <a:solidFill>
                  <a:srgbClr val="2B2A29"/>
                </a:solidFill>
                <a:effectLst/>
                <a:latin typeface="montserrat" panose="00000500000000000000" pitchFamily="2" charset="0"/>
              </a:rPr>
              <a:t>[])</a:t>
            </a:r>
          </a:p>
          <a:p>
            <a:pPr marL="0" indent="0" algn="l">
              <a:buNone/>
            </a:pPr>
            <a:r>
              <a:rPr lang="en-IN" sz="2400" dirty="0">
                <a:solidFill>
                  <a:srgbClr val="2B2A29"/>
                </a:solidFill>
                <a:latin typeface="montserrat" panose="00000500000000000000" pitchFamily="2" charset="0"/>
              </a:rPr>
              <a:t>      </a:t>
            </a:r>
            <a:r>
              <a:rPr lang="en-IN" sz="2400" b="0" i="0" dirty="0">
                <a:solidFill>
                  <a:srgbClr val="2B2A29"/>
                </a:solidFill>
                <a:effectLst/>
                <a:latin typeface="montserrat" panose="00000500000000000000" pitchFamily="2" charset="0"/>
              </a:rPr>
              <a:t>{  </a:t>
            </a:r>
          </a:p>
          <a:p>
            <a:pPr marL="0" indent="0" algn="l">
              <a:buNone/>
            </a:pPr>
            <a:r>
              <a:rPr lang="en-IN" sz="2400" b="0" i="0" dirty="0">
                <a:solidFill>
                  <a:srgbClr val="2B2A29"/>
                </a:solidFill>
                <a:effectLst/>
                <a:latin typeface="montserrat" panose="00000500000000000000" pitchFamily="2" charset="0"/>
              </a:rPr>
              <a:t>            Bike </a:t>
            </a:r>
            <a:r>
              <a:rPr lang="en-IN" sz="2400" b="0" i="0" dirty="0" err="1">
                <a:solidFill>
                  <a:srgbClr val="2B2A29"/>
                </a:solidFill>
                <a:effectLst/>
                <a:latin typeface="montserrat" panose="00000500000000000000" pitchFamily="2" charset="0"/>
              </a:rPr>
              <a:t>obj</a:t>
            </a:r>
            <a:r>
              <a:rPr lang="en-IN" sz="2400" b="0" i="0" dirty="0">
                <a:solidFill>
                  <a:srgbClr val="2B2A29"/>
                </a:solidFill>
                <a:effectLst/>
                <a:latin typeface="montserrat" panose="00000500000000000000" pitchFamily="2" charset="0"/>
              </a:rPr>
              <a:t>=</a:t>
            </a:r>
            <a:r>
              <a:rPr lang="en-IN" sz="2400" b="1" i="0" dirty="0">
                <a:solidFill>
                  <a:srgbClr val="006699"/>
                </a:solidFill>
                <a:effectLst/>
                <a:latin typeface="montserrat" panose="00000500000000000000" pitchFamily="2" charset="0"/>
              </a:rPr>
              <a:t>new</a:t>
            </a:r>
            <a:r>
              <a:rPr lang="en-IN" sz="2400" b="0" i="0" dirty="0">
                <a:solidFill>
                  <a:srgbClr val="2B2A29"/>
                </a:solidFill>
                <a:effectLst/>
                <a:latin typeface="montserrat" panose="00000500000000000000" pitchFamily="2" charset="0"/>
              </a:rPr>
              <a:t>  Bike();</a:t>
            </a:r>
          </a:p>
          <a:p>
            <a:pPr marL="0" indent="0" algn="l">
              <a:buNone/>
            </a:pPr>
            <a:r>
              <a:rPr lang="en-IN" sz="2400" dirty="0">
                <a:solidFill>
                  <a:srgbClr val="2B2A29"/>
                </a:solidFill>
                <a:latin typeface="montserrat" panose="00000500000000000000" pitchFamily="2" charset="0"/>
              </a:rPr>
              <a:t>		</a:t>
            </a:r>
            <a:r>
              <a:rPr lang="en-IN" sz="2400" b="0" i="0" dirty="0" err="1">
                <a:solidFill>
                  <a:srgbClr val="2B2A29"/>
                </a:solidFill>
                <a:effectLst/>
                <a:latin typeface="montserrat" panose="00000500000000000000" pitchFamily="2" charset="0"/>
              </a:rPr>
              <a:t>obj.run</a:t>
            </a:r>
            <a:r>
              <a:rPr lang="en-IN" sz="2400" b="0" i="0" dirty="0">
                <a:solidFill>
                  <a:srgbClr val="2B2A29"/>
                </a:solidFill>
                <a:effectLst/>
                <a:latin typeface="montserrat" panose="00000500000000000000" pitchFamily="2" charset="0"/>
              </a:rPr>
              <a:t>();  </a:t>
            </a:r>
          </a:p>
          <a:p>
            <a:pPr marL="0" indent="0" algn="l">
              <a:buNone/>
            </a:pPr>
            <a:r>
              <a:rPr lang="en-IN" sz="2400" b="0" i="0" dirty="0">
                <a:solidFill>
                  <a:srgbClr val="2B2A29"/>
                </a:solidFill>
                <a:effectLst/>
                <a:latin typeface="montserrat" panose="00000500000000000000" pitchFamily="2" charset="0"/>
              </a:rPr>
              <a:t> 	}  </a:t>
            </a:r>
          </a:p>
          <a:p>
            <a:pPr marL="0" indent="0" algn="l">
              <a:buNone/>
            </a:pPr>
            <a:r>
              <a:rPr lang="en-IN" sz="2400" b="0" i="0" dirty="0">
                <a:solidFill>
                  <a:srgbClr val="2B2A29"/>
                </a:solidFill>
                <a:effectLst/>
                <a:latin typeface="montserrat" panose="00000500000000000000" pitchFamily="2" charset="0"/>
              </a:rPr>
              <a:t>}//end of class  </a:t>
            </a:r>
          </a:p>
          <a:p>
            <a:pPr marL="0" indent="0">
              <a:buNone/>
            </a:pPr>
            <a:endParaRPr lang="en-IN" sz="2400" dirty="0"/>
          </a:p>
        </p:txBody>
      </p:sp>
      <p:sp>
        <p:nvSpPr>
          <p:cNvPr id="6" name="TextBox 5">
            <a:extLst>
              <a:ext uri="{FF2B5EF4-FFF2-40B4-BE49-F238E27FC236}">
                <a16:creationId xmlns:a16="http://schemas.microsoft.com/office/drawing/2014/main" id="{92780622-E125-E0F6-3D7F-21A047C867D5}"/>
              </a:ext>
            </a:extLst>
          </p:cNvPr>
          <p:cNvSpPr txBox="1"/>
          <p:nvPr/>
        </p:nvSpPr>
        <p:spPr>
          <a:xfrm>
            <a:off x="1972558" y="9444"/>
            <a:ext cx="9980629" cy="1138773"/>
          </a:xfrm>
          <a:prstGeom prst="rect">
            <a:avLst/>
          </a:prstGeom>
          <a:noFill/>
        </p:spPr>
        <p:txBody>
          <a:bodyPr wrap="square">
            <a:spAutoFit/>
          </a:bodyPr>
          <a:lstStyle/>
          <a:p>
            <a:pPr algn="l"/>
            <a:r>
              <a:rPr lang="en-IN" b="1" i="0" dirty="0">
                <a:solidFill>
                  <a:srgbClr val="1D1D27"/>
                </a:solidFill>
                <a:effectLst/>
                <a:latin typeface="montserrat" panose="00000500000000000000" pitchFamily="2" charset="0"/>
              </a:rPr>
              <a:t> </a:t>
            </a:r>
            <a:r>
              <a:rPr lang="en-IN" sz="2400" b="1" i="0" dirty="0">
                <a:solidFill>
                  <a:srgbClr val="C00000"/>
                </a:solidFill>
                <a:effectLst/>
                <a:latin typeface="montserrat" panose="00000500000000000000" pitchFamily="2" charset="0"/>
              </a:rPr>
              <a:t>Java final variable: </a:t>
            </a:r>
            <a:r>
              <a:rPr lang="en-IN" sz="2000" b="1" i="0" dirty="0">
                <a:solidFill>
                  <a:srgbClr val="2B2A29"/>
                </a:solidFill>
                <a:effectLst/>
                <a:latin typeface="montserrat" panose="00000500000000000000" pitchFamily="2" charset="0"/>
              </a:rPr>
              <a:t>If you make any variable as final, you cannot change the value of final variable(It will be constant).</a:t>
            </a:r>
          </a:p>
          <a:p>
            <a:pPr algn="l"/>
            <a:r>
              <a:rPr lang="en-IN" sz="2400" b="1" i="1" dirty="0">
                <a:solidFill>
                  <a:srgbClr val="002060"/>
                </a:solidFill>
                <a:latin typeface="Arial Rounded MT Bold" panose="020F0704030504030204" pitchFamily="34" charset="0"/>
              </a:rPr>
              <a:t>Final Variable value cannot be changed</a:t>
            </a:r>
            <a:r>
              <a:rPr lang="en-IN" sz="2400" b="1" dirty="0">
                <a:solidFill>
                  <a:srgbClr val="2B2A29"/>
                </a:solidFill>
                <a:latin typeface="Arial Rounded MT Bold" panose="020F0704030504030204" pitchFamily="34" charset="0"/>
              </a:rPr>
              <a:t> </a:t>
            </a:r>
            <a:endParaRPr lang="en-IN" sz="2400" b="1" i="0" dirty="0">
              <a:solidFill>
                <a:srgbClr val="2B2A29"/>
              </a:solidFill>
              <a:effectLst/>
              <a:latin typeface="Arial Rounded MT Bold" panose="020F0704030504030204" pitchFamily="34" charset="0"/>
            </a:endParaRPr>
          </a:p>
        </p:txBody>
      </p:sp>
    </p:spTree>
    <p:extLst>
      <p:ext uri="{BB962C8B-B14F-4D97-AF65-F5344CB8AC3E}">
        <p14:creationId xmlns:p14="http://schemas.microsoft.com/office/powerpoint/2010/main" val="21345644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7E867-DC60-01B0-BD1C-D1FB0CC20C06}"/>
              </a:ext>
            </a:extLst>
          </p:cNvPr>
          <p:cNvSpPr>
            <a:spLocks noGrp="1"/>
          </p:cNvSpPr>
          <p:nvPr>
            <p:ph type="title"/>
          </p:nvPr>
        </p:nvSpPr>
        <p:spPr>
          <a:xfrm>
            <a:off x="1706252" y="0"/>
            <a:ext cx="9090965" cy="1232970"/>
          </a:xfrm>
        </p:spPr>
        <p:txBody>
          <a:bodyPr>
            <a:normAutofit fontScale="90000"/>
          </a:bodyPr>
          <a:lstStyle/>
          <a:p>
            <a:r>
              <a:rPr lang="en-IN" b="0" i="0" dirty="0">
                <a:solidFill>
                  <a:srgbClr val="1D1D27"/>
                </a:solidFill>
                <a:effectLst/>
                <a:latin typeface="montserrat" panose="00000500000000000000" pitchFamily="2" charset="0"/>
              </a:rPr>
              <a:t> Java final method: </a:t>
            </a:r>
            <a:r>
              <a:rPr lang="en-IN" sz="2700" b="1" i="0" dirty="0">
                <a:solidFill>
                  <a:srgbClr val="2B2A29"/>
                </a:solidFill>
                <a:effectLst/>
                <a:latin typeface="montserrat" panose="00000500000000000000" pitchFamily="2" charset="0"/>
              </a:rPr>
              <a:t>If you make any method as final, you cannot override it.</a:t>
            </a:r>
            <a:br>
              <a:rPr lang="en-IN" sz="2700" b="1" i="0" dirty="0">
                <a:solidFill>
                  <a:srgbClr val="2B2A29"/>
                </a:solidFill>
                <a:effectLst/>
                <a:latin typeface="montserrat" panose="00000500000000000000" pitchFamily="2" charset="0"/>
              </a:rPr>
            </a:br>
            <a:br>
              <a:rPr lang="en-IN" sz="2700" b="1" i="0" dirty="0">
                <a:solidFill>
                  <a:srgbClr val="2B2A29"/>
                </a:solidFill>
                <a:effectLst/>
                <a:latin typeface="montserrat" panose="00000500000000000000" pitchFamily="2" charset="0"/>
              </a:rPr>
            </a:br>
            <a:r>
              <a:rPr lang="en-IN" sz="2700" b="1" i="1" dirty="0">
                <a:solidFill>
                  <a:srgbClr val="C00000"/>
                </a:solidFill>
                <a:effectLst/>
                <a:latin typeface="Arial Rounded MT Bold" panose="020F0704030504030204" pitchFamily="34" charset="0"/>
              </a:rPr>
              <a:t>Final methods cannot be Overridden</a:t>
            </a:r>
            <a:br>
              <a:rPr lang="en-IN" sz="2700" b="1" i="1" dirty="0">
                <a:solidFill>
                  <a:srgbClr val="C00000"/>
                </a:solidFill>
                <a:effectLst/>
                <a:latin typeface="Arial Rounded MT Bold" panose="020F0704030504030204" pitchFamily="34" charset="0"/>
              </a:rPr>
            </a:br>
            <a:br>
              <a:rPr lang="en-IN" sz="2700" b="1" i="1" dirty="0">
                <a:solidFill>
                  <a:srgbClr val="C00000"/>
                </a:solidFill>
                <a:effectLst/>
                <a:latin typeface="Arial Rounded MT Bold" panose="020F0704030504030204" pitchFamily="34" charset="0"/>
              </a:rPr>
            </a:br>
            <a:br>
              <a:rPr lang="en-IN" b="1" i="1" dirty="0">
                <a:solidFill>
                  <a:srgbClr val="C00000"/>
                </a:solidFill>
                <a:effectLst/>
                <a:latin typeface="Arial Rounded MT Bold" panose="020F0704030504030204" pitchFamily="34" charset="0"/>
              </a:rPr>
            </a:br>
            <a:endParaRPr lang="en-IN" b="1" i="1" dirty="0">
              <a:solidFill>
                <a:srgbClr val="C00000"/>
              </a:solidFill>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B583816D-B4B7-FCC9-3839-A3B35B6FE4F9}"/>
              </a:ext>
            </a:extLst>
          </p:cNvPr>
          <p:cNvSpPr>
            <a:spLocks noGrp="1"/>
          </p:cNvSpPr>
          <p:nvPr>
            <p:ph idx="1"/>
          </p:nvPr>
        </p:nvSpPr>
        <p:spPr>
          <a:xfrm>
            <a:off x="1706252" y="1662260"/>
            <a:ext cx="9656958" cy="3777622"/>
          </a:xfrm>
        </p:spPr>
        <p:txBody>
          <a:bodyPr>
            <a:noAutofit/>
          </a:bodyPr>
          <a:lstStyle/>
          <a:p>
            <a:pPr marL="0" indent="0">
              <a:buNone/>
            </a:pPr>
            <a:endParaRPr lang="en-IN" sz="2000" b="1" i="0" dirty="0">
              <a:solidFill>
                <a:srgbClr val="2B2A29"/>
              </a:solidFill>
              <a:effectLst/>
              <a:latin typeface="montserrat" panose="00000500000000000000" pitchFamily="2" charset="0"/>
            </a:endParaRPr>
          </a:p>
          <a:p>
            <a:pPr marL="0" indent="0">
              <a:buNone/>
            </a:pPr>
            <a:r>
              <a:rPr lang="en-IN" sz="2000" b="1" i="0" dirty="0">
                <a:solidFill>
                  <a:srgbClr val="2B2A29"/>
                </a:solidFill>
                <a:effectLst/>
                <a:latin typeface="montserrat" panose="00000500000000000000" pitchFamily="2" charset="0"/>
              </a:rPr>
              <a:t>class Bike{  </a:t>
            </a:r>
          </a:p>
          <a:p>
            <a:pPr marL="0" indent="0">
              <a:buNone/>
            </a:pPr>
            <a:r>
              <a:rPr lang="en-IN" sz="2000" b="1" i="0" dirty="0">
                <a:solidFill>
                  <a:srgbClr val="2B2A29"/>
                </a:solidFill>
                <a:effectLst/>
                <a:latin typeface="montserrat" panose="00000500000000000000" pitchFamily="2" charset="0"/>
              </a:rPr>
              <a:t>  </a:t>
            </a:r>
            <a:r>
              <a:rPr lang="en-IN" sz="2000" b="1" i="0" dirty="0">
                <a:solidFill>
                  <a:srgbClr val="006699"/>
                </a:solidFill>
                <a:effectLst/>
                <a:latin typeface="montserrat" panose="00000500000000000000" pitchFamily="2" charset="0"/>
              </a:rPr>
              <a:t>final</a:t>
            </a:r>
            <a:r>
              <a:rPr lang="en-IN" sz="2000" b="1" i="0" dirty="0">
                <a:solidFill>
                  <a:srgbClr val="2B2A29"/>
                </a:solidFill>
                <a:effectLst/>
                <a:latin typeface="montserrat" panose="00000500000000000000" pitchFamily="2" charset="0"/>
              </a:rPr>
              <a:t> </a:t>
            </a:r>
            <a:r>
              <a:rPr lang="en-IN" sz="2000" b="1" i="0" dirty="0">
                <a:solidFill>
                  <a:srgbClr val="006699"/>
                </a:solidFill>
                <a:effectLst/>
                <a:latin typeface="montserrat" panose="00000500000000000000" pitchFamily="2" charset="0"/>
              </a:rPr>
              <a:t>void</a:t>
            </a:r>
            <a:r>
              <a:rPr lang="en-IN" sz="2000" b="1" i="0" dirty="0">
                <a:solidFill>
                  <a:srgbClr val="2B2A29"/>
                </a:solidFill>
                <a:effectLst/>
                <a:latin typeface="montserrat" panose="00000500000000000000" pitchFamily="2" charset="0"/>
              </a:rPr>
              <a:t> run(){</a:t>
            </a:r>
            <a:r>
              <a:rPr lang="en-IN" sz="2000" b="1" i="0" dirty="0" err="1">
                <a:solidFill>
                  <a:srgbClr val="2B2A29"/>
                </a:solidFill>
                <a:effectLst/>
                <a:latin typeface="montserrat" panose="00000500000000000000" pitchFamily="2" charset="0"/>
              </a:rPr>
              <a:t>System.out.println</a:t>
            </a:r>
            <a:r>
              <a:rPr lang="en-IN" sz="2000" b="1" i="0" dirty="0">
                <a:solidFill>
                  <a:srgbClr val="2B2A29"/>
                </a:solidFill>
                <a:effectLst/>
                <a:latin typeface="montserrat" panose="00000500000000000000" pitchFamily="2" charset="0"/>
              </a:rPr>
              <a:t>("running");}  </a:t>
            </a:r>
          </a:p>
          <a:p>
            <a:pPr marL="0" indent="0">
              <a:buNone/>
            </a:pPr>
            <a:r>
              <a:rPr lang="en-IN" sz="2000" b="1" i="0" dirty="0">
                <a:solidFill>
                  <a:srgbClr val="2B2A29"/>
                </a:solidFill>
                <a:effectLst/>
                <a:latin typeface="montserrat" panose="00000500000000000000" pitchFamily="2" charset="0"/>
              </a:rPr>
              <a:t>}   </a:t>
            </a:r>
          </a:p>
          <a:p>
            <a:pPr marL="0" indent="0">
              <a:buNone/>
            </a:pPr>
            <a:r>
              <a:rPr lang="en-IN" sz="2000" b="1" i="0" dirty="0">
                <a:solidFill>
                  <a:srgbClr val="006699"/>
                </a:solidFill>
                <a:effectLst/>
                <a:latin typeface="montserrat" panose="00000500000000000000" pitchFamily="2" charset="0"/>
              </a:rPr>
              <a:t>class</a:t>
            </a:r>
            <a:r>
              <a:rPr lang="en-IN" sz="2000" b="1" i="0" dirty="0">
                <a:solidFill>
                  <a:srgbClr val="2B2A29"/>
                </a:solidFill>
                <a:effectLst/>
                <a:latin typeface="montserrat" panose="00000500000000000000" pitchFamily="2" charset="0"/>
              </a:rPr>
              <a:t> Honda </a:t>
            </a:r>
            <a:r>
              <a:rPr lang="en-IN" sz="2000" b="1" i="0" dirty="0">
                <a:solidFill>
                  <a:srgbClr val="006699"/>
                </a:solidFill>
                <a:effectLst/>
                <a:latin typeface="montserrat" panose="00000500000000000000" pitchFamily="2" charset="0"/>
              </a:rPr>
              <a:t>extends</a:t>
            </a:r>
            <a:r>
              <a:rPr lang="en-IN" sz="2000" b="1" i="0" dirty="0">
                <a:solidFill>
                  <a:srgbClr val="2B2A29"/>
                </a:solidFill>
                <a:effectLst/>
                <a:latin typeface="montserrat" panose="00000500000000000000" pitchFamily="2" charset="0"/>
              </a:rPr>
              <a:t> Bike{  </a:t>
            </a:r>
          </a:p>
          <a:p>
            <a:pPr marL="0" indent="0">
              <a:buNone/>
            </a:pPr>
            <a:r>
              <a:rPr lang="en-IN" sz="2000" b="1" i="0" dirty="0">
                <a:solidFill>
                  <a:srgbClr val="2B2A29"/>
                </a:solidFill>
                <a:effectLst/>
                <a:latin typeface="montserrat" panose="00000500000000000000" pitchFamily="2" charset="0"/>
              </a:rPr>
              <a:t>     </a:t>
            </a:r>
            <a:r>
              <a:rPr lang="en-IN" sz="2000" b="1" i="0" dirty="0">
                <a:solidFill>
                  <a:srgbClr val="006699"/>
                </a:solidFill>
                <a:effectLst/>
                <a:latin typeface="montserrat" panose="00000500000000000000" pitchFamily="2" charset="0"/>
              </a:rPr>
              <a:t>void</a:t>
            </a:r>
            <a:r>
              <a:rPr lang="en-IN" sz="2000" b="1" i="0" dirty="0">
                <a:solidFill>
                  <a:srgbClr val="2B2A29"/>
                </a:solidFill>
                <a:effectLst/>
                <a:latin typeface="montserrat" panose="00000500000000000000" pitchFamily="2" charset="0"/>
              </a:rPr>
              <a:t> run(){</a:t>
            </a:r>
            <a:r>
              <a:rPr lang="en-IN" sz="2000" b="1" i="0" dirty="0" err="1">
                <a:solidFill>
                  <a:srgbClr val="2B2A29"/>
                </a:solidFill>
                <a:effectLst/>
                <a:latin typeface="montserrat" panose="00000500000000000000" pitchFamily="2" charset="0"/>
              </a:rPr>
              <a:t>System.out.println</a:t>
            </a:r>
            <a:r>
              <a:rPr lang="en-IN" sz="2000" b="1" i="0" dirty="0">
                <a:solidFill>
                  <a:srgbClr val="2B2A29"/>
                </a:solidFill>
                <a:effectLst/>
                <a:latin typeface="montserrat" panose="00000500000000000000" pitchFamily="2" charset="0"/>
              </a:rPr>
              <a:t>("running safely with 100kmph");}  </a:t>
            </a:r>
          </a:p>
          <a:p>
            <a:pPr marL="0" indent="0">
              <a:buNone/>
            </a:pPr>
            <a:r>
              <a:rPr lang="en-IN" sz="2000" b="1" i="0" dirty="0">
                <a:solidFill>
                  <a:srgbClr val="2B2A29"/>
                </a:solidFill>
                <a:effectLst/>
                <a:latin typeface="montserrat" panose="00000500000000000000" pitchFamily="2" charset="0"/>
              </a:rPr>
              <a:t>     </a:t>
            </a:r>
          </a:p>
          <a:p>
            <a:pPr marL="0" indent="0">
              <a:buNone/>
            </a:pPr>
            <a:r>
              <a:rPr lang="en-IN" sz="2000" b="1" i="0" dirty="0">
                <a:solidFill>
                  <a:srgbClr val="2B2A29"/>
                </a:solidFill>
                <a:effectLst/>
                <a:latin typeface="montserrat" panose="00000500000000000000" pitchFamily="2" charset="0"/>
              </a:rPr>
              <a:t>     </a:t>
            </a:r>
            <a:r>
              <a:rPr lang="en-IN" sz="2000" b="1" i="0" dirty="0">
                <a:solidFill>
                  <a:srgbClr val="006699"/>
                </a:solidFill>
                <a:effectLst/>
                <a:latin typeface="montserrat" panose="00000500000000000000" pitchFamily="2" charset="0"/>
              </a:rPr>
              <a:t>public</a:t>
            </a:r>
            <a:r>
              <a:rPr lang="en-IN" sz="2000" b="1" i="0" dirty="0">
                <a:solidFill>
                  <a:srgbClr val="2B2A29"/>
                </a:solidFill>
                <a:effectLst/>
                <a:latin typeface="montserrat" panose="00000500000000000000" pitchFamily="2" charset="0"/>
              </a:rPr>
              <a:t> </a:t>
            </a:r>
            <a:r>
              <a:rPr lang="en-IN" sz="2000" b="1" i="0" dirty="0">
                <a:solidFill>
                  <a:srgbClr val="006699"/>
                </a:solidFill>
                <a:effectLst/>
                <a:latin typeface="montserrat" panose="00000500000000000000" pitchFamily="2" charset="0"/>
              </a:rPr>
              <a:t>static</a:t>
            </a:r>
            <a:r>
              <a:rPr lang="en-IN" sz="2000" b="1" i="0" dirty="0">
                <a:solidFill>
                  <a:srgbClr val="2B2A29"/>
                </a:solidFill>
                <a:effectLst/>
                <a:latin typeface="montserrat" panose="00000500000000000000" pitchFamily="2" charset="0"/>
              </a:rPr>
              <a:t> </a:t>
            </a:r>
            <a:r>
              <a:rPr lang="en-IN" sz="2000" b="1" i="0" dirty="0">
                <a:solidFill>
                  <a:srgbClr val="006699"/>
                </a:solidFill>
                <a:effectLst/>
                <a:latin typeface="montserrat" panose="00000500000000000000" pitchFamily="2" charset="0"/>
              </a:rPr>
              <a:t>void</a:t>
            </a:r>
            <a:r>
              <a:rPr lang="en-IN" sz="2000" b="1" i="0" dirty="0">
                <a:solidFill>
                  <a:srgbClr val="2B2A29"/>
                </a:solidFill>
                <a:effectLst/>
                <a:latin typeface="montserrat" panose="00000500000000000000" pitchFamily="2" charset="0"/>
              </a:rPr>
              <a:t> main(String </a:t>
            </a:r>
            <a:r>
              <a:rPr lang="en-IN" sz="2000" b="1" i="0" dirty="0" err="1">
                <a:solidFill>
                  <a:srgbClr val="2B2A29"/>
                </a:solidFill>
                <a:effectLst/>
                <a:latin typeface="montserrat" panose="00000500000000000000" pitchFamily="2" charset="0"/>
              </a:rPr>
              <a:t>args</a:t>
            </a:r>
            <a:r>
              <a:rPr lang="en-IN" sz="2000" b="1" i="0" dirty="0">
                <a:solidFill>
                  <a:srgbClr val="2B2A29"/>
                </a:solidFill>
                <a:effectLst/>
                <a:latin typeface="montserrat" panose="00000500000000000000" pitchFamily="2" charset="0"/>
              </a:rPr>
              <a:t>[]){  </a:t>
            </a:r>
          </a:p>
          <a:p>
            <a:pPr marL="0" indent="0">
              <a:buNone/>
            </a:pPr>
            <a:r>
              <a:rPr lang="en-IN" sz="2000" b="1" i="0" dirty="0">
                <a:solidFill>
                  <a:srgbClr val="2B2A29"/>
                </a:solidFill>
                <a:effectLst/>
                <a:latin typeface="montserrat" panose="00000500000000000000" pitchFamily="2" charset="0"/>
              </a:rPr>
              <a:t>     Honda </a:t>
            </a:r>
            <a:r>
              <a:rPr lang="en-IN" sz="2000" b="1" i="0" dirty="0" err="1">
                <a:solidFill>
                  <a:srgbClr val="2B2A29"/>
                </a:solidFill>
                <a:effectLst/>
                <a:latin typeface="montserrat" panose="00000500000000000000" pitchFamily="2" charset="0"/>
              </a:rPr>
              <a:t>honda</a:t>
            </a:r>
            <a:r>
              <a:rPr lang="en-IN" sz="2000" b="1" i="0" dirty="0">
                <a:solidFill>
                  <a:srgbClr val="2B2A29"/>
                </a:solidFill>
                <a:effectLst/>
                <a:latin typeface="montserrat" panose="00000500000000000000" pitchFamily="2" charset="0"/>
              </a:rPr>
              <a:t>= </a:t>
            </a:r>
            <a:r>
              <a:rPr lang="en-IN" sz="2000" b="1" i="0" dirty="0">
                <a:solidFill>
                  <a:srgbClr val="006699"/>
                </a:solidFill>
                <a:effectLst/>
                <a:latin typeface="montserrat" panose="00000500000000000000" pitchFamily="2" charset="0"/>
              </a:rPr>
              <a:t>new</a:t>
            </a:r>
            <a:r>
              <a:rPr lang="en-IN" sz="2000" b="1" i="0" dirty="0">
                <a:solidFill>
                  <a:srgbClr val="2B2A29"/>
                </a:solidFill>
                <a:effectLst/>
                <a:latin typeface="montserrat" panose="00000500000000000000" pitchFamily="2" charset="0"/>
              </a:rPr>
              <a:t> Honda();  </a:t>
            </a:r>
          </a:p>
          <a:p>
            <a:pPr marL="0" indent="0">
              <a:buNone/>
            </a:pPr>
            <a:r>
              <a:rPr lang="en-IN" sz="2000" b="1" i="0" dirty="0">
                <a:solidFill>
                  <a:srgbClr val="2B2A29"/>
                </a:solidFill>
                <a:effectLst/>
                <a:latin typeface="montserrat" panose="00000500000000000000" pitchFamily="2" charset="0"/>
              </a:rPr>
              <a:t>     </a:t>
            </a:r>
            <a:r>
              <a:rPr lang="en-IN" sz="2000" b="1" i="0" dirty="0" err="1">
                <a:solidFill>
                  <a:srgbClr val="2B2A29"/>
                </a:solidFill>
                <a:effectLst/>
                <a:latin typeface="montserrat" panose="00000500000000000000" pitchFamily="2" charset="0"/>
              </a:rPr>
              <a:t>honda.run</a:t>
            </a:r>
            <a:r>
              <a:rPr lang="en-IN" sz="2000" b="1" i="0" dirty="0">
                <a:solidFill>
                  <a:srgbClr val="2B2A29"/>
                </a:solidFill>
                <a:effectLst/>
                <a:latin typeface="montserrat" panose="00000500000000000000" pitchFamily="2" charset="0"/>
              </a:rPr>
              <a:t>();  </a:t>
            </a:r>
          </a:p>
          <a:p>
            <a:pPr marL="0" indent="0">
              <a:buNone/>
            </a:pPr>
            <a:r>
              <a:rPr lang="en-IN" sz="2000" b="1" i="0" dirty="0">
                <a:solidFill>
                  <a:srgbClr val="2B2A29"/>
                </a:solidFill>
                <a:effectLst/>
                <a:latin typeface="montserrat" panose="00000500000000000000" pitchFamily="2" charset="0"/>
              </a:rPr>
              <a:t>   }  </a:t>
            </a:r>
          </a:p>
          <a:p>
            <a:pPr marL="0" indent="0">
              <a:buNone/>
            </a:pPr>
            <a:r>
              <a:rPr lang="en-IN" sz="2000" b="1" i="0" dirty="0">
                <a:solidFill>
                  <a:srgbClr val="2B2A29"/>
                </a:solidFill>
                <a:effectLst/>
                <a:latin typeface="montserrat" panose="00000500000000000000" pitchFamily="2" charset="0"/>
              </a:rPr>
              <a:t>}  </a:t>
            </a:r>
          </a:p>
          <a:p>
            <a:pPr marL="0" indent="0">
              <a:buNone/>
            </a:pPr>
            <a:endParaRPr lang="en-IN" sz="2000" b="1" dirty="0"/>
          </a:p>
        </p:txBody>
      </p:sp>
    </p:spTree>
    <p:extLst>
      <p:ext uri="{BB962C8B-B14F-4D97-AF65-F5344CB8AC3E}">
        <p14:creationId xmlns:p14="http://schemas.microsoft.com/office/powerpoint/2010/main" val="3620139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6F147-4B91-E689-DE63-48ADDBC77C0A}"/>
              </a:ext>
            </a:extLst>
          </p:cNvPr>
          <p:cNvSpPr>
            <a:spLocks noGrp="1"/>
          </p:cNvSpPr>
          <p:nvPr>
            <p:ph type="title"/>
          </p:nvPr>
        </p:nvSpPr>
        <p:spPr>
          <a:xfrm>
            <a:off x="1795806" y="181050"/>
            <a:ext cx="9572117" cy="1280890"/>
          </a:xfrm>
        </p:spPr>
        <p:txBody>
          <a:bodyPr>
            <a:normAutofit fontScale="90000"/>
          </a:bodyPr>
          <a:lstStyle/>
          <a:p>
            <a:r>
              <a:rPr lang="en-IN" b="0" i="0" dirty="0">
                <a:solidFill>
                  <a:srgbClr val="1D1D27"/>
                </a:solidFill>
                <a:effectLst/>
                <a:latin typeface="montserrat" panose="00000500000000000000" pitchFamily="2" charset="0"/>
              </a:rPr>
              <a:t>Java final class: </a:t>
            </a:r>
            <a:r>
              <a:rPr lang="en-IN" sz="2700" i="1" dirty="0">
                <a:solidFill>
                  <a:srgbClr val="2B2A29"/>
                </a:solidFill>
                <a:effectLst/>
                <a:latin typeface="montserrat" panose="00000500000000000000" pitchFamily="2" charset="0"/>
              </a:rPr>
              <a:t>If you make any class as final, you cannot extend it.</a:t>
            </a:r>
            <a:br>
              <a:rPr lang="en-IN" b="0" i="0" dirty="0">
                <a:solidFill>
                  <a:srgbClr val="2B2A29"/>
                </a:solidFill>
                <a:effectLst/>
                <a:latin typeface="montserrat" panose="00000500000000000000" pitchFamily="2" charset="0"/>
              </a:rPr>
            </a:br>
            <a:r>
              <a:rPr lang="en-IN" sz="3300" b="1" i="1" dirty="0">
                <a:solidFill>
                  <a:srgbClr val="C00000"/>
                </a:solidFill>
                <a:effectLst/>
                <a:latin typeface="montserrat" panose="00000500000000000000" pitchFamily="2" charset="0"/>
              </a:rPr>
              <a:t>Final class cannot be extended</a:t>
            </a:r>
            <a:endParaRPr lang="en-IN" sz="3300" b="1" i="1" dirty="0">
              <a:solidFill>
                <a:srgbClr val="C00000"/>
              </a:solidFill>
            </a:endParaRPr>
          </a:p>
        </p:txBody>
      </p:sp>
      <p:sp>
        <p:nvSpPr>
          <p:cNvPr id="3" name="Content Placeholder 2">
            <a:extLst>
              <a:ext uri="{FF2B5EF4-FFF2-40B4-BE49-F238E27FC236}">
                <a16:creationId xmlns:a16="http://schemas.microsoft.com/office/drawing/2014/main" id="{67DC0504-2DD5-9743-EF70-6AB43C862B63}"/>
              </a:ext>
            </a:extLst>
          </p:cNvPr>
          <p:cNvSpPr>
            <a:spLocks noGrp="1"/>
          </p:cNvSpPr>
          <p:nvPr>
            <p:ph idx="1"/>
          </p:nvPr>
        </p:nvSpPr>
        <p:spPr>
          <a:xfrm>
            <a:off x="1593130" y="1697610"/>
            <a:ext cx="9977470" cy="3777622"/>
          </a:xfrm>
        </p:spPr>
        <p:txBody>
          <a:bodyPr>
            <a:noAutofit/>
          </a:bodyPr>
          <a:lstStyle/>
          <a:p>
            <a:pPr marL="0" indent="0">
              <a:buNone/>
            </a:pPr>
            <a:r>
              <a:rPr lang="en-IN" sz="2000" b="1" i="0" dirty="0">
                <a:solidFill>
                  <a:srgbClr val="2B2A29"/>
                </a:solidFill>
                <a:effectLst/>
                <a:latin typeface="montserrat" panose="00000500000000000000" pitchFamily="2" charset="0"/>
              </a:rPr>
              <a:t>final </a:t>
            </a:r>
            <a:r>
              <a:rPr lang="en-IN" sz="2000" b="1" i="0" dirty="0">
                <a:solidFill>
                  <a:srgbClr val="006699"/>
                </a:solidFill>
                <a:effectLst/>
                <a:latin typeface="montserrat" panose="00000500000000000000" pitchFamily="2" charset="0"/>
              </a:rPr>
              <a:t>class</a:t>
            </a:r>
            <a:r>
              <a:rPr lang="en-IN" sz="2000" b="1" i="0" dirty="0">
                <a:solidFill>
                  <a:srgbClr val="2B2A29"/>
                </a:solidFill>
                <a:effectLst/>
                <a:latin typeface="montserrat" panose="00000500000000000000" pitchFamily="2" charset="0"/>
              </a:rPr>
              <a:t> Bike{     </a:t>
            </a:r>
          </a:p>
          <a:p>
            <a:pPr marL="0" indent="0">
              <a:buNone/>
            </a:pPr>
            <a:r>
              <a:rPr lang="en-IN" sz="2000" b="1" dirty="0">
                <a:solidFill>
                  <a:srgbClr val="2B2A29"/>
                </a:solidFill>
                <a:latin typeface="montserrat" panose="00000500000000000000" pitchFamily="2" charset="0"/>
              </a:rPr>
              <a:t>  void print()</a:t>
            </a:r>
          </a:p>
          <a:p>
            <a:pPr marL="0" indent="0">
              <a:buNone/>
            </a:pPr>
            <a:r>
              <a:rPr lang="en-IN" sz="2000" b="1" dirty="0">
                <a:solidFill>
                  <a:srgbClr val="2B2A29"/>
                </a:solidFill>
                <a:latin typeface="montserrat" panose="00000500000000000000" pitchFamily="2" charset="0"/>
              </a:rPr>
              <a:t>   {   ;  } </a:t>
            </a:r>
          </a:p>
          <a:p>
            <a:pPr marL="0" indent="0">
              <a:buNone/>
            </a:pPr>
            <a:r>
              <a:rPr lang="en-IN" sz="2000" b="1" i="0" dirty="0">
                <a:solidFill>
                  <a:srgbClr val="2B2A29"/>
                </a:solidFill>
                <a:effectLst/>
                <a:latin typeface="montserrat" panose="00000500000000000000" pitchFamily="2" charset="0"/>
              </a:rPr>
              <a:t>}  </a:t>
            </a:r>
          </a:p>
          <a:p>
            <a:pPr marL="0" indent="0">
              <a:buNone/>
            </a:pPr>
            <a:r>
              <a:rPr lang="en-IN" sz="2000" b="1" i="0" dirty="0">
                <a:solidFill>
                  <a:srgbClr val="2B2A29"/>
                </a:solidFill>
                <a:effectLst/>
                <a:latin typeface="montserrat" panose="00000500000000000000" pitchFamily="2" charset="0"/>
              </a:rPr>
              <a:t>  </a:t>
            </a:r>
            <a:r>
              <a:rPr lang="en-IN" sz="2000" b="1" i="0" dirty="0">
                <a:solidFill>
                  <a:srgbClr val="006699"/>
                </a:solidFill>
                <a:effectLst/>
                <a:latin typeface="montserrat" panose="00000500000000000000" pitchFamily="2" charset="0"/>
              </a:rPr>
              <a:t>class</a:t>
            </a:r>
            <a:r>
              <a:rPr lang="en-IN" sz="2000" b="1" i="0" dirty="0">
                <a:solidFill>
                  <a:srgbClr val="2B2A29"/>
                </a:solidFill>
                <a:effectLst/>
                <a:latin typeface="montserrat" panose="00000500000000000000" pitchFamily="2" charset="0"/>
              </a:rPr>
              <a:t> Honda1 </a:t>
            </a:r>
            <a:r>
              <a:rPr lang="en-IN" sz="2000" b="1" i="0" dirty="0">
                <a:solidFill>
                  <a:srgbClr val="006699"/>
                </a:solidFill>
                <a:effectLst/>
                <a:latin typeface="montserrat" panose="00000500000000000000" pitchFamily="2" charset="0"/>
              </a:rPr>
              <a:t>extends</a:t>
            </a:r>
            <a:r>
              <a:rPr lang="en-IN" sz="2000" b="1" i="0" dirty="0">
                <a:solidFill>
                  <a:srgbClr val="2B2A29"/>
                </a:solidFill>
                <a:effectLst/>
                <a:latin typeface="montserrat" panose="00000500000000000000" pitchFamily="2" charset="0"/>
              </a:rPr>
              <a:t> Bike{  </a:t>
            </a:r>
          </a:p>
          <a:p>
            <a:pPr marL="0" indent="0">
              <a:buNone/>
            </a:pPr>
            <a:r>
              <a:rPr lang="en-IN" sz="2000" b="1" i="0" dirty="0">
                <a:solidFill>
                  <a:srgbClr val="2B2A29"/>
                </a:solidFill>
                <a:effectLst/>
                <a:latin typeface="montserrat" panose="00000500000000000000" pitchFamily="2" charset="0"/>
              </a:rPr>
              <a:t>   </a:t>
            </a:r>
            <a:r>
              <a:rPr lang="en-IN" sz="2000" b="1" i="0" dirty="0">
                <a:solidFill>
                  <a:srgbClr val="006699"/>
                </a:solidFill>
                <a:effectLst/>
                <a:latin typeface="montserrat" panose="00000500000000000000" pitchFamily="2" charset="0"/>
              </a:rPr>
              <a:t>void</a:t>
            </a:r>
            <a:r>
              <a:rPr lang="en-IN" sz="2000" b="1" i="0" dirty="0">
                <a:solidFill>
                  <a:srgbClr val="2B2A29"/>
                </a:solidFill>
                <a:effectLst/>
                <a:latin typeface="montserrat" panose="00000500000000000000" pitchFamily="2" charset="0"/>
              </a:rPr>
              <a:t> run()</a:t>
            </a:r>
          </a:p>
          <a:p>
            <a:pPr marL="0" indent="0">
              <a:buNone/>
            </a:pPr>
            <a:r>
              <a:rPr lang="en-IN" sz="2000" b="1" dirty="0">
                <a:solidFill>
                  <a:srgbClr val="2B2A29"/>
                </a:solidFill>
                <a:latin typeface="montserrat" panose="00000500000000000000" pitchFamily="2" charset="0"/>
              </a:rPr>
              <a:t>   </a:t>
            </a:r>
            <a:r>
              <a:rPr lang="en-IN" sz="2000" b="1" i="0" dirty="0">
                <a:solidFill>
                  <a:srgbClr val="2B2A29"/>
                </a:solidFill>
                <a:effectLst/>
                <a:latin typeface="montserrat" panose="00000500000000000000" pitchFamily="2" charset="0"/>
              </a:rPr>
              <a:t>{             </a:t>
            </a:r>
            <a:r>
              <a:rPr lang="en-IN" sz="2000" b="1" i="0" dirty="0" err="1">
                <a:solidFill>
                  <a:srgbClr val="2B2A29"/>
                </a:solidFill>
                <a:effectLst/>
                <a:latin typeface="montserrat" panose="00000500000000000000" pitchFamily="2" charset="0"/>
              </a:rPr>
              <a:t>System.out.println</a:t>
            </a:r>
            <a:r>
              <a:rPr lang="en-IN" sz="2000" b="1" i="0" dirty="0">
                <a:solidFill>
                  <a:srgbClr val="2B2A29"/>
                </a:solidFill>
                <a:effectLst/>
                <a:latin typeface="montserrat" panose="00000500000000000000" pitchFamily="2" charset="0"/>
              </a:rPr>
              <a:t>("running safely with 100kmph");      }  </a:t>
            </a:r>
          </a:p>
          <a:p>
            <a:pPr marL="0" indent="0">
              <a:buNone/>
            </a:pPr>
            <a:r>
              <a:rPr lang="en-IN" sz="2000" b="1" i="0" dirty="0">
                <a:solidFill>
                  <a:srgbClr val="2B2A29"/>
                </a:solidFill>
                <a:effectLst/>
                <a:latin typeface="montserrat" panose="00000500000000000000" pitchFamily="2" charset="0"/>
              </a:rPr>
              <a:t>    </a:t>
            </a:r>
            <a:r>
              <a:rPr lang="en-IN" sz="2000" b="1" i="0" dirty="0">
                <a:solidFill>
                  <a:srgbClr val="006699"/>
                </a:solidFill>
                <a:effectLst/>
                <a:latin typeface="montserrat" panose="00000500000000000000" pitchFamily="2" charset="0"/>
              </a:rPr>
              <a:t>public</a:t>
            </a:r>
            <a:r>
              <a:rPr lang="en-IN" sz="2000" b="1" i="0" dirty="0">
                <a:solidFill>
                  <a:srgbClr val="2B2A29"/>
                </a:solidFill>
                <a:effectLst/>
                <a:latin typeface="montserrat" panose="00000500000000000000" pitchFamily="2" charset="0"/>
              </a:rPr>
              <a:t> </a:t>
            </a:r>
            <a:r>
              <a:rPr lang="en-IN" sz="2000" b="1" i="0" dirty="0">
                <a:solidFill>
                  <a:srgbClr val="006699"/>
                </a:solidFill>
                <a:effectLst/>
                <a:latin typeface="montserrat" panose="00000500000000000000" pitchFamily="2" charset="0"/>
              </a:rPr>
              <a:t>static</a:t>
            </a:r>
            <a:r>
              <a:rPr lang="en-IN" sz="2000" b="1" i="0" dirty="0">
                <a:solidFill>
                  <a:srgbClr val="2B2A29"/>
                </a:solidFill>
                <a:effectLst/>
                <a:latin typeface="montserrat" panose="00000500000000000000" pitchFamily="2" charset="0"/>
              </a:rPr>
              <a:t> </a:t>
            </a:r>
            <a:r>
              <a:rPr lang="en-IN" sz="2000" b="1" i="0" dirty="0">
                <a:solidFill>
                  <a:srgbClr val="006699"/>
                </a:solidFill>
                <a:effectLst/>
                <a:latin typeface="montserrat" panose="00000500000000000000" pitchFamily="2" charset="0"/>
              </a:rPr>
              <a:t>void</a:t>
            </a:r>
            <a:r>
              <a:rPr lang="en-IN" sz="2000" b="1" i="0" dirty="0">
                <a:solidFill>
                  <a:srgbClr val="2B2A29"/>
                </a:solidFill>
                <a:effectLst/>
                <a:latin typeface="montserrat" panose="00000500000000000000" pitchFamily="2" charset="0"/>
              </a:rPr>
              <a:t> main(String </a:t>
            </a:r>
            <a:r>
              <a:rPr lang="en-IN" sz="2000" b="1" i="0" dirty="0" err="1">
                <a:solidFill>
                  <a:srgbClr val="2B2A29"/>
                </a:solidFill>
                <a:effectLst/>
                <a:latin typeface="montserrat" panose="00000500000000000000" pitchFamily="2" charset="0"/>
              </a:rPr>
              <a:t>args</a:t>
            </a:r>
            <a:r>
              <a:rPr lang="en-IN" sz="2000" b="1" i="0" dirty="0">
                <a:solidFill>
                  <a:srgbClr val="2B2A29"/>
                </a:solidFill>
                <a:effectLst/>
                <a:latin typeface="montserrat" panose="00000500000000000000" pitchFamily="2" charset="0"/>
              </a:rPr>
              <a:t>[])</a:t>
            </a:r>
          </a:p>
          <a:p>
            <a:pPr marL="0" indent="0">
              <a:buNone/>
            </a:pPr>
            <a:r>
              <a:rPr lang="en-IN" sz="2000" b="1" dirty="0">
                <a:solidFill>
                  <a:srgbClr val="2B2A29"/>
                </a:solidFill>
                <a:latin typeface="montserrat" panose="00000500000000000000" pitchFamily="2" charset="0"/>
              </a:rPr>
              <a:t>   </a:t>
            </a:r>
            <a:r>
              <a:rPr lang="en-IN" sz="2000" b="1" i="0" dirty="0">
                <a:solidFill>
                  <a:srgbClr val="2B2A29"/>
                </a:solidFill>
                <a:effectLst/>
                <a:latin typeface="montserrat" panose="00000500000000000000" pitchFamily="2" charset="0"/>
              </a:rPr>
              <a:t>{     Honda1 </a:t>
            </a:r>
            <a:r>
              <a:rPr lang="en-IN" sz="2000" b="1" i="0" dirty="0" err="1">
                <a:solidFill>
                  <a:srgbClr val="2B2A29"/>
                </a:solidFill>
                <a:effectLst/>
                <a:latin typeface="montserrat" panose="00000500000000000000" pitchFamily="2" charset="0"/>
              </a:rPr>
              <a:t>honda</a:t>
            </a:r>
            <a:r>
              <a:rPr lang="en-IN" sz="2000" b="1" i="0" dirty="0">
                <a:solidFill>
                  <a:srgbClr val="2B2A29"/>
                </a:solidFill>
                <a:effectLst/>
                <a:latin typeface="montserrat" panose="00000500000000000000" pitchFamily="2" charset="0"/>
              </a:rPr>
              <a:t>= </a:t>
            </a:r>
            <a:r>
              <a:rPr lang="en-IN" sz="2000" b="1" i="0" dirty="0">
                <a:solidFill>
                  <a:srgbClr val="006699"/>
                </a:solidFill>
                <a:effectLst/>
                <a:latin typeface="montserrat" panose="00000500000000000000" pitchFamily="2" charset="0"/>
              </a:rPr>
              <a:t>new</a:t>
            </a:r>
            <a:r>
              <a:rPr lang="en-IN" sz="2000" b="1" i="0" dirty="0">
                <a:solidFill>
                  <a:srgbClr val="2B2A29"/>
                </a:solidFill>
                <a:effectLst/>
                <a:latin typeface="montserrat" panose="00000500000000000000" pitchFamily="2" charset="0"/>
              </a:rPr>
              <a:t> Honda1();  </a:t>
            </a:r>
          </a:p>
          <a:p>
            <a:pPr marL="0" indent="0">
              <a:buNone/>
            </a:pPr>
            <a:r>
              <a:rPr lang="en-IN" sz="2000" b="1" i="0" dirty="0">
                <a:solidFill>
                  <a:srgbClr val="2B2A29"/>
                </a:solidFill>
                <a:effectLst/>
                <a:latin typeface="montserrat" panose="00000500000000000000" pitchFamily="2" charset="0"/>
              </a:rPr>
              <a:t> 	   </a:t>
            </a:r>
            <a:r>
              <a:rPr lang="en-IN" sz="2000" b="1" i="0" dirty="0" err="1">
                <a:solidFill>
                  <a:srgbClr val="2B2A29"/>
                </a:solidFill>
                <a:effectLst/>
                <a:latin typeface="montserrat" panose="00000500000000000000" pitchFamily="2" charset="0"/>
              </a:rPr>
              <a:t>honda.run</a:t>
            </a:r>
            <a:r>
              <a:rPr lang="en-IN" sz="2000" b="1" i="0" dirty="0">
                <a:solidFill>
                  <a:srgbClr val="2B2A29"/>
                </a:solidFill>
                <a:effectLst/>
                <a:latin typeface="montserrat" panose="00000500000000000000" pitchFamily="2" charset="0"/>
              </a:rPr>
              <a:t>();  </a:t>
            </a:r>
          </a:p>
          <a:p>
            <a:pPr marL="0" indent="0">
              <a:buNone/>
            </a:pPr>
            <a:r>
              <a:rPr lang="en-IN" sz="2000" b="1" i="0" dirty="0">
                <a:solidFill>
                  <a:srgbClr val="2B2A29"/>
                </a:solidFill>
                <a:effectLst/>
                <a:latin typeface="montserrat" panose="00000500000000000000" pitchFamily="2" charset="0"/>
              </a:rPr>
              <a:t>    }  </a:t>
            </a:r>
          </a:p>
          <a:p>
            <a:pPr marL="0" indent="0">
              <a:buNone/>
            </a:pPr>
            <a:r>
              <a:rPr lang="en-IN" sz="2000" b="1" i="0" dirty="0">
                <a:solidFill>
                  <a:srgbClr val="2B2A29"/>
                </a:solidFill>
                <a:effectLst/>
                <a:latin typeface="montserrat" panose="00000500000000000000" pitchFamily="2" charset="0"/>
              </a:rPr>
              <a:t>}</a:t>
            </a:r>
          </a:p>
          <a:p>
            <a:pPr marL="0" indent="0">
              <a:buNone/>
            </a:pPr>
            <a:endParaRPr lang="en-IN" sz="2000" b="1" dirty="0"/>
          </a:p>
        </p:txBody>
      </p:sp>
    </p:spTree>
    <p:extLst>
      <p:ext uri="{BB962C8B-B14F-4D97-AF65-F5344CB8AC3E}">
        <p14:creationId xmlns:p14="http://schemas.microsoft.com/office/powerpoint/2010/main" val="20802982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58107-2572-2BDA-C0BD-CAD0C9789821}"/>
              </a:ext>
            </a:extLst>
          </p:cNvPr>
          <p:cNvSpPr>
            <a:spLocks noGrp="1"/>
          </p:cNvSpPr>
          <p:nvPr>
            <p:ph type="title"/>
          </p:nvPr>
        </p:nvSpPr>
        <p:spPr/>
        <p:txBody>
          <a:bodyPr/>
          <a:lstStyle/>
          <a:p>
            <a:r>
              <a:rPr lang="en-IN" b="0" i="0" dirty="0">
                <a:solidFill>
                  <a:srgbClr val="1D1D27"/>
                </a:solidFill>
                <a:effectLst/>
                <a:latin typeface="montserrat" panose="00000500000000000000" pitchFamily="2" charset="0"/>
              </a:rPr>
              <a:t> Is final method inherited?  </a:t>
            </a:r>
            <a:br>
              <a:rPr lang="en-IN" b="0" i="0" dirty="0">
                <a:solidFill>
                  <a:srgbClr val="1D1D27"/>
                </a:solidFill>
                <a:effectLst/>
                <a:latin typeface="montserrat" panose="00000500000000000000" pitchFamily="2" charset="0"/>
              </a:rPr>
            </a:br>
            <a:r>
              <a:rPr lang="en-IN" dirty="0">
                <a:solidFill>
                  <a:srgbClr val="1D1D27"/>
                </a:solidFill>
                <a:latin typeface="montserrat" panose="00000500000000000000" pitchFamily="2" charset="0"/>
              </a:rPr>
              <a:t>Yes</a:t>
            </a:r>
            <a:endParaRPr lang="en-IN" dirty="0"/>
          </a:p>
        </p:txBody>
      </p:sp>
      <p:sp>
        <p:nvSpPr>
          <p:cNvPr id="3" name="Content Placeholder 2">
            <a:extLst>
              <a:ext uri="{FF2B5EF4-FFF2-40B4-BE49-F238E27FC236}">
                <a16:creationId xmlns:a16="http://schemas.microsoft.com/office/drawing/2014/main" id="{287BD891-BDE1-AD9C-44CE-2074EA2A9EE5}"/>
              </a:ext>
            </a:extLst>
          </p:cNvPr>
          <p:cNvSpPr>
            <a:spLocks noGrp="1"/>
          </p:cNvSpPr>
          <p:nvPr>
            <p:ph idx="1"/>
          </p:nvPr>
        </p:nvSpPr>
        <p:spPr>
          <a:xfrm>
            <a:off x="1084083" y="2133600"/>
            <a:ext cx="10689996" cy="3777622"/>
          </a:xfrm>
        </p:spPr>
        <p:txBody>
          <a:bodyPr>
            <a:normAutofit fontScale="92500" lnSpcReduction="20000"/>
          </a:bodyPr>
          <a:lstStyle/>
          <a:p>
            <a:pPr marL="0" indent="0">
              <a:buNone/>
            </a:pPr>
            <a:r>
              <a:rPr lang="en-IN" sz="2400" b="1" i="0" dirty="0">
                <a:solidFill>
                  <a:srgbClr val="2B2A29"/>
                </a:solidFill>
                <a:effectLst/>
                <a:latin typeface="montserrat" panose="00000500000000000000" pitchFamily="2" charset="0"/>
              </a:rPr>
              <a:t>Yes, final method is inherited but you cannot override it. For Example:</a:t>
            </a:r>
          </a:p>
          <a:p>
            <a:pPr algn="l">
              <a:buFont typeface="+mj-lt"/>
              <a:buAutoNum type="arabicPeriod"/>
            </a:pPr>
            <a:r>
              <a:rPr lang="en-IN" sz="2400" b="0" i="0" dirty="0">
                <a:solidFill>
                  <a:srgbClr val="2B2A29"/>
                </a:solidFill>
                <a:effectLst/>
                <a:latin typeface="montserrat" panose="00000500000000000000" pitchFamily="2" charset="0"/>
              </a:rPr>
              <a:t>class Bike{  </a:t>
            </a:r>
          </a:p>
          <a:p>
            <a:pPr algn="l">
              <a:buFont typeface="+mj-lt"/>
              <a:buAutoNum type="arabicPeriod"/>
            </a:pPr>
            <a:r>
              <a:rPr lang="en-IN" sz="2400" b="0" i="0" dirty="0">
                <a:solidFill>
                  <a:srgbClr val="2B2A29"/>
                </a:solidFill>
                <a:effectLst/>
                <a:latin typeface="montserrat" panose="00000500000000000000" pitchFamily="2" charset="0"/>
              </a:rPr>
              <a:t>  </a:t>
            </a:r>
            <a:r>
              <a:rPr lang="en-IN" sz="2400" b="1" i="0" dirty="0">
                <a:solidFill>
                  <a:srgbClr val="006699"/>
                </a:solidFill>
                <a:effectLst/>
                <a:latin typeface="montserrat" panose="00000500000000000000" pitchFamily="2" charset="0"/>
              </a:rPr>
              <a:t>final</a:t>
            </a:r>
            <a:r>
              <a:rPr lang="en-IN" sz="2400" b="0" i="0" dirty="0">
                <a:solidFill>
                  <a:srgbClr val="2B2A29"/>
                </a:solidFill>
                <a:effectLst/>
                <a:latin typeface="montserrat" panose="00000500000000000000" pitchFamily="2" charset="0"/>
              </a:rPr>
              <a:t> </a:t>
            </a:r>
            <a:r>
              <a:rPr lang="en-IN" sz="2400" b="1" i="0" dirty="0">
                <a:solidFill>
                  <a:srgbClr val="006699"/>
                </a:solidFill>
                <a:effectLst/>
                <a:latin typeface="montserrat" panose="00000500000000000000" pitchFamily="2" charset="0"/>
              </a:rPr>
              <a:t>void</a:t>
            </a:r>
            <a:r>
              <a:rPr lang="en-IN" sz="2400" b="0" i="0" dirty="0">
                <a:solidFill>
                  <a:srgbClr val="2B2A29"/>
                </a:solidFill>
                <a:effectLst/>
                <a:latin typeface="montserrat" panose="00000500000000000000" pitchFamily="2" charset="0"/>
              </a:rPr>
              <a:t> run(){</a:t>
            </a:r>
            <a:r>
              <a:rPr lang="en-IN" sz="2400" b="0" i="0" dirty="0" err="1">
                <a:solidFill>
                  <a:srgbClr val="2B2A29"/>
                </a:solidFill>
                <a:effectLst/>
                <a:latin typeface="montserrat" panose="00000500000000000000" pitchFamily="2" charset="0"/>
              </a:rPr>
              <a:t>System.out.println</a:t>
            </a:r>
            <a:r>
              <a:rPr lang="en-IN" sz="2400" b="0" i="0" dirty="0">
                <a:solidFill>
                  <a:srgbClr val="2B2A29"/>
                </a:solidFill>
                <a:effectLst/>
                <a:latin typeface="montserrat" panose="00000500000000000000" pitchFamily="2" charset="0"/>
              </a:rPr>
              <a:t>("running...");}  </a:t>
            </a:r>
          </a:p>
          <a:p>
            <a:pPr algn="l">
              <a:buFont typeface="+mj-lt"/>
              <a:buAutoNum type="arabicPeriod"/>
            </a:pPr>
            <a:r>
              <a:rPr lang="en-IN" sz="2400" b="0" i="0" dirty="0">
                <a:solidFill>
                  <a:srgbClr val="2B2A29"/>
                </a:solidFill>
                <a:effectLst/>
                <a:latin typeface="montserrat" panose="00000500000000000000" pitchFamily="2" charset="0"/>
              </a:rPr>
              <a:t>}  </a:t>
            </a:r>
          </a:p>
          <a:p>
            <a:pPr algn="l">
              <a:buFont typeface="+mj-lt"/>
              <a:buAutoNum type="arabicPeriod"/>
            </a:pPr>
            <a:r>
              <a:rPr lang="en-IN" sz="2400" b="1" i="0" dirty="0">
                <a:solidFill>
                  <a:srgbClr val="006699"/>
                </a:solidFill>
                <a:effectLst/>
                <a:latin typeface="montserrat" panose="00000500000000000000" pitchFamily="2" charset="0"/>
              </a:rPr>
              <a:t>class</a:t>
            </a:r>
            <a:r>
              <a:rPr lang="en-IN" sz="2400" b="0" i="0" dirty="0">
                <a:solidFill>
                  <a:srgbClr val="2B2A29"/>
                </a:solidFill>
                <a:effectLst/>
                <a:latin typeface="montserrat" panose="00000500000000000000" pitchFamily="2" charset="0"/>
              </a:rPr>
              <a:t> Honda2 </a:t>
            </a:r>
            <a:r>
              <a:rPr lang="en-IN" sz="2400" b="1" i="0" dirty="0">
                <a:solidFill>
                  <a:srgbClr val="006699"/>
                </a:solidFill>
                <a:effectLst/>
                <a:latin typeface="montserrat" panose="00000500000000000000" pitchFamily="2" charset="0"/>
              </a:rPr>
              <a:t>extends</a:t>
            </a:r>
            <a:r>
              <a:rPr lang="en-IN" sz="2400" b="0" i="0" dirty="0">
                <a:solidFill>
                  <a:srgbClr val="2B2A29"/>
                </a:solidFill>
                <a:effectLst/>
                <a:latin typeface="montserrat" panose="00000500000000000000" pitchFamily="2" charset="0"/>
              </a:rPr>
              <a:t> Bike{  </a:t>
            </a:r>
          </a:p>
          <a:p>
            <a:pPr algn="l">
              <a:buFont typeface="+mj-lt"/>
              <a:buAutoNum type="arabicPeriod"/>
            </a:pPr>
            <a:r>
              <a:rPr lang="en-IN" sz="2400" b="0" i="0" dirty="0">
                <a:solidFill>
                  <a:srgbClr val="2B2A29"/>
                </a:solidFill>
                <a:effectLst/>
                <a:latin typeface="montserrat" panose="00000500000000000000" pitchFamily="2" charset="0"/>
              </a:rPr>
              <a:t>   </a:t>
            </a:r>
            <a:r>
              <a:rPr lang="en-IN" sz="2400" b="1" i="0" dirty="0">
                <a:solidFill>
                  <a:srgbClr val="006699"/>
                </a:solidFill>
                <a:effectLst/>
                <a:latin typeface="montserrat" panose="00000500000000000000" pitchFamily="2" charset="0"/>
              </a:rPr>
              <a:t>public</a:t>
            </a:r>
            <a:r>
              <a:rPr lang="en-IN" sz="2400" b="0" i="0" dirty="0">
                <a:solidFill>
                  <a:srgbClr val="2B2A29"/>
                </a:solidFill>
                <a:effectLst/>
                <a:latin typeface="montserrat" panose="00000500000000000000" pitchFamily="2" charset="0"/>
              </a:rPr>
              <a:t> </a:t>
            </a:r>
            <a:r>
              <a:rPr lang="en-IN" sz="2400" b="1" i="0" dirty="0">
                <a:solidFill>
                  <a:srgbClr val="006699"/>
                </a:solidFill>
                <a:effectLst/>
                <a:latin typeface="montserrat" panose="00000500000000000000" pitchFamily="2" charset="0"/>
              </a:rPr>
              <a:t>static</a:t>
            </a:r>
            <a:r>
              <a:rPr lang="en-IN" sz="2400" b="0" i="0" dirty="0">
                <a:solidFill>
                  <a:srgbClr val="2B2A29"/>
                </a:solidFill>
                <a:effectLst/>
                <a:latin typeface="montserrat" panose="00000500000000000000" pitchFamily="2" charset="0"/>
              </a:rPr>
              <a:t> </a:t>
            </a:r>
            <a:r>
              <a:rPr lang="en-IN" sz="2400" b="1" i="0" dirty="0">
                <a:solidFill>
                  <a:srgbClr val="006699"/>
                </a:solidFill>
                <a:effectLst/>
                <a:latin typeface="montserrat" panose="00000500000000000000" pitchFamily="2" charset="0"/>
              </a:rPr>
              <a:t>void</a:t>
            </a:r>
            <a:r>
              <a:rPr lang="en-IN" sz="2400" b="0" i="0" dirty="0">
                <a:solidFill>
                  <a:srgbClr val="2B2A29"/>
                </a:solidFill>
                <a:effectLst/>
                <a:latin typeface="montserrat" panose="00000500000000000000" pitchFamily="2" charset="0"/>
              </a:rPr>
              <a:t> main(String </a:t>
            </a:r>
            <a:r>
              <a:rPr lang="en-IN" sz="2400" b="0" i="0" dirty="0" err="1">
                <a:solidFill>
                  <a:srgbClr val="2B2A29"/>
                </a:solidFill>
                <a:effectLst/>
                <a:latin typeface="montserrat" panose="00000500000000000000" pitchFamily="2" charset="0"/>
              </a:rPr>
              <a:t>args</a:t>
            </a:r>
            <a:r>
              <a:rPr lang="en-IN" sz="2400" b="0" i="0" dirty="0">
                <a:solidFill>
                  <a:srgbClr val="2B2A29"/>
                </a:solidFill>
                <a:effectLst/>
                <a:latin typeface="montserrat" panose="00000500000000000000" pitchFamily="2" charset="0"/>
              </a:rPr>
              <a:t>[]){  </a:t>
            </a:r>
          </a:p>
          <a:p>
            <a:pPr algn="l">
              <a:buFont typeface="+mj-lt"/>
              <a:buAutoNum type="arabicPeriod"/>
            </a:pPr>
            <a:r>
              <a:rPr lang="en-IN" sz="2400" b="0" i="0" dirty="0">
                <a:solidFill>
                  <a:srgbClr val="2B2A29"/>
                </a:solidFill>
                <a:effectLst/>
                <a:latin typeface="montserrat" panose="00000500000000000000" pitchFamily="2" charset="0"/>
              </a:rPr>
              <a:t>    </a:t>
            </a:r>
            <a:r>
              <a:rPr lang="en-IN" sz="2400" b="1" i="0" dirty="0">
                <a:solidFill>
                  <a:srgbClr val="006699"/>
                </a:solidFill>
                <a:effectLst/>
                <a:latin typeface="montserrat" panose="00000500000000000000" pitchFamily="2" charset="0"/>
              </a:rPr>
              <a:t>new</a:t>
            </a:r>
            <a:r>
              <a:rPr lang="en-IN" sz="2400" b="0" i="0" dirty="0">
                <a:solidFill>
                  <a:srgbClr val="2B2A29"/>
                </a:solidFill>
                <a:effectLst/>
                <a:latin typeface="montserrat" panose="00000500000000000000" pitchFamily="2" charset="0"/>
              </a:rPr>
              <a:t> Honda2().run();  </a:t>
            </a:r>
          </a:p>
          <a:p>
            <a:pPr algn="l">
              <a:buFont typeface="+mj-lt"/>
              <a:buAutoNum type="arabicPeriod"/>
            </a:pPr>
            <a:r>
              <a:rPr lang="en-IN" sz="2400" b="0" i="0" dirty="0">
                <a:solidFill>
                  <a:srgbClr val="2B2A29"/>
                </a:solidFill>
                <a:effectLst/>
                <a:latin typeface="montserrat" panose="00000500000000000000" pitchFamily="2" charset="0"/>
              </a:rPr>
              <a:t>   }  </a:t>
            </a:r>
          </a:p>
          <a:p>
            <a:pPr algn="l">
              <a:buFont typeface="+mj-lt"/>
              <a:buAutoNum type="arabicPeriod"/>
            </a:pPr>
            <a:r>
              <a:rPr lang="en-IN" sz="2400" b="0" i="0" dirty="0">
                <a:solidFill>
                  <a:srgbClr val="2B2A29"/>
                </a:solidFill>
                <a:effectLst/>
                <a:latin typeface="montserrat" panose="00000500000000000000" pitchFamily="2" charset="0"/>
              </a:rPr>
              <a:t>}  </a:t>
            </a:r>
          </a:p>
          <a:p>
            <a:pPr marL="0" indent="0">
              <a:buNone/>
            </a:pPr>
            <a:endParaRPr lang="en-IN" sz="2400" b="1" dirty="0"/>
          </a:p>
        </p:txBody>
      </p:sp>
    </p:spTree>
    <p:extLst>
      <p:ext uri="{BB962C8B-B14F-4D97-AF65-F5344CB8AC3E}">
        <p14:creationId xmlns:p14="http://schemas.microsoft.com/office/powerpoint/2010/main" val="39631501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5C869-EA03-7B43-89C6-4F8B6AA7FE3C}"/>
              </a:ext>
            </a:extLst>
          </p:cNvPr>
          <p:cNvSpPr>
            <a:spLocks noGrp="1"/>
          </p:cNvSpPr>
          <p:nvPr>
            <p:ph type="title"/>
          </p:nvPr>
        </p:nvSpPr>
        <p:spPr>
          <a:xfrm>
            <a:off x="1894789" y="624110"/>
            <a:ext cx="9609824" cy="1280890"/>
          </a:xfrm>
        </p:spPr>
        <p:txBody>
          <a:bodyPr>
            <a:normAutofit fontScale="90000"/>
          </a:bodyPr>
          <a:lstStyle/>
          <a:p>
            <a:r>
              <a:rPr lang="en-IN" b="0" i="0" dirty="0">
                <a:solidFill>
                  <a:srgbClr val="1D1D27"/>
                </a:solidFill>
                <a:effectLst/>
                <a:latin typeface="montserrat" panose="00000500000000000000" pitchFamily="2" charset="0"/>
              </a:rPr>
              <a:t>What is final parameter?</a:t>
            </a:r>
            <a:br>
              <a:rPr lang="en-IN" sz="2700" b="1" i="0" dirty="0">
                <a:solidFill>
                  <a:srgbClr val="C00000"/>
                </a:solidFill>
                <a:effectLst/>
                <a:latin typeface="montserrat" panose="00000500000000000000" pitchFamily="2" charset="0"/>
              </a:rPr>
            </a:br>
            <a:r>
              <a:rPr lang="en-IN" sz="2700" b="1" i="0" dirty="0">
                <a:solidFill>
                  <a:srgbClr val="C00000"/>
                </a:solidFill>
                <a:effectLst/>
                <a:latin typeface="montserrat" panose="00000500000000000000" pitchFamily="2" charset="0"/>
              </a:rPr>
              <a:t>If you declare any parameter as final, you cannot change the value of it.</a:t>
            </a:r>
            <a:endParaRPr lang="en-IN" b="1" dirty="0">
              <a:solidFill>
                <a:srgbClr val="C00000"/>
              </a:solidFill>
            </a:endParaRPr>
          </a:p>
        </p:txBody>
      </p:sp>
      <p:sp>
        <p:nvSpPr>
          <p:cNvPr id="3" name="Content Placeholder 2">
            <a:extLst>
              <a:ext uri="{FF2B5EF4-FFF2-40B4-BE49-F238E27FC236}">
                <a16:creationId xmlns:a16="http://schemas.microsoft.com/office/drawing/2014/main" id="{91641FA1-C605-A591-2AA8-8680F5365B30}"/>
              </a:ext>
            </a:extLst>
          </p:cNvPr>
          <p:cNvSpPr>
            <a:spLocks noGrp="1"/>
          </p:cNvSpPr>
          <p:nvPr>
            <p:ph idx="1"/>
          </p:nvPr>
        </p:nvSpPr>
        <p:spPr>
          <a:xfrm>
            <a:off x="1696825" y="2133600"/>
            <a:ext cx="9807787" cy="3777622"/>
          </a:xfrm>
        </p:spPr>
        <p:txBody>
          <a:bodyPr>
            <a:normAutofit lnSpcReduction="10000"/>
          </a:bodyPr>
          <a:lstStyle/>
          <a:p>
            <a:pPr algn="l">
              <a:buFont typeface="+mj-lt"/>
              <a:buAutoNum type="arabicPeriod"/>
            </a:pPr>
            <a:r>
              <a:rPr lang="en-IN" b="0" i="0" dirty="0">
                <a:solidFill>
                  <a:srgbClr val="2B2A29"/>
                </a:solidFill>
                <a:effectLst/>
                <a:latin typeface="montserrat" panose="00000500000000000000" pitchFamily="2" charset="0"/>
              </a:rPr>
              <a:t>class Bike11{  </a:t>
            </a:r>
          </a:p>
          <a:p>
            <a:pPr algn="l">
              <a:buFont typeface="+mj-lt"/>
              <a:buAutoNum type="arabicPeriod"/>
            </a:pPr>
            <a:r>
              <a:rPr lang="en-IN" b="0" i="0" dirty="0">
                <a:solidFill>
                  <a:srgbClr val="2B2A29"/>
                </a:solidFill>
                <a:effectLst/>
                <a:latin typeface="montserrat" panose="00000500000000000000" pitchFamily="2" charset="0"/>
              </a:rPr>
              <a:t>  </a:t>
            </a:r>
            <a:r>
              <a:rPr lang="en-IN" b="1" i="0" dirty="0">
                <a:solidFill>
                  <a:srgbClr val="006699"/>
                </a:solidFill>
                <a:effectLst/>
                <a:latin typeface="montserrat" panose="00000500000000000000" pitchFamily="2" charset="0"/>
              </a:rPr>
              <a:t>int</a:t>
            </a:r>
            <a:r>
              <a:rPr lang="en-IN" b="0" i="0" dirty="0">
                <a:solidFill>
                  <a:srgbClr val="2B2A29"/>
                </a:solidFill>
                <a:effectLst/>
                <a:latin typeface="montserrat" panose="00000500000000000000" pitchFamily="2" charset="0"/>
              </a:rPr>
              <a:t> cube(</a:t>
            </a:r>
            <a:r>
              <a:rPr lang="en-IN" b="1" i="0" dirty="0">
                <a:solidFill>
                  <a:srgbClr val="006699"/>
                </a:solidFill>
                <a:effectLst/>
                <a:latin typeface="montserrat" panose="00000500000000000000" pitchFamily="2" charset="0"/>
              </a:rPr>
              <a:t>final</a:t>
            </a:r>
            <a:r>
              <a:rPr lang="en-IN" b="0" i="0" dirty="0">
                <a:solidFill>
                  <a:srgbClr val="2B2A29"/>
                </a:solidFill>
                <a:effectLst/>
                <a:latin typeface="montserrat" panose="00000500000000000000" pitchFamily="2" charset="0"/>
              </a:rPr>
              <a:t> </a:t>
            </a:r>
            <a:r>
              <a:rPr lang="en-IN" b="1" i="0" dirty="0">
                <a:solidFill>
                  <a:srgbClr val="006699"/>
                </a:solidFill>
                <a:effectLst/>
                <a:latin typeface="montserrat" panose="00000500000000000000" pitchFamily="2" charset="0"/>
              </a:rPr>
              <a:t>int</a:t>
            </a:r>
            <a:r>
              <a:rPr lang="en-IN" b="0" i="0" dirty="0">
                <a:solidFill>
                  <a:srgbClr val="2B2A29"/>
                </a:solidFill>
                <a:effectLst/>
                <a:latin typeface="montserrat" panose="00000500000000000000" pitchFamily="2" charset="0"/>
              </a:rPr>
              <a:t> n){  </a:t>
            </a:r>
          </a:p>
          <a:p>
            <a:pPr algn="l">
              <a:buFont typeface="+mj-lt"/>
              <a:buAutoNum type="arabicPeriod"/>
            </a:pPr>
            <a:r>
              <a:rPr lang="en-IN" b="0" i="0" dirty="0">
                <a:solidFill>
                  <a:srgbClr val="2B2A29"/>
                </a:solidFill>
                <a:effectLst/>
                <a:latin typeface="montserrat" panose="00000500000000000000" pitchFamily="2" charset="0"/>
              </a:rPr>
              <a:t>   n=n+</a:t>
            </a:r>
            <a:r>
              <a:rPr lang="en-IN" b="0" i="0" dirty="0">
                <a:solidFill>
                  <a:srgbClr val="C00000"/>
                </a:solidFill>
                <a:effectLst/>
                <a:latin typeface="montserrat" panose="00000500000000000000" pitchFamily="2" charset="0"/>
              </a:rPr>
              <a:t>2</a:t>
            </a:r>
            <a:r>
              <a:rPr lang="en-IN" b="0" i="0" dirty="0">
                <a:solidFill>
                  <a:srgbClr val="2B2A29"/>
                </a:solidFill>
                <a:effectLst/>
                <a:latin typeface="montserrat" panose="00000500000000000000" pitchFamily="2" charset="0"/>
              </a:rPr>
              <a:t>;//can't be changed as n is final  </a:t>
            </a:r>
          </a:p>
          <a:p>
            <a:pPr algn="l">
              <a:buFont typeface="+mj-lt"/>
              <a:buAutoNum type="arabicPeriod"/>
            </a:pPr>
            <a:r>
              <a:rPr lang="en-IN" b="0" i="0" dirty="0">
                <a:solidFill>
                  <a:srgbClr val="2B2A29"/>
                </a:solidFill>
                <a:effectLst/>
                <a:latin typeface="montserrat" panose="00000500000000000000" pitchFamily="2" charset="0"/>
              </a:rPr>
              <a:t>   n*n*n;  </a:t>
            </a:r>
          </a:p>
          <a:p>
            <a:pPr algn="l">
              <a:buFont typeface="+mj-lt"/>
              <a:buAutoNum type="arabicPeriod"/>
            </a:pPr>
            <a:r>
              <a:rPr lang="en-IN" b="0" i="0" dirty="0">
                <a:solidFill>
                  <a:srgbClr val="2B2A29"/>
                </a:solidFill>
                <a:effectLst/>
                <a:latin typeface="montserrat" panose="00000500000000000000" pitchFamily="2" charset="0"/>
              </a:rPr>
              <a:t>  }  </a:t>
            </a:r>
          </a:p>
          <a:p>
            <a:pPr algn="l">
              <a:buFont typeface="+mj-lt"/>
              <a:buAutoNum type="arabicPeriod"/>
            </a:pPr>
            <a:r>
              <a:rPr lang="en-IN" b="0" i="0" dirty="0">
                <a:solidFill>
                  <a:srgbClr val="2B2A29"/>
                </a:solidFill>
                <a:effectLst/>
                <a:latin typeface="montserrat" panose="00000500000000000000" pitchFamily="2" charset="0"/>
              </a:rPr>
              <a:t>  </a:t>
            </a:r>
            <a:r>
              <a:rPr lang="en-IN" b="1" i="0" dirty="0">
                <a:solidFill>
                  <a:srgbClr val="006699"/>
                </a:solidFill>
                <a:effectLst/>
                <a:latin typeface="montserrat" panose="00000500000000000000" pitchFamily="2" charset="0"/>
              </a:rPr>
              <a:t>public</a:t>
            </a:r>
            <a:r>
              <a:rPr lang="en-IN" b="0" i="0" dirty="0">
                <a:solidFill>
                  <a:srgbClr val="2B2A29"/>
                </a:solidFill>
                <a:effectLst/>
                <a:latin typeface="montserrat" panose="00000500000000000000" pitchFamily="2" charset="0"/>
              </a:rPr>
              <a:t> </a:t>
            </a:r>
            <a:r>
              <a:rPr lang="en-IN" b="1" i="0" dirty="0">
                <a:solidFill>
                  <a:srgbClr val="006699"/>
                </a:solidFill>
                <a:effectLst/>
                <a:latin typeface="montserrat" panose="00000500000000000000" pitchFamily="2" charset="0"/>
              </a:rPr>
              <a:t>static</a:t>
            </a:r>
            <a:r>
              <a:rPr lang="en-IN" b="0" i="0" dirty="0">
                <a:solidFill>
                  <a:srgbClr val="2B2A29"/>
                </a:solidFill>
                <a:effectLst/>
                <a:latin typeface="montserrat" panose="00000500000000000000" pitchFamily="2" charset="0"/>
              </a:rPr>
              <a:t> </a:t>
            </a:r>
            <a:r>
              <a:rPr lang="en-IN" b="1" i="0" dirty="0">
                <a:solidFill>
                  <a:srgbClr val="006699"/>
                </a:solidFill>
                <a:effectLst/>
                <a:latin typeface="montserrat" panose="00000500000000000000" pitchFamily="2" charset="0"/>
              </a:rPr>
              <a:t>void</a:t>
            </a:r>
            <a:r>
              <a:rPr lang="en-IN" b="0" i="0" dirty="0">
                <a:solidFill>
                  <a:srgbClr val="2B2A29"/>
                </a:solidFill>
                <a:effectLst/>
                <a:latin typeface="montserrat" panose="00000500000000000000" pitchFamily="2" charset="0"/>
              </a:rPr>
              <a:t> main(String </a:t>
            </a:r>
            <a:r>
              <a:rPr lang="en-IN" b="0" i="0" dirty="0" err="1">
                <a:solidFill>
                  <a:srgbClr val="2B2A29"/>
                </a:solidFill>
                <a:effectLst/>
                <a:latin typeface="montserrat" panose="00000500000000000000" pitchFamily="2" charset="0"/>
              </a:rPr>
              <a:t>args</a:t>
            </a:r>
            <a:r>
              <a:rPr lang="en-IN" b="0" i="0" dirty="0">
                <a:solidFill>
                  <a:srgbClr val="2B2A29"/>
                </a:solidFill>
                <a:effectLst/>
                <a:latin typeface="montserrat" panose="00000500000000000000" pitchFamily="2" charset="0"/>
              </a:rPr>
              <a:t>[]){  </a:t>
            </a:r>
          </a:p>
          <a:p>
            <a:pPr algn="l">
              <a:buFont typeface="+mj-lt"/>
              <a:buAutoNum type="arabicPeriod"/>
            </a:pPr>
            <a:r>
              <a:rPr lang="en-IN" b="0" i="0" dirty="0">
                <a:solidFill>
                  <a:srgbClr val="2B2A29"/>
                </a:solidFill>
                <a:effectLst/>
                <a:latin typeface="montserrat" panose="00000500000000000000" pitchFamily="2" charset="0"/>
              </a:rPr>
              <a:t>    Bike11 b=</a:t>
            </a:r>
            <a:r>
              <a:rPr lang="en-IN" b="1" i="0" dirty="0">
                <a:solidFill>
                  <a:srgbClr val="006699"/>
                </a:solidFill>
                <a:effectLst/>
                <a:latin typeface="montserrat" panose="00000500000000000000" pitchFamily="2" charset="0"/>
              </a:rPr>
              <a:t>new</a:t>
            </a:r>
            <a:r>
              <a:rPr lang="en-IN" b="0" i="0" dirty="0">
                <a:solidFill>
                  <a:srgbClr val="2B2A29"/>
                </a:solidFill>
                <a:effectLst/>
                <a:latin typeface="montserrat" panose="00000500000000000000" pitchFamily="2" charset="0"/>
              </a:rPr>
              <a:t> Bike11();  </a:t>
            </a:r>
          </a:p>
          <a:p>
            <a:pPr algn="l">
              <a:buFont typeface="+mj-lt"/>
              <a:buAutoNum type="arabicPeriod"/>
            </a:pPr>
            <a:r>
              <a:rPr lang="en-IN" b="0" i="0" dirty="0">
                <a:solidFill>
                  <a:srgbClr val="2B2A29"/>
                </a:solidFill>
                <a:effectLst/>
                <a:latin typeface="montserrat" panose="00000500000000000000" pitchFamily="2" charset="0"/>
              </a:rPr>
              <a:t>    </a:t>
            </a:r>
            <a:r>
              <a:rPr lang="en-IN" b="0" i="0" dirty="0" err="1">
                <a:solidFill>
                  <a:srgbClr val="2B2A29"/>
                </a:solidFill>
                <a:effectLst/>
                <a:latin typeface="montserrat" panose="00000500000000000000" pitchFamily="2" charset="0"/>
              </a:rPr>
              <a:t>b.cube</a:t>
            </a:r>
            <a:r>
              <a:rPr lang="en-IN" b="0" i="0" dirty="0">
                <a:solidFill>
                  <a:srgbClr val="2B2A29"/>
                </a:solidFill>
                <a:effectLst/>
                <a:latin typeface="montserrat" panose="00000500000000000000" pitchFamily="2" charset="0"/>
              </a:rPr>
              <a:t>(</a:t>
            </a:r>
            <a:r>
              <a:rPr lang="en-IN" b="0" i="0" dirty="0">
                <a:solidFill>
                  <a:srgbClr val="C00000"/>
                </a:solidFill>
                <a:effectLst/>
                <a:latin typeface="montserrat" panose="00000500000000000000" pitchFamily="2" charset="0"/>
              </a:rPr>
              <a:t>5</a:t>
            </a:r>
            <a:r>
              <a:rPr lang="en-IN" b="0" i="0" dirty="0">
                <a:solidFill>
                  <a:srgbClr val="2B2A29"/>
                </a:solidFill>
                <a:effectLst/>
                <a:latin typeface="montserrat" panose="00000500000000000000" pitchFamily="2" charset="0"/>
              </a:rPr>
              <a:t>);  </a:t>
            </a:r>
          </a:p>
          <a:p>
            <a:pPr algn="l">
              <a:buFont typeface="+mj-lt"/>
              <a:buAutoNum type="arabicPeriod"/>
            </a:pPr>
            <a:r>
              <a:rPr lang="en-IN" b="0" i="0" dirty="0">
                <a:solidFill>
                  <a:srgbClr val="2B2A29"/>
                </a:solidFill>
                <a:effectLst/>
                <a:latin typeface="montserrat" panose="00000500000000000000" pitchFamily="2" charset="0"/>
              </a:rPr>
              <a:t> }  </a:t>
            </a:r>
          </a:p>
          <a:p>
            <a:pPr algn="l">
              <a:buFont typeface="+mj-lt"/>
              <a:buAutoNum type="arabicPeriod"/>
            </a:pPr>
            <a:r>
              <a:rPr lang="en-IN" b="0" i="0" dirty="0">
                <a:solidFill>
                  <a:srgbClr val="2B2A29"/>
                </a:solidFill>
                <a:effectLst/>
                <a:latin typeface="montserrat" panose="00000500000000000000" pitchFamily="2" charset="0"/>
              </a:rPr>
              <a:t>}  </a:t>
            </a:r>
          </a:p>
          <a:p>
            <a:endParaRPr lang="en-IN" dirty="0"/>
          </a:p>
        </p:txBody>
      </p:sp>
    </p:spTree>
    <p:extLst>
      <p:ext uri="{BB962C8B-B14F-4D97-AF65-F5344CB8AC3E}">
        <p14:creationId xmlns:p14="http://schemas.microsoft.com/office/powerpoint/2010/main" val="24625470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E1586-0AD5-B92C-F115-E55AECC1EEA4}"/>
              </a:ext>
            </a:extLst>
          </p:cNvPr>
          <p:cNvSpPr>
            <a:spLocks noGrp="1"/>
          </p:cNvSpPr>
          <p:nvPr>
            <p:ph type="title"/>
          </p:nvPr>
        </p:nvSpPr>
        <p:spPr>
          <a:xfrm>
            <a:off x="1555423" y="624110"/>
            <a:ext cx="9949189" cy="1280890"/>
          </a:xfrm>
        </p:spPr>
        <p:txBody>
          <a:bodyPr>
            <a:normAutofit fontScale="90000"/>
          </a:bodyPr>
          <a:lstStyle/>
          <a:p>
            <a:br>
              <a:rPr lang="en-IN" dirty="0"/>
            </a:br>
            <a:r>
              <a:rPr lang="en-IN" b="1" i="1" dirty="0">
                <a:solidFill>
                  <a:srgbClr val="7030A0"/>
                </a:solidFill>
              </a:rPr>
              <a:t>Can we declare a constructor final?</a:t>
            </a:r>
            <a:br>
              <a:rPr lang="en-IN" b="1" i="1" dirty="0">
                <a:solidFill>
                  <a:srgbClr val="7030A0"/>
                </a:solidFill>
              </a:rPr>
            </a:br>
            <a:br>
              <a:rPr lang="en-IN" dirty="0"/>
            </a:br>
            <a:r>
              <a:rPr lang="en-IN" sz="3100" b="1" dirty="0">
                <a:solidFill>
                  <a:srgbClr val="C00000"/>
                </a:solidFill>
              </a:rPr>
              <a:t>No, because constructor is never inherited.</a:t>
            </a:r>
          </a:p>
        </p:txBody>
      </p:sp>
    </p:spTree>
    <p:extLst>
      <p:ext uri="{BB962C8B-B14F-4D97-AF65-F5344CB8AC3E}">
        <p14:creationId xmlns:p14="http://schemas.microsoft.com/office/powerpoint/2010/main" val="220036235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2609</TotalTime>
  <Words>2632</Words>
  <Application>Microsoft Office PowerPoint</Application>
  <PresentationFormat>Widescreen</PresentationFormat>
  <Paragraphs>343</Paragraphs>
  <Slides>46</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46</vt:i4>
      </vt:variant>
    </vt:vector>
  </HeadingPairs>
  <TitlesOfParts>
    <vt:vector size="61" baseType="lpstr">
      <vt:lpstr>Arial</vt:lpstr>
      <vt:lpstr>Arial Black</vt:lpstr>
      <vt:lpstr>Arial Rounded MT Bold</vt:lpstr>
      <vt:lpstr>Calibri</vt:lpstr>
      <vt:lpstr>Century Gothic</vt:lpstr>
      <vt:lpstr>CourierStd</vt:lpstr>
      <vt:lpstr>DINMittelEFOP-Bold</vt:lpstr>
      <vt:lpstr>montserrat</vt:lpstr>
      <vt:lpstr>NewBaskervilleStd-Bold</vt:lpstr>
      <vt:lpstr>NewBaskervilleStd-Italic</vt:lpstr>
      <vt:lpstr>NewBaskervilleStd-Roman</vt:lpstr>
      <vt:lpstr>Roboto</vt:lpstr>
      <vt:lpstr>Wingdings</vt:lpstr>
      <vt:lpstr>Wingdings 3</vt:lpstr>
      <vt:lpstr>Wisp</vt:lpstr>
      <vt:lpstr>OOPs  with Java Chapter 8 Inheritance</vt:lpstr>
      <vt:lpstr>Inheritance</vt:lpstr>
      <vt:lpstr>Terms used in Inheritance</vt:lpstr>
      <vt:lpstr>The syntax of Java Inheritance </vt:lpstr>
      <vt:lpstr>Types of inheritance in java </vt:lpstr>
      <vt:lpstr>Multiple and Hybrid inheritance is not supported in Java through class. But achieved using Interface. To reduce the complexity and simplify the language, multiple inheritance is not supported in java. </vt:lpstr>
      <vt:lpstr>PowerPoint Presentation</vt:lpstr>
      <vt:lpstr>PowerPoint Presentation</vt:lpstr>
      <vt:lpstr>PowerPoint Presentation</vt:lpstr>
      <vt:lpstr>Access Specifier</vt:lpstr>
      <vt:lpstr>Access Specifier</vt:lpstr>
      <vt:lpstr>PowerPoint Presentation</vt:lpstr>
      <vt:lpstr>A Superclass Variable Can Reference a Subclass Object</vt:lpstr>
      <vt:lpstr>Using super- Whenever a subclass needs to refer to its immediate superclass, it can do so by use of the keyword super.</vt:lpstr>
      <vt:lpstr>Using super to Call Superclass Constructors</vt:lpstr>
      <vt:lpstr>Using super</vt:lpstr>
      <vt:lpstr>Program example</vt:lpstr>
      <vt:lpstr>A Second Use for super</vt:lpstr>
      <vt:lpstr>PowerPoint Presentation</vt:lpstr>
      <vt:lpstr>PowerPoint Presentation</vt:lpstr>
      <vt:lpstr>Dynamic Dispatch Method </vt:lpstr>
      <vt:lpstr>Characteristics of Super Keywords in Java</vt:lpstr>
      <vt:lpstr>Dynamic Dispatch Method </vt:lpstr>
      <vt:lpstr>PowerPoint Presentation</vt:lpstr>
      <vt:lpstr>Why Overridden Methods?</vt:lpstr>
      <vt:lpstr>Using Abstract Classes</vt:lpstr>
      <vt:lpstr>Abstract Method</vt:lpstr>
      <vt:lpstr>PowerPoint Presentation</vt:lpstr>
      <vt:lpstr>PowerPoint Presentation</vt:lpstr>
      <vt:lpstr>PowerPoint Presentation</vt:lpstr>
      <vt:lpstr>PowerPoint Presentation</vt:lpstr>
      <vt:lpstr>Abstract Class</vt:lpstr>
      <vt:lpstr>Abstract class with an abstract method.</vt:lpstr>
      <vt:lpstr>abstract class</vt:lpstr>
      <vt:lpstr>PowerPoint Presentation</vt:lpstr>
      <vt:lpstr>PowerPoint Presentation</vt:lpstr>
      <vt:lpstr>Using final with Inheritance</vt:lpstr>
      <vt:lpstr>Using final to Prevent Overriding </vt:lpstr>
      <vt:lpstr>Using final to Prevent Inheritance</vt:lpstr>
      <vt:lpstr>Final Keyword In Java </vt:lpstr>
      <vt:lpstr>PowerPoint Presentation</vt:lpstr>
      <vt:lpstr> Java final method: If you make any method as final, you cannot override it.  Final methods cannot be Overridden   </vt:lpstr>
      <vt:lpstr>Java final class: If you make any class as final, you cannot extend it. Final class cannot be extended</vt:lpstr>
      <vt:lpstr> Is final method inherited?   Yes</vt:lpstr>
      <vt:lpstr>What is final parameter? If you declare any parameter as final, you cannot change the value of it.</vt:lpstr>
      <vt:lpstr> Can we declare a constructor final?  No, because constructor is never inherited.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ganga holi</dc:creator>
  <cp:lastModifiedBy>ganga holi</cp:lastModifiedBy>
  <cp:revision>31</cp:revision>
  <dcterms:created xsi:type="dcterms:W3CDTF">2024-09-02T09:39:45Z</dcterms:created>
  <dcterms:modified xsi:type="dcterms:W3CDTF">2024-10-27T12:15:39Z</dcterms:modified>
</cp:coreProperties>
</file>