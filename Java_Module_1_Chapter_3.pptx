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46"/>
  </p:notesMasterIdLst>
  <p:sldIdLst>
    <p:sldId id="256" r:id="rId2"/>
    <p:sldId id="257" r:id="rId3"/>
    <p:sldId id="300" r:id="rId4"/>
    <p:sldId id="332" r:id="rId5"/>
    <p:sldId id="331" r:id="rId6"/>
    <p:sldId id="301" r:id="rId7"/>
    <p:sldId id="303" r:id="rId8"/>
    <p:sldId id="305" r:id="rId9"/>
    <p:sldId id="304" r:id="rId10"/>
    <p:sldId id="306" r:id="rId11"/>
    <p:sldId id="307" r:id="rId12"/>
    <p:sldId id="308" r:id="rId13"/>
    <p:sldId id="309" r:id="rId14"/>
    <p:sldId id="310" r:id="rId15"/>
    <p:sldId id="315" r:id="rId16"/>
    <p:sldId id="311" r:id="rId17"/>
    <p:sldId id="313" r:id="rId18"/>
    <p:sldId id="314" r:id="rId19"/>
    <p:sldId id="335" r:id="rId20"/>
    <p:sldId id="336" r:id="rId21"/>
    <p:sldId id="337" r:id="rId22"/>
    <p:sldId id="338" r:id="rId23"/>
    <p:sldId id="316" r:id="rId24"/>
    <p:sldId id="317" r:id="rId25"/>
    <p:sldId id="318" r:id="rId26"/>
    <p:sldId id="312" r:id="rId27"/>
    <p:sldId id="319" r:id="rId28"/>
    <p:sldId id="320" r:id="rId29"/>
    <p:sldId id="321" r:id="rId30"/>
    <p:sldId id="333" r:id="rId31"/>
    <p:sldId id="342" r:id="rId32"/>
    <p:sldId id="343" r:id="rId33"/>
    <p:sldId id="322" r:id="rId34"/>
    <p:sldId id="323" r:id="rId35"/>
    <p:sldId id="324" r:id="rId36"/>
    <p:sldId id="325" r:id="rId37"/>
    <p:sldId id="341" r:id="rId38"/>
    <p:sldId id="326" r:id="rId39"/>
    <p:sldId id="339" r:id="rId40"/>
    <p:sldId id="327" r:id="rId41"/>
    <p:sldId id="328" r:id="rId42"/>
    <p:sldId id="340" r:id="rId43"/>
    <p:sldId id="329" r:id="rId44"/>
    <p:sldId id="330"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nga holi" initials="gh" lastIdx="1" clrIdx="0">
    <p:extLst>
      <p:ext uri="{19B8F6BF-5375-455C-9EA6-DF929625EA0E}">
        <p15:presenceInfo xmlns:p15="http://schemas.microsoft.com/office/powerpoint/2012/main" userId="aae9f10d01cc76c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8-30T09:19:12.029" idx="1">
    <p:pos x="7413" y="3682"/>
    <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893C29-3C71-44A3-A1C8-68621B2199BF}" type="datetimeFigureOut">
              <a:rPr lang="en-IN" smtClean="0"/>
              <a:t>03-09-2024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948B26-B11F-4C0E-A453-6E2E1F145414}" type="slidenum">
              <a:rPr lang="en-IN" smtClean="0"/>
              <a:t>‹#›</a:t>
            </a:fld>
            <a:endParaRPr lang="en-IN"/>
          </a:p>
        </p:txBody>
      </p:sp>
    </p:spTree>
    <p:extLst>
      <p:ext uri="{BB962C8B-B14F-4D97-AF65-F5344CB8AC3E}">
        <p14:creationId xmlns:p14="http://schemas.microsoft.com/office/powerpoint/2010/main" val="3952195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0C948B26-B11F-4C0E-A453-6E2E1F145414}" type="slidenum">
              <a:rPr lang="en-IN" smtClean="0"/>
              <a:t>12</a:t>
            </a:fld>
            <a:endParaRPr lang="en-IN"/>
          </a:p>
        </p:txBody>
      </p:sp>
    </p:spTree>
    <p:extLst>
      <p:ext uri="{BB962C8B-B14F-4D97-AF65-F5344CB8AC3E}">
        <p14:creationId xmlns:p14="http://schemas.microsoft.com/office/powerpoint/2010/main" val="4158318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BFC87B4-9484-4861-B4F8-17D230F2A026}" type="datetimeFigureOut">
              <a:rPr lang="en-IN" smtClean="0"/>
              <a:t>03-09-2024</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2F7B1D4-F75E-46B9-806F-AFB5D4739FD3}" type="slidenum">
              <a:rPr lang="en-IN" smtClean="0"/>
              <a:t>‹#›</a:t>
            </a:fld>
            <a:endParaRPr lang="en-IN"/>
          </a:p>
        </p:txBody>
      </p:sp>
    </p:spTree>
    <p:extLst>
      <p:ext uri="{BB962C8B-B14F-4D97-AF65-F5344CB8AC3E}">
        <p14:creationId xmlns:p14="http://schemas.microsoft.com/office/powerpoint/2010/main" val="2392298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FC87B4-9484-4861-B4F8-17D230F2A026}" type="datetimeFigureOut">
              <a:rPr lang="en-IN" smtClean="0"/>
              <a:t>03-09-2024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2F7B1D4-F75E-46B9-806F-AFB5D4739FD3}" type="slidenum">
              <a:rPr lang="en-IN" smtClean="0"/>
              <a:t>‹#›</a:t>
            </a:fld>
            <a:endParaRPr lang="en-IN"/>
          </a:p>
        </p:txBody>
      </p:sp>
    </p:spTree>
    <p:extLst>
      <p:ext uri="{BB962C8B-B14F-4D97-AF65-F5344CB8AC3E}">
        <p14:creationId xmlns:p14="http://schemas.microsoft.com/office/powerpoint/2010/main" val="1521140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FC87B4-9484-4861-B4F8-17D230F2A026}" type="datetimeFigureOut">
              <a:rPr lang="en-IN" smtClean="0"/>
              <a:t>03-09-2024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2F7B1D4-F75E-46B9-806F-AFB5D4739FD3}" type="slidenum">
              <a:rPr lang="en-IN" smtClean="0"/>
              <a:t>‹#›</a:t>
            </a:fld>
            <a:endParaRPr lang="en-IN"/>
          </a:p>
        </p:txBody>
      </p:sp>
    </p:spTree>
    <p:extLst>
      <p:ext uri="{BB962C8B-B14F-4D97-AF65-F5344CB8AC3E}">
        <p14:creationId xmlns:p14="http://schemas.microsoft.com/office/powerpoint/2010/main" val="1964495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FC87B4-9484-4861-B4F8-17D230F2A026}"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2F7B1D4-F75E-46B9-806F-AFB5D4739FD3}" type="slidenum">
              <a:rPr lang="en-IN" smtClean="0"/>
              <a:t>‹#›</a:t>
            </a:fld>
            <a:endParaRPr lang="en-IN"/>
          </a:p>
        </p:txBody>
      </p:sp>
    </p:spTree>
    <p:extLst>
      <p:ext uri="{BB962C8B-B14F-4D97-AF65-F5344CB8AC3E}">
        <p14:creationId xmlns:p14="http://schemas.microsoft.com/office/powerpoint/2010/main" val="1258558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BFC87B4-9484-4861-B4F8-17D230F2A026}" type="datetimeFigureOut">
              <a:rPr lang="en-IN" smtClean="0"/>
              <a:t>03-09-2024</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2F7B1D4-F75E-46B9-806F-AFB5D4739FD3}" type="slidenum">
              <a:rPr lang="en-IN" smtClean="0"/>
              <a:t>‹#›</a:t>
            </a:fld>
            <a:endParaRPr lang="en-IN"/>
          </a:p>
        </p:txBody>
      </p:sp>
    </p:spTree>
    <p:extLst>
      <p:ext uri="{BB962C8B-B14F-4D97-AF65-F5344CB8AC3E}">
        <p14:creationId xmlns:p14="http://schemas.microsoft.com/office/powerpoint/2010/main" val="382327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BFC87B4-9484-4861-B4F8-17D230F2A026}" type="datetimeFigureOut">
              <a:rPr lang="en-IN" smtClean="0"/>
              <a:t>03-09-2024</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2F7B1D4-F75E-46B9-806F-AFB5D4739FD3}" type="slidenum">
              <a:rPr lang="en-IN" smtClean="0"/>
              <a:t>‹#›</a:t>
            </a:fld>
            <a:endParaRPr lang="en-IN"/>
          </a:p>
        </p:txBody>
      </p:sp>
    </p:spTree>
    <p:extLst>
      <p:ext uri="{BB962C8B-B14F-4D97-AF65-F5344CB8AC3E}">
        <p14:creationId xmlns:p14="http://schemas.microsoft.com/office/powerpoint/2010/main" val="4186846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FC87B4-9484-4861-B4F8-17D230F2A026}" type="datetimeFigureOut">
              <a:rPr lang="en-IN" smtClean="0"/>
              <a:t>03-09-2024</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2F7B1D4-F75E-46B9-806F-AFB5D4739FD3}" type="slidenum">
              <a:rPr lang="en-IN" smtClean="0"/>
              <a:t>‹#›</a:t>
            </a:fld>
            <a:endParaRPr lang="en-IN"/>
          </a:p>
        </p:txBody>
      </p:sp>
    </p:spTree>
    <p:extLst>
      <p:ext uri="{BB962C8B-B14F-4D97-AF65-F5344CB8AC3E}">
        <p14:creationId xmlns:p14="http://schemas.microsoft.com/office/powerpoint/2010/main" val="2913905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FC87B4-9484-4861-B4F8-17D230F2A026}"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2F7B1D4-F75E-46B9-806F-AFB5D4739FD3}" type="slidenum">
              <a:rPr lang="en-IN" smtClean="0"/>
              <a:t>‹#›</a:t>
            </a:fld>
            <a:endParaRPr lang="en-IN"/>
          </a:p>
        </p:txBody>
      </p:sp>
    </p:spTree>
    <p:extLst>
      <p:ext uri="{BB962C8B-B14F-4D97-AF65-F5344CB8AC3E}">
        <p14:creationId xmlns:p14="http://schemas.microsoft.com/office/powerpoint/2010/main" val="17539025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FC87B4-9484-4861-B4F8-17D230F2A026}"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2F7B1D4-F75E-46B9-806F-AFB5D4739FD3}" type="slidenum">
              <a:rPr lang="en-IN" smtClean="0"/>
              <a:t>‹#›</a:t>
            </a:fld>
            <a:endParaRPr lang="en-IN"/>
          </a:p>
        </p:txBody>
      </p:sp>
    </p:spTree>
    <p:extLst>
      <p:ext uri="{BB962C8B-B14F-4D97-AF65-F5344CB8AC3E}">
        <p14:creationId xmlns:p14="http://schemas.microsoft.com/office/powerpoint/2010/main" val="2672489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FC87B4-9484-4861-B4F8-17D230F2A026}" type="datetimeFigureOut">
              <a:rPr lang="en-IN" smtClean="0"/>
              <a:t>03-09-2024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2F7B1D4-F75E-46B9-806F-AFB5D4739FD3}" type="slidenum">
              <a:rPr lang="en-IN" smtClean="0"/>
              <a:t>‹#›</a:t>
            </a:fld>
            <a:endParaRPr lang="en-IN"/>
          </a:p>
        </p:txBody>
      </p:sp>
    </p:spTree>
    <p:extLst>
      <p:ext uri="{BB962C8B-B14F-4D97-AF65-F5344CB8AC3E}">
        <p14:creationId xmlns:p14="http://schemas.microsoft.com/office/powerpoint/2010/main" val="348802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FC87B4-9484-4861-B4F8-17D230F2A026}" type="datetimeFigureOut">
              <a:rPr lang="en-IN" smtClean="0"/>
              <a:t>03-09-2024</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2F7B1D4-F75E-46B9-806F-AFB5D4739FD3}"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367823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BFC87B4-9484-4861-B4F8-17D230F2A026}"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2F7B1D4-F75E-46B9-806F-AFB5D4739FD3}" type="slidenum">
              <a:rPr lang="en-IN" smtClean="0"/>
              <a:t>‹#›</a:t>
            </a:fld>
            <a:endParaRPr lang="en-IN"/>
          </a:p>
        </p:txBody>
      </p:sp>
    </p:spTree>
    <p:extLst>
      <p:ext uri="{BB962C8B-B14F-4D97-AF65-F5344CB8AC3E}">
        <p14:creationId xmlns:p14="http://schemas.microsoft.com/office/powerpoint/2010/main" val="3330146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BFC87B4-9484-4861-B4F8-17D230F2A026}"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2F7B1D4-F75E-46B9-806F-AFB5D4739FD3}"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668582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BFC87B4-9484-4861-B4F8-17D230F2A026}" type="datetimeFigureOut">
              <a:rPr lang="en-IN" smtClean="0"/>
              <a:t>03-09-2024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2F7B1D4-F75E-46B9-806F-AFB5D4739FD3}" type="slidenum">
              <a:rPr lang="en-IN" smtClean="0"/>
              <a:t>‹#›</a:t>
            </a:fld>
            <a:endParaRPr lang="en-IN"/>
          </a:p>
        </p:txBody>
      </p:sp>
    </p:spTree>
    <p:extLst>
      <p:ext uri="{BB962C8B-B14F-4D97-AF65-F5344CB8AC3E}">
        <p14:creationId xmlns:p14="http://schemas.microsoft.com/office/powerpoint/2010/main" val="3290689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FC87B4-9484-4861-B4F8-17D230F2A026}" type="datetimeFigureOut">
              <a:rPr lang="en-IN" smtClean="0"/>
              <a:t>03-09-2024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2F7B1D4-F75E-46B9-806F-AFB5D4739FD3}" type="slidenum">
              <a:rPr lang="en-IN" smtClean="0"/>
              <a:t>‹#›</a:t>
            </a:fld>
            <a:endParaRPr lang="en-IN"/>
          </a:p>
        </p:txBody>
      </p:sp>
    </p:spTree>
    <p:extLst>
      <p:ext uri="{BB962C8B-B14F-4D97-AF65-F5344CB8AC3E}">
        <p14:creationId xmlns:p14="http://schemas.microsoft.com/office/powerpoint/2010/main" val="17313670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FC87B4-9484-4861-B4F8-17D230F2A026}" type="datetimeFigureOut">
              <a:rPr lang="en-IN" smtClean="0"/>
              <a:t>03-09-2024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2F7B1D4-F75E-46B9-806F-AFB5D4739FD3}" type="slidenum">
              <a:rPr lang="en-IN" smtClean="0"/>
              <a:t>‹#›</a:t>
            </a:fld>
            <a:endParaRPr lang="en-IN"/>
          </a:p>
        </p:txBody>
      </p:sp>
    </p:spTree>
    <p:extLst>
      <p:ext uri="{BB962C8B-B14F-4D97-AF65-F5344CB8AC3E}">
        <p14:creationId xmlns:p14="http://schemas.microsoft.com/office/powerpoint/2010/main" val="1273647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BFC87B4-9484-4861-B4F8-17D230F2A026}" type="datetimeFigureOut">
              <a:rPr lang="en-IN" smtClean="0"/>
              <a:t>03-09-2024</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2F7B1D4-F75E-46B9-806F-AFB5D4739FD3}" type="slidenum">
              <a:rPr lang="en-IN" smtClean="0"/>
              <a:t>‹#›</a:t>
            </a:fld>
            <a:endParaRPr lang="en-IN"/>
          </a:p>
        </p:txBody>
      </p:sp>
    </p:spTree>
    <p:extLst>
      <p:ext uri="{BB962C8B-B14F-4D97-AF65-F5344CB8AC3E}">
        <p14:creationId xmlns:p14="http://schemas.microsoft.com/office/powerpoint/2010/main" val="3176856188"/>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file:///\\Backslash"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D0C2F-B4B2-7DF3-8150-527D236278F0}"/>
              </a:ext>
            </a:extLst>
          </p:cNvPr>
          <p:cNvSpPr>
            <a:spLocks noGrp="1"/>
          </p:cNvSpPr>
          <p:nvPr>
            <p:ph type="ctrTitle"/>
          </p:nvPr>
        </p:nvSpPr>
        <p:spPr>
          <a:xfrm>
            <a:off x="1783978" y="842683"/>
            <a:ext cx="9908894" cy="3163734"/>
          </a:xfrm>
        </p:spPr>
        <p:txBody>
          <a:bodyPr>
            <a:normAutofit/>
          </a:bodyPr>
          <a:lstStyle/>
          <a:p>
            <a:r>
              <a:rPr lang="en-IN" b="1" dirty="0"/>
              <a:t>OOP</a:t>
            </a:r>
            <a:r>
              <a:rPr lang="en-IN" sz="4800" b="1" dirty="0"/>
              <a:t>s  with Java</a:t>
            </a:r>
            <a:br>
              <a:rPr lang="en-IN" sz="4800" b="1" dirty="0"/>
            </a:br>
            <a:r>
              <a:rPr lang="en-IN" sz="4800" b="1" dirty="0"/>
              <a:t>Chapter 3</a:t>
            </a:r>
            <a:br>
              <a:rPr lang="en-IN" sz="4800" b="1" dirty="0"/>
            </a:br>
            <a:r>
              <a:rPr lang="en-IN" sz="4800" b="1" dirty="0"/>
              <a:t>Data Types, Variables, &amp; Arrays</a:t>
            </a:r>
            <a:endParaRPr lang="en-IN" b="1" dirty="0"/>
          </a:p>
        </p:txBody>
      </p:sp>
      <p:sp>
        <p:nvSpPr>
          <p:cNvPr id="3" name="Subtitle 2">
            <a:extLst>
              <a:ext uri="{FF2B5EF4-FFF2-40B4-BE49-F238E27FC236}">
                <a16:creationId xmlns:a16="http://schemas.microsoft.com/office/drawing/2014/main" id="{4A9A476A-7C1D-BE23-D0F4-71547039F8D1}"/>
              </a:ext>
            </a:extLst>
          </p:cNvPr>
          <p:cNvSpPr>
            <a:spLocks noGrp="1"/>
          </p:cNvSpPr>
          <p:nvPr>
            <p:ph type="subTitle" idx="1"/>
          </p:nvPr>
        </p:nvSpPr>
        <p:spPr/>
        <p:txBody>
          <a:bodyPr>
            <a:normAutofit/>
          </a:bodyPr>
          <a:lstStyle/>
          <a:p>
            <a:r>
              <a:rPr lang="en-IN" sz="2800" b="1" dirty="0" err="1"/>
              <a:t>Dr.</a:t>
            </a:r>
            <a:r>
              <a:rPr lang="en-IN" sz="2800" b="1" dirty="0"/>
              <a:t> Ganga Holi </a:t>
            </a:r>
          </a:p>
          <a:p>
            <a:r>
              <a:rPr lang="en-IN" sz="2800" b="1" dirty="0"/>
              <a:t>Professor &amp; Head, Dept of CSE(ICB)</a:t>
            </a:r>
          </a:p>
        </p:txBody>
      </p:sp>
    </p:spTree>
    <p:extLst>
      <p:ext uri="{BB962C8B-B14F-4D97-AF65-F5344CB8AC3E}">
        <p14:creationId xmlns:p14="http://schemas.microsoft.com/office/powerpoint/2010/main" val="1575618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F6765-A70C-CD13-FC44-F4D8EE268D99}"/>
              </a:ext>
            </a:extLst>
          </p:cNvPr>
          <p:cNvSpPr>
            <a:spLocks noGrp="1"/>
          </p:cNvSpPr>
          <p:nvPr>
            <p:ph type="title"/>
          </p:nvPr>
        </p:nvSpPr>
        <p:spPr>
          <a:xfrm>
            <a:off x="2592925" y="624110"/>
            <a:ext cx="8911687" cy="813921"/>
          </a:xfrm>
        </p:spPr>
        <p:txBody>
          <a:bodyPr/>
          <a:lstStyle/>
          <a:p>
            <a:r>
              <a:rPr lang="en-IN" b="1" dirty="0"/>
              <a:t>Data Types, Variables, and Arrays</a:t>
            </a:r>
          </a:p>
        </p:txBody>
      </p:sp>
      <p:sp>
        <p:nvSpPr>
          <p:cNvPr id="6" name="TextBox 5">
            <a:extLst>
              <a:ext uri="{FF2B5EF4-FFF2-40B4-BE49-F238E27FC236}">
                <a16:creationId xmlns:a16="http://schemas.microsoft.com/office/drawing/2014/main" id="{A8EB0360-7731-CAD0-8AF0-58F603BE2C35}"/>
              </a:ext>
            </a:extLst>
          </p:cNvPr>
          <p:cNvSpPr txBox="1"/>
          <p:nvPr/>
        </p:nvSpPr>
        <p:spPr>
          <a:xfrm>
            <a:off x="2592925" y="1245309"/>
            <a:ext cx="6828981" cy="523220"/>
          </a:xfrm>
          <a:prstGeom prst="rect">
            <a:avLst/>
          </a:prstGeom>
          <a:noFill/>
        </p:spPr>
        <p:txBody>
          <a:bodyPr wrap="square">
            <a:spAutoFit/>
          </a:bodyPr>
          <a:lstStyle/>
          <a:p>
            <a:r>
              <a:rPr lang="en-IN" sz="2800" b="1" i="0" u="none" strike="noStrike" baseline="0" dirty="0">
                <a:solidFill>
                  <a:srgbClr val="FF0000"/>
                </a:solidFill>
              </a:rPr>
              <a:t>Java Is a Strongly Typed Language</a:t>
            </a:r>
            <a:endParaRPr lang="en-IN" sz="2800" dirty="0">
              <a:solidFill>
                <a:srgbClr val="FF0000"/>
              </a:solidFill>
            </a:endParaRPr>
          </a:p>
        </p:txBody>
      </p:sp>
      <p:sp>
        <p:nvSpPr>
          <p:cNvPr id="3" name="Content Placeholder 2">
            <a:extLst>
              <a:ext uri="{FF2B5EF4-FFF2-40B4-BE49-F238E27FC236}">
                <a16:creationId xmlns:a16="http://schemas.microsoft.com/office/drawing/2014/main" id="{CB8D883D-314B-A2FB-65F1-924F784CB955}"/>
              </a:ext>
            </a:extLst>
          </p:cNvPr>
          <p:cNvSpPr>
            <a:spLocks noGrp="1"/>
          </p:cNvSpPr>
          <p:nvPr>
            <p:ph idx="1"/>
          </p:nvPr>
        </p:nvSpPr>
        <p:spPr>
          <a:xfrm>
            <a:off x="1563077" y="1924822"/>
            <a:ext cx="10347569" cy="3777622"/>
          </a:xfrm>
        </p:spPr>
        <p:txBody>
          <a:bodyPr>
            <a:noAutofit/>
          </a:bodyPr>
          <a:lstStyle/>
          <a:p>
            <a:pPr algn="l"/>
            <a:r>
              <a:rPr lang="en-IN" sz="2400" b="0" i="0" u="none" strike="noStrike" baseline="0" dirty="0">
                <a:latin typeface="NewBaskervilleStd-Roman"/>
              </a:rPr>
              <a:t>It is important to state at the outset that Java is a strongly typed language. Indeed, part of Java’s safety and robustness comes from this fact. </a:t>
            </a:r>
          </a:p>
          <a:p>
            <a:pPr algn="l">
              <a:buFont typeface="+mj-lt"/>
              <a:buAutoNum type="arabicPeriod"/>
            </a:pPr>
            <a:r>
              <a:rPr lang="en-IN" sz="2400" b="1" i="0" u="none" strike="noStrike" baseline="0" dirty="0">
                <a:latin typeface="NewBaskervilleStd-Roman"/>
              </a:rPr>
              <a:t>First, every variable has a type, every expression has a type, and every type is strictly defined. </a:t>
            </a:r>
          </a:p>
          <a:p>
            <a:pPr algn="l">
              <a:buFont typeface="+mj-lt"/>
              <a:buAutoNum type="arabicPeriod"/>
            </a:pPr>
            <a:r>
              <a:rPr lang="en-IN" sz="2400" b="1" i="0" u="none" strike="noStrike" baseline="0" dirty="0">
                <a:latin typeface="NewBaskervilleStd-Roman"/>
              </a:rPr>
              <a:t>Second, </a:t>
            </a:r>
            <a:r>
              <a:rPr lang="en-IN" sz="2400" b="0" i="0" u="none" strike="noStrike" baseline="0" dirty="0">
                <a:latin typeface="NewBaskervilleStd-Roman"/>
              </a:rPr>
              <a:t>all assignments, whether explicit or via parameter passing in method calls, are checked for type compatibility. </a:t>
            </a:r>
          </a:p>
          <a:p>
            <a:pPr algn="l">
              <a:buFont typeface="+mj-lt"/>
              <a:buAutoNum type="arabicPeriod"/>
            </a:pPr>
            <a:r>
              <a:rPr lang="en-IN" sz="2400" b="0" i="0" u="none" strike="noStrike" baseline="0" dirty="0">
                <a:latin typeface="NewBaskervilleStd-Roman"/>
              </a:rPr>
              <a:t>There are no automatic coercions or conversions of conflicting types as in some languages. </a:t>
            </a:r>
          </a:p>
          <a:p>
            <a:pPr algn="l">
              <a:buFont typeface="+mj-lt"/>
              <a:buAutoNum type="arabicPeriod"/>
            </a:pPr>
            <a:r>
              <a:rPr lang="en-IN" sz="2400" b="0" i="0" u="none" strike="noStrike" baseline="0" dirty="0">
                <a:latin typeface="NewBaskervilleStd-Roman"/>
              </a:rPr>
              <a:t>The Java compiler checks all expressions and parameters to ensure that the types are compatible. Any type mismatches are errors that must be corrected before the compiler will finish compiling the class.</a:t>
            </a:r>
            <a:endParaRPr lang="en-IN" sz="2400" dirty="0"/>
          </a:p>
        </p:txBody>
      </p:sp>
    </p:spTree>
    <p:extLst>
      <p:ext uri="{BB962C8B-B14F-4D97-AF65-F5344CB8AC3E}">
        <p14:creationId xmlns:p14="http://schemas.microsoft.com/office/powerpoint/2010/main" val="3013366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60940-F31A-AE4D-4338-080D559B3CB2}"/>
              </a:ext>
            </a:extLst>
          </p:cNvPr>
          <p:cNvSpPr>
            <a:spLocks noGrp="1"/>
          </p:cNvSpPr>
          <p:nvPr>
            <p:ph type="title"/>
          </p:nvPr>
        </p:nvSpPr>
        <p:spPr>
          <a:xfrm>
            <a:off x="2141317" y="624110"/>
            <a:ext cx="9363296" cy="1280890"/>
          </a:xfrm>
        </p:spPr>
        <p:txBody>
          <a:bodyPr/>
          <a:lstStyle/>
          <a:p>
            <a:r>
              <a:rPr lang="en-IN" i="1" dirty="0">
                <a:solidFill>
                  <a:srgbClr val="FF0000"/>
                </a:solidFill>
                <a:latin typeface="Abadi" panose="020B0604020104020204" pitchFamily="34" charset="0"/>
              </a:rPr>
              <a:t>Primitive Data Types – Simple Data Types</a:t>
            </a:r>
          </a:p>
        </p:txBody>
      </p:sp>
      <p:graphicFrame>
        <p:nvGraphicFramePr>
          <p:cNvPr id="4" name="Group 50">
            <a:extLst>
              <a:ext uri="{FF2B5EF4-FFF2-40B4-BE49-F238E27FC236}">
                <a16:creationId xmlns:a16="http://schemas.microsoft.com/office/drawing/2014/main" id="{8B577FE7-E9F2-AF30-4AED-C2080199B993}"/>
              </a:ext>
            </a:extLst>
          </p:cNvPr>
          <p:cNvGraphicFramePr>
            <a:graphicFrameLocks noGrp="1"/>
          </p:cNvGraphicFramePr>
          <p:nvPr>
            <p:ph type="tbl" idx="1"/>
            <p:extLst>
              <p:ext uri="{D42A27DB-BD31-4B8C-83A1-F6EECF244321}">
                <p14:modId xmlns:p14="http://schemas.microsoft.com/office/powerpoint/2010/main" val="2722841696"/>
              </p:ext>
            </p:extLst>
          </p:nvPr>
        </p:nvGraphicFramePr>
        <p:xfrm>
          <a:off x="2187615" y="1313360"/>
          <a:ext cx="8561521" cy="5418102"/>
        </p:xfrm>
        <a:graphic>
          <a:graphicData uri="http://schemas.openxmlformats.org/drawingml/2006/table">
            <a:tbl>
              <a:tblPr/>
              <a:tblGrid>
                <a:gridCol w="2187615">
                  <a:extLst>
                    <a:ext uri="{9D8B030D-6E8A-4147-A177-3AD203B41FA5}">
                      <a16:colId xmlns:a16="http://schemas.microsoft.com/office/drawing/2014/main" val="20000"/>
                    </a:ext>
                  </a:extLst>
                </a:gridCol>
                <a:gridCol w="6373906">
                  <a:extLst>
                    <a:ext uri="{9D8B030D-6E8A-4147-A177-3AD203B41FA5}">
                      <a16:colId xmlns:a16="http://schemas.microsoft.com/office/drawing/2014/main" val="20001"/>
                    </a:ext>
                  </a:extLst>
                </a:gridCol>
              </a:tblGrid>
              <a:tr h="634093">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Arial" panose="020B0604020202020204" pitchFamily="34" charset="0"/>
                          <a:cs typeface="Arial" panose="020B0604020202020204" pitchFamily="34" charset="0"/>
                        </a:rPr>
                        <a:t>Data type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Range of values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00124">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ourier New" panose="02070309020205020404" pitchFamily="49" charset="0"/>
                          <a:cs typeface="Arial" panose="020B0604020202020204" pitchFamily="34" charset="0"/>
                        </a:rPr>
                        <a:t>byte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-128 .. 127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(8 bits – 1 Byte)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96350">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ourier New" panose="02070309020205020404" pitchFamily="49" charset="0"/>
                          <a:cs typeface="Arial" panose="020B0604020202020204" pitchFamily="34" charset="0"/>
                        </a:rPr>
                        <a:t>short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-32,768 .. 32,767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(16 bits – 2 bytes)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98237">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ourier New" panose="02070309020205020404" pitchFamily="49" charset="0"/>
                          <a:cs typeface="Arial" panose="020B0604020202020204" pitchFamily="34" charset="0"/>
                        </a:rPr>
                        <a:t>int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-2,147,483,648 .. 2,147,483,647 (32 bits –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4 Bytes</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98237">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ourier New" panose="02070309020205020404" pitchFamily="49" charset="0"/>
                          <a:cs typeface="Arial" panose="020B0604020202020204" pitchFamily="34" charset="0"/>
                        </a:rPr>
                        <a:t>long</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-9,223,372,036,854,775,808 ..  ...  (64 bits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8 bytes </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98237">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ourier New" panose="02070309020205020404" pitchFamily="49" charset="0"/>
                          <a:cs typeface="Arial" panose="020B0604020202020204" pitchFamily="34" charset="0"/>
                        </a:rPr>
                        <a:t>float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+/-10</a:t>
                      </a:r>
                      <a:r>
                        <a:rPr kumimoji="0" lang="en-US" altLang="en-US" sz="2000" b="0" i="0" u="none" strike="noStrike" cap="none" normalizeH="0" baseline="30000" dirty="0">
                          <a:ln>
                            <a:noFill/>
                          </a:ln>
                          <a:solidFill>
                            <a:schemeClr val="tx1"/>
                          </a:solidFill>
                          <a:effectLst/>
                          <a:latin typeface="Arial" panose="020B0604020202020204" pitchFamily="34" charset="0"/>
                          <a:cs typeface="Arial" panose="020B0604020202020204" pitchFamily="34" charset="0"/>
                        </a:rPr>
                        <a:t>-38</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to +/-10</a:t>
                      </a:r>
                      <a:r>
                        <a:rPr kumimoji="0" lang="en-US" altLang="en-US" sz="2000" b="0" i="0" u="none" strike="noStrike" cap="none" normalizeH="0" baseline="30000" dirty="0">
                          <a:ln>
                            <a:noFill/>
                          </a:ln>
                          <a:solidFill>
                            <a:schemeClr val="tx1"/>
                          </a:solidFill>
                          <a:effectLst/>
                          <a:latin typeface="Arial" panose="020B0604020202020204" pitchFamily="34" charset="0"/>
                          <a:cs typeface="Arial" panose="020B0604020202020204" pitchFamily="34" charset="0"/>
                        </a:rPr>
                        <a:t>+38</a:t>
                      </a: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and 0, about 6 digits precision</a:t>
                      </a:r>
                      <a:endParaRPr kumimoji="0" lang="en-US" altLang="en-US" sz="2000" b="0" i="0" u="none" strike="noStrike" cap="none" normalizeH="0" baseline="30000" dirty="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96350">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double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+/-10</a:t>
                      </a:r>
                      <a:r>
                        <a:rPr kumimoji="0" lang="en-US" altLang="en-US" sz="2000" b="0" i="0" u="none" strike="noStrike" cap="none" normalizeH="0" baseline="30000">
                          <a:ln>
                            <a:noFill/>
                          </a:ln>
                          <a:solidFill>
                            <a:schemeClr val="tx1"/>
                          </a:solidFill>
                          <a:effectLst/>
                          <a:latin typeface="Arial" panose="020B0604020202020204" pitchFamily="34" charset="0"/>
                          <a:cs typeface="Arial" panose="020B0604020202020204" pitchFamily="34" charset="0"/>
                        </a:rPr>
                        <a:t>-308</a:t>
                      </a: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 to +/-10</a:t>
                      </a:r>
                      <a:r>
                        <a:rPr kumimoji="0" lang="en-US" altLang="en-US" sz="2000" b="0" i="0" u="none" strike="noStrike" cap="none" normalizeH="0" baseline="30000">
                          <a:ln>
                            <a:noFill/>
                          </a:ln>
                          <a:solidFill>
                            <a:schemeClr val="tx1"/>
                          </a:solidFill>
                          <a:effectLst/>
                          <a:latin typeface="Arial" panose="020B0604020202020204" pitchFamily="34" charset="0"/>
                          <a:cs typeface="Arial" panose="020B0604020202020204" pitchFamily="34" charset="0"/>
                        </a:rPr>
                        <a:t>+308</a:t>
                      </a: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 and 0, about 15 digits precision</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600124">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char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Arial" panose="020B0604020202020204" pitchFamily="34" charset="0"/>
                          <a:cs typeface="Arial" panose="020B0604020202020204" pitchFamily="34" charset="0"/>
                        </a:rPr>
                        <a:t>Unicode characters (generally 16 bits per char)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596350">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a:ln>
                            <a:noFill/>
                          </a:ln>
                          <a:solidFill>
                            <a:schemeClr val="tx1"/>
                          </a:solidFill>
                          <a:effectLst/>
                          <a:latin typeface="Courier New" panose="02070309020205020404" pitchFamily="49" charset="0"/>
                          <a:cs typeface="Arial" panose="020B0604020202020204" pitchFamily="34" charset="0"/>
                        </a:rPr>
                        <a:t>boolean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True or false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332908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95A40-D549-E6FA-976B-507C082D822E}"/>
              </a:ext>
            </a:extLst>
          </p:cNvPr>
          <p:cNvSpPr>
            <a:spLocks noGrp="1"/>
          </p:cNvSpPr>
          <p:nvPr>
            <p:ph type="title"/>
          </p:nvPr>
        </p:nvSpPr>
        <p:spPr>
          <a:xfrm>
            <a:off x="2592925" y="624110"/>
            <a:ext cx="8911687" cy="834300"/>
          </a:xfrm>
        </p:spPr>
        <p:txBody>
          <a:bodyPr/>
          <a:lstStyle/>
          <a:p>
            <a:r>
              <a:rPr lang="en-IN" sz="3600" b="1" i="0" u="none" strike="noStrike" baseline="0" dirty="0">
                <a:latin typeface="DINMittelEFOP-Bold"/>
              </a:rPr>
              <a:t>The Primitive Types</a:t>
            </a:r>
            <a:endParaRPr lang="en-IN" dirty="0"/>
          </a:p>
        </p:txBody>
      </p:sp>
      <p:sp>
        <p:nvSpPr>
          <p:cNvPr id="3" name="Content Placeholder 2">
            <a:extLst>
              <a:ext uri="{FF2B5EF4-FFF2-40B4-BE49-F238E27FC236}">
                <a16:creationId xmlns:a16="http://schemas.microsoft.com/office/drawing/2014/main" id="{AB31E2BB-2A15-90A5-2170-EB328B458A72}"/>
              </a:ext>
            </a:extLst>
          </p:cNvPr>
          <p:cNvSpPr>
            <a:spLocks noGrp="1"/>
          </p:cNvSpPr>
          <p:nvPr>
            <p:ph idx="1"/>
          </p:nvPr>
        </p:nvSpPr>
        <p:spPr>
          <a:xfrm>
            <a:off x="1701478" y="1307939"/>
            <a:ext cx="9803134" cy="5243332"/>
          </a:xfrm>
        </p:spPr>
        <p:txBody>
          <a:bodyPr>
            <a:normAutofit lnSpcReduction="10000"/>
          </a:bodyPr>
          <a:lstStyle/>
          <a:p>
            <a:pPr marL="0" indent="0" algn="l">
              <a:buNone/>
            </a:pPr>
            <a:r>
              <a:rPr lang="en-IN" sz="2800" b="1" i="0" u="none" strike="noStrike" baseline="0" dirty="0">
                <a:latin typeface="NewBaskervilleStd-Roman"/>
              </a:rPr>
              <a:t>Eight </a:t>
            </a:r>
            <a:r>
              <a:rPr lang="en-IN" sz="2800" b="1" i="1" u="none" strike="noStrike" baseline="0" dirty="0">
                <a:latin typeface="NewBaskervilleStd-Italic"/>
              </a:rPr>
              <a:t>primitive </a:t>
            </a:r>
            <a:r>
              <a:rPr lang="en-IN" sz="2800" b="1" i="0" u="none" strike="noStrike" baseline="0" dirty="0">
                <a:latin typeface="NewBaskervilleStd-Roman"/>
              </a:rPr>
              <a:t>types of data:</a:t>
            </a:r>
            <a:r>
              <a:rPr lang="en-IN" sz="2800" b="0" i="0" u="none" strike="noStrike" baseline="0" dirty="0">
                <a:latin typeface="NewBaskervilleStd-Roman"/>
              </a:rPr>
              <a:t> </a:t>
            </a:r>
            <a:r>
              <a:rPr lang="en-IN" sz="2800" b="1" i="0" u="none" strike="noStrike" baseline="0" dirty="0">
                <a:latin typeface="NewBaskervilleStd-Bold"/>
              </a:rPr>
              <a:t>byte</a:t>
            </a:r>
            <a:r>
              <a:rPr lang="en-IN" sz="2800" b="0" i="0" u="none" strike="noStrike" baseline="0" dirty="0">
                <a:latin typeface="NewBaskervilleStd-Roman"/>
              </a:rPr>
              <a:t>, </a:t>
            </a:r>
            <a:r>
              <a:rPr lang="en-IN" sz="2800" b="1" i="0" u="none" strike="noStrike" baseline="0" dirty="0">
                <a:latin typeface="NewBaskervilleStd-Bold"/>
              </a:rPr>
              <a:t>short</a:t>
            </a:r>
            <a:r>
              <a:rPr lang="en-IN" sz="2800" b="0" i="0" u="none" strike="noStrike" baseline="0" dirty="0">
                <a:latin typeface="NewBaskervilleStd-Roman"/>
              </a:rPr>
              <a:t>, </a:t>
            </a:r>
            <a:r>
              <a:rPr lang="en-IN" sz="2800" b="1" i="0" u="none" strike="noStrike" baseline="0" dirty="0">
                <a:latin typeface="NewBaskervilleStd-Bold"/>
              </a:rPr>
              <a:t>int</a:t>
            </a:r>
            <a:r>
              <a:rPr lang="en-IN" sz="2800" b="0" i="0" u="none" strike="noStrike" baseline="0" dirty="0">
                <a:latin typeface="NewBaskervilleStd-Roman"/>
              </a:rPr>
              <a:t>, </a:t>
            </a:r>
            <a:r>
              <a:rPr lang="en-IN" sz="2800" b="1" i="0" u="none" strike="noStrike" baseline="0" dirty="0">
                <a:latin typeface="NewBaskervilleStd-Bold"/>
              </a:rPr>
              <a:t>long</a:t>
            </a:r>
            <a:r>
              <a:rPr lang="en-IN" sz="2800" b="0" i="0" u="none" strike="noStrike" baseline="0" dirty="0">
                <a:latin typeface="NewBaskervilleStd-Roman"/>
              </a:rPr>
              <a:t>, </a:t>
            </a:r>
            <a:r>
              <a:rPr lang="en-IN" sz="2800" b="1" i="0" u="none" strike="noStrike" baseline="0" dirty="0">
                <a:latin typeface="NewBaskervilleStd-Bold"/>
              </a:rPr>
              <a:t>char</a:t>
            </a:r>
            <a:r>
              <a:rPr lang="en-IN" sz="2800" b="0" i="0" u="none" strike="noStrike" baseline="0" dirty="0">
                <a:latin typeface="NewBaskervilleStd-Roman"/>
              </a:rPr>
              <a:t>, </a:t>
            </a:r>
            <a:r>
              <a:rPr lang="en-IN" sz="2800" b="1" i="0" u="none" strike="noStrike" baseline="0" dirty="0">
                <a:latin typeface="NewBaskervilleStd-Bold"/>
              </a:rPr>
              <a:t>float</a:t>
            </a:r>
            <a:r>
              <a:rPr lang="en-IN" sz="2800" b="0" i="0" u="none" strike="noStrike" baseline="0" dirty="0">
                <a:latin typeface="NewBaskervilleStd-Roman"/>
              </a:rPr>
              <a:t>, </a:t>
            </a:r>
            <a:r>
              <a:rPr lang="en-IN" sz="2800" b="1" i="0" u="none" strike="noStrike" baseline="0" dirty="0">
                <a:latin typeface="NewBaskervilleStd-Bold"/>
              </a:rPr>
              <a:t>double</a:t>
            </a:r>
            <a:r>
              <a:rPr lang="en-IN" sz="2800" b="0" i="0" u="none" strike="noStrike" baseline="0" dirty="0">
                <a:latin typeface="NewBaskervilleStd-Roman"/>
              </a:rPr>
              <a:t>, and </a:t>
            </a:r>
            <a:r>
              <a:rPr lang="en-IN" sz="2800" b="1" i="0" u="none" strike="noStrike" baseline="0" dirty="0" err="1">
                <a:latin typeface="NewBaskervilleStd-Bold"/>
              </a:rPr>
              <a:t>boolean</a:t>
            </a:r>
            <a:r>
              <a:rPr lang="en-IN" sz="2800" b="0" i="0" u="none" strike="noStrike" baseline="0" dirty="0">
                <a:latin typeface="NewBaskervilleStd-Roman"/>
              </a:rPr>
              <a:t>. </a:t>
            </a:r>
          </a:p>
          <a:p>
            <a:pPr marL="0" indent="0" algn="l">
              <a:buNone/>
            </a:pPr>
            <a:r>
              <a:rPr lang="en-IN" sz="2800" b="0" i="0" u="none" strike="noStrike" baseline="0" dirty="0">
                <a:latin typeface="NewBaskervilleStd-Roman"/>
              </a:rPr>
              <a:t>These can be put in four groups:</a:t>
            </a:r>
          </a:p>
          <a:p>
            <a:pPr algn="l"/>
            <a:r>
              <a:rPr lang="en-IN" sz="2800" b="1" i="0" u="none" strike="noStrike" baseline="0" dirty="0">
                <a:latin typeface="NewBaskervilleStd-Bold"/>
              </a:rPr>
              <a:t> Integers </a:t>
            </a:r>
            <a:r>
              <a:rPr lang="en-IN" sz="2800" b="0" i="0" u="none" strike="noStrike" baseline="0" dirty="0">
                <a:latin typeface="NewBaskervilleStd-Roman"/>
              </a:rPr>
              <a:t>This group includes </a:t>
            </a:r>
            <a:r>
              <a:rPr lang="en-IN" sz="2800" b="1" i="0" u="none" strike="noStrike" baseline="0" dirty="0">
                <a:latin typeface="NewBaskervilleStd-Bold"/>
              </a:rPr>
              <a:t>byte</a:t>
            </a:r>
            <a:r>
              <a:rPr lang="en-IN" sz="2800" b="0" i="0" u="none" strike="noStrike" baseline="0" dirty="0">
                <a:latin typeface="NewBaskervilleStd-Roman"/>
              </a:rPr>
              <a:t>, </a:t>
            </a:r>
            <a:r>
              <a:rPr lang="en-IN" sz="2800" b="1" i="0" u="none" strike="noStrike" baseline="0" dirty="0">
                <a:latin typeface="NewBaskervilleStd-Bold"/>
              </a:rPr>
              <a:t>short</a:t>
            </a:r>
            <a:r>
              <a:rPr lang="en-IN" sz="2800" b="0" i="0" u="none" strike="noStrike" baseline="0" dirty="0">
                <a:latin typeface="NewBaskervilleStd-Roman"/>
              </a:rPr>
              <a:t>, </a:t>
            </a:r>
            <a:r>
              <a:rPr lang="en-IN" sz="2800" b="1" i="0" u="none" strike="noStrike" baseline="0" dirty="0">
                <a:latin typeface="NewBaskervilleStd-Bold"/>
              </a:rPr>
              <a:t>int</a:t>
            </a:r>
            <a:r>
              <a:rPr lang="en-IN" sz="2800" b="0" i="0" u="none" strike="noStrike" baseline="0" dirty="0">
                <a:latin typeface="NewBaskervilleStd-Roman"/>
              </a:rPr>
              <a:t>, and </a:t>
            </a:r>
            <a:r>
              <a:rPr lang="en-IN" sz="2800" b="1" i="0" u="none" strike="noStrike" baseline="0" dirty="0">
                <a:latin typeface="NewBaskervilleStd-Bold"/>
              </a:rPr>
              <a:t>long</a:t>
            </a:r>
            <a:r>
              <a:rPr lang="en-IN" sz="2800" b="0" i="0" u="none" strike="noStrike" baseline="0" dirty="0">
                <a:latin typeface="NewBaskervilleStd-Roman"/>
              </a:rPr>
              <a:t>, which are for whole-valued signed numbers.</a:t>
            </a:r>
          </a:p>
          <a:p>
            <a:pPr algn="l"/>
            <a:r>
              <a:rPr lang="en-IN" sz="2800" b="1" i="0" u="none" strike="noStrike" baseline="0" dirty="0">
                <a:latin typeface="NewBaskervilleStd-Bold"/>
              </a:rPr>
              <a:t> Floating-point numbers </a:t>
            </a:r>
            <a:r>
              <a:rPr lang="en-IN" sz="2800" b="0" i="0" u="none" strike="noStrike" baseline="0" dirty="0">
                <a:latin typeface="NewBaskervilleStd-Roman"/>
              </a:rPr>
              <a:t>This group includes </a:t>
            </a:r>
            <a:r>
              <a:rPr lang="en-IN" sz="2800" b="1" i="0" u="none" strike="noStrike" baseline="0" dirty="0">
                <a:latin typeface="NewBaskervilleStd-Bold"/>
              </a:rPr>
              <a:t>float </a:t>
            </a:r>
            <a:r>
              <a:rPr lang="en-IN" sz="2800" b="0" i="0" u="none" strike="noStrike" baseline="0" dirty="0">
                <a:latin typeface="NewBaskervilleStd-Roman"/>
              </a:rPr>
              <a:t>and </a:t>
            </a:r>
            <a:r>
              <a:rPr lang="en-IN" sz="2800" b="1" i="0" u="none" strike="noStrike" baseline="0" dirty="0">
                <a:latin typeface="NewBaskervilleStd-Bold"/>
              </a:rPr>
              <a:t>double</a:t>
            </a:r>
            <a:r>
              <a:rPr lang="en-IN" sz="2800" b="0" i="0" u="none" strike="noStrike" baseline="0" dirty="0">
                <a:latin typeface="NewBaskervilleStd-Roman"/>
              </a:rPr>
              <a:t>, which represent numbers with fractional precision.</a:t>
            </a:r>
          </a:p>
          <a:p>
            <a:pPr algn="l"/>
            <a:r>
              <a:rPr lang="en-IN" sz="2800" b="1" i="0" u="none" strike="noStrike" baseline="0" dirty="0">
                <a:latin typeface="NewBaskervilleStd-Bold"/>
              </a:rPr>
              <a:t> Characters </a:t>
            </a:r>
            <a:r>
              <a:rPr lang="en-IN" sz="2800" b="0" i="0" u="none" strike="noStrike" baseline="0" dirty="0">
                <a:latin typeface="NewBaskervilleStd-Roman"/>
              </a:rPr>
              <a:t>This group includes </a:t>
            </a:r>
            <a:r>
              <a:rPr lang="en-IN" sz="2800" b="1" i="0" u="none" strike="noStrike" baseline="0" dirty="0">
                <a:latin typeface="NewBaskervilleStd-Bold"/>
              </a:rPr>
              <a:t>char</a:t>
            </a:r>
            <a:r>
              <a:rPr lang="en-IN" sz="2800" b="0" i="0" u="none" strike="noStrike" baseline="0" dirty="0">
                <a:latin typeface="NewBaskervilleStd-Roman"/>
              </a:rPr>
              <a:t>, which represents symbols in a character set, like letters and numbers.</a:t>
            </a:r>
          </a:p>
          <a:p>
            <a:pPr algn="l"/>
            <a:r>
              <a:rPr lang="en-IN" sz="2800" b="1" i="0" u="none" strike="noStrike" baseline="0" dirty="0">
                <a:latin typeface="NewBaskervilleStd-Bold"/>
              </a:rPr>
              <a:t> Boolean </a:t>
            </a:r>
            <a:r>
              <a:rPr lang="en-IN" sz="2800" b="0" i="0" u="none" strike="noStrike" baseline="0" dirty="0">
                <a:latin typeface="NewBaskervilleStd-Roman"/>
              </a:rPr>
              <a:t>This group includes </a:t>
            </a:r>
            <a:r>
              <a:rPr lang="en-IN" sz="2800" b="1" i="0" u="none" strike="noStrike" baseline="0" dirty="0" err="1">
                <a:latin typeface="NewBaskervilleStd-Bold"/>
              </a:rPr>
              <a:t>boolean</a:t>
            </a:r>
            <a:r>
              <a:rPr lang="en-IN" sz="2800" b="0" i="0" u="none" strike="noStrike" baseline="0" dirty="0">
                <a:latin typeface="NewBaskervilleStd-Roman"/>
              </a:rPr>
              <a:t>, which is a special type for representing true/false values.</a:t>
            </a:r>
            <a:endParaRPr lang="en-IN" sz="2800" dirty="0"/>
          </a:p>
        </p:txBody>
      </p:sp>
    </p:spTree>
    <p:extLst>
      <p:ext uri="{BB962C8B-B14F-4D97-AF65-F5344CB8AC3E}">
        <p14:creationId xmlns:p14="http://schemas.microsoft.com/office/powerpoint/2010/main" val="3817496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DB55B-FB73-0D64-627D-D50BD248F9C8}"/>
              </a:ext>
            </a:extLst>
          </p:cNvPr>
          <p:cNvSpPr>
            <a:spLocks noGrp="1"/>
          </p:cNvSpPr>
          <p:nvPr>
            <p:ph type="title"/>
          </p:nvPr>
        </p:nvSpPr>
        <p:spPr/>
        <p:txBody>
          <a:bodyPr/>
          <a:lstStyle/>
          <a:p>
            <a:r>
              <a:rPr lang="en-IN" b="1" dirty="0"/>
              <a:t>Integers</a:t>
            </a:r>
          </a:p>
        </p:txBody>
      </p:sp>
      <p:pic>
        <p:nvPicPr>
          <p:cNvPr id="5" name="Content Placeholder 4">
            <a:extLst>
              <a:ext uri="{FF2B5EF4-FFF2-40B4-BE49-F238E27FC236}">
                <a16:creationId xmlns:a16="http://schemas.microsoft.com/office/drawing/2014/main" id="{715DF841-FA25-E2FD-FA87-FFB53CEE2987}"/>
              </a:ext>
            </a:extLst>
          </p:cNvPr>
          <p:cNvPicPr>
            <a:picLocks noGrp="1" noChangeAspect="1"/>
          </p:cNvPicPr>
          <p:nvPr>
            <p:ph idx="1"/>
          </p:nvPr>
        </p:nvPicPr>
        <p:blipFill>
          <a:blip r:embed="rId2"/>
          <a:stretch>
            <a:fillRect/>
          </a:stretch>
        </p:blipFill>
        <p:spPr>
          <a:xfrm>
            <a:off x="1736203" y="1415196"/>
            <a:ext cx="10185722" cy="2319527"/>
          </a:xfrm>
        </p:spPr>
      </p:pic>
      <p:graphicFrame>
        <p:nvGraphicFramePr>
          <p:cNvPr id="6" name="Table 5">
            <a:extLst>
              <a:ext uri="{FF2B5EF4-FFF2-40B4-BE49-F238E27FC236}">
                <a16:creationId xmlns:a16="http://schemas.microsoft.com/office/drawing/2014/main" id="{9DFD8C33-C6E0-80D3-96F3-5DA812355AEE}"/>
              </a:ext>
            </a:extLst>
          </p:cNvPr>
          <p:cNvGraphicFramePr>
            <a:graphicFrameLocks noGrp="1"/>
          </p:cNvGraphicFramePr>
          <p:nvPr>
            <p:extLst>
              <p:ext uri="{D42A27DB-BD31-4B8C-83A1-F6EECF244321}">
                <p14:modId xmlns:p14="http://schemas.microsoft.com/office/powerpoint/2010/main" val="476318075"/>
              </p:ext>
            </p:extLst>
          </p:nvPr>
        </p:nvGraphicFramePr>
        <p:xfrm>
          <a:off x="2033628" y="3840942"/>
          <a:ext cx="3927334" cy="2392948"/>
        </p:xfrm>
        <a:graphic>
          <a:graphicData uri="http://schemas.openxmlformats.org/drawingml/2006/table">
            <a:tbl>
              <a:tblPr/>
              <a:tblGrid>
                <a:gridCol w="3927334">
                  <a:extLst>
                    <a:ext uri="{9D8B030D-6E8A-4147-A177-3AD203B41FA5}">
                      <a16:colId xmlns:a16="http://schemas.microsoft.com/office/drawing/2014/main" val="2535855628"/>
                    </a:ext>
                  </a:extLst>
                </a:gridCol>
              </a:tblGrid>
              <a:tr h="600124">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ourier New" panose="02070309020205020404" pitchFamily="49" charset="0"/>
                          <a:cs typeface="Arial" panose="020B0604020202020204" pitchFamily="34" charset="0"/>
                        </a:rPr>
                        <a:t>Byte  - 1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Byte</a:t>
                      </a:r>
                      <a:endParaRPr kumimoji="0" lang="en-US" altLang="en-US" sz="2000" b="1" i="0" u="none" strike="noStrike" cap="none" normalizeH="0" baseline="0" dirty="0">
                        <a:ln>
                          <a:noFill/>
                        </a:ln>
                        <a:solidFill>
                          <a:schemeClr val="tx1"/>
                        </a:solidFill>
                        <a:effectLst/>
                        <a:latin typeface="Courier New" panose="02070309020205020404" pitchFamily="49"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79522559"/>
                  </a:ext>
                </a:extLst>
              </a:tr>
              <a:tr h="596350">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ourier New" panose="02070309020205020404" pitchFamily="49" charset="0"/>
                          <a:cs typeface="Arial" panose="020B0604020202020204" pitchFamily="34" charset="0"/>
                        </a:rPr>
                        <a:t>Short  - 2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Bytes</a:t>
                      </a:r>
                      <a:endParaRPr kumimoji="0" lang="en-US" altLang="en-US" sz="2000" b="1" i="0" u="none" strike="noStrike" cap="none" normalizeH="0" baseline="0" dirty="0">
                        <a:ln>
                          <a:noFill/>
                        </a:ln>
                        <a:solidFill>
                          <a:schemeClr val="tx1"/>
                        </a:solidFill>
                        <a:effectLst/>
                        <a:latin typeface="Courier New" panose="02070309020205020404" pitchFamily="49"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85035599"/>
                  </a:ext>
                </a:extLst>
              </a:tr>
              <a:tr h="598237">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ourier New" panose="02070309020205020404" pitchFamily="49" charset="0"/>
                          <a:cs typeface="Arial" panose="020B0604020202020204" pitchFamily="34" charset="0"/>
                        </a:rPr>
                        <a:t>Int  - 4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Bytes</a:t>
                      </a:r>
                      <a:endParaRPr kumimoji="0" lang="en-US" altLang="en-US" sz="2000" b="1" i="0" u="none" strike="noStrike" cap="none" normalizeH="0" baseline="0" dirty="0">
                        <a:ln>
                          <a:noFill/>
                        </a:ln>
                        <a:solidFill>
                          <a:schemeClr val="tx1"/>
                        </a:solidFill>
                        <a:effectLst/>
                        <a:latin typeface="Courier New" panose="02070309020205020404" pitchFamily="49"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02401054"/>
                  </a:ext>
                </a:extLst>
              </a:tr>
              <a:tr h="598237">
                <a:tc>
                  <a:txBody>
                    <a:bodyPr/>
                    <a:lstStyle>
                      <a:lvl1pPr algn="just">
                        <a:spcBef>
                          <a:spcPct val="20000"/>
                        </a:spcBef>
                        <a:defRPr sz="2000">
                          <a:solidFill>
                            <a:schemeClr val="tx1"/>
                          </a:solidFill>
                          <a:latin typeface="Arial" panose="020B0604020202020204" pitchFamily="34" charset="0"/>
                          <a:cs typeface="Arial" panose="020B0604020202020204" pitchFamily="34" charset="0"/>
                        </a:defRPr>
                      </a:lvl1pPr>
                      <a:lvl2pPr>
                        <a:spcBef>
                          <a:spcPct val="20000"/>
                        </a:spcBef>
                        <a:defRPr sz="2000">
                          <a:solidFill>
                            <a:schemeClr val="tx1"/>
                          </a:solidFill>
                          <a:latin typeface="Arial" panose="020B0604020202020204" pitchFamily="34" charset="0"/>
                          <a:cs typeface="Arial" panose="020B0604020202020204" pitchFamily="34" charset="0"/>
                        </a:defRPr>
                      </a:lvl2pPr>
                      <a:lvl3pPr>
                        <a:spcBef>
                          <a:spcPct val="20000"/>
                        </a:spcBef>
                        <a:defRPr>
                          <a:solidFill>
                            <a:schemeClr val="tx1"/>
                          </a:solidFill>
                          <a:latin typeface="Arial" panose="020B0604020202020204" pitchFamily="34" charset="0"/>
                          <a:cs typeface="Arial" panose="020B0604020202020204" pitchFamily="34" charset="0"/>
                        </a:defRPr>
                      </a:lvl3pPr>
                      <a:lvl4pPr>
                        <a:spcBef>
                          <a:spcPct val="20000"/>
                        </a:spcBef>
                        <a:defRPr sz="1600">
                          <a:solidFill>
                            <a:schemeClr val="tx1"/>
                          </a:solidFill>
                          <a:latin typeface="Arial" panose="020B0604020202020204" pitchFamily="34" charset="0"/>
                          <a:cs typeface="Arial" panose="020B0604020202020204" pitchFamily="34" charset="0"/>
                        </a:defRPr>
                      </a:lvl4pPr>
                      <a:lvl5pPr>
                        <a:spcBef>
                          <a:spcPct val="20000"/>
                        </a:spcBef>
                        <a:defRPr sz="1400">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sz="14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en-US" altLang="en-US" sz="2000" b="1" i="0" u="none" strike="noStrike" cap="none" normalizeH="0" baseline="0" dirty="0">
                          <a:ln>
                            <a:noFill/>
                          </a:ln>
                          <a:solidFill>
                            <a:schemeClr val="tx1"/>
                          </a:solidFill>
                          <a:effectLst/>
                          <a:latin typeface="Courier New" panose="02070309020205020404" pitchFamily="49" charset="0"/>
                          <a:cs typeface="Arial" panose="020B0604020202020204" pitchFamily="34" charset="0"/>
                        </a:rPr>
                        <a:t>Long  - 8 </a:t>
                      </a:r>
                      <a:r>
                        <a:rPr kumimoji="0" lang="en-US" altLang="en-US" sz="20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Bytes</a:t>
                      </a:r>
                      <a:endParaRPr kumimoji="0" lang="en-US" altLang="en-US" sz="2000" b="1" i="0" u="none" strike="noStrike" cap="none" normalizeH="0" baseline="0" dirty="0">
                        <a:ln>
                          <a:noFill/>
                        </a:ln>
                        <a:solidFill>
                          <a:schemeClr val="tx1"/>
                        </a:solidFill>
                        <a:effectLst/>
                        <a:latin typeface="Courier New" panose="02070309020205020404" pitchFamily="49" charset="0"/>
                        <a:cs typeface="Arial" panose="020B0604020202020204"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25118608"/>
                  </a:ext>
                </a:extLst>
              </a:tr>
            </a:tbl>
          </a:graphicData>
        </a:graphic>
      </p:graphicFrame>
    </p:spTree>
    <p:extLst>
      <p:ext uri="{BB962C8B-B14F-4D97-AF65-F5344CB8AC3E}">
        <p14:creationId xmlns:p14="http://schemas.microsoft.com/office/powerpoint/2010/main" val="3045076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FDAD72-647D-3B66-5452-4CB07474FE26}"/>
              </a:ext>
            </a:extLst>
          </p:cNvPr>
          <p:cNvSpPr>
            <a:spLocks noGrp="1"/>
          </p:cNvSpPr>
          <p:nvPr>
            <p:ph idx="1"/>
          </p:nvPr>
        </p:nvSpPr>
        <p:spPr>
          <a:xfrm>
            <a:off x="1703294" y="367553"/>
            <a:ext cx="9801318" cy="6322614"/>
          </a:xfrm>
        </p:spPr>
        <p:txBody>
          <a:bodyPr>
            <a:normAutofit fontScale="85000" lnSpcReduction="20000"/>
          </a:bodyPr>
          <a:lstStyle/>
          <a:p>
            <a:pPr marL="0" indent="0" algn="l">
              <a:buNone/>
            </a:pPr>
            <a:r>
              <a:rPr lang="en-IN" sz="2100" b="1" i="0" u="none" strike="noStrike" baseline="0" dirty="0">
                <a:solidFill>
                  <a:schemeClr val="tx1"/>
                </a:solidFill>
              </a:rPr>
              <a:t>// </a:t>
            </a:r>
            <a:r>
              <a:rPr lang="en-IN" sz="3300" b="1" i="0" u="none" strike="noStrike" baseline="0" dirty="0">
                <a:solidFill>
                  <a:srgbClr val="C00000"/>
                </a:solidFill>
              </a:rPr>
              <a:t>Compute distance light travels using long variables.</a:t>
            </a:r>
          </a:p>
          <a:p>
            <a:pPr marL="0" indent="0" algn="l">
              <a:buNone/>
            </a:pPr>
            <a:r>
              <a:rPr lang="en-IN" sz="3000" b="1" i="0" u="none" strike="noStrike" baseline="0" dirty="0">
                <a:solidFill>
                  <a:schemeClr val="tx1"/>
                </a:solidFill>
              </a:rPr>
              <a:t>class Light {</a:t>
            </a:r>
          </a:p>
          <a:p>
            <a:pPr marL="0" indent="0" algn="l">
              <a:buNone/>
            </a:pPr>
            <a:r>
              <a:rPr lang="en-IN" sz="3000" b="1" dirty="0">
                <a:solidFill>
                  <a:schemeClr val="tx1"/>
                </a:solidFill>
              </a:rPr>
              <a:t>	</a:t>
            </a:r>
            <a:r>
              <a:rPr lang="en-IN" sz="3000" b="1" i="0" u="none" strike="noStrike" baseline="0" dirty="0">
                <a:solidFill>
                  <a:schemeClr val="tx1"/>
                </a:solidFill>
              </a:rPr>
              <a:t>public static void main(String </a:t>
            </a:r>
            <a:r>
              <a:rPr lang="en-IN" sz="3000" b="1" i="0" u="none" strike="noStrike" baseline="0" dirty="0" err="1">
                <a:solidFill>
                  <a:schemeClr val="tx1"/>
                </a:solidFill>
              </a:rPr>
              <a:t>args</a:t>
            </a:r>
            <a:r>
              <a:rPr lang="en-IN" sz="3000" b="1" i="0" u="none" strike="noStrike" baseline="0" dirty="0">
                <a:solidFill>
                  <a:schemeClr val="tx1"/>
                </a:solidFill>
              </a:rPr>
              <a:t>[]) {</a:t>
            </a:r>
          </a:p>
          <a:p>
            <a:pPr marL="0" indent="0" algn="l">
              <a:buNone/>
            </a:pPr>
            <a:r>
              <a:rPr lang="en-IN" sz="3000" b="1" i="0" u="none" strike="noStrike" baseline="0" dirty="0">
                <a:solidFill>
                  <a:schemeClr val="tx1"/>
                </a:solidFill>
              </a:rPr>
              <a:t>		int lightspeed;  long days</a:t>
            </a:r>
            <a:r>
              <a:rPr lang="en-IN" sz="3000" b="1" dirty="0">
                <a:solidFill>
                  <a:schemeClr val="tx1"/>
                </a:solidFill>
              </a:rPr>
              <a:t>, </a:t>
            </a:r>
            <a:r>
              <a:rPr lang="en-IN" sz="3000" b="1" i="0" u="none" strike="noStrike" baseline="0" dirty="0">
                <a:solidFill>
                  <a:schemeClr val="tx1"/>
                </a:solidFill>
              </a:rPr>
              <a:t> seconds, long distance;</a:t>
            </a:r>
          </a:p>
          <a:p>
            <a:pPr marL="0" indent="0" algn="l">
              <a:buNone/>
            </a:pPr>
            <a:r>
              <a:rPr lang="en-IN" sz="3000" b="1" i="0" u="none" strike="noStrike" baseline="0" dirty="0">
                <a:solidFill>
                  <a:schemeClr val="tx1"/>
                </a:solidFill>
              </a:rPr>
              <a:t>		// approximate speed of light in miles per second</a:t>
            </a:r>
          </a:p>
          <a:p>
            <a:pPr marL="0" indent="0" algn="l">
              <a:buNone/>
            </a:pPr>
            <a:r>
              <a:rPr lang="en-IN" sz="3000" b="1" i="0" u="none" strike="noStrike" baseline="0" dirty="0">
                <a:solidFill>
                  <a:schemeClr val="tx1"/>
                </a:solidFill>
              </a:rPr>
              <a:t>		lightspeed = 186000;</a:t>
            </a:r>
          </a:p>
          <a:p>
            <a:pPr marL="0" indent="0" algn="l">
              <a:buNone/>
            </a:pPr>
            <a:r>
              <a:rPr lang="en-IN" sz="3000" b="1" i="0" u="none" strike="noStrike" baseline="0" dirty="0">
                <a:solidFill>
                  <a:schemeClr val="tx1"/>
                </a:solidFill>
              </a:rPr>
              <a:t>		days = 1000; // specify number of days here</a:t>
            </a:r>
          </a:p>
          <a:p>
            <a:pPr marL="0" indent="0" algn="l">
              <a:buNone/>
            </a:pPr>
            <a:r>
              <a:rPr lang="en-IN" sz="3000" b="1" i="0" u="none" strike="noStrike" baseline="0" dirty="0">
                <a:solidFill>
                  <a:schemeClr val="tx1"/>
                </a:solidFill>
              </a:rPr>
              <a:t>		seconds = days * 24 * 60 * 60; // convert to seconds</a:t>
            </a:r>
          </a:p>
          <a:p>
            <a:pPr marL="0" indent="0" algn="l">
              <a:buNone/>
            </a:pPr>
            <a:r>
              <a:rPr lang="en-IN" sz="3000" b="1" i="0" u="none" strike="noStrike" baseline="0" dirty="0">
                <a:solidFill>
                  <a:schemeClr val="tx1"/>
                </a:solidFill>
              </a:rPr>
              <a:t>		distance = lightspeed * seconds; // compute distance</a:t>
            </a:r>
          </a:p>
          <a:p>
            <a:pPr marL="0" indent="0" algn="l">
              <a:buNone/>
            </a:pPr>
            <a:r>
              <a:rPr lang="en-IN" sz="3000" b="1" i="0" u="none" strike="noStrike" baseline="0" dirty="0">
                <a:solidFill>
                  <a:schemeClr val="tx1"/>
                </a:solidFill>
              </a:rPr>
              <a:t>		</a:t>
            </a:r>
            <a:r>
              <a:rPr lang="en-IN" sz="3000" b="1" i="0" u="none" strike="noStrike" baseline="0" dirty="0" err="1">
                <a:solidFill>
                  <a:schemeClr val="tx1"/>
                </a:solidFill>
              </a:rPr>
              <a:t>System.out.print</a:t>
            </a:r>
            <a:r>
              <a:rPr lang="en-IN" sz="3000" b="1" i="0" u="none" strike="noStrike" baseline="0" dirty="0">
                <a:solidFill>
                  <a:schemeClr val="tx1"/>
                </a:solidFill>
              </a:rPr>
              <a:t>("In " + days);</a:t>
            </a:r>
          </a:p>
          <a:p>
            <a:pPr marL="0" indent="0" algn="l">
              <a:buNone/>
            </a:pPr>
            <a:r>
              <a:rPr lang="en-IN" sz="3000" b="1" i="0" u="none" strike="noStrike" baseline="0" dirty="0">
                <a:solidFill>
                  <a:schemeClr val="tx1"/>
                </a:solidFill>
              </a:rPr>
              <a:t>		</a:t>
            </a:r>
            <a:r>
              <a:rPr lang="en-IN" sz="3000" b="1" i="0" u="none" strike="noStrike" baseline="0" dirty="0" err="1">
                <a:solidFill>
                  <a:schemeClr val="tx1"/>
                </a:solidFill>
              </a:rPr>
              <a:t>System.out.print</a:t>
            </a:r>
            <a:r>
              <a:rPr lang="en-IN" sz="3000" b="1" i="0" u="none" strike="noStrike" baseline="0" dirty="0">
                <a:solidFill>
                  <a:schemeClr val="tx1"/>
                </a:solidFill>
              </a:rPr>
              <a:t>(" days light will travel about ");</a:t>
            </a:r>
          </a:p>
          <a:p>
            <a:pPr marL="0" indent="0" algn="l">
              <a:buNone/>
            </a:pPr>
            <a:r>
              <a:rPr lang="en-IN" sz="3000" b="1" i="0" u="none" strike="noStrike" baseline="0" dirty="0">
                <a:solidFill>
                  <a:schemeClr val="tx1"/>
                </a:solidFill>
              </a:rPr>
              <a:t>		</a:t>
            </a:r>
            <a:r>
              <a:rPr lang="en-IN" sz="3000" b="1" i="0" u="none" strike="noStrike" baseline="0" dirty="0" err="1">
                <a:solidFill>
                  <a:schemeClr val="tx1"/>
                </a:solidFill>
              </a:rPr>
              <a:t>System.out.println</a:t>
            </a:r>
            <a:r>
              <a:rPr lang="en-IN" sz="3000" b="1" i="0" u="none" strike="noStrike" baseline="0" dirty="0">
                <a:solidFill>
                  <a:schemeClr val="tx1"/>
                </a:solidFill>
              </a:rPr>
              <a:t>(distance + " miles.");</a:t>
            </a:r>
          </a:p>
          <a:p>
            <a:pPr marL="0" indent="0" algn="l">
              <a:buNone/>
            </a:pPr>
            <a:r>
              <a:rPr lang="en-IN" sz="3000" b="1" i="0" u="none" strike="noStrike" baseline="0" dirty="0">
                <a:solidFill>
                  <a:schemeClr val="tx1"/>
                </a:solidFill>
              </a:rPr>
              <a:t>	}</a:t>
            </a:r>
          </a:p>
          <a:p>
            <a:pPr marL="0" indent="0" algn="l">
              <a:buNone/>
            </a:pPr>
            <a:r>
              <a:rPr lang="en-IN" sz="3000" b="1" i="0" u="none" strike="noStrike" baseline="0" dirty="0">
                <a:solidFill>
                  <a:schemeClr val="tx1"/>
                </a:solidFill>
              </a:rPr>
              <a:t>}</a:t>
            </a:r>
            <a:endParaRPr lang="en-IN" sz="3000" b="1" dirty="0">
              <a:solidFill>
                <a:schemeClr val="tx1"/>
              </a:solidFill>
            </a:endParaRPr>
          </a:p>
        </p:txBody>
      </p:sp>
    </p:spTree>
    <p:extLst>
      <p:ext uri="{BB962C8B-B14F-4D97-AF65-F5344CB8AC3E}">
        <p14:creationId xmlns:p14="http://schemas.microsoft.com/office/powerpoint/2010/main" val="2670272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4F298-B7D6-C33D-678B-E9AC0C66476D}"/>
              </a:ext>
            </a:extLst>
          </p:cNvPr>
          <p:cNvSpPr>
            <a:spLocks noGrp="1"/>
          </p:cNvSpPr>
          <p:nvPr>
            <p:ph type="title"/>
          </p:nvPr>
        </p:nvSpPr>
        <p:spPr/>
        <p:txBody>
          <a:bodyPr>
            <a:normAutofit/>
          </a:bodyPr>
          <a:lstStyle/>
          <a:p>
            <a:pPr>
              <a:spcBef>
                <a:spcPts val="1000"/>
              </a:spcBef>
              <a:buClr>
                <a:schemeClr val="accent1"/>
              </a:buClr>
            </a:pPr>
            <a:r>
              <a:rPr lang="en-IN" sz="4000" b="1" dirty="0">
                <a:solidFill>
                  <a:schemeClr val="tx1"/>
                </a:solidFill>
                <a:ea typeface="+mn-ea"/>
                <a:cs typeface="+mn-cs"/>
              </a:rPr>
              <a:t>Floating point Numbers</a:t>
            </a:r>
          </a:p>
        </p:txBody>
      </p:sp>
      <p:sp>
        <p:nvSpPr>
          <p:cNvPr id="3" name="Content Placeholder 2">
            <a:extLst>
              <a:ext uri="{FF2B5EF4-FFF2-40B4-BE49-F238E27FC236}">
                <a16:creationId xmlns:a16="http://schemas.microsoft.com/office/drawing/2014/main" id="{1384F08B-C264-EE30-2684-A68B87ECD9F5}"/>
              </a:ext>
            </a:extLst>
          </p:cNvPr>
          <p:cNvSpPr>
            <a:spLocks noGrp="1"/>
          </p:cNvSpPr>
          <p:nvPr>
            <p:ph idx="1"/>
          </p:nvPr>
        </p:nvSpPr>
        <p:spPr>
          <a:xfrm>
            <a:off x="925975" y="2133600"/>
            <a:ext cx="11539959" cy="3777622"/>
          </a:xfrm>
        </p:spPr>
        <p:txBody>
          <a:bodyPr>
            <a:normAutofit fontScale="92500" lnSpcReduction="20000"/>
          </a:bodyPr>
          <a:lstStyle/>
          <a:p>
            <a:pPr marL="0" indent="0">
              <a:buNone/>
            </a:pPr>
            <a:r>
              <a:rPr lang="en-IN" sz="3600" b="1" i="0" u="none" strike="noStrike" baseline="0" dirty="0">
                <a:latin typeface="NewBaskervilleStd-Bold"/>
              </a:rPr>
              <a:t>Float </a:t>
            </a:r>
            <a:r>
              <a:rPr lang="en-IN" sz="3600" b="0" i="0" u="none" strike="noStrike" baseline="0" dirty="0">
                <a:latin typeface="NewBaskervilleStd-Roman"/>
              </a:rPr>
              <a:t>specifies a </a:t>
            </a:r>
            <a:r>
              <a:rPr lang="en-IN" sz="3600" b="0" i="1" u="none" strike="noStrike" baseline="0" dirty="0">
                <a:latin typeface="NewBaskervilleStd-Italic"/>
              </a:rPr>
              <a:t>single-precision </a:t>
            </a:r>
            <a:r>
              <a:rPr lang="en-IN" sz="3600" b="0" i="0" u="none" strike="noStrike" baseline="0" dirty="0">
                <a:latin typeface="NewBaskervilleStd-Roman"/>
              </a:rPr>
              <a:t>value that uses 32 bits of storage.</a:t>
            </a:r>
            <a:endParaRPr lang="en-IN" b="1" dirty="0">
              <a:solidFill>
                <a:schemeClr val="tx1"/>
              </a:solidFill>
            </a:endParaRPr>
          </a:p>
          <a:p>
            <a:pPr marL="0" indent="0">
              <a:buNone/>
            </a:pPr>
            <a:br>
              <a:rPr lang="en-IN" sz="3600" b="0" i="0" u="none" strike="noStrike" baseline="0" dirty="0">
                <a:latin typeface="NewBaskervilleStd-Roman"/>
              </a:rPr>
            </a:br>
            <a:r>
              <a:rPr lang="en-IN" sz="3600" b="1" i="0" u="none" strike="noStrike" baseline="0" dirty="0">
                <a:latin typeface="NewBaskervilleStd-Roman"/>
              </a:rPr>
              <a:t>Double</a:t>
            </a:r>
            <a:r>
              <a:rPr lang="en-IN" sz="3600" b="0" i="0" u="none" strike="noStrike" baseline="0" dirty="0">
                <a:latin typeface="NewBaskervilleStd-Roman"/>
              </a:rPr>
              <a:t> precision, as denoted by the double keyword, </a:t>
            </a:r>
          </a:p>
          <a:p>
            <a:pPr marL="0" indent="0">
              <a:buNone/>
            </a:pPr>
            <a:r>
              <a:rPr lang="en-IN" sz="3600" b="0" i="0" u="none" strike="noStrike" baseline="0" dirty="0">
                <a:latin typeface="NewBaskervilleStd-Roman"/>
              </a:rPr>
              <a:t>uses 64 bits to </a:t>
            </a:r>
            <a:r>
              <a:rPr lang="en-IN" sz="2800" b="1" dirty="0">
                <a:solidFill>
                  <a:schemeClr val="tx1"/>
                </a:solidFill>
                <a:latin typeface="+mn-lt"/>
                <a:ea typeface="+mn-ea"/>
                <a:cs typeface="+mn-cs"/>
              </a:rPr>
              <a:t>store</a:t>
            </a:r>
            <a:r>
              <a:rPr lang="en-IN" sz="3600" b="0" i="0" u="none" strike="noStrike" baseline="0" dirty="0">
                <a:latin typeface="NewBaskervilleStd-Roman"/>
              </a:rPr>
              <a:t> a value.</a:t>
            </a:r>
          </a:p>
          <a:p>
            <a:pPr marL="0" indent="0">
              <a:buNone/>
            </a:pPr>
            <a:endParaRPr lang="en-IN" sz="3600" b="0" i="0" u="none" strike="noStrike" baseline="0" dirty="0">
              <a:latin typeface="NewBaskervilleStd-Roman"/>
            </a:endParaRPr>
          </a:p>
          <a:p>
            <a:pPr algn="l"/>
            <a:r>
              <a:rPr lang="en-IN" sz="3200" b="1" i="0" u="none" strike="noStrike" baseline="0" dirty="0">
                <a:latin typeface="NewBaskervilleStd-Bold"/>
              </a:rPr>
              <a:t>double </a:t>
            </a:r>
            <a:r>
              <a:rPr lang="en-IN" sz="3200" b="0" i="0" u="none" strike="noStrike" baseline="0" dirty="0">
                <a:latin typeface="NewBaskervilleStd-Roman"/>
              </a:rPr>
              <a:t>64 bits- 8 Bytes 4.9e–324 to 1.8e+308</a:t>
            </a:r>
          </a:p>
          <a:p>
            <a:pPr algn="l"/>
            <a:r>
              <a:rPr lang="en-IN" sz="3200" b="1" i="0" u="none" strike="noStrike" baseline="0" dirty="0">
                <a:latin typeface="NewBaskervilleStd-Bold"/>
              </a:rPr>
              <a:t>float </a:t>
            </a:r>
            <a:r>
              <a:rPr lang="en-IN" sz="3200" b="0" i="0" u="none" strike="noStrike" baseline="0" dirty="0">
                <a:latin typeface="NewBaskervilleStd-Roman"/>
              </a:rPr>
              <a:t>32  bits  4 Bytes 1.4e–045 to 3.4e+038</a:t>
            </a:r>
            <a:endParaRPr lang="en-IN" sz="8000" dirty="0"/>
          </a:p>
        </p:txBody>
      </p:sp>
    </p:spTree>
    <p:extLst>
      <p:ext uri="{BB962C8B-B14F-4D97-AF65-F5344CB8AC3E}">
        <p14:creationId xmlns:p14="http://schemas.microsoft.com/office/powerpoint/2010/main" val="119226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C90BCA-63B2-CDA9-969B-08A0D4F4C944}"/>
              </a:ext>
            </a:extLst>
          </p:cNvPr>
          <p:cNvSpPr>
            <a:spLocks noGrp="1"/>
          </p:cNvSpPr>
          <p:nvPr>
            <p:ph idx="1"/>
          </p:nvPr>
        </p:nvSpPr>
        <p:spPr>
          <a:xfrm>
            <a:off x="2508530" y="624110"/>
            <a:ext cx="8915400" cy="3777622"/>
          </a:xfrm>
        </p:spPr>
        <p:txBody>
          <a:bodyPr>
            <a:noAutofit/>
          </a:bodyPr>
          <a:lstStyle/>
          <a:p>
            <a:pPr marL="0" indent="0" algn="l">
              <a:buNone/>
            </a:pPr>
            <a:r>
              <a:rPr lang="en-IN" sz="2800" b="1" i="0" u="none" strike="noStrike" baseline="0" dirty="0"/>
              <a:t>// Compute the area of a circle.</a:t>
            </a:r>
          </a:p>
          <a:p>
            <a:pPr marL="0" indent="0" algn="l">
              <a:buNone/>
            </a:pPr>
            <a:r>
              <a:rPr lang="en-IN" sz="2800" b="1" i="0" u="none" strike="noStrike" baseline="0" dirty="0"/>
              <a:t>class Area {</a:t>
            </a:r>
          </a:p>
          <a:p>
            <a:pPr marL="0" indent="0" algn="l">
              <a:buNone/>
            </a:pPr>
            <a:r>
              <a:rPr lang="en-IN" sz="2800" b="1" i="0" u="none" strike="noStrike" baseline="0" dirty="0"/>
              <a:t>	public static void main(String </a:t>
            </a:r>
            <a:r>
              <a:rPr lang="en-IN" sz="2800" b="1" i="0" u="none" strike="noStrike" baseline="0" dirty="0" err="1"/>
              <a:t>args</a:t>
            </a:r>
            <a:r>
              <a:rPr lang="en-IN" sz="2800" b="1" i="0" u="none" strike="noStrike" baseline="0" dirty="0"/>
              <a:t>[]) {</a:t>
            </a:r>
          </a:p>
          <a:p>
            <a:pPr marL="0" indent="0" algn="l">
              <a:buNone/>
            </a:pPr>
            <a:r>
              <a:rPr lang="en-IN" sz="2800" b="1" i="0" u="none" strike="noStrike" baseline="0" dirty="0"/>
              <a:t>		double pi, radius, area;</a:t>
            </a:r>
          </a:p>
          <a:p>
            <a:pPr marL="0" indent="0" algn="l">
              <a:buNone/>
            </a:pPr>
            <a:r>
              <a:rPr lang="en-IN" sz="2800" b="1" i="0" u="none" strike="noStrike" baseline="0" dirty="0"/>
              <a:t>		radius = 10.8; // radius of circle</a:t>
            </a:r>
          </a:p>
          <a:p>
            <a:pPr marL="0" indent="0" algn="l">
              <a:buNone/>
            </a:pPr>
            <a:r>
              <a:rPr lang="en-IN" sz="2800" b="1" i="0" u="none" strike="noStrike" baseline="0" dirty="0"/>
              <a:t>		pi = 3.1416; // pi, approximately</a:t>
            </a:r>
            <a:endParaRPr lang="en-IN" sz="2800" b="1" dirty="0"/>
          </a:p>
          <a:p>
            <a:pPr marL="0" indent="0" algn="l">
              <a:buNone/>
            </a:pPr>
            <a:r>
              <a:rPr lang="en-IN" sz="2800" b="1" i="0" u="none" strike="noStrike" baseline="0" dirty="0"/>
              <a:t>		area</a:t>
            </a:r>
            <a:r>
              <a:rPr lang="pt-BR" sz="2800" b="1" i="0" u="none" strike="noStrike" baseline="0" dirty="0"/>
              <a:t> = pi * </a:t>
            </a:r>
            <a:r>
              <a:rPr lang="en-IN" sz="2800" b="1" i="0" u="none" strike="noStrike" baseline="0" dirty="0"/>
              <a:t>radius</a:t>
            </a:r>
            <a:r>
              <a:rPr lang="pt-BR" sz="2800" b="1" i="0" u="none" strike="noStrike" baseline="0" dirty="0"/>
              <a:t> * </a:t>
            </a:r>
            <a:r>
              <a:rPr lang="en-IN" sz="2800" b="1" i="0" u="none" strike="noStrike" baseline="0" dirty="0"/>
              <a:t>radius</a:t>
            </a:r>
            <a:r>
              <a:rPr lang="pt-BR" sz="2800" b="1" i="0" u="none" strike="noStrike" baseline="0" dirty="0"/>
              <a:t>; // compute area</a:t>
            </a:r>
          </a:p>
          <a:p>
            <a:pPr marL="0" indent="0" algn="l">
              <a:buNone/>
            </a:pPr>
            <a:r>
              <a:rPr lang="en-IN" sz="2800" b="1" i="0" u="none" strike="noStrike" baseline="0" dirty="0"/>
              <a:t>		</a:t>
            </a:r>
            <a:r>
              <a:rPr lang="en-IN" sz="2800" b="1" i="0" u="none" strike="noStrike" baseline="0" dirty="0" err="1"/>
              <a:t>System.out.println</a:t>
            </a:r>
            <a:r>
              <a:rPr lang="en-IN" sz="2800" b="1" i="0" u="none" strike="noStrike" baseline="0" dirty="0"/>
              <a:t>("Area of circle is " + area);</a:t>
            </a:r>
          </a:p>
          <a:p>
            <a:pPr marL="0" indent="0" algn="l">
              <a:buNone/>
            </a:pPr>
            <a:r>
              <a:rPr lang="en-IN" sz="2800" b="1" i="0" u="none" strike="noStrike" baseline="0" dirty="0"/>
              <a:t>	}</a:t>
            </a:r>
          </a:p>
          <a:p>
            <a:pPr marL="0" indent="0" algn="l">
              <a:buNone/>
            </a:pPr>
            <a:r>
              <a:rPr lang="en-IN" sz="2800" b="1" i="0" u="none" strike="noStrike" baseline="0" dirty="0"/>
              <a:t>}</a:t>
            </a:r>
            <a:endParaRPr lang="en-IN" sz="2800" b="1" dirty="0"/>
          </a:p>
        </p:txBody>
      </p:sp>
    </p:spTree>
    <p:extLst>
      <p:ext uri="{BB962C8B-B14F-4D97-AF65-F5344CB8AC3E}">
        <p14:creationId xmlns:p14="http://schemas.microsoft.com/office/powerpoint/2010/main" val="2632200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2C6FC-D44B-751C-E8F3-5E071E7EE13E}"/>
              </a:ext>
            </a:extLst>
          </p:cNvPr>
          <p:cNvSpPr>
            <a:spLocks noGrp="1"/>
          </p:cNvSpPr>
          <p:nvPr>
            <p:ph type="title"/>
          </p:nvPr>
        </p:nvSpPr>
        <p:spPr/>
        <p:txBody>
          <a:bodyPr/>
          <a:lstStyle/>
          <a:p>
            <a:r>
              <a:rPr lang="en-IN" b="1" dirty="0"/>
              <a:t>Character Data Types</a:t>
            </a:r>
          </a:p>
        </p:txBody>
      </p:sp>
      <p:sp>
        <p:nvSpPr>
          <p:cNvPr id="3" name="Content Placeholder 2">
            <a:extLst>
              <a:ext uri="{FF2B5EF4-FFF2-40B4-BE49-F238E27FC236}">
                <a16:creationId xmlns:a16="http://schemas.microsoft.com/office/drawing/2014/main" id="{61A8CACB-6A86-601F-87D9-B6674B584779}"/>
              </a:ext>
            </a:extLst>
          </p:cNvPr>
          <p:cNvSpPr>
            <a:spLocks noGrp="1"/>
          </p:cNvSpPr>
          <p:nvPr>
            <p:ph idx="1"/>
          </p:nvPr>
        </p:nvSpPr>
        <p:spPr>
          <a:xfrm>
            <a:off x="2589212" y="1343644"/>
            <a:ext cx="8915400" cy="4890246"/>
          </a:xfrm>
        </p:spPr>
        <p:txBody>
          <a:bodyPr>
            <a:noAutofit/>
          </a:bodyPr>
          <a:lstStyle/>
          <a:p>
            <a:pPr marL="0" indent="0" algn="l">
              <a:buNone/>
            </a:pPr>
            <a:r>
              <a:rPr lang="en-IN" sz="2400" b="1" i="0" u="none" strike="noStrike" baseline="0" dirty="0"/>
              <a:t>// program that demonstrates char variables:</a:t>
            </a:r>
          </a:p>
          <a:p>
            <a:pPr marL="0" indent="0" algn="l">
              <a:buNone/>
            </a:pPr>
            <a:r>
              <a:rPr lang="en-IN" sz="2400" b="1" i="0" u="none" strike="noStrike" baseline="0" dirty="0"/>
              <a:t>// Demonstrate char data type.</a:t>
            </a:r>
          </a:p>
          <a:p>
            <a:pPr marL="0" indent="0" algn="l">
              <a:buNone/>
            </a:pPr>
            <a:r>
              <a:rPr lang="en-IN" sz="2400" b="1" i="0" u="none" strike="noStrike" baseline="0" dirty="0"/>
              <a:t>class </a:t>
            </a:r>
            <a:r>
              <a:rPr lang="en-IN" sz="2400" b="1" i="0" u="none" strike="noStrike" baseline="0" dirty="0" err="1"/>
              <a:t>CharDemo</a:t>
            </a:r>
            <a:r>
              <a:rPr lang="en-IN" sz="2400" b="1" i="0" u="none" strike="noStrike" baseline="0" dirty="0"/>
              <a:t> {</a:t>
            </a:r>
          </a:p>
          <a:p>
            <a:pPr marL="0" indent="0" algn="l">
              <a:buNone/>
            </a:pPr>
            <a:r>
              <a:rPr lang="en-IN" sz="2400" b="1" i="0" u="none" strike="noStrike" baseline="0" dirty="0"/>
              <a:t>	</a:t>
            </a:r>
            <a:r>
              <a:rPr lang="en-IN" sz="2400" b="1" dirty="0"/>
              <a:t>public static void main(String </a:t>
            </a:r>
            <a:r>
              <a:rPr lang="en-IN" sz="2400" b="1" dirty="0" err="1"/>
              <a:t>args</a:t>
            </a:r>
            <a:r>
              <a:rPr lang="en-IN" sz="2400" b="1" dirty="0"/>
              <a:t>[]) {</a:t>
            </a:r>
          </a:p>
          <a:p>
            <a:pPr marL="0" indent="0" algn="l">
              <a:buNone/>
            </a:pPr>
            <a:r>
              <a:rPr lang="en-IN" sz="2400" b="1" dirty="0"/>
              <a:t>		char ch1, ch2;</a:t>
            </a:r>
          </a:p>
          <a:p>
            <a:pPr marL="0" indent="0" algn="l">
              <a:buNone/>
            </a:pPr>
            <a:r>
              <a:rPr lang="en-IN" sz="2400" b="1" dirty="0"/>
              <a:t>		ch1 = 88; // code for X</a:t>
            </a:r>
          </a:p>
          <a:p>
            <a:pPr marL="0" indent="0" algn="l">
              <a:buNone/>
            </a:pPr>
            <a:r>
              <a:rPr lang="en-IN" sz="2400" b="1" dirty="0"/>
              <a:t>		ch2 = 'Y</a:t>
            </a:r>
            <a:r>
              <a:rPr lang="en-IN" sz="2400" b="1" i="0" u="none" strike="noStrike" baseline="0" dirty="0"/>
              <a:t>’;</a:t>
            </a:r>
          </a:p>
          <a:p>
            <a:pPr marL="0" indent="0" algn="l">
              <a:buNone/>
            </a:pPr>
            <a:r>
              <a:rPr lang="en-IN" sz="2400" b="1" i="0" u="none" strike="noStrike" baseline="0" dirty="0"/>
              <a:t>		</a:t>
            </a:r>
            <a:r>
              <a:rPr lang="en-IN" sz="2400" b="1" i="0" u="none" strike="noStrike" baseline="0" dirty="0" err="1"/>
              <a:t>System.out.print</a:t>
            </a:r>
            <a:r>
              <a:rPr lang="en-IN" sz="2400" b="1" i="0" u="none" strike="noStrike" baseline="0" dirty="0"/>
              <a:t>("ch1 and ch2: ");</a:t>
            </a:r>
          </a:p>
          <a:p>
            <a:pPr marL="0" indent="0" algn="l">
              <a:buNone/>
            </a:pPr>
            <a:r>
              <a:rPr lang="en-IN" sz="2400" b="1" i="0" u="none" strike="noStrike" baseline="0" dirty="0"/>
              <a:t>	</a:t>
            </a:r>
            <a:r>
              <a:rPr lang="en-IN" sz="2400" b="1" i="0" u="none" strike="noStrike" baseline="0" dirty="0" err="1"/>
              <a:t>System.out.println</a:t>
            </a:r>
            <a:r>
              <a:rPr lang="en-IN" sz="2400" b="1" i="0" u="none" strike="noStrike" baseline="0" dirty="0"/>
              <a:t>(ch1 + " " + ch2);</a:t>
            </a:r>
          </a:p>
          <a:p>
            <a:pPr marL="0" indent="0" algn="l">
              <a:buNone/>
            </a:pPr>
            <a:r>
              <a:rPr lang="en-IN" sz="2400" b="1" i="0" u="none" strike="noStrike" baseline="0" dirty="0"/>
              <a:t>	}</a:t>
            </a:r>
          </a:p>
          <a:p>
            <a:pPr marL="0" indent="0" algn="l">
              <a:buNone/>
            </a:pPr>
            <a:r>
              <a:rPr lang="en-IN" sz="2400" b="1" i="0" u="none" strike="noStrike" baseline="0" dirty="0"/>
              <a:t>}</a:t>
            </a:r>
            <a:endParaRPr lang="en-IN" sz="2400" b="1" dirty="0"/>
          </a:p>
        </p:txBody>
      </p:sp>
    </p:spTree>
    <p:extLst>
      <p:ext uri="{BB962C8B-B14F-4D97-AF65-F5344CB8AC3E}">
        <p14:creationId xmlns:p14="http://schemas.microsoft.com/office/powerpoint/2010/main" val="1948328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D0709-2196-277E-0A5D-26F5D13E299F}"/>
              </a:ext>
            </a:extLst>
          </p:cNvPr>
          <p:cNvSpPr>
            <a:spLocks noGrp="1"/>
          </p:cNvSpPr>
          <p:nvPr>
            <p:ph type="title"/>
          </p:nvPr>
        </p:nvSpPr>
        <p:spPr>
          <a:xfrm>
            <a:off x="2592925" y="624110"/>
            <a:ext cx="9294275" cy="1280890"/>
          </a:xfrm>
        </p:spPr>
        <p:txBody>
          <a:bodyPr/>
          <a:lstStyle/>
          <a:p>
            <a:r>
              <a:rPr lang="en-IN" b="1" dirty="0"/>
              <a:t>Can add </a:t>
            </a:r>
            <a:r>
              <a:rPr lang="en-IN" b="1" dirty="0" err="1"/>
              <a:t>unicodes</a:t>
            </a:r>
            <a:r>
              <a:rPr lang="en-IN" b="1" dirty="0"/>
              <a:t> values, increment, </a:t>
            </a:r>
            <a:r>
              <a:rPr lang="en-IN" b="1" dirty="0" err="1"/>
              <a:t>decremet</a:t>
            </a:r>
            <a:r>
              <a:rPr lang="en-IN" b="1" dirty="0"/>
              <a:t>.</a:t>
            </a:r>
          </a:p>
        </p:txBody>
      </p:sp>
      <p:sp>
        <p:nvSpPr>
          <p:cNvPr id="3" name="Content Placeholder 2">
            <a:extLst>
              <a:ext uri="{FF2B5EF4-FFF2-40B4-BE49-F238E27FC236}">
                <a16:creationId xmlns:a16="http://schemas.microsoft.com/office/drawing/2014/main" id="{2295C228-80D3-0015-D3F3-730B07733949}"/>
              </a:ext>
            </a:extLst>
          </p:cNvPr>
          <p:cNvSpPr>
            <a:spLocks noGrp="1"/>
          </p:cNvSpPr>
          <p:nvPr>
            <p:ph idx="1"/>
          </p:nvPr>
        </p:nvSpPr>
        <p:spPr>
          <a:xfrm>
            <a:off x="2524627" y="1891553"/>
            <a:ext cx="9048282" cy="4966447"/>
          </a:xfrm>
        </p:spPr>
        <p:txBody>
          <a:bodyPr>
            <a:normAutofit/>
          </a:bodyPr>
          <a:lstStyle/>
          <a:p>
            <a:pPr marL="0" indent="0" algn="l">
              <a:buNone/>
            </a:pPr>
            <a:r>
              <a:rPr lang="en-IN" sz="2400" b="1" i="0" u="none" strike="noStrike" baseline="0" dirty="0">
                <a:latin typeface="CourierStd"/>
              </a:rPr>
              <a:t>// char variables behave like integers.</a:t>
            </a:r>
          </a:p>
          <a:p>
            <a:pPr marL="0" indent="0" algn="l">
              <a:buNone/>
            </a:pPr>
            <a:r>
              <a:rPr lang="en-IN" sz="2400" b="1" i="0" u="none" strike="noStrike" baseline="0" dirty="0">
                <a:latin typeface="CourierStd"/>
              </a:rPr>
              <a:t>class CharDemo2 {</a:t>
            </a:r>
          </a:p>
          <a:p>
            <a:pPr marL="0" indent="0" algn="l">
              <a:buNone/>
            </a:pPr>
            <a:r>
              <a:rPr lang="en-IN" sz="2400" b="1" i="0" u="none" strike="noStrike" baseline="0" dirty="0">
                <a:latin typeface="CourierStd"/>
              </a:rPr>
              <a:t>	public static void main(String </a:t>
            </a:r>
            <a:r>
              <a:rPr lang="en-IN" sz="2400" b="1" i="0" u="none" strike="noStrike" baseline="0" dirty="0" err="1">
                <a:latin typeface="CourierStd"/>
              </a:rPr>
              <a:t>args</a:t>
            </a:r>
            <a:r>
              <a:rPr lang="en-IN" sz="2400" b="1" i="0" u="none" strike="noStrike" baseline="0" dirty="0">
                <a:latin typeface="CourierStd"/>
              </a:rPr>
              <a:t>[]) {</a:t>
            </a:r>
          </a:p>
          <a:p>
            <a:pPr marL="0" indent="0" algn="l">
              <a:buNone/>
            </a:pPr>
            <a:r>
              <a:rPr lang="en-IN" sz="2400" b="1" i="0" u="none" strike="noStrike" baseline="0" dirty="0">
                <a:latin typeface="CourierStd"/>
              </a:rPr>
              <a:t>		char ch1;</a:t>
            </a:r>
          </a:p>
          <a:p>
            <a:pPr marL="0" indent="0" algn="l">
              <a:buNone/>
            </a:pPr>
            <a:r>
              <a:rPr lang="en-IN" sz="2400" b="1" i="0" u="none" strike="noStrike" baseline="0" dirty="0">
                <a:latin typeface="CourierStd"/>
              </a:rPr>
              <a:t>		ch1 = 'X’;</a:t>
            </a:r>
          </a:p>
          <a:p>
            <a:pPr marL="0" indent="0" algn="l">
              <a:buNone/>
            </a:pPr>
            <a:r>
              <a:rPr lang="en-IN" sz="2400" b="1" i="0" u="none" strike="noStrike" baseline="0" dirty="0">
                <a:latin typeface="CourierStd"/>
              </a:rPr>
              <a:t>		</a:t>
            </a:r>
            <a:r>
              <a:rPr lang="en-IN" sz="2400" b="1" i="0" u="none" strike="noStrike" baseline="0" dirty="0" err="1">
                <a:latin typeface="CourierStd"/>
              </a:rPr>
              <a:t>System.out.println</a:t>
            </a:r>
            <a:r>
              <a:rPr lang="en-IN" sz="2400" b="1" i="0" u="none" strike="noStrike" baseline="0" dirty="0">
                <a:latin typeface="CourierStd"/>
              </a:rPr>
              <a:t>("ch1 contains " + ch1);</a:t>
            </a:r>
          </a:p>
          <a:p>
            <a:pPr marL="0" indent="0" algn="l">
              <a:buNone/>
            </a:pPr>
            <a:r>
              <a:rPr lang="en-IN" sz="2400" b="1" i="0" u="none" strike="noStrike" baseline="0" dirty="0">
                <a:latin typeface="CourierStd"/>
              </a:rPr>
              <a:t>		ch1++; // increment ch1</a:t>
            </a:r>
          </a:p>
          <a:p>
            <a:pPr marL="0" indent="0" algn="l">
              <a:buNone/>
            </a:pPr>
            <a:r>
              <a:rPr lang="en-IN" sz="2400" b="1" i="0" u="none" strike="noStrike" baseline="0" dirty="0">
                <a:latin typeface="CourierStd"/>
              </a:rPr>
              <a:t>		</a:t>
            </a:r>
            <a:r>
              <a:rPr lang="en-IN" sz="2400" b="1" i="0" u="none" strike="noStrike" baseline="0" dirty="0" err="1">
                <a:latin typeface="CourierStd"/>
              </a:rPr>
              <a:t>System.out.println</a:t>
            </a:r>
            <a:r>
              <a:rPr lang="en-IN" sz="2400" b="1" i="0" u="none" strike="noStrike" baseline="0" dirty="0">
                <a:latin typeface="CourierStd"/>
              </a:rPr>
              <a:t>("ch1 is now " + ch1);</a:t>
            </a:r>
          </a:p>
          <a:p>
            <a:pPr marL="0" indent="0" algn="l">
              <a:buNone/>
            </a:pPr>
            <a:r>
              <a:rPr lang="en-IN" sz="2400" b="1" i="0" u="none" strike="noStrike" baseline="0" dirty="0">
                <a:latin typeface="CourierStd"/>
              </a:rPr>
              <a:t>	}</a:t>
            </a:r>
          </a:p>
          <a:p>
            <a:pPr marL="0" indent="0" algn="l">
              <a:buNone/>
            </a:pPr>
            <a:r>
              <a:rPr lang="en-IN" sz="2400" b="1" i="0" u="none" strike="noStrike" baseline="0" dirty="0">
                <a:latin typeface="CourierStd"/>
              </a:rPr>
              <a:t>}</a:t>
            </a:r>
            <a:endParaRPr lang="en-IN" sz="2400" b="1" dirty="0"/>
          </a:p>
        </p:txBody>
      </p:sp>
    </p:spTree>
    <p:extLst>
      <p:ext uri="{BB962C8B-B14F-4D97-AF65-F5344CB8AC3E}">
        <p14:creationId xmlns:p14="http://schemas.microsoft.com/office/powerpoint/2010/main" val="3549159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66ADB-23F9-0E8A-20BE-BDEF1C27715F}"/>
              </a:ext>
            </a:extLst>
          </p:cNvPr>
          <p:cNvSpPr>
            <a:spLocks noGrp="1"/>
          </p:cNvSpPr>
          <p:nvPr>
            <p:ph type="title"/>
          </p:nvPr>
        </p:nvSpPr>
        <p:spPr/>
        <p:txBody>
          <a:bodyPr/>
          <a:lstStyle/>
          <a:p>
            <a:r>
              <a:rPr lang="en-IN" b="1" dirty="0"/>
              <a:t>Booleans</a:t>
            </a:r>
            <a:br>
              <a:rPr lang="en-IN" b="1" dirty="0"/>
            </a:br>
            <a:endParaRPr lang="en-IN" b="1" dirty="0"/>
          </a:p>
        </p:txBody>
      </p:sp>
      <p:sp>
        <p:nvSpPr>
          <p:cNvPr id="3" name="Content Placeholder 2">
            <a:extLst>
              <a:ext uri="{FF2B5EF4-FFF2-40B4-BE49-F238E27FC236}">
                <a16:creationId xmlns:a16="http://schemas.microsoft.com/office/drawing/2014/main" id="{46149C29-C6A2-F558-7393-22254958D999}"/>
              </a:ext>
            </a:extLst>
          </p:cNvPr>
          <p:cNvSpPr>
            <a:spLocks noGrp="1"/>
          </p:cNvSpPr>
          <p:nvPr>
            <p:ph idx="1"/>
          </p:nvPr>
        </p:nvSpPr>
        <p:spPr>
          <a:xfrm>
            <a:off x="1713053" y="2133600"/>
            <a:ext cx="10347767" cy="3777622"/>
          </a:xfrm>
        </p:spPr>
        <p:txBody>
          <a:bodyPr>
            <a:normAutofit fontScale="92500" lnSpcReduction="10000"/>
          </a:bodyPr>
          <a:lstStyle/>
          <a:p>
            <a:pPr marL="0" indent="0">
              <a:buNone/>
            </a:pPr>
            <a:r>
              <a:rPr lang="en-IN" sz="3200" b="1" dirty="0"/>
              <a:t>Java has a primitive type, called </a:t>
            </a:r>
            <a:r>
              <a:rPr lang="en-IN" sz="3200" b="1" dirty="0" err="1"/>
              <a:t>boolean</a:t>
            </a:r>
            <a:r>
              <a:rPr lang="en-IN" sz="3200" b="1" dirty="0"/>
              <a:t>, for logical values.</a:t>
            </a:r>
          </a:p>
          <a:p>
            <a:pPr marL="0" indent="0">
              <a:buNone/>
            </a:pPr>
            <a:r>
              <a:rPr lang="en-IN" sz="3200" b="1" dirty="0"/>
              <a:t>It can have only one of two possible values, true or false. </a:t>
            </a:r>
          </a:p>
          <a:p>
            <a:pPr marL="0" indent="0">
              <a:buNone/>
            </a:pPr>
            <a:r>
              <a:rPr lang="en-IN" sz="3200" b="1" dirty="0"/>
              <a:t>This is the type returned by all relational operators, as in the case of a &lt; b. </a:t>
            </a:r>
            <a:r>
              <a:rPr lang="en-IN" sz="3200" b="1" dirty="0" err="1"/>
              <a:t>boolean</a:t>
            </a:r>
            <a:r>
              <a:rPr lang="en-IN" sz="3200" b="1" dirty="0"/>
              <a:t> is also the type required by the conditional expressions that govern the control statements such as if and for.</a:t>
            </a:r>
          </a:p>
        </p:txBody>
      </p:sp>
    </p:spTree>
    <p:extLst>
      <p:ext uri="{BB962C8B-B14F-4D97-AF65-F5344CB8AC3E}">
        <p14:creationId xmlns:p14="http://schemas.microsoft.com/office/powerpoint/2010/main" val="2444345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F621BB-C207-4634-2ECB-F0FB31B34D2E}"/>
              </a:ext>
            </a:extLst>
          </p:cNvPr>
          <p:cNvSpPr>
            <a:spLocks noGrp="1"/>
          </p:cNvSpPr>
          <p:nvPr>
            <p:ph idx="1"/>
          </p:nvPr>
        </p:nvSpPr>
        <p:spPr>
          <a:xfrm>
            <a:off x="2589212" y="295835"/>
            <a:ext cx="8915400" cy="5615387"/>
          </a:xfrm>
        </p:spPr>
        <p:txBody>
          <a:bodyPr>
            <a:noAutofit/>
          </a:bodyPr>
          <a:lstStyle/>
          <a:p>
            <a:pPr marL="0" indent="0" algn="l">
              <a:buNone/>
            </a:pPr>
            <a:r>
              <a:rPr lang="en-IN" sz="2000" b="1" i="0" u="none" strike="noStrike" baseline="0" dirty="0"/>
              <a:t>// Demonstrate </a:t>
            </a:r>
            <a:r>
              <a:rPr lang="en-IN" sz="2000" b="1" i="0" u="none" strike="noStrike" baseline="0" dirty="0" err="1"/>
              <a:t>boolean</a:t>
            </a:r>
            <a:r>
              <a:rPr lang="en-IN" sz="2000" b="1" i="0" u="none" strike="noStrike" baseline="0" dirty="0"/>
              <a:t> values.</a:t>
            </a:r>
          </a:p>
          <a:p>
            <a:pPr marL="0" indent="0" algn="l">
              <a:buNone/>
            </a:pPr>
            <a:r>
              <a:rPr lang="en-IN" sz="2000" b="1" i="0" u="none" strike="noStrike" baseline="0" dirty="0"/>
              <a:t>class </a:t>
            </a:r>
            <a:r>
              <a:rPr lang="en-IN" sz="2000" b="1" i="0" u="none" strike="noStrike" baseline="0" dirty="0" err="1"/>
              <a:t>BoolTest</a:t>
            </a:r>
            <a:r>
              <a:rPr lang="en-IN" sz="2000" b="1" i="0" u="none" strike="noStrike" baseline="0" dirty="0"/>
              <a:t> {</a:t>
            </a:r>
          </a:p>
          <a:p>
            <a:pPr marL="0" indent="0" algn="l">
              <a:buNone/>
            </a:pPr>
            <a:r>
              <a:rPr lang="en-IN" sz="2000" b="1" i="0" u="none" strike="noStrike" baseline="0" dirty="0"/>
              <a:t>	public static void main(String </a:t>
            </a:r>
            <a:r>
              <a:rPr lang="en-IN" sz="2000" b="1" i="0" u="none" strike="noStrike" baseline="0" dirty="0" err="1"/>
              <a:t>args</a:t>
            </a:r>
            <a:r>
              <a:rPr lang="en-IN" sz="2000" b="1" i="0" u="none" strike="noStrike" baseline="0" dirty="0"/>
              <a:t>[]) {</a:t>
            </a:r>
          </a:p>
          <a:p>
            <a:pPr marL="0" indent="0" algn="l">
              <a:buNone/>
            </a:pPr>
            <a:r>
              <a:rPr lang="en-IN" sz="2000" b="1" i="0" u="none" strike="noStrike" baseline="0" dirty="0"/>
              <a:t>		</a:t>
            </a:r>
            <a:r>
              <a:rPr lang="en-IN" sz="2000" b="1" i="0" u="none" strike="noStrike" baseline="0" dirty="0" err="1"/>
              <a:t>boolean</a:t>
            </a:r>
            <a:r>
              <a:rPr lang="en-IN" sz="2000" b="1" i="0" u="none" strike="noStrike" baseline="0" dirty="0"/>
              <a:t> b;     b = false;</a:t>
            </a:r>
          </a:p>
          <a:p>
            <a:pPr marL="0" indent="0" algn="l">
              <a:buNone/>
            </a:pPr>
            <a:r>
              <a:rPr lang="en-IN" sz="2000" b="1" i="0" u="none" strike="noStrike" baseline="0" dirty="0"/>
              <a:t>		</a:t>
            </a:r>
            <a:r>
              <a:rPr lang="en-IN" sz="2000" b="1" i="0" u="none" strike="noStrike" baseline="0" dirty="0" err="1"/>
              <a:t>System.out.println</a:t>
            </a:r>
            <a:r>
              <a:rPr lang="en-IN" sz="2000" b="1" i="0" u="none" strike="noStrike" baseline="0" dirty="0"/>
              <a:t>("b is " + b);</a:t>
            </a:r>
          </a:p>
          <a:p>
            <a:pPr marL="0" indent="0" algn="l">
              <a:buNone/>
            </a:pPr>
            <a:r>
              <a:rPr lang="en-IN" sz="2000" b="1" i="0" u="none" strike="noStrike" baseline="0" dirty="0"/>
              <a:t>		b = true;</a:t>
            </a:r>
          </a:p>
          <a:p>
            <a:pPr marL="0" indent="0" algn="l">
              <a:buNone/>
            </a:pPr>
            <a:r>
              <a:rPr lang="en-IN" sz="2000" b="1" i="0" u="none" strike="noStrike" baseline="0" dirty="0"/>
              <a:t>		</a:t>
            </a:r>
            <a:r>
              <a:rPr lang="en-IN" sz="2000" b="1" i="0" u="none" strike="noStrike" baseline="0" dirty="0" err="1"/>
              <a:t>System.out.println</a:t>
            </a:r>
            <a:r>
              <a:rPr lang="en-IN" sz="2000" b="1" i="0" u="none" strike="noStrike" baseline="0" dirty="0"/>
              <a:t>("b is " + b);</a:t>
            </a:r>
          </a:p>
          <a:p>
            <a:pPr marL="0" indent="0" algn="l">
              <a:buNone/>
            </a:pPr>
            <a:r>
              <a:rPr lang="en-IN" sz="2000" b="1" i="0" u="none" strike="noStrike" baseline="0" dirty="0"/>
              <a:t>		// a </a:t>
            </a:r>
            <a:r>
              <a:rPr lang="en-IN" sz="2000" b="1" i="0" u="none" strike="noStrike" baseline="0" dirty="0" err="1"/>
              <a:t>boolean</a:t>
            </a:r>
            <a:r>
              <a:rPr lang="en-IN" sz="2000" b="1" i="0" u="none" strike="noStrike" baseline="0" dirty="0"/>
              <a:t> value can control the if statement</a:t>
            </a:r>
          </a:p>
          <a:p>
            <a:pPr marL="0" indent="0" algn="l">
              <a:buNone/>
            </a:pPr>
            <a:r>
              <a:rPr lang="en-IN" sz="2000" b="1" i="0" u="none" strike="noStrike" baseline="0" dirty="0"/>
              <a:t>		if(b)    </a:t>
            </a:r>
            <a:r>
              <a:rPr lang="en-IN" sz="2000" b="1" i="0" u="none" strike="noStrike" baseline="0" dirty="0" err="1"/>
              <a:t>System.out.println</a:t>
            </a:r>
            <a:r>
              <a:rPr lang="en-IN" sz="2000" b="1" i="0" u="none" strike="noStrike" baseline="0" dirty="0"/>
              <a:t>("This is executed.");</a:t>
            </a:r>
          </a:p>
          <a:p>
            <a:pPr marL="0" indent="0" algn="l">
              <a:buNone/>
            </a:pPr>
            <a:r>
              <a:rPr lang="en-IN" sz="2000" b="1" i="0" u="none" strike="noStrike" baseline="0" dirty="0"/>
              <a:t>		b = false;</a:t>
            </a:r>
          </a:p>
          <a:p>
            <a:pPr marL="0" indent="0" algn="l">
              <a:buNone/>
            </a:pPr>
            <a:r>
              <a:rPr lang="en-IN" sz="2000" b="1" i="0" u="none" strike="noStrike" baseline="0" dirty="0"/>
              <a:t>		if(b)    </a:t>
            </a:r>
            <a:r>
              <a:rPr lang="en-IN" sz="2000" b="1" i="0" u="none" strike="noStrike" baseline="0" dirty="0" err="1"/>
              <a:t>System.out.println</a:t>
            </a:r>
            <a:r>
              <a:rPr lang="en-IN" sz="2000" b="1" i="0" u="none" strike="noStrike" baseline="0" dirty="0"/>
              <a:t>("This is not executed.");</a:t>
            </a:r>
          </a:p>
          <a:p>
            <a:pPr marL="0" indent="0" algn="l">
              <a:buNone/>
            </a:pPr>
            <a:r>
              <a:rPr lang="en-IN" sz="2000" b="1" i="0" u="none" strike="noStrike" baseline="0" dirty="0"/>
              <a:t>		// outcome of a relational operator is a </a:t>
            </a:r>
            <a:r>
              <a:rPr lang="en-IN" sz="2000" b="1" i="0" u="none" strike="noStrike" baseline="0" dirty="0" err="1"/>
              <a:t>boolean</a:t>
            </a:r>
            <a:r>
              <a:rPr lang="en-IN" sz="2000" b="1" i="0" u="none" strike="noStrike" baseline="0" dirty="0"/>
              <a:t> value</a:t>
            </a:r>
          </a:p>
          <a:p>
            <a:pPr marL="0" indent="0" algn="l">
              <a:buNone/>
            </a:pPr>
            <a:r>
              <a:rPr lang="en-IN" sz="2000" b="1" i="0" u="none" strike="noStrike" baseline="0" dirty="0"/>
              <a:t>		</a:t>
            </a:r>
            <a:r>
              <a:rPr lang="en-IN" sz="2000" b="1" i="0" u="none" strike="noStrike" baseline="0" dirty="0" err="1"/>
              <a:t>System.out.println</a:t>
            </a:r>
            <a:r>
              <a:rPr lang="en-IN" sz="2000" b="1" i="0" u="none" strike="noStrike" baseline="0" dirty="0"/>
              <a:t>("10 &gt; 9 is " + (10 &gt; 9));</a:t>
            </a:r>
          </a:p>
          <a:p>
            <a:pPr marL="0" indent="0" algn="l">
              <a:buNone/>
            </a:pPr>
            <a:r>
              <a:rPr lang="en-IN" sz="2000" b="1" i="0" u="none" strike="noStrike" baseline="0" dirty="0"/>
              <a:t>	}</a:t>
            </a:r>
          </a:p>
          <a:p>
            <a:pPr marL="0" indent="0" algn="l">
              <a:buNone/>
            </a:pPr>
            <a:r>
              <a:rPr lang="en-IN" sz="2000" b="1" i="0" u="none" strike="noStrike" baseline="0" dirty="0"/>
              <a:t>}</a:t>
            </a:r>
            <a:endParaRPr lang="en-IN" sz="2000" b="1" dirty="0"/>
          </a:p>
        </p:txBody>
      </p:sp>
    </p:spTree>
    <p:extLst>
      <p:ext uri="{BB962C8B-B14F-4D97-AF65-F5344CB8AC3E}">
        <p14:creationId xmlns:p14="http://schemas.microsoft.com/office/powerpoint/2010/main" val="886265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7D38E-060D-4A91-7EBE-27BEBEF9801E}"/>
              </a:ext>
            </a:extLst>
          </p:cNvPr>
          <p:cNvSpPr>
            <a:spLocks noGrp="1"/>
          </p:cNvSpPr>
          <p:nvPr>
            <p:ph type="title"/>
          </p:nvPr>
        </p:nvSpPr>
        <p:spPr/>
        <p:txBody>
          <a:bodyPr/>
          <a:lstStyle/>
          <a:p>
            <a:r>
              <a:rPr lang="en-IN" sz="3600" b="0" i="0" u="none" strike="noStrike" baseline="0" dirty="0">
                <a:latin typeface="NewBaskervilleStd-Roman"/>
              </a:rPr>
              <a:t>Three interesting things about Boolean value</a:t>
            </a:r>
            <a:endParaRPr lang="en-IN" dirty="0"/>
          </a:p>
        </p:txBody>
      </p:sp>
      <p:sp>
        <p:nvSpPr>
          <p:cNvPr id="3" name="Content Placeholder 2">
            <a:extLst>
              <a:ext uri="{FF2B5EF4-FFF2-40B4-BE49-F238E27FC236}">
                <a16:creationId xmlns:a16="http://schemas.microsoft.com/office/drawing/2014/main" id="{58777CE4-0DD6-C9D1-222B-49D74691192A}"/>
              </a:ext>
            </a:extLst>
          </p:cNvPr>
          <p:cNvSpPr>
            <a:spLocks noGrp="1"/>
          </p:cNvSpPr>
          <p:nvPr>
            <p:ph idx="1"/>
          </p:nvPr>
        </p:nvSpPr>
        <p:spPr>
          <a:xfrm>
            <a:off x="1770927" y="1562582"/>
            <a:ext cx="9733685" cy="4348640"/>
          </a:xfrm>
        </p:spPr>
        <p:txBody>
          <a:bodyPr>
            <a:normAutofit fontScale="92500" lnSpcReduction="10000"/>
          </a:bodyPr>
          <a:lstStyle/>
          <a:p>
            <a:pPr algn="l">
              <a:buFont typeface="Wingdings" panose="05000000000000000000" pitchFamily="2" charset="2"/>
              <a:buChar char="q"/>
            </a:pPr>
            <a:r>
              <a:rPr lang="en-IN" sz="2800" b="1" i="0" u="none" strike="noStrike" baseline="0" dirty="0">
                <a:latin typeface="NewBaskervilleStd-Roman"/>
              </a:rPr>
              <a:t>When a </a:t>
            </a:r>
            <a:r>
              <a:rPr lang="en-IN" sz="2800" b="1" i="0" u="none" strike="noStrike" baseline="0" dirty="0" err="1">
                <a:latin typeface="NewBaskervilleStd-Bold"/>
              </a:rPr>
              <a:t>boolean</a:t>
            </a:r>
            <a:r>
              <a:rPr lang="en-IN" sz="2800" b="1" i="0" u="none" strike="noStrike" baseline="0" dirty="0">
                <a:latin typeface="NewBaskervilleStd-Bold"/>
              </a:rPr>
              <a:t> </a:t>
            </a:r>
            <a:r>
              <a:rPr lang="en-IN" sz="2800" b="1" i="0" u="none" strike="noStrike" baseline="0" dirty="0">
                <a:latin typeface="NewBaskervilleStd-Roman"/>
              </a:rPr>
              <a:t>value is output by </a:t>
            </a:r>
            <a:r>
              <a:rPr lang="en-IN" sz="2800" b="1" i="0" u="none" strike="noStrike" baseline="0" dirty="0" err="1">
                <a:latin typeface="NewBaskervilleStd-Bold"/>
              </a:rPr>
              <a:t>println</a:t>
            </a:r>
            <a:r>
              <a:rPr lang="en-IN" sz="2800" b="1" i="0" u="none" strike="noStrike" baseline="0" dirty="0">
                <a:latin typeface="NewBaskervilleStd-Bold"/>
              </a:rPr>
              <a:t>( )</a:t>
            </a:r>
            <a:r>
              <a:rPr lang="en-IN" sz="2800" b="1" i="0" u="none" strike="noStrike" baseline="0" dirty="0">
                <a:latin typeface="NewBaskervilleStd-Roman"/>
              </a:rPr>
              <a:t>, "true" or "false" is displayed. </a:t>
            </a:r>
          </a:p>
          <a:p>
            <a:pPr algn="l">
              <a:buFont typeface="Wingdings" panose="05000000000000000000" pitchFamily="2" charset="2"/>
              <a:buChar char="q"/>
            </a:pPr>
            <a:r>
              <a:rPr lang="en-IN" sz="2800" b="1" i="0" u="none" strike="noStrike" baseline="0" dirty="0">
                <a:latin typeface="NewBaskervilleStd-Roman"/>
              </a:rPr>
              <a:t>Second, the value of a </a:t>
            </a:r>
            <a:r>
              <a:rPr lang="en-IN" sz="2800" b="1" i="0" u="none" strike="noStrike" baseline="0" dirty="0" err="1">
                <a:latin typeface="NewBaskervilleStd-Bold"/>
              </a:rPr>
              <a:t>boolean</a:t>
            </a:r>
            <a:r>
              <a:rPr lang="en-IN" sz="2800" b="1" i="0" u="none" strike="noStrike" baseline="0" dirty="0">
                <a:latin typeface="NewBaskervilleStd-Bold"/>
              </a:rPr>
              <a:t> </a:t>
            </a:r>
            <a:r>
              <a:rPr lang="en-IN" sz="2800" b="1" i="0" u="none" strike="noStrike" baseline="0" dirty="0">
                <a:latin typeface="NewBaskervilleStd-Roman"/>
              </a:rPr>
              <a:t>variable is sufficient, by itself, to control the </a:t>
            </a:r>
            <a:r>
              <a:rPr lang="en-IN" sz="2800" b="1" i="0" u="none" strike="noStrike" baseline="0" dirty="0">
                <a:latin typeface="NewBaskervilleStd-Bold"/>
              </a:rPr>
              <a:t>if </a:t>
            </a:r>
            <a:r>
              <a:rPr lang="en-IN" sz="2800" b="1" i="0" u="none" strike="noStrike" baseline="0" dirty="0">
                <a:latin typeface="NewBaskervilleStd-Roman"/>
              </a:rPr>
              <a:t>statement. There is no need to write an </a:t>
            </a:r>
            <a:r>
              <a:rPr lang="en-IN" sz="2800" b="1" i="0" u="none" strike="noStrike" baseline="0" dirty="0">
                <a:latin typeface="NewBaskervilleStd-Bold"/>
              </a:rPr>
              <a:t>if </a:t>
            </a:r>
            <a:r>
              <a:rPr lang="en-IN" sz="2800" b="1" i="0" u="none" strike="noStrike" baseline="0" dirty="0">
                <a:latin typeface="NewBaskervilleStd-Roman"/>
              </a:rPr>
              <a:t>statement like this:</a:t>
            </a:r>
          </a:p>
          <a:p>
            <a:pPr marL="0" indent="0" algn="l">
              <a:buNone/>
            </a:pPr>
            <a:r>
              <a:rPr lang="en-IN" sz="2800" b="1" i="0" u="none" strike="noStrike" baseline="0" dirty="0">
                <a:latin typeface="CourierStd"/>
              </a:rPr>
              <a:t>   if(b == true) …</a:t>
            </a:r>
          </a:p>
          <a:p>
            <a:pPr algn="l">
              <a:buFont typeface="Wingdings" panose="05000000000000000000" pitchFamily="2" charset="2"/>
              <a:buChar char="q"/>
            </a:pPr>
            <a:r>
              <a:rPr lang="en-IN" sz="2800" b="1" i="0" u="none" strike="noStrike" baseline="0" dirty="0">
                <a:latin typeface="NewBaskervilleStd-Roman"/>
              </a:rPr>
              <a:t>Third, the outcome of a relational operator, such as </a:t>
            </a:r>
            <a:r>
              <a:rPr lang="en-IN" sz="2800" b="1" i="0" u="none" strike="noStrike" baseline="0" dirty="0">
                <a:latin typeface="NewBaskervilleStd-Bold"/>
              </a:rPr>
              <a:t>&lt;</a:t>
            </a:r>
            <a:r>
              <a:rPr lang="en-IN" sz="2800" b="1" i="0" u="none" strike="noStrike" baseline="0" dirty="0">
                <a:latin typeface="NewBaskervilleStd-Roman"/>
              </a:rPr>
              <a:t>, is a </a:t>
            </a:r>
            <a:r>
              <a:rPr lang="en-IN" sz="2800" b="1" i="0" u="none" strike="noStrike" baseline="0" dirty="0" err="1">
                <a:latin typeface="NewBaskervilleStd-Bold"/>
              </a:rPr>
              <a:t>boolean</a:t>
            </a:r>
            <a:r>
              <a:rPr lang="en-IN" sz="2800" b="1" i="0" u="none" strike="noStrike" baseline="0" dirty="0">
                <a:latin typeface="NewBaskervilleStd-Bold"/>
              </a:rPr>
              <a:t> </a:t>
            </a:r>
            <a:r>
              <a:rPr lang="en-IN" sz="2800" b="1" i="0" u="none" strike="noStrike" baseline="0" dirty="0">
                <a:latin typeface="NewBaskervilleStd-Roman"/>
              </a:rPr>
              <a:t>value. This is why the expression </a:t>
            </a:r>
            <a:r>
              <a:rPr lang="en-IN" sz="2800" b="1" i="0" u="none" strike="noStrike" baseline="0" dirty="0">
                <a:latin typeface="NewBaskervilleStd-Bold"/>
              </a:rPr>
              <a:t>10&gt;9 </a:t>
            </a:r>
            <a:r>
              <a:rPr lang="en-IN" sz="2800" b="1" i="0" u="none" strike="noStrike" baseline="0" dirty="0">
                <a:latin typeface="NewBaskervilleStd-Roman"/>
              </a:rPr>
              <a:t>displays the value "true." Further, the extra set of parentheses around </a:t>
            </a:r>
            <a:r>
              <a:rPr lang="en-IN" sz="2800" b="1" i="0" u="none" strike="noStrike" baseline="0" dirty="0">
                <a:latin typeface="NewBaskervilleStd-Bold"/>
              </a:rPr>
              <a:t>10&gt;9 </a:t>
            </a:r>
            <a:r>
              <a:rPr lang="en-IN" sz="2800" b="1" i="0" u="none" strike="noStrike" baseline="0" dirty="0">
                <a:latin typeface="NewBaskervilleStd-Roman"/>
              </a:rPr>
              <a:t>is necessary because the </a:t>
            </a:r>
            <a:r>
              <a:rPr lang="en-IN" sz="2800" b="1" i="0" u="none" strike="noStrike" baseline="0" dirty="0">
                <a:latin typeface="NewBaskervilleStd-Bold"/>
              </a:rPr>
              <a:t>+ </a:t>
            </a:r>
            <a:r>
              <a:rPr lang="en-IN" sz="2800" b="1" i="0" u="none" strike="noStrike" baseline="0" dirty="0">
                <a:latin typeface="NewBaskervilleStd-Roman"/>
              </a:rPr>
              <a:t>operator has a higher precedence than the </a:t>
            </a:r>
            <a:r>
              <a:rPr lang="en-IN" sz="2800" b="1" i="0" u="none" strike="noStrike" baseline="0" dirty="0">
                <a:latin typeface="NewBaskervilleStd-Bold"/>
              </a:rPr>
              <a:t>&gt;</a:t>
            </a:r>
            <a:r>
              <a:rPr lang="en-IN" sz="2800" b="1" i="0" u="none" strike="noStrike" baseline="0" dirty="0">
                <a:latin typeface="NewBaskervilleStd-Roman"/>
              </a:rPr>
              <a:t>.</a:t>
            </a:r>
            <a:endParaRPr lang="en-IN" sz="2800" b="1" dirty="0"/>
          </a:p>
        </p:txBody>
      </p:sp>
    </p:spTree>
    <p:extLst>
      <p:ext uri="{BB962C8B-B14F-4D97-AF65-F5344CB8AC3E}">
        <p14:creationId xmlns:p14="http://schemas.microsoft.com/office/powerpoint/2010/main" val="1480951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38DCE-1A79-6E8D-C993-F54AF7AA6607}"/>
              </a:ext>
            </a:extLst>
          </p:cNvPr>
          <p:cNvSpPr>
            <a:spLocks noGrp="1"/>
          </p:cNvSpPr>
          <p:nvPr>
            <p:ph type="title"/>
          </p:nvPr>
        </p:nvSpPr>
        <p:spPr>
          <a:xfrm>
            <a:off x="2017059" y="328275"/>
            <a:ext cx="8911687" cy="1280890"/>
          </a:xfrm>
        </p:spPr>
        <p:txBody>
          <a:bodyPr>
            <a:normAutofit/>
          </a:bodyPr>
          <a:lstStyle/>
          <a:p>
            <a:r>
              <a:rPr lang="en-IN" sz="4400" b="1" dirty="0"/>
              <a:t>Integer Literals</a:t>
            </a:r>
          </a:p>
        </p:txBody>
      </p:sp>
      <p:sp>
        <p:nvSpPr>
          <p:cNvPr id="3" name="Content Placeholder 2">
            <a:extLst>
              <a:ext uri="{FF2B5EF4-FFF2-40B4-BE49-F238E27FC236}">
                <a16:creationId xmlns:a16="http://schemas.microsoft.com/office/drawing/2014/main" id="{E397F63E-5EBE-C7CE-75DC-CF7833D128A4}"/>
              </a:ext>
            </a:extLst>
          </p:cNvPr>
          <p:cNvSpPr>
            <a:spLocks noGrp="1"/>
          </p:cNvSpPr>
          <p:nvPr>
            <p:ph idx="1"/>
          </p:nvPr>
        </p:nvSpPr>
        <p:spPr>
          <a:xfrm>
            <a:off x="1608882" y="1294663"/>
            <a:ext cx="10583118" cy="5441576"/>
          </a:xfrm>
        </p:spPr>
        <p:txBody>
          <a:bodyPr>
            <a:normAutofit lnSpcReduction="10000"/>
          </a:bodyPr>
          <a:lstStyle/>
          <a:p>
            <a:r>
              <a:rPr lang="en-IN" sz="2400" b="1" dirty="0">
                <a:latin typeface="Bookman Old Style" panose="02050604050505020204" pitchFamily="18" charset="0"/>
                <a:ea typeface="Calibri" panose="020F0502020204030204" pitchFamily="34" charset="0"/>
                <a:cs typeface="Arial" panose="020B0604020202020204" pitchFamily="34" charset="0"/>
              </a:rPr>
              <a:t>int a=18388;    l</a:t>
            </a:r>
            <a:r>
              <a:rPr lang="en-IN" sz="2400" b="1" dirty="0">
                <a:effectLst/>
                <a:latin typeface="Bookman Old Style" panose="02050604050505020204" pitchFamily="18" charset="0"/>
                <a:ea typeface="Calibri" panose="020F0502020204030204" pitchFamily="34" charset="0"/>
                <a:cs typeface="Arial" panose="020B0604020202020204" pitchFamily="34" charset="0"/>
              </a:rPr>
              <a:t>ong a=488844988;</a:t>
            </a:r>
            <a:endParaRPr lang="en-IN" sz="2400" dirty="0">
              <a:effectLst/>
              <a:latin typeface="Bookman Old Style" panose="02050604050505020204" pitchFamily="18" charset="0"/>
              <a:ea typeface="Calibri" panose="020F0502020204030204" pitchFamily="34" charset="0"/>
              <a:cs typeface="Arial" panose="020B0604020202020204" pitchFamily="34" charset="0"/>
            </a:endParaRPr>
          </a:p>
          <a:p>
            <a:r>
              <a:rPr lang="en-IN" sz="2400" b="1" dirty="0">
                <a:solidFill>
                  <a:srgbClr val="002060"/>
                </a:solidFill>
                <a:effectLst/>
                <a:latin typeface="Bookman Old Style" panose="02050604050505020204" pitchFamily="18" charset="0"/>
                <a:ea typeface="Bookman Old Style" panose="02050604050505020204" pitchFamily="18" charset="0"/>
                <a:cs typeface="Arial" panose="020B0604020202020204" pitchFamily="34" charset="0"/>
              </a:rPr>
              <a:t>An integer literal can always be assigned to a long variable. </a:t>
            </a:r>
          </a:p>
          <a:p>
            <a:r>
              <a:rPr lang="en-IN" sz="2400" b="1" dirty="0">
                <a:solidFill>
                  <a:srgbClr val="FF0000"/>
                </a:solidFill>
                <a:effectLst/>
                <a:latin typeface="Bookman Old Style" panose="02050604050505020204" pitchFamily="18" charset="0"/>
                <a:ea typeface="Bookman Old Style" panose="02050604050505020204" pitchFamily="18" charset="0"/>
                <a:cs typeface="Arial" panose="020B0604020202020204" pitchFamily="34" charset="0"/>
              </a:rPr>
              <a:t>However, to specify a long literal, you will need to explicitly tell the compiler that the literal value is of type long. </a:t>
            </a:r>
          </a:p>
          <a:p>
            <a:r>
              <a:rPr lang="en-IN" sz="2400" b="1" dirty="0">
                <a:solidFill>
                  <a:srgbClr val="002060"/>
                </a:solidFill>
                <a:effectLst/>
                <a:latin typeface="Bookman Old Style" panose="02050604050505020204" pitchFamily="18" charset="0"/>
                <a:ea typeface="Bookman Old Style" panose="02050604050505020204" pitchFamily="18" charset="0"/>
                <a:cs typeface="Arial" panose="020B0604020202020204" pitchFamily="34" charset="0"/>
              </a:rPr>
              <a:t>You do this by appending an upper- or lowercase L to the literal. For example, 0x7ffffffffffffffL or 223372036854775807L is the largest long. An integer can also be assigned to a char as long as it is within range.</a:t>
            </a:r>
            <a:endParaRPr lang="en-IN" sz="2400" dirty="0">
              <a:solidFill>
                <a:srgbClr val="002060"/>
              </a:solidFill>
              <a:effectLst/>
              <a:latin typeface="Bookman Old Style" panose="02050604050505020204" pitchFamily="18" charset="0"/>
              <a:ea typeface="Calibri" panose="020F0502020204030204" pitchFamily="34" charset="0"/>
              <a:cs typeface="Arial" panose="020B0604020202020204" pitchFamily="34" charset="0"/>
            </a:endParaRPr>
          </a:p>
          <a:p>
            <a:r>
              <a:rPr lang="en-IN" sz="2400" b="1" i="1" dirty="0">
                <a:solidFill>
                  <a:schemeClr val="accent5">
                    <a:lumMod val="50000"/>
                  </a:schemeClr>
                </a:solidFill>
                <a:latin typeface="Comic Sans MS" panose="030F0702030302020204" pitchFamily="66" charset="0"/>
              </a:rPr>
              <a:t>Beginning with JDK 7, you can also specify integer literals using binary. To do so, prefix the value with 0b or 0B. For example, this specifies the decimal value 10 using a binary</a:t>
            </a:r>
          </a:p>
          <a:p>
            <a:r>
              <a:rPr lang="en-IN" sz="2400" b="1" dirty="0">
                <a:solidFill>
                  <a:srgbClr val="C00000"/>
                </a:solidFill>
                <a:latin typeface="Bookman Old Style" panose="02050604050505020204" pitchFamily="18" charset="0"/>
              </a:rPr>
              <a:t>literal: </a:t>
            </a:r>
          </a:p>
          <a:p>
            <a:r>
              <a:rPr lang="en-IN" sz="2400" b="1" dirty="0">
                <a:solidFill>
                  <a:srgbClr val="C00000"/>
                </a:solidFill>
                <a:latin typeface="Bookman Old Style" panose="02050604050505020204" pitchFamily="18" charset="0"/>
              </a:rPr>
              <a:t>int x = 0b1010;</a:t>
            </a:r>
          </a:p>
        </p:txBody>
      </p:sp>
    </p:spTree>
    <p:extLst>
      <p:ext uri="{BB962C8B-B14F-4D97-AF65-F5344CB8AC3E}">
        <p14:creationId xmlns:p14="http://schemas.microsoft.com/office/powerpoint/2010/main" val="2931043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B7F398-79F7-9EDB-0E48-8E91F5401EC5}"/>
              </a:ext>
            </a:extLst>
          </p:cNvPr>
          <p:cNvSpPr>
            <a:spLocks noGrp="1"/>
          </p:cNvSpPr>
          <p:nvPr>
            <p:ph idx="1"/>
          </p:nvPr>
        </p:nvSpPr>
        <p:spPr>
          <a:xfrm>
            <a:off x="1423686" y="555811"/>
            <a:ext cx="10080926" cy="5833413"/>
          </a:xfrm>
        </p:spPr>
        <p:txBody>
          <a:bodyPr>
            <a:normAutofit/>
          </a:bodyPr>
          <a:lstStyle/>
          <a:p>
            <a:pPr algn="just"/>
            <a:r>
              <a:rPr lang="en-IN" sz="2400" dirty="0">
                <a:latin typeface="Bookman Old Style" panose="02050604050505020204" pitchFamily="18" charset="0"/>
                <a:ea typeface="Bookman Old Style" panose="02050604050505020204" pitchFamily="18" charset="0"/>
                <a:cs typeface="Arial" panose="020B0604020202020204" pitchFamily="34" charset="0"/>
              </a:rPr>
              <a:t>Y</a:t>
            </a:r>
            <a:r>
              <a:rPr lang="en-IN" sz="2400" dirty="0">
                <a:effectLst/>
                <a:latin typeface="Bookman Old Style" panose="02050604050505020204" pitchFamily="18" charset="0"/>
                <a:ea typeface="Bookman Old Style" panose="02050604050505020204" pitchFamily="18" charset="0"/>
                <a:cs typeface="Arial" panose="020B0604020202020204" pitchFamily="34" charset="0"/>
              </a:rPr>
              <a:t>ou can embed one or more underscores in an integer literal. Doing so makes it easier to read large integer literals. When the literal is compiled, the underscores are discarded. For example, given</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400" dirty="0">
                <a:effectLst/>
                <a:latin typeface="Bookman Old Style" panose="02050604050505020204" pitchFamily="18" charset="0"/>
                <a:ea typeface="Bookman Old Style" panose="02050604050505020204" pitchFamily="18" charset="0"/>
                <a:cs typeface="Arial" panose="020B0604020202020204" pitchFamily="34" charset="0"/>
              </a:rPr>
              <a:t> int x = 123_456_789;</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400" dirty="0">
                <a:effectLst/>
                <a:latin typeface="Bookman Old Style" panose="02050604050505020204" pitchFamily="18" charset="0"/>
                <a:ea typeface="Bookman Old Style" panose="02050604050505020204" pitchFamily="18" charset="0"/>
                <a:cs typeface="Arial" panose="020B0604020202020204" pitchFamily="34" charset="0"/>
              </a:rPr>
              <a:t> the value given to x will be 123,456,789. The underscores will be ignored. </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400" dirty="0">
                <a:effectLst/>
                <a:latin typeface="Bookman Old Style" panose="02050604050505020204" pitchFamily="18" charset="0"/>
                <a:ea typeface="Bookman Old Style" panose="02050604050505020204" pitchFamily="18" charset="0"/>
                <a:cs typeface="Arial" panose="020B0604020202020204" pitchFamily="34" charset="0"/>
              </a:rPr>
              <a:t> Underscores can only be used to separate digits. They cannot come at the beginning or the end of a literal. It is, however, permissible for more than one underscore to be used between two digits. </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400" dirty="0">
                <a:effectLst/>
                <a:latin typeface="Bookman Old Style" panose="02050604050505020204" pitchFamily="18" charset="0"/>
                <a:ea typeface="Bookman Old Style" panose="02050604050505020204" pitchFamily="18" charset="0"/>
                <a:cs typeface="Arial" panose="020B0604020202020204" pitchFamily="34" charset="0"/>
              </a:rPr>
              <a:t>For example, this is valid:</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400" dirty="0">
                <a:effectLst/>
                <a:latin typeface="Bookman Old Style" panose="02050604050505020204" pitchFamily="18" charset="0"/>
                <a:ea typeface="Bookman Old Style" panose="02050604050505020204" pitchFamily="18" charset="0"/>
                <a:cs typeface="Arial" panose="020B0604020202020204" pitchFamily="34" charset="0"/>
              </a:rPr>
              <a:t>int x = 123___456___789;</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endParaRPr lang="en-IN" sz="2400" dirty="0"/>
          </a:p>
        </p:txBody>
      </p:sp>
    </p:spTree>
    <p:extLst>
      <p:ext uri="{BB962C8B-B14F-4D97-AF65-F5344CB8AC3E}">
        <p14:creationId xmlns:p14="http://schemas.microsoft.com/office/powerpoint/2010/main" val="1228198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1CCA7-DC68-47CB-8574-2054EA1BE849}"/>
              </a:ext>
            </a:extLst>
          </p:cNvPr>
          <p:cNvSpPr>
            <a:spLocks noGrp="1"/>
          </p:cNvSpPr>
          <p:nvPr>
            <p:ph type="title"/>
          </p:nvPr>
        </p:nvSpPr>
        <p:spPr/>
        <p:txBody>
          <a:bodyPr>
            <a:normAutofit/>
          </a:bodyPr>
          <a:lstStyle/>
          <a:p>
            <a:r>
              <a:rPr lang="en-IN" sz="3200" b="1" dirty="0">
                <a:effectLst/>
                <a:latin typeface="Bookman Old Style" panose="02050604050505020204" pitchFamily="18" charset="0"/>
                <a:ea typeface="Bookman Old Style" panose="02050604050505020204" pitchFamily="18" charset="0"/>
                <a:cs typeface="Arial" panose="020B0604020202020204" pitchFamily="34" charset="0"/>
              </a:rPr>
              <a:t>Floating-Point Literals</a:t>
            </a:r>
            <a:endParaRPr lang="en-IN" sz="5400" dirty="0"/>
          </a:p>
        </p:txBody>
      </p:sp>
      <p:sp>
        <p:nvSpPr>
          <p:cNvPr id="3" name="Content Placeholder 2">
            <a:extLst>
              <a:ext uri="{FF2B5EF4-FFF2-40B4-BE49-F238E27FC236}">
                <a16:creationId xmlns:a16="http://schemas.microsoft.com/office/drawing/2014/main" id="{16CDE821-9CFB-2F2E-51DC-03B55DA75276}"/>
              </a:ext>
            </a:extLst>
          </p:cNvPr>
          <p:cNvSpPr>
            <a:spLocks noGrp="1"/>
          </p:cNvSpPr>
          <p:nvPr>
            <p:ph idx="1"/>
          </p:nvPr>
        </p:nvSpPr>
        <p:spPr>
          <a:xfrm>
            <a:off x="1770927" y="1493134"/>
            <a:ext cx="9733685" cy="5364866"/>
          </a:xfrm>
        </p:spPr>
        <p:txBody>
          <a:bodyPr>
            <a:normAutofit fontScale="92500"/>
          </a:bodyPr>
          <a:lstStyle/>
          <a:p>
            <a:r>
              <a:rPr lang="en-IN" sz="2800" b="1" dirty="0">
                <a:effectLst/>
                <a:latin typeface="Bookman Old Style" panose="02050604050505020204" pitchFamily="18" charset="0"/>
                <a:ea typeface="Bookman Old Style" panose="02050604050505020204" pitchFamily="18" charset="0"/>
                <a:cs typeface="Arial" panose="020B0604020202020204" pitchFamily="34" charset="0"/>
              </a:rPr>
              <a:t>Scientific notation uses a standard-notation, floating-point number plus a suffix that specifies a power of 10 by which the number is to be multiplied. </a:t>
            </a:r>
          </a:p>
          <a:p>
            <a:r>
              <a:rPr lang="en-IN" sz="2800" b="1" dirty="0">
                <a:effectLst/>
                <a:latin typeface="Bookman Old Style" panose="02050604050505020204" pitchFamily="18" charset="0"/>
                <a:ea typeface="Bookman Old Style" panose="02050604050505020204" pitchFamily="18" charset="0"/>
                <a:cs typeface="Arial" panose="020B0604020202020204" pitchFamily="34" charset="0"/>
              </a:rPr>
              <a:t>The exponent is indicated by an E or e followed by a decimal number, which can be positive or negative. Examples include 6.022E23, 314159E–05, and 2e+100.</a:t>
            </a:r>
          </a:p>
          <a:p>
            <a:r>
              <a:rPr lang="en-IN" sz="2800" dirty="0">
                <a:effectLst/>
                <a:latin typeface="Bookman Old Style" panose="02050604050505020204" pitchFamily="18" charset="0"/>
                <a:ea typeface="Bookman Old Style" panose="02050604050505020204" pitchFamily="18" charset="0"/>
                <a:cs typeface="Arial" panose="020B0604020202020204" pitchFamily="34" charset="0"/>
              </a:rPr>
              <a:t>Floating-point literals in Java default to double precision. </a:t>
            </a:r>
          </a:p>
          <a:p>
            <a:r>
              <a:rPr lang="en-IN" sz="2800" dirty="0">
                <a:effectLst/>
                <a:latin typeface="Bookman Old Style" panose="02050604050505020204" pitchFamily="18" charset="0"/>
                <a:ea typeface="Bookman Old Style" panose="02050604050505020204" pitchFamily="18" charset="0"/>
                <a:cs typeface="Arial" panose="020B0604020202020204" pitchFamily="34" charset="0"/>
              </a:rPr>
              <a:t>To specify a float literal, you must append an F or f to the constant. You can also explicitly specify a double literal by appending a D or d. </a:t>
            </a:r>
            <a:endParaRPr lang="en-IN" sz="2800" dirty="0">
              <a:effectLst/>
              <a:latin typeface="Calibri" panose="020F0502020204030204" pitchFamily="34" charset="0"/>
              <a:ea typeface="Calibri" panose="020F0502020204030204" pitchFamily="34" charset="0"/>
              <a:cs typeface="Arial" panose="020B0604020202020204" pitchFamily="34" charset="0"/>
            </a:endParaRPr>
          </a:p>
          <a:p>
            <a:endParaRPr lang="en-IN" sz="2800" dirty="0">
              <a:effectLst/>
              <a:latin typeface="Calibri" panose="020F0502020204030204" pitchFamily="34" charset="0"/>
              <a:ea typeface="Calibri" panose="020F0502020204030204" pitchFamily="34" charset="0"/>
              <a:cs typeface="Arial" panose="020B0604020202020204" pitchFamily="34" charset="0"/>
            </a:endParaRPr>
          </a:p>
          <a:p>
            <a:endParaRPr lang="en-IN" sz="2800" dirty="0"/>
          </a:p>
        </p:txBody>
      </p:sp>
    </p:spTree>
    <p:extLst>
      <p:ext uri="{BB962C8B-B14F-4D97-AF65-F5344CB8AC3E}">
        <p14:creationId xmlns:p14="http://schemas.microsoft.com/office/powerpoint/2010/main" val="36159650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F4F53-FBAC-7AA7-3CD1-CCE89342C48F}"/>
              </a:ext>
            </a:extLst>
          </p:cNvPr>
          <p:cNvSpPr>
            <a:spLocks noGrp="1"/>
          </p:cNvSpPr>
          <p:nvPr>
            <p:ph type="title"/>
          </p:nvPr>
        </p:nvSpPr>
        <p:spPr/>
        <p:txBody>
          <a:bodyPr>
            <a:normAutofit/>
          </a:bodyPr>
          <a:lstStyle/>
          <a:p>
            <a:r>
              <a:rPr lang="en-IN" b="1" dirty="0">
                <a:effectLst/>
                <a:latin typeface="Bookman Old Style" panose="02050604050505020204" pitchFamily="18" charset="0"/>
                <a:ea typeface="Bookman Old Style" panose="02050604050505020204" pitchFamily="18" charset="0"/>
                <a:cs typeface="Arial" panose="020B0604020202020204" pitchFamily="34" charset="0"/>
              </a:rPr>
              <a:t>Character Literals</a:t>
            </a:r>
            <a:br>
              <a:rPr lang="en-IN" dirty="0">
                <a:effectLst/>
                <a:latin typeface="Calibri" panose="020F0502020204030204" pitchFamily="34" charset="0"/>
                <a:ea typeface="Calibri" panose="020F0502020204030204" pitchFamily="34" charset="0"/>
                <a:cs typeface="Arial" panose="020B0604020202020204" pitchFamily="34" charset="0"/>
              </a:rPr>
            </a:br>
            <a:r>
              <a:rPr lang="en-IN" dirty="0">
                <a:effectLst/>
                <a:latin typeface="Times New Roman" panose="02020603050405020304" pitchFamily="18" charset="0"/>
                <a:ea typeface="Times New Roman" panose="02020603050405020304" pitchFamily="18" charset="0"/>
                <a:cs typeface="Arial" panose="020B0604020202020204" pitchFamily="34" charset="0"/>
              </a:rPr>
              <a:t> </a:t>
            </a:r>
            <a:endParaRPr lang="en-IN" sz="6000" dirty="0"/>
          </a:p>
        </p:txBody>
      </p:sp>
      <p:sp>
        <p:nvSpPr>
          <p:cNvPr id="3" name="Content Placeholder 2">
            <a:extLst>
              <a:ext uri="{FF2B5EF4-FFF2-40B4-BE49-F238E27FC236}">
                <a16:creationId xmlns:a16="http://schemas.microsoft.com/office/drawing/2014/main" id="{89DA48F3-5C0C-0EB2-228B-8A3E96D9E449}"/>
              </a:ext>
            </a:extLst>
          </p:cNvPr>
          <p:cNvSpPr>
            <a:spLocks noGrp="1"/>
          </p:cNvSpPr>
          <p:nvPr>
            <p:ph idx="1"/>
          </p:nvPr>
        </p:nvSpPr>
        <p:spPr>
          <a:xfrm>
            <a:off x="1111170" y="1416424"/>
            <a:ext cx="11080830" cy="5441576"/>
          </a:xfrm>
        </p:spPr>
        <p:txBody>
          <a:bodyPr>
            <a:normAutofit fontScale="92500" lnSpcReduction="10000"/>
          </a:bodyPr>
          <a:lstStyle/>
          <a:p>
            <a:r>
              <a:rPr lang="en-IN" sz="2800" b="1" dirty="0"/>
              <a:t>Printable characters are represented by  single quotes ‘ ‘</a:t>
            </a:r>
          </a:p>
          <a:p>
            <a:r>
              <a:rPr lang="en-IN" sz="2800" b="1" dirty="0"/>
              <a:t>Non printable quotes are by using \</a:t>
            </a:r>
          </a:p>
          <a:p>
            <a:r>
              <a:rPr lang="en-IN" sz="2800" b="1" dirty="0">
                <a:effectLst/>
                <a:latin typeface="Bookman Old Style" panose="02050604050505020204" pitchFamily="18" charset="0"/>
                <a:ea typeface="Bookman Old Style" panose="02050604050505020204" pitchFamily="18" charset="0"/>
                <a:cs typeface="Arial" panose="020B0604020202020204" pitchFamily="34" charset="0"/>
              </a:rPr>
              <a:t>For octal notation, use the backslash followed by the three-digit number. For example, ‘\141’ is the letter ‘a’. </a:t>
            </a:r>
          </a:p>
          <a:p>
            <a:pPr algn="just"/>
            <a:r>
              <a:rPr lang="en-IN" sz="2800" b="1" dirty="0">
                <a:effectLst/>
                <a:latin typeface="Bookman Old Style" panose="02050604050505020204" pitchFamily="18" charset="0"/>
                <a:ea typeface="Bookman Old Style" panose="02050604050505020204" pitchFamily="18" charset="0"/>
                <a:cs typeface="Arial" panose="020B0604020202020204" pitchFamily="34" charset="0"/>
              </a:rPr>
              <a:t>\</a:t>
            </a:r>
            <a:r>
              <a:rPr lang="en-IN" sz="2800" b="1" dirty="0" err="1">
                <a:effectLst/>
                <a:latin typeface="Bookman Old Style" panose="02050604050505020204" pitchFamily="18" charset="0"/>
                <a:ea typeface="Bookman Old Style" panose="02050604050505020204" pitchFamily="18" charset="0"/>
                <a:cs typeface="Arial" panose="020B0604020202020204" pitchFamily="34" charset="0"/>
              </a:rPr>
              <a:t>ddd</a:t>
            </a:r>
            <a:r>
              <a:rPr lang="en-IN" sz="2800" b="1" dirty="0">
                <a:effectLst/>
                <a:latin typeface="Bookman Old Style" panose="02050604050505020204" pitchFamily="18" charset="0"/>
                <a:ea typeface="Bookman Old Style" panose="02050604050505020204" pitchFamily="18" charset="0"/>
                <a:cs typeface="Arial" panose="020B0604020202020204" pitchFamily="34" charset="0"/>
              </a:rPr>
              <a:t>	Octal character (</a:t>
            </a:r>
            <a:r>
              <a:rPr lang="en-IN" sz="2800" b="1" dirty="0" err="1">
                <a:effectLst/>
                <a:latin typeface="Bookman Old Style" panose="02050604050505020204" pitchFamily="18" charset="0"/>
                <a:ea typeface="Bookman Old Style" panose="02050604050505020204" pitchFamily="18" charset="0"/>
                <a:cs typeface="Arial" panose="020B0604020202020204" pitchFamily="34" charset="0"/>
              </a:rPr>
              <a:t>ddd</a:t>
            </a:r>
            <a:r>
              <a:rPr lang="en-IN" sz="2800" b="1" dirty="0">
                <a:effectLst/>
                <a:latin typeface="Bookman Old Style" panose="02050604050505020204" pitchFamily="18" charset="0"/>
                <a:ea typeface="Bookman Old Style" panose="02050604050505020204" pitchFamily="18" charset="0"/>
                <a:cs typeface="Arial" panose="020B0604020202020204" pitchFamily="34" charset="0"/>
              </a:rPr>
              <a:t>)</a:t>
            </a:r>
            <a:endParaRPr lang="en-IN" sz="2800" b="1"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800" b="1" dirty="0">
                <a:effectLst/>
                <a:latin typeface="Bookman Old Style" panose="02050604050505020204" pitchFamily="18" charset="0"/>
                <a:ea typeface="Bookman Old Style" panose="02050604050505020204" pitchFamily="18" charset="0"/>
                <a:cs typeface="Arial" panose="020B0604020202020204" pitchFamily="34" charset="0"/>
              </a:rPr>
              <a:t>\</a:t>
            </a:r>
            <a:r>
              <a:rPr lang="en-IN" sz="2800" b="1" dirty="0" err="1">
                <a:effectLst/>
                <a:latin typeface="Bookman Old Style" panose="02050604050505020204" pitchFamily="18" charset="0"/>
                <a:ea typeface="Bookman Old Style" panose="02050604050505020204" pitchFamily="18" charset="0"/>
                <a:cs typeface="Arial" panose="020B0604020202020204" pitchFamily="34" charset="0"/>
              </a:rPr>
              <a:t>uxxxx</a:t>
            </a:r>
            <a:r>
              <a:rPr lang="en-IN" sz="2800" b="1" dirty="0">
                <a:effectLst/>
                <a:latin typeface="Bookman Old Style" panose="02050604050505020204" pitchFamily="18" charset="0"/>
                <a:ea typeface="Bookman Old Style" panose="02050604050505020204" pitchFamily="18" charset="0"/>
                <a:cs typeface="Arial" panose="020B0604020202020204" pitchFamily="34" charset="0"/>
              </a:rPr>
              <a:t> Hexadecimal Unicode character (</a:t>
            </a:r>
            <a:r>
              <a:rPr lang="en-IN" sz="2800" b="1" dirty="0" err="1">
                <a:effectLst/>
                <a:latin typeface="Bookman Old Style" panose="02050604050505020204" pitchFamily="18" charset="0"/>
                <a:ea typeface="Bookman Old Style" panose="02050604050505020204" pitchFamily="18" charset="0"/>
                <a:cs typeface="Arial" panose="020B0604020202020204" pitchFamily="34" charset="0"/>
              </a:rPr>
              <a:t>xxxx</a:t>
            </a:r>
            <a:r>
              <a:rPr lang="en-IN" sz="2800" b="1" dirty="0">
                <a:effectLst/>
                <a:latin typeface="Bookman Old Style" panose="02050604050505020204" pitchFamily="18" charset="0"/>
                <a:ea typeface="Bookman Old Style" panose="02050604050505020204" pitchFamily="18" charset="0"/>
                <a:cs typeface="Arial" panose="020B0604020202020204" pitchFamily="34" charset="0"/>
              </a:rPr>
              <a:t>)</a:t>
            </a:r>
            <a:endParaRPr lang="en-IN" sz="2800" b="1"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800" b="1" dirty="0">
                <a:effectLst/>
                <a:latin typeface="Bookman Old Style" panose="02050604050505020204" pitchFamily="18" charset="0"/>
                <a:ea typeface="Bookman Old Style" panose="02050604050505020204" pitchFamily="18" charset="0"/>
                <a:cs typeface="Arial" panose="020B0604020202020204" pitchFamily="34" charset="0"/>
              </a:rPr>
              <a:t>\'  Single quote</a:t>
            </a:r>
            <a:endParaRPr lang="en-IN" sz="2800" b="1"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800" b="1" dirty="0">
                <a:effectLst/>
                <a:latin typeface="Bookman Old Style" panose="02050604050505020204" pitchFamily="18" charset="0"/>
                <a:ea typeface="Bookman Old Style" panose="02050604050505020204" pitchFamily="18" charset="0"/>
                <a:cs typeface="Arial" panose="020B0604020202020204" pitchFamily="34" charset="0"/>
              </a:rPr>
              <a:t>\" Double quote</a:t>
            </a:r>
            <a:endParaRPr lang="en-IN" sz="2800" b="1"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800" b="1" u="sng" dirty="0">
                <a:solidFill>
                  <a:srgbClr val="0563C1"/>
                </a:solidFill>
                <a:effectLst/>
                <a:latin typeface="Bookman Old Style" panose="02050604050505020204" pitchFamily="18" charset="0"/>
                <a:ea typeface="Bookman Old Style" panose="02050604050505020204" pitchFamily="18" charset="0"/>
                <a:cs typeface="Arial" panose="020B0604020202020204" pitchFamily="34" charset="0"/>
                <a:hlinkClick r:id="rId2"/>
              </a:rPr>
              <a:t>\\Backslash</a:t>
            </a:r>
            <a:endParaRPr lang="en-IN" sz="2800" b="1" dirty="0">
              <a:effectLst/>
              <a:latin typeface="Calibri" panose="020F0502020204030204" pitchFamily="34" charset="0"/>
              <a:ea typeface="Calibri" panose="020F0502020204030204" pitchFamily="34" charset="0"/>
              <a:cs typeface="Arial" panose="020B0604020202020204" pitchFamily="34" charset="0"/>
            </a:endParaRPr>
          </a:p>
          <a:p>
            <a:r>
              <a:rPr lang="en-IN" sz="2800" b="1" dirty="0">
                <a:effectLst/>
                <a:latin typeface="Bookman Old Style" panose="02050604050505020204" pitchFamily="18" charset="0"/>
                <a:ea typeface="Bookman Old Style" panose="02050604050505020204" pitchFamily="18" charset="0"/>
                <a:cs typeface="Arial" panose="020B0604020202020204" pitchFamily="34" charset="0"/>
              </a:rPr>
              <a:t>For example, ‘\u0061’is the ISO-Latin-1 ‘a’ because the top byte is zero. </a:t>
            </a:r>
            <a:endParaRPr lang="en-IN" sz="2800" b="1" dirty="0"/>
          </a:p>
          <a:p>
            <a:endParaRPr lang="en-IN" sz="2800" b="1" dirty="0"/>
          </a:p>
        </p:txBody>
      </p:sp>
    </p:spTree>
    <p:extLst>
      <p:ext uri="{BB962C8B-B14F-4D97-AF65-F5344CB8AC3E}">
        <p14:creationId xmlns:p14="http://schemas.microsoft.com/office/powerpoint/2010/main" val="3306103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411D4-F10D-6E1C-56CF-FE17B43CBAFE}"/>
              </a:ext>
            </a:extLst>
          </p:cNvPr>
          <p:cNvSpPr>
            <a:spLocks noGrp="1"/>
          </p:cNvSpPr>
          <p:nvPr>
            <p:ph type="title"/>
          </p:nvPr>
        </p:nvSpPr>
        <p:spPr/>
        <p:txBody>
          <a:bodyPr>
            <a:normAutofit/>
          </a:bodyPr>
          <a:lstStyle/>
          <a:p>
            <a:r>
              <a:rPr lang="en-IN" sz="2800" b="1" dirty="0">
                <a:effectLst/>
                <a:latin typeface="Bookman Old Style" panose="02050604050505020204" pitchFamily="18" charset="0"/>
                <a:ea typeface="Bookman Old Style" panose="02050604050505020204" pitchFamily="18" charset="0"/>
                <a:cs typeface="Arial" panose="020B0604020202020204" pitchFamily="34" charset="0"/>
              </a:rPr>
              <a:t>String Literals</a:t>
            </a:r>
            <a:endParaRPr lang="en-IN" sz="4800" dirty="0"/>
          </a:p>
        </p:txBody>
      </p:sp>
      <p:sp>
        <p:nvSpPr>
          <p:cNvPr id="3" name="Content Placeholder 2">
            <a:extLst>
              <a:ext uri="{FF2B5EF4-FFF2-40B4-BE49-F238E27FC236}">
                <a16:creationId xmlns:a16="http://schemas.microsoft.com/office/drawing/2014/main" id="{67B2349F-20EF-9BB6-1098-34E63862D4D8}"/>
              </a:ext>
            </a:extLst>
          </p:cNvPr>
          <p:cNvSpPr>
            <a:spLocks noGrp="1"/>
          </p:cNvSpPr>
          <p:nvPr>
            <p:ph idx="1"/>
          </p:nvPr>
        </p:nvSpPr>
        <p:spPr>
          <a:xfrm>
            <a:off x="949124" y="1568824"/>
            <a:ext cx="10555488" cy="5029200"/>
          </a:xfrm>
        </p:spPr>
        <p:txBody>
          <a:bodyPr>
            <a:normAutofit/>
          </a:bodyPr>
          <a:lstStyle/>
          <a:p>
            <a:pPr marR="12700" algn="just"/>
            <a:r>
              <a:rPr lang="en-IN" sz="2800" dirty="0">
                <a:effectLst/>
                <a:latin typeface="Bookman Old Style" panose="02050604050505020204" pitchFamily="18" charset="0"/>
                <a:ea typeface="Bookman Old Style" panose="02050604050505020204" pitchFamily="18" charset="0"/>
                <a:cs typeface="Arial" panose="020B0604020202020204" pitchFamily="34" charset="0"/>
              </a:rPr>
              <a:t>String literals in Java are specified like they are in most other languages—by enclosing a sequence of characters between a pair of double quotes. Examples of string literals are</a:t>
            </a:r>
            <a:endParaRPr lang="en-IN" sz="2800"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800" dirty="0">
                <a:effectLst/>
                <a:latin typeface="Times New Roman" panose="02020603050405020304" pitchFamily="18" charset="0"/>
                <a:ea typeface="Times New Roman" panose="02020603050405020304" pitchFamily="18" charset="0"/>
                <a:cs typeface="Arial" panose="020B0604020202020204" pitchFamily="34" charset="0"/>
              </a:rPr>
              <a:t> </a:t>
            </a:r>
            <a:r>
              <a:rPr lang="en-IN" sz="2800" dirty="0">
                <a:effectLst/>
                <a:latin typeface="Bookman Old Style" panose="02050604050505020204" pitchFamily="18" charset="0"/>
                <a:ea typeface="Bookman Old Style" panose="02050604050505020204" pitchFamily="18" charset="0"/>
                <a:cs typeface="Arial" panose="020B0604020202020204" pitchFamily="34" charset="0"/>
              </a:rPr>
              <a:t>“Hello World”</a:t>
            </a:r>
            <a:endParaRPr lang="en-IN" sz="2800"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800" dirty="0">
                <a:effectLst/>
                <a:latin typeface="Times New Roman" panose="02020603050405020304" pitchFamily="18" charset="0"/>
                <a:ea typeface="Times New Roman" panose="02020603050405020304" pitchFamily="18" charset="0"/>
                <a:cs typeface="Arial" panose="020B0604020202020204" pitchFamily="34" charset="0"/>
              </a:rPr>
              <a:t> </a:t>
            </a:r>
            <a:r>
              <a:rPr lang="en-IN" sz="2800" dirty="0">
                <a:effectLst/>
                <a:latin typeface="Bookman Old Style" panose="02050604050505020204" pitchFamily="18" charset="0"/>
                <a:ea typeface="Bookman Old Style" panose="02050604050505020204" pitchFamily="18" charset="0"/>
                <a:cs typeface="Arial" panose="020B0604020202020204" pitchFamily="34" charset="0"/>
              </a:rPr>
              <a:t>“two\</a:t>
            </a:r>
            <a:r>
              <a:rPr lang="en-IN" sz="2800" dirty="0" err="1">
                <a:effectLst/>
                <a:latin typeface="Bookman Old Style" panose="02050604050505020204" pitchFamily="18" charset="0"/>
                <a:ea typeface="Bookman Old Style" panose="02050604050505020204" pitchFamily="18" charset="0"/>
                <a:cs typeface="Arial" panose="020B0604020202020204" pitchFamily="34" charset="0"/>
              </a:rPr>
              <a:t>nlines</a:t>
            </a:r>
            <a:r>
              <a:rPr lang="en-IN" sz="2800" dirty="0">
                <a:effectLst/>
                <a:latin typeface="Bookman Old Style" panose="02050604050505020204" pitchFamily="18" charset="0"/>
                <a:ea typeface="Bookman Old Style" panose="02050604050505020204" pitchFamily="18" charset="0"/>
                <a:cs typeface="Arial" panose="020B0604020202020204" pitchFamily="34" charset="0"/>
              </a:rPr>
              <a:t>”</a:t>
            </a:r>
            <a:endParaRPr lang="en-IN" sz="2800" dirty="0">
              <a:effectLst/>
              <a:latin typeface="Calibri" panose="020F0502020204030204" pitchFamily="34" charset="0"/>
              <a:ea typeface="Calibri" panose="020F0502020204030204" pitchFamily="34" charset="0"/>
              <a:cs typeface="Arial" panose="020B0604020202020204" pitchFamily="34" charset="0"/>
            </a:endParaRPr>
          </a:p>
          <a:p>
            <a:r>
              <a:rPr lang="en-IN" sz="2800" b="1" dirty="0">
                <a:effectLst/>
                <a:latin typeface="Bookman Old Style" panose="02050604050505020204" pitchFamily="18" charset="0"/>
                <a:ea typeface="Bookman Old Style" panose="02050604050505020204" pitchFamily="18" charset="0"/>
                <a:cs typeface="Arial" panose="020B0604020202020204" pitchFamily="34" charset="0"/>
              </a:rPr>
              <a:t>One important thing to note about Java strings is that they must begin and end on the same line</a:t>
            </a:r>
            <a:r>
              <a:rPr lang="en-IN" sz="2800" dirty="0">
                <a:effectLst/>
                <a:latin typeface="Bookman Old Style" panose="02050604050505020204" pitchFamily="18" charset="0"/>
                <a:ea typeface="Bookman Old Style" panose="02050604050505020204" pitchFamily="18" charset="0"/>
                <a:cs typeface="Arial" panose="020B0604020202020204" pitchFamily="34" charset="0"/>
              </a:rPr>
              <a:t>. There is no line-continuation escape sequence as there is in some other languages.</a:t>
            </a:r>
            <a:endParaRPr lang="en-IN" sz="2800" dirty="0">
              <a:effectLst/>
              <a:latin typeface="Calibri" panose="020F0502020204030204" pitchFamily="34" charset="0"/>
              <a:ea typeface="Calibri" panose="020F0502020204030204" pitchFamily="34" charset="0"/>
              <a:cs typeface="Arial" panose="020B0604020202020204" pitchFamily="34" charset="0"/>
            </a:endParaRPr>
          </a:p>
          <a:p>
            <a:endParaRPr lang="en-IN" sz="2800" dirty="0"/>
          </a:p>
        </p:txBody>
      </p:sp>
    </p:spTree>
    <p:extLst>
      <p:ext uri="{BB962C8B-B14F-4D97-AF65-F5344CB8AC3E}">
        <p14:creationId xmlns:p14="http://schemas.microsoft.com/office/powerpoint/2010/main" val="260474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CF6275-28A1-57BB-5AF3-840395C11646}"/>
              </a:ext>
            </a:extLst>
          </p:cNvPr>
          <p:cNvSpPr>
            <a:spLocks noGrp="1"/>
          </p:cNvSpPr>
          <p:nvPr>
            <p:ph idx="1"/>
          </p:nvPr>
        </p:nvSpPr>
        <p:spPr>
          <a:xfrm>
            <a:off x="1851949" y="289367"/>
            <a:ext cx="9652663" cy="6568633"/>
          </a:xfrm>
        </p:spPr>
        <p:txBody>
          <a:bodyPr>
            <a:noAutofit/>
          </a:bodyPr>
          <a:lstStyle/>
          <a:p>
            <a:pPr marL="0" indent="0">
              <a:buNone/>
            </a:pPr>
            <a:r>
              <a:rPr lang="en-IN" sz="2400" b="1" dirty="0">
                <a:solidFill>
                  <a:srgbClr val="941EDF"/>
                </a:solidFill>
                <a:latin typeface="Courier New" panose="02070309020205020404" pitchFamily="49" charset="0"/>
              </a:rPr>
              <a:t>// Program to demonstrate the Octal Representation</a:t>
            </a:r>
          </a:p>
          <a:p>
            <a:pPr marL="0" indent="0">
              <a:buNone/>
            </a:pPr>
            <a:r>
              <a:rPr lang="en-IN" sz="2400" b="1" dirty="0">
                <a:solidFill>
                  <a:srgbClr val="941EDF"/>
                </a:solidFill>
                <a:latin typeface="Courier New" panose="02070309020205020404" pitchFamily="49" charset="0"/>
              </a:rPr>
              <a:t>public</a:t>
            </a:r>
            <a:r>
              <a:rPr lang="en-IN" sz="2400" b="1" dirty="0">
                <a:solidFill>
                  <a:srgbClr val="000000"/>
                </a:solidFill>
                <a:latin typeface="Courier New" panose="02070309020205020404" pitchFamily="49" charset="0"/>
              </a:rPr>
              <a:t> </a:t>
            </a:r>
            <a:r>
              <a:rPr lang="en-IN" sz="2400" b="1" dirty="0">
                <a:solidFill>
                  <a:srgbClr val="941EDF"/>
                </a:solidFill>
                <a:latin typeface="Courier New" panose="02070309020205020404" pitchFamily="49" charset="0"/>
              </a:rPr>
              <a:t>class</a:t>
            </a:r>
            <a:r>
              <a:rPr lang="en-IN" sz="2400" b="1" dirty="0">
                <a:solidFill>
                  <a:srgbClr val="000000"/>
                </a:solidFill>
                <a:latin typeface="Courier New" panose="02070309020205020404" pitchFamily="49" charset="0"/>
              </a:rPr>
              <a:t> </a:t>
            </a:r>
            <a:r>
              <a:rPr lang="en-IN" sz="2400" b="1" dirty="0" err="1">
                <a:solidFill>
                  <a:srgbClr val="000000"/>
                </a:solidFill>
                <a:latin typeface="Courier New" panose="02070309020205020404" pitchFamily="49" charset="0"/>
              </a:rPr>
              <a:t>DemoOctal</a:t>
            </a:r>
            <a:r>
              <a:rPr lang="en-IN" sz="2400" b="1" dirty="0">
                <a:solidFill>
                  <a:srgbClr val="000000"/>
                </a:solidFill>
                <a:latin typeface="Courier New" panose="02070309020205020404" pitchFamily="49" charset="0"/>
              </a:rPr>
              <a:t> {</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r>
              <a:rPr lang="en-IN" sz="2400" b="1" dirty="0">
                <a:solidFill>
                  <a:srgbClr val="941EDF"/>
                </a:solidFill>
                <a:latin typeface="Courier New" panose="02070309020205020404" pitchFamily="49" charset="0"/>
              </a:rPr>
              <a:t>public</a:t>
            </a:r>
            <a:r>
              <a:rPr lang="en-IN" sz="2400" b="1" dirty="0">
                <a:solidFill>
                  <a:srgbClr val="000000"/>
                </a:solidFill>
                <a:latin typeface="Courier New" panose="02070309020205020404" pitchFamily="49" charset="0"/>
              </a:rPr>
              <a:t> </a:t>
            </a:r>
            <a:r>
              <a:rPr lang="en-IN" sz="2400" b="1" dirty="0">
                <a:solidFill>
                  <a:srgbClr val="941EDF"/>
                </a:solidFill>
                <a:latin typeface="Courier New" panose="02070309020205020404" pitchFamily="49" charset="0"/>
              </a:rPr>
              <a:t>static</a:t>
            </a:r>
            <a:r>
              <a:rPr lang="en-IN" sz="2400" b="1" dirty="0">
                <a:solidFill>
                  <a:srgbClr val="000000"/>
                </a:solidFill>
                <a:latin typeface="Courier New" panose="02070309020205020404" pitchFamily="49" charset="0"/>
              </a:rPr>
              <a:t> </a:t>
            </a:r>
            <a:r>
              <a:rPr lang="en-IN" sz="2400" b="1" dirty="0">
                <a:solidFill>
                  <a:srgbClr val="941EDF"/>
                </a:solidFill>
                <a:latin typeface="Courier New" panose="02070309020205020404" pitchFamily="49" charset="0"/>
              </a:rPr>
              <a:t>void</a:t>
            </a:r>
            <a:r>
              <a:rPr lang="en-IN" sz="2400" b="1" dirty="0">
                <a:solidFill>
                  <a:srgbClr val="000000"/>
                </a:solidFill>
                <a:latin typeface="Courier New" panose="02070309020205020404" pitchFamily="49" charset="0"/>
              </a:rPr>
              <a:t> main(String []</a:t>
            </a:r>
            <a:r>
              <a:rPr lang="en-IN" sz="2400" b="1" dirty="0" err="1">
                <a:solidFill>
                  <a:srgbClr val="000000"/>
                </a:solidFill>
                <a:latin typeface="Courier New" panose="02070309020205020404" pitchFamily="49" charset="0"/>
              </a:rPr>
              <a:t>args</a:t>
            </a:r>
            <a:r>
              <a:rPr lang="en-IN" sz="2400" b="1" dirty="0">
                <a:solidFill>
                  <a:srgbClr val="000000"/>
                </a:solidFill>
                <a:latin typeface="Courier New" panose="02070309020205020404" pitchFamily="49" charset="0"/>
              </a:rPr>
              <a:t>) {</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r>
              <a:rPr lang="en-IN" sz="2400" b="1" dirty="0">
                <a:solidFill>
                  <a:srgbClr val="941EDF"/>
                </a:solidFill>
                <a:latin typeface="Courier New" panose="02070309020205020404" pitchFamily="49" charset="0"/>
              </a:rPr>
              <a:t>int</a:t>
            </a:r>
            <a:r>
              <a:rPr lang="en-IN" sz="2400" b="1" dirty="0">
                <a:solidFill>
                  <a:srgbClr val="000000"/>
                </a:solidFill>
                <a:latin typeface="Courier New" panose="02070309020205020404" pitchFamily="49" charset="0"/>
              </a:rPr>
              <a:t> myOctal_1 = 023; </a:t>
            </a:r>
          </a:p>
          <a:p>
            <a:pPr marL="0" indent="0">
              <a:buNone/>
            </a:pPr>
            <a:r>
              <a:rPr lang="en-IN" sz="2400" b="1" dirty="0">
                <a:solidFill>
                  <a:srgbClr val="000000"/>
                </a:solidFill>
                <a:latin typeface="Courier New" panose="02070309020205020404" pitchFamily="49" charset="0"/>
              </a:rPr>
              <a:t>         </a:t>
            </a:r>
            <a:r>
              <a:rPr lang="en-IN" sz="2400" b="1" dirty="0">
                <a:solidFill>
                  <a:srgbClr val="E65D00"/>
                </a:solidFill>
                <a:latin typeface="Courier New" panose="02070309020205020404" pitchFamily="49" charset="0"/>
              </a:rPr>
              <a:t>//</a:t>
            </a:r>
            <a:r>
              <a:rPr lang="en-IN" sz="2400" b="1" dirty="0" err="1">
                <a:solidFill>
                  <a:srgbClr val="E65D00"/>
                </a:solidFill>
                <a:latin typeface="Courier New" panose="02070309020205020404" pitchFamily="49" charset="0"/>
              </a:rPr>
              <a:t>otcal</a:t>
            </a:r>
            <a:r>
              <a:rPr lang="en-IN" sz="2400" b="1" dirty="0">
                <a:solidFill>
                  <a:srgbClr val="E65D00"/>
                </a:solidFill>
                <a:latin typeface="Courier New" panose="02070309020205020404" pitchFamily="49" charset="0"/>
              </a:rPr>
              <a:t> numbers are </a:t>
            </a:r>
            <a:r>
              <a:rPr lang="en-IN" sz="2400" b="1" dirty="0" err="1">
                <a:solidFill>
                  <a:srgbClr val="E65D00"/>
                </a:solidFill>
                <a:latin typeface="Courier New" panose="02070309020205020404" pitchFamily="49" charset="0"/>
              </a:rPr>
              <a:t>respresented</a:t>
            </a:r>
            <a:r>
              <a:rPr lang="en-IN" sz="2400" b="1" dirty="0">
                <a:solidFill>
                  <a:srgbClr val="E65D00"/>
                </a:solidFill>
                <a:latin typeface="Courier New" panose="02070309020205020404" pitchFamily="49" charset="0"/>
              </a:rPr>
              <a:t> with       </a:t>
            </a:r>
          </a:p>
          <a:p>
            <a:pPr marL="0" indent="0">
              <a:buNone/>
            </a:pPr>
            <a:r>
              <a:rPr lang="en-IN" sz="2400" b="1" dirty="0">
                <a:solidFill>
                  <a:srgbClr val="E65D00"/>
                </a:solidFill>
                <a:latin typeface="Courier New" panose="02070309020205020404" pitchFamily="49" charset="0"/>
              </a:rPr>
              <a:t>         //beginning 0</a:t>
            </a:r>
            <a:br>
              <a:rPr lang="en-IN" sz="2400" b="1" dirty="0">
                <a:solidFill>
                  <a:srgbClr val="E65D00"/>
                </a:solidFill>
                <a:latin typeface="Courier New" panose="02070309020205020404" pitchFamily="49" charset="0"/>
              </a:rPr>
            </a:br>
            <a:r>
              <a:rPr lang="en-IN" sz="2400" b="1" dirty="0">
                <a:solidFill>
                  <a:srgbClr val="000000"/>
                </a:solidFill>
                <a:latin typeface="Courier New" panose="02070309020205020404" pitchFamily="49" charset="0"/>
              </a:rPr>
              <a:t>      </a:t>
            </a:r>
            <a:r>
              <a:rPr lang="en-IN" sz="2400" b="1" dirty="0">
                <a:solidFill>
                  <a:srgbClr val="941EDF"/>
                </a:solidFill>
                <a:latin typeface="Courier New" panose="02070309020205020404" pitchFamily="49" charset="0"/>
              </a:rPr>
              <a:t>int</a:t>
            </a:r>
            <a:r>
              <a:rPr lang="en-IN" sz="2400" b="1" dirty="0">
                <a:solidFill>
                  <a:srgbClr val="000000"/>
                </a:solidFill>
                <a:latin typeface="Courier New" panose="02070309020205020404" pitchFamily="49" charset="0"/>
              </a:rPr>
              <a:t> myOctal_2 = 010;</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r>
              <a:rPr lang="en-IN" sz="2400" b="1" dirty="0" err="1">
                <a:solidFill>
                  <a:srgbClr val="000000"/>
                </a:solidFill>
                <a:latin typeface="Courier New" panose="02070309020205020404" pitchFamily="49" charset="0"/>
              </a:rPr>
              <a:t>System.out.println</a:t>
            </a:r>
            <a:r>
              <a:rPr lang="en-IN" sz="2400" b="1" dirty="0">
                <a:solidFill>
                  <a:srgbClr val="000000"/>
                </a:solidFill>
                <a:latin typeface="Courier New" panose="02070309020205020404" pitchFamily="49" charset="0"/>
              </a:rPr>
              <a:t>(myOctal_1);</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r>
              <a:rPr lang="en-IN" sz="2400" b="1" dirty="0" err="1">
                <a:solidFill>
                  <a:srgbClr val="000000"/>
                </a:solidFill>
                <a:latin typeface="Courier New" panose="02070309020205020404" pitchFamily="49" charset="0"/>
              </a:rPr>
              <a:t>System.out.println</a:t>
            </a:r>
            <a:r>
              <a:rPr lang="en-IN" sz="2400" b="1" dirty="0">
                <a:solidFill>
                  <a:srgbClr val="000000"/>
                </a:solidFill>
                <a:latin typeface="Courier New" panose="02070309020205020404" pitchFamily="49" charset="0"/>
              </a:rPr>
              <a:t>(myOctal_2);</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r>
              <a:rPr lang="en-IN" sz="2400" b="1" dirty="0">
                <a:solidFill>
                  <a:srgbClr val="941EDF"/>
                </a:solidFill>
                <a:latin typeface="Courier New" panose="02070309020205020404" pitchFamily="49" charset="0"/>
              </a:rPr>
              <a:t>int</a:t>
            </a:r>
            <a:r>
              <a:rPr lang="en-IN" sz="2400" b="1" dirty="0">
                <a:solidFill>
                  <a:srgbClr val="000000"/>
                </a:solidFill>
                <a:latin typeface="Courier New" panose="02070309020205020404" pitchFamily="49" charset="0"/>
              </a:rPr>
              <a:t> myOctal_3= myOctal_1+myOctal_2;</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r>
              <a:rPr lang="en-IN" sz="2400" b="1" dirty="0" err="1">
                <a:solidFill>
                  <a:srgbClr val="000000"/>
                </a:solidFill>
                <a:latin typeface="Courier New" panose="02070309020205020404" pitchFamily="49" charset="0"/>
              </a:rPr>
              <a:t>System.out.println</a:t>
            </a:r>
            <a:r>
              <a:rPr lang="en-IN" sz="2400" b="1" dirty="0">
                <a:solidFill>
                  <a:srgbClr val="000000"/>
                </a:solidFill>
                <a:latin typeface="Courier New" panose="02070309020205020404" pitchFamily="49" charset="0"/>
              </a:rPr>
              <a:t>(myOctal_3);</a:t>
            </a:r>
          </a:p>
          <a:p>
            <a:pPr marL="0" indent="0">
              <a:buNone/>
            </a:pPr>
            <a:r>
              <a:rPr lang="en-IN" sz="2400" b="1" dirty="0" err="1">
                <a:solidFill>
                  <a:srgbClr val="000000"/>
                </a:solidFill>
                <a:latin typeface="Courier New" panose="02070309020205020404" pitchFamily="49" charset="0"/>
              </a:rPr>
              <a:t>System.out.println</a:t>
            </a:r>
            <a:r>
              <a:rPr lang="en-IN" sz="2400" b="1" dirty="0">
                <a:solidFill>
                  <a:srgbClr val="000000"/>
                </a:solidFill>
                <a:latin typeface="Courier New" panose="02070309020205020404" pitchFamily="49" charset="0"/>
              </a:rPr>
              <a:t>(</a:t>
            </a:r>
            <a:r>
              <a:rPr lang="en-IN" sz="2400" b="1" dirty="0" err="1">
                <a:solidFill>
                  <a:srgbClr val="000000"/>
                </a:solidFill>
                <a:latin typeface="Courier New" panose="02070309020205020404" pitchFamily="49" charset="0"/>
              </a:rPr>
              <a:t>Integer.toOctalString</a:t>
            </a:r>
            <a:r>
              <a:rPr lang="en-IN" sz="2400" b="1" dirty="0">
                <a:solidFill>
                  <a:srgbClr val="000000"/>
                </a:solidFill>
                <a:latin typeface="Courier New" panose="02070309020205020404" pitchFamily="49" charset="0"/>
              </a:rPr>
              <a:t>(myOctal_3));     </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a:t>
            </a:r>
            <a:endParaRPr lang="en-IN" sz="2400" b="1" dirty="0"/>
          </a:p>
        </p:txBody>
      </p:sp>
    </p:spTree>
    <p:extLst>
      <p:ext uri="{BB962C8B-B14F-4D97-AF65-F5344CB8AC3E}">
        <p14:creationId xmlns:p14="http://schemas.microsoft.com/office/powerpoint/2010/main" val="3005052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EFDB56-5070-BB4E-9B6B-46D360D384CB}"/>
              </a:ext>
            </a:extLst>
          </p:cNvPr>
          <p:cNvSpPr>
            <a:spLocks noGrp="1"/>
          </p:cNvSpPr>
          <p:nvPr>
            <p:ph idx="1"/>
          </p:nvPr>
        </p:nvSpPr>
        <p:spPr>
          <a:xfrm>
            <a:off x="625033" y="1155122"/>
            <a:ext cx="12153417" cy="5911222"/>
          </a:xfrm>
        </p:spPr>
        <p:txBody>
          <a:bodyPr>
            <a:normAutofit fontScale="92500"/>
          </a:bodyPr>
          <a:lstStyle/>
          <a:p>
            <a:pPr marL="0" indent="0">
              <a:buNone/>
            </a:pPr>
            <a:r>
              <a:rPr lang="en-IN" sz="2800" b="1" dirty="0">
                <a:solidFill>
                  <a:srgbClr val="941EDF"/>
                </a:solidFill>
                <a:latin typeface="Courier New" panose="02070309020205020404" pitchFamily="49" charset="0"/>
              </a:rPr>
              <a:t>public</a:t>
            </a:r>
            <a:r>
              <a:rPr lang="en-IN" sz="2800" b="1" dirty="0">
                <a:solidFill>
                  <a:srgbClr val="000000"/>
                </a:solidFill>
                <a:latin typeface="Courier New" panose="02070309020205020404" pitchFamily="49" charset="0"/>
              </a:rPr>
              <a:t> </a:t>
            </a:r>
            <a:r>
              <a:rPr lang="en-IN" sz="2800" b="1" dirty="0">
                <a:solidFill>
                  <a:srgbClr val="941EDF"/>
                </a:solidFill>
                <a:latin typeface="Courier New" panose="02070309020205020404" pitchFamily="49" charset="0"/>
              </a:rPr>
              <a:t>class</a:t>
            </a:r>
            <a:r>
              <a:rPr lang="en-IN" sz="2800" b="1" dirty="0">
                <a:solidFill>
                  <a:srgbClr val="000000"/>
                </a:solidFill>
                <a:latin typeface="Courier New" panose="02070309020205020404" pitchFamily="49" charset="0"/>
              </a:rPr>
              <a:t> </a:t>
            </a:r>
            <a:r>
              <a:rPr lang="en-IN" sz="2800" b="1" dirty="0" err="1">
                <a:solidFill>
                  <a:srgbClr val="000000"/>
                </a:solidFill>
                <a:latin typeface="Courier New" panose="02070309020205020404" pitchFamily="49" charset="0"/>
              </a:rPr>
              <a:t>DemoHexadecimal</a:t>
            </a:r>
            <a:r>
              <a:rPr lang="en-IN" sz="2800" b="1" dirty="0">
                <a:solidFill>
                  <a:srgbClr val="000000"/>
                </a:solidFill>
                <a:latin typeface="Courier New" panose="02070309020205020404" pitchFamily="49" charset="0"/>
              </a:rPr>
              <a:t> {</a:t>
            </a:r>
            <a:br>
              <a:rPr lang="en-IN" sz="2800" b="1" dirty="0">
                <a:solidFill>
                  <a:srgbClr val="000000"/>
                </a:solidFill>
                <a:latin typeface="Courier New" panose="02070309020205020404" pitchFamily="49" charset="0"/>
              </a:rPr>
            </a:br>
            <a:r>
              <a:rPr lang="en-IN" sz="2800" b="1" dirty="0">
                <a:solidFill>
                  <a:srgbClr val="000000"/>
                </a:solidFill>
                <a:latin typeface="Courier New" panose="02070309020205020404" pitchFamily="49" charset="0"/>
              </a:rPr>
              <a:t>   </a:t>
            </a:r>
            <a:r>
              <a:rPr lang="en-IN" sz="2800" b="1" dirty="0">
                <a:solidFill>
                  <a:srgbClr val="941EDF"/>
                </a:solidFill>
                <a:latin typeface="Courier New" panose="02070309020205020404" pitchFamily="49" charset="0"/>
              </a:rPr>
              <a:t>public</a:t>
            </a:r>
            <a:r>
              <a:rPr lang="en-IN" sz="2800" b="1" dirty="0">
                <a:solidFill>
                  <a:srgbClr val="000000"/>
                </a:solidFill>
                <a:latin typeface="Courier New" panose="02070309020205020404" pitchFamily="49" charset="0"/>
              </a:rPr>
              <a:t> </a:t>
            </a:r>
            <a:r>
              <a:rPr lang="en-IN" sz="2800" b="1" dirty="0">
                <a:solidFill>
                  <a:srgbClr val="941EDF"/>
                </a:solidFill>
                <a:latin typeface="Courier New" panose="02070309020205020404" pitchFamily="49" charset="0"/>
              </a:rPr>
              <a:t>static</a:t>
            </a:r>
            <a:r>
              <a:rPr lang="en-IN" sz="2800" b="1" dirty="0">
                <a:solidFill>
                  <a:srgbClr val="000000"/>
                </a:solidFill>
                <a:latin typeface="Courier New" panose="02070309020205020404" pitchFamily="49" charset="0"/>
              </a:rPr>
              <a:t> </a:t>
            </a:r>
            <a:r>
              <a:rPr lang="en-IN" sz="2800" b="1" dirty="0">
                <a:solidFill>
                  <a:srgbClr val="941EDF"/>
                </a:solidFill>
                <a:latin typeface="Courier New" panose="02070309020205020404" pitchFamily="49" charset="0"/>
              </a:rPr>
              <a:t>void</a:t>
            </a:r>
            <a:r>
              <a:rPr lang="en-IN" sz="2800" b="1" dirty="0">
                <a:solidFill>
                  <a:srgbClr val="000000"/>
                </a:solidFill>
                <a:latin typeface="Courier New" panose="02070309020205020404" pitchFamily="49" charset="0"/>
              </a:rPr>
              <a:t> main(String []</a:t>
            </a:r>
            <a:r>
              <a:rPr lang="en-IN" sz="2800" b="1" dirty="0" err="1">
                <a:solidFill>
                  <a:srgbClr val="000000"/>
                </a:solidFill>
                <a:latin typeface="Courier New" panose="02070309020205020404" pitchFamily="49" charset="0"/>
              </a:rPr>
              <a:t>args</a:t>
            </a:r>
            <a:r>
              <a:rPr lang="en-IN" sz="2800" b="1" dirty="0">
                <a:solidFill>
                  <a:srgbClr val="000000"/>
                </a:solidFill>
                <a:latin typeface="Courier New" panose="02070309020205020404" pitchFamily="49" charset="0"/>
              </a:rPr>
              <a:t>) {</a:t>
            </a:r>
            <a:br>
              <a:rPr lang="en-IN" sz="2800" b="1" dirty="0">
                <a:solidFill>
                  <a:srgbClr val="000000"/>
                </a:solidFill>
                <a:latin typeface="Courier New" panose="02070309020205020404" pitchFamily="49" charset="0"/>
              </a:rPr>
            </a:br>
            <a:r>
              <a:rPr lang="en-IN" sz="2800" b="1" dirty="0">
                <a:solidFill>
                  <a:srgbClr val="000000"/>
                </a:solidFill>
                <a:latin typeface="Courier New" panose="02070309020205020404" pitchFamily="49" charset="0"/>
              </a:rPr>
              <a:t>      </a:t>
            </a:r>
            <a:r>
              <a:rPr lang="en-IN" sz="2800" b="1" dirty="0">
                <a:solidFill>
                  <a:srgbClr val="941EDF"/>
                </a:solidFill>
                <a:latin typeface="Courier New" panose="02070309020205020404" pitchFamily="49" charset="0"/>
              </a:rPr>
              <a:t>int</a:t>
            </a:r>
            <a:r>
              <a:rPr lang="en-IN" sz="2800" b="1" dirty="0">
                <a:solidFill>
                  <a:srgbClr val="000000"/>
                </a:solidFill>
                <a:latin typeface="Courier New" panose="02070309020205020404" pitchFamily="49" charset="0"/>
              </a:rPr>
              <a:t> one = 0X123;</a:t>
            </a:r>
            <a:br>
              <a:rPr lang="en-IN" sz="2800" b="1" dirty="0">
                <a:solidFill>
                  <a:srgbClr val="000000"/>
                </a:solidFill>
                <a:latin typeface="Courier New" panose="02070309020205020404" pitchFamily="49" charset="0"/>
              </a:rPr>
            </a:br>
            <a:r>
              <a:rPr lang="en-IN" sz="2800" b="1" dirty="0">
                <a:solidFill>
                  <a:srgbClr val="000000"/>
                </a:solidFill>
                <a:latin typeface="Courier New" panose="02070309020205020404" pitchFamily="49" charset="0"/>
              </a:rPr>
              <a:t>      </a:t>
            </a:r>
            <a:r>
              <a:rPr lang="en-IN" sz="2800" b="1" dirty="0">
                <a:solidFill>
                  <a:srgbClr val="941EDF"/>
                </a:solidFill>
                <a:latin typeface="Courier New" panose="02070309020205020404" pitchFamily="49" charset="0"/>
              </a:rPr>
              <a:t>int</a:t>
            </a:r>
            <a:r>
              <a:rPr lang="en-IN" sz="2800" b="1" dirty="0">
                <a:solidFill>
                  <a:srgbClr val="000000"/>
                </a:solidFill>
                <a:latin typeface="Courier New" panose="02070309020205020404" pitchFamily="49" charset="0"/>
              </a:rPr>
              <a:t> two = 0xABC;</a:t>
            </a:r>
            <a:br>
              <a:rPr lang="en-IN" sz="2800" b="1" dirty="0">
                <a:solidFill>
                  <a:srgbClr val="000000"/>
                </a:solidFill>
                <a:latin typeface="Courier New" panose="02070309020205020404" pitchFamily="49" charset="0"/>
              </a:rPr>
            </a:br>
            <a:r>
              <a:rPr lang="en-IN" sz="2800" b="1" dirty="0">
                <a:solidFill>
                  <a:srgbClr val="000000"/>
                </a:solidFill>
                <a:latin typeface="Courier New" panose="02070309020205020404" pitchFamily="49" charset="0"/>
              </a:rPr>
              <a:t>      </a:t>
            </a:r>
            <a:r>
              <a:rPr lang="en-IN" sz="2800" b="1" dirty="0" err="1">
                <a:solidFill>
                  <a:srgbClr val="000000"/>
                </a:solidFill>
                <a:latin typeface="Courier New" panose="02070309020205020404" pitchFamily="49" charset="0"/>
              </a:rPr>
              <a:t>System.out.println</a:t>
            </a:r>
            <a:r>
              <a:rPr lang="en-IN" sz="2800" b="1" dirty="0">
                <a:solidFill>
                  <a:srgbClr val="000000"/>
                </a:solidFill>
                <a:latin typeface="Courier New" panose="02070309020205020404" pitchFamily="49" charset="0"/>
              </a:rPr>
              <a:t>(</a:t>
            </a:r>
            <a:r>
              <a:rPr lang="en-IN" sz="2800" b="1" dirty="0">
                <a:solidFill>
                  <a:srgbClr val="00A000"/>
                </a:solidFill>
                <a:latin typeface="Courier New" panose="02070309020205020404" pitchFamily="49" charset="0"/>
              </a:rPr>
              <a:t>"Hex number1 is decimal: "</a:t>
            </a:r>
            <a:r>
              <a:rPr lang="en-IN" sz="2800" b="1" dirty="0">
                <a:solidFill>
                  <a:srgbClr val="000000"/>
                </a:solidFill>
                <a:latin typeface="Courier New" panose="02070309020205020404" pitchFamily="49" charset="0"/>
              </a:rPr>
              <a:t>+one);</a:t>
            </a:r>
            <a:br>
              <a:rPr lang="en-IN" sz="2800" b="1" dirty="0">
                <a:solidFill>
                  <a:srgbClr val="000000"/>
                </a:solidFill>
                <a:latin typeface="Courier New" panose="02070309020205020404" pitchFamily="49" charset="0"/>
              </a:rPr>
            </a:br>
            <a:r>
              <a:rPr lang="en-IN" sz="2800" b="1" dirty="0">
                <a:solidFill>
                  <a:srgbClr val="000000"/>
                </a:solidFill>
                <a:latin typeface="Courier New" panose="02070309020205020404" pitchFamily="49" charset="0"/>
              </a:rPr>
              <a:t>      </a:t>
            </a:r>
            <a:r>
              <a:rPr lang="en-IN" sz="2800" b="1" dirty="0" err="1">
                <a:solidFill>
                  <a:srgbClr val="000000"/>
                </a:solidFill>
                <a:latin typeface="Courier New" panose="02070309020205020404" pitchFamily="49" charset="0"/>
              </a:rPr>
              <a:t>System.out.println</a:t>
            </a:r>
            <a:r>
              <a:rPr lang="en-IN" sz="2800" b="1" dirty="0">
                <a:solidFill>
                  <a:srgbClr val="000000"/>
                </a:solidFill>
                <a:latin typeface="Courier New" panose="02070309020205020404" pitchFamily="49" charset="0"/>
              </a:rPr>
              <a:t>(</a:t>
            </a:r>
            <a:r>
              <a:rPr lang="en-IN" sz="2800" b="1" dirty="0">
                <a:solidFill>
                  <a:srgbClr val="00A000"/>
                </a:solidFill>
                <a:latin typeface="Courier New" panose="02070309020205020404" pitchFamily="49" charset="0"/>
              </a:rPr>
              <a:t>"Hex number2 is decimal: "</a:t>
            </a:r>
            <a:r>
              <a:rPr lang="en-IN" sz="2800" b="1" dirty="0">
                <a:solidFill>
                  <a:srgbClr val="000000"/>
                </a:solidFill>
                <a:latin typeface="Courier New" panose="02070309020205020404" pitchFamily="49" charset="0"/>
              </a:rPr>
              <a:t>+two);</a:t>
            </a:r>
            <a:br>
              <a:rPr lang="en-IN" sz="2800" b="1" dirty="0">
                <a:solidFill>
                  <a:srgbClr val="000000"/>
                </a:solidFill>
                <a:latin typeface="Courier New" panose="02070309020205020404" pitchFamily="49" charset="0"/>
              </a:rPr>
            </a:br>
            <a:r>
              <a:rPr lang="en-IN" sz="2800" b="1" dirty="0">
                <a:solidFill>
                  <a:srgbClr val="000000"/>
                </a:solidFill>
                <a:latin typeface="Courier New" panose="02070309020205020404" pitchFamily="49" charset="0"/>
              </a:rPr>
              <a:t>      </a:t>
            </a:r>
            <a:r>
              <a:rPr lang="en-IN" sz="2800" b="1" dirty="0">
                <a:solidFill>
                  <a:srgbClr val="941EDF"/>
                </a:solidFill>
                <a:latin typeface="Courier New" panose="02070309020205020404" pitchFamily="49" charset="0"/>
              </a:rPr>
              <a:t>int</a:t>
            </a:r>
            <a:r>
              <a:rPr lang="en-IN" sz="2800" b="1" dirty="0">
                <a:solidFill>
                  <a:srgbClr val="000000"/>
                </a:solidFill>
                <a:latin typeface="Courier New" panose="02070309020205020404" pitchFamily="49" charset="0"/>
              </a:rPr>
              <a:t> three=</a:t>
            </a:r>
            <a:r>
              <a:rPr lang="en-IN" sz="2800" b="1" dirty="0" err="1">
                <a:solidFill>
                  <a:srgbClr val="000000"/>
                </a:solidFill>
                <a:latin typeface="Courier New" panose="02070309020205020404" pitchFamily="49" charset="0"/>
              </a:rPr>
              <a:t>one+two</a:t>
            </a:r>
            <a:r>
              <a:rPr lang="en-IN" sz="2800" b="1" dirty="0">
                <a:solidFill>
                  <a:srgbClr val="000000"/>
                </a:solidFill>
                <a:latin typeface="Courier New" panose="02070309020205020404" pitchFamily="49" charset="0"/>
              </a:rPr>
              <a:t>;</a:t>
            </a:r>
            <a:br>
              <a:rPr lang="en-IN" sz="2800" b="1" dirty="0">
                <a:solidFill>
                  <a:srgbClr val="000000"/>
                </a:solidFill>
                <a:latin typeface="Courier New" panose="02070309020205020404" pitchFamily="49" charset="0"/>
              </a:rPr>
            </a:br>
            <a:r>
              <a:rPr lang="en-IN" sz="2800" b="1" dirty="0">
                <a:solidFill>
                  <a:srgbClr val="000000"/>
                </a:solidFill>
                <a:latin typeface="Courier New" panose="02070309020205020404" pitchFamily="49" charset="0"/>
              </a:rPr>
              <a:t>      </a:t>
            </a:r>
            <a:r>
              <a:rPr lang="en-IN" sz="2800" b="1" dirty="0" err="1">
                <a:solidFill>
                  <a:srgbClr val="000000"/>
                </a:solidFill>
                <a:latin typeface="Courier New" panose="02070309020205020404" pitchFamily="49" charset="0"/>
              </a:rPr>
              <a:t>System.out.println</a:t>
            </a:r>
            <a:r>
              <a:rPr lang="en-IN" sz="2800" b="1" dirty="0">
                <a:solidFill>
                  <a:srgbClr val="000000"/>
                </a:solidFill>
                <a:latin typeface="Courier New" panose="02070309020205020404" pitchFamily="49" charset="0"/>
              </a:rPr>
              <a:t>(</a:t>
            </a:r>
            <a:r>
              <a:rPr lang="en-IN" sz="2800" b="1" dirty="0">
                <a:solidFill>
                  <a:srgbClr val="00A000"/>
                </a:solidFill>
                <a:latin typeface="Courier New" panose="02070309020205020404" pitchFamily="49" charset="0"/>
              </a:rPr>
              <a:t>"Sum of 2 Hex in Deci: "</a:t>
            </a:r>
            <a:r>
              <a:rPr lang="en-IN" sz="2800" b="1" dirty="0">
                <a:solidFill>
                  <a:srgbClr val="000000"/>
                </a:solidFill>
                <a:latin typeface="Courier New" panose="02070309020205020404" pitchFamily="49" charset="0"/>
              </a:rPr>
              <a:t>+three);</a:t>
            </a:r>
            <a:br>
              <a:rPr lang="en-IN" sz="2800" b="1" dirty="0">
                <a:solidFill>
                  <a:srgbClr val="000000"/>
                </a:solidFill>
                <a:latin typeface="Courier New" panose="02070309020205020404" pitchFamily="49" charset="0"/>
              </a:rPr>
            </a:br>
            <a:r>
              <a:rPr lang="en-IN" sz="2800" b="1" dirty="0">
                <a:solidFill>
                  <a:srgbClr val="000000"/>
                </a:solidFill>
                <a:latin typeface="Courier New" panose="02070309020205020404" pitchFamily="49" charset="0"/>
              </a:rPr>
              <a:t>      </a:t>
            </a:r>
            <a:r>
              <a:rPr lang="en-IN" sz="2800" b="1" dirty="0" err="1">
                <a:solidFill>
                  <a:srgbClr val="000000"/>
                </a:solidFill>
                <a:latin typeface="Courier New" panose="02070309020205020404" pitchFamily="49" charset="0"/>
              </a:rPr>
              <a:t>System.out.println</a:t>
            </a:r>
            <a:r>
              <a:rPr lang="en-IN" sz="2800" b="1" dirty="0">
                <a:solidFill>
                  <a:srgbClr val="000000"/>
                </a:solidFill>
                <a:latin typeface="Courier New" panose="02070309020205020404" pitchFamily="49" charset="0"/>
              </a:rPr>
              <a:t>(</a:t>
            </a:r>
            <a:r>
              <a:rPr lang="en-IN" sz="2800" b="1" dirty="0">
                <a:solidFill>
                  <a:srgbClr val="00A000"/>
                </a:solidFill>
                <a:latin typeface="Courier New" panose="02070309020205020404" pitchFamily="49" charset="0"/>
              </a:rPr>
              <a:t>"Sum in Hex number</a:t>
            </a:r>
          </a:p>
          <a:p>
            <a:pPr marL="0" indent="0">
              <a:buNone/>
            </a:pPr>
            <a:r>
              <a:rPr lang="en-IN" sz="2800" b="1" dirty="0">
                <a:solidFill>
                  <a:srgbClr val="00A000"/>
                </a:solidFill>
                <a:latin typeface="Courier New" panose="02070309020205020404" pitchFamily="49" charset="0"/>
              </a:rPr>
              <a:t>									 "</a:t>
            </a:r>
            <a:r>
              <a:rPr lang="en-IN" sz="2800" b="1" dirty="0">
                <a:solidFill>
                  <a:srgbClr val="000000"/>
                </a:solidFill>
                <a:latin typeface="Courier New" panose="02070309020205020404" pitchFamily="49" charset="0"/>
              </a:rPr>
              <a:t>+</a:t>
            </a:r>
            <a:r>
              <a:rPr lang="en-IN" sz="2800" b="1" dirty="0" err="1">
                <a:solidFill>
                  <a:srgbClr val="000000"/>
                </a:solidFill>
                <a:latin typeface="Courier New" panose="02070309020205020404" pitchFamily="49" charset="0"/>
              </a:rPr>
              <a:t>Integer.toHexString</a:t>
            </a:r>
            <a:r>
              <a:rPr lang="en-IN" sz="2800" b="1" dirty="0">
                <a:solidFill>
                  <a:srgbClr val="000000"/>
                </a:solidFill>
                <a:latin typeface="Courier New" panose="02070309020205020404" pitchFamily="49" charset="0"/>
              </a:rPr>
              <a:t>(three));</a:t>
            </a:r>
            <a:br>
              <a:rPr lang="en-IN" sz="2800" b="1" dirty="0">
                <a:solidFill>
                  <a:srgbClr val="000000"/>
                </a:solidFill>
                <a:latin typeface="Courier New" panose="02070309020205020404" pitchFamily="49" charset="0"/>
              </a:rPr>
            </a:br>
            <a:r>
              <a:rPr lang="en-IN" sz="2800" b="1" dirty="0">
                <a:solidFill>
                  <a:srgbClr val="000000"/>
                </a:solidFill>
                <a:latin typeface="Courier New" panose="02070309020205020404" pitchFamily="49" charset="0"/>
              </a:rPr>
              <a:t>   }</a:t>
            </a:r>
            <a:br>
              <a:rPr lang="en-IN" sz="2800" b="1" dirty="0">
                <a:solidFill>
                  <a:srgbClr val="000000"/>
                </a:solidFill>
                <a:latin typeface="Courier New" panose="02070309020205020404" pitchFamily="49" charset="0"/>
              </a:rPr>
            </a:br>
            <a:r>
              <a:rPr lang="en-IN" sz="2800" b="1" dirty="0">
                <a:solidFill>
                  <a:srgbClr val="000000"/>
                </a:solidFill>
                <a:latin typeface="Courier New" panose="02070309020205020404" pitchFamily="49" charset="0"/>
              </a:rPr>
              <a:t>}</a:t>
            </a:r>
            <a:endParaRPr lang="en-IN" sz="2800" b="1" dirty="0"/>
          </a:p>
        </p:txBody>
      </p:sp>
    </p:spTree>
    <p:extLst>
      <p:ext uri="{BB962C8B-B14F-4D97-AF65-F5344CB8AC3E}">
        <p14:creationId xmlns:p14="http://schemas.microsoft.com/office/powerpoint/2010/main" val="2455859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1F5125-C844-DB92-9663-28F748514145}"/>
              </a:ext>
            </a:extLst>
          </p:cNvPr>
          <p:cNvSpPr>
            <a:spLocks noGrp="1"/>
          </p:cNvSpPr>
          <p:nvPr>
            <p:ph idx="1"/>
          </p:nvPr>
        </p:nvSpPr>
        <p:spPr>
          <a:xfrm>
            <a:off x="1689904" y="462987"/>
            <a:ext cx="9814708" cy="5544274"/>
          </a:xfrm>
        </p:spPr>
        <p:txBody>
          <a:bodyPr>
            <a:noAutofit/>
          </a:bodyPr>
          <a:lstStyle/>
          <a:p>
            <a:pPr marL="0" indent="0">
              <a:buNone/>
            </a:pPr>
            <a:r>
              <a:rPr lang="en-IN" sz="2300" b="1" dirty="0">
                <a:solidFill>
                  <a:srgbClr val="941EDF"/>
                </a:solidFill>
                <a:latin typeface="Courier New" panose="02070309020205020404" pitchFamily="49" charset="0"/>
              </a:rPr>
              <a:t>class</a:t>
            </a:r>
            <a:r>
              <a:rPr lang="en-IN" sz="2300" b="1" dirty="0">
                <a:solidFill>
                  <a:srgbClr val="000000"/>
                </a:solidFill>
                <a:latin typeface="Courier New" panose="02070309020205020404" pitchFamily="49" charset="0"/>
              </a:rPr>
              <a:t> </a:t>
            </a:r>
            <a:r>
              <a:rPr lang="en-IN" sz="2300" b="1" dirty="0" err="1">
                <a:solidFill>
                  <a:srgbClr val="000000"/>
                </a:solidFill>
                <a:latin typeface="Courier New" panose="02070309020205020404" pitchFamily="49" charset="0"/>
              </a:rPr>
              <a:t>special_integers</a:t>
            </a:r>
            <a:br>
              <a:rPr lang="en-IN" sz="2300" b="1" dirty="0">
                <a:solidFill>
                  <a:srgbClr val="000000"/>
                </a:solidFill>
                <a:latin typeface="Courier New" panose="02070309020205020404" pitchFamily="49" charset="0"/>
              </a:rPr>
            </a:br>
            <a:r>
              <a:rPr lang="en-IN" sz="2300" b="1" dirty="0">
                <a:solidFill>
                  <a:srgbClr val="000000"/>
                </a:solidFill>
                <a:latin typeface="Courier New" panose="02070309020205020404" pitchFamily="49" charset="0"/>
              </a:rPr>
              <a:t>{    </a:t>
            </a:r>
            <a:r>
              <a:rPr lang="en-IN" sz="2300" b="1" dirty="0">
                <a:solidFill>
                  <a:srgbClr val="941EDF"/>
                </a:solidFill>
                <a:latin typeface="Courier New" panose="02070309020205020404" pitchFamily="49" charset="0"/>
              </a:rPr>
              <a:t>public</a:t>
            </a:r>
            <a:r>
              <a:rPr lang="en-IN" sz="2300" b="1" dirty="0">
                <a:solidFill>
                  <a:srgbClr val="000000"/>
                </a:solidFill>
                <a:latin typeface="Courier New" panose="02070309020205020404" pitchFamily="49" charset="0"/>
              </a:rPr>
              <a:t> </a:t>
            </a:r>
            <a:r>
              <a:rPr lang="en-IN" sz="2300" b="1" dirty="0">
                <a:solidFill>
                  <a:srgbClr val="941EDF"/>
                </a:solidFill>
                <a:latin typeface="Courier New" panose="02070309020205020404" pitchFamily="49" charset="0"/>
              </a:rPr>
              <a:t>static</a:t>
            </a:r>
            <a:r>
              <a:rPr lang="en-IN" sz="2300" b="1" dirty="0">
                <a:solidFill>
                  <a:srgbClr val="000000"/>
                </a:solidFill>
                <a:latin typeface="Courier New" panose="02070309020205020404" pitchFamily="49" charset="0"/>
              </a:rPr>
              <a:t> </a:t>
            </a:r>
            <a:r>
              <a:rPr lang="en-IN" sz="2300" b="1" dirty="0">
                <a:solidFill>
                  <a:srgbClr val="941EDF"/>
                </a:solidFill>
                <a:latin typeface="Courier New" panose="02070309020205020404" pitchFamily="49" charset="0"/>
              </a:rPr>
              <a:t>void</a:t>
            </a:r>
            <a:r>
              <a:rPr lang="en-IN" sz="2300" b="1" dirty="0">
                <a:solidFill>
                  <a:srgbClr val="000000"/>
                </a:solidFill>
                <a:latin typeface="Courier New" panose="02070309020205020404" pitchFamily="49" charset="0"/>
              </a:rPr>
              <a:t> main(String[] </a:t>
            </a:r>
            <a:r>
              <a:rPr lang="en-IN" sz="2300" b="1" dirty="0" err="1">
                <a:solidFill>
                  <a:srgbClr val="000000"/>
                </a:solidFill>
                <a:latin typeface="Courier New" panose="02070309020205020404" pitchFamily="49" charset="0"/>
              </a:rPr>
              <a:t>args</a:t>
            </a:r>
            <a:r>
              <a:rPr lang="en-IN" sz="2300" b="1" dirty="0">
                <a:solidFill>
                  <a:srgbClr val="000000"/>
                </a:solidFill>
                <a:latin typeface="Courier New" panose="02070309020205020404" pitchFamily="49" charset="0"/>
              </a:rPr>
              <a:t>) </a:t>
            </a:r>
            <a:br>
              <a:rPr lang="en-IN" sz="2300" b="1" dirty="0">
                <a:solidFill>
                  <a:srgbClr val="000000"/>
                </a:solidFill>
                <a:latin typeface="Courier New" panose="02070309020205020404" pitchFamily="49" charset="0"/>
              </a:rPr>
            </a:br>
            <a:r>
              <a:rPr lang="en-IN" sz="2300" b="1" dirty="0">
                <a:solidFill>
                  <a:srgbClr val="000000"/>
                </a:solidFill>
                <a:latin typeface="Courier New" panose="02070309020205020404" pitchFamily="49" charset="0"/>
              </a:rPr>
              <a:t>     {</a:t>
            </a:r>
            <a:br>
              <a:rPr lang="en-IN" sz="2300" b="1" dirty="0">
                <a:solidFill>
                  <a:srgbClr val="000000"/>
                </a:solidFill>
                <a:latin typeface="Courier New" panose="02070309020205020404" pitchFamily="49" charset="0"/>
              </a:rPr>
            </a:br>
            <a:r>
              <a:rPr lang="en-IN" sz="2300" b="1" dirty="0">
                <a:solidFill>
                  <a:srgbClr val="000000"/>
                </a:solidFill>
                <a:latin typeface="Courier New" panose="02070309020205020404" pitchFamily="49" charset="0"/>
              </a:rPr>
              <a:t>         </a:t>
            </a:r>
            <a:r>
              <a:rPr lang="en-IN" sz="2300" b="1" dirty="0">
                <a:solidFill>
                  <a:srgbClr val="941EDF"/>
                </a:solidFill>
                <a:latin typeface="Courier New" panose="02070309020205020404" pitchFamily="49" charset="0"/>
              </a:rPr>
              <a:t>int</a:t>
            </a:r>
            <a:r>
              <a:rPr lang="en-IN" sz="2300" b="1" dirty="0">
                <a:solidFill>
                  <a:srgbClr val="000000"/>
                </a:solidFill>
                <a:latin typeface="Courier New" panose="02070309020205020404" pitchFamily="49" charset="0"/>
              </a:rPr>
              <a:t> x = 123_456_789;</a:t>
            </a:r>
            <a:br>
              <a:rPr lang="en-IN" sz="2300" b="1" dirty="0">
                <a:solidFill>
                  <a:srgbClr val="000000"/>
                </a:solidFill>
                <a:latin typeface="Courier New" panose="02070309020205020404" pitchFamily="49" charset="0"/>
              </a:rPr>
            </a:br>
            <a:r>
              <a:rPr lang="en-IN" sz="2300" b="1" dirty="0">
                <a:solidFill>
                  <a:srgbClr val="000000"/>
                </a:solidFill>
                <a:latin typeface="Courier New" panose="02070309020205020404" pitchFamily="49" charset="0"/>
              </a:rPr>
              <a:t>         </a:t>
            </a:r>
            <a:r>
              <a:rPr lang="en-IN" sz="2300" b="1" dirty="0" err="1">
                <a:solidFill>
                  <a:srgbClr val="000000"/>
                </a:solidFill>
                <a:latin typeface="Courier New" panose="02070309020205020404" pitchFamily="49" charset="0"/>
              </a:rPr>
              <a:t>System.out.println</a:t>
            </a:r>
            <a:r>
              <a:rPr lang="en-IN" sz="2300" b="1" dirty="0">
                <a:solidFill>
                  <a:srgbClr val="000000"/>
                </a:solidFill>
                <a:latin typeface="Courier New" panose="02070309020205020404" pitchFamily="49" charset="0"/>
              </a:rPr>
              <a:t>(</a:t>
            </a:r>
            <a:r>
              <a:rPr lang="en-IN" sz="2300" b="1" dirty="0">
                <a:solidFill>
                  <a:srgbClr val="00A000"/>
                </a:solidFill>
                <a:latin typeface="Courier New" panose="02070309020205020404" pitchFamily="49" charset="0"/>
              </a:rPr>
              <a:t>" x="</a:t>
            </a:r>
            <a:r>
              <a:rPr lang="en-IN" sz="2300" b="1" dirty="0">
                <a:solidFill>
                  <a:srgbClr val="000000"/>
                </a:solidFill>
                <a:latin typeface="Courier New" panose="02070309020205020404" pitchFamily="49" charset="0"/>
              </a:rPr>
              <a:t>+x);</a:t>
            </a:r>
            <a:br>
              <a:rPr lang="en-IN" sz="2300" b="1" dirty="0">
                <a:solidFill>
                  <a:srgbClr val="000000"/>
                </a:solidFill>
                <a:latin typeface="Courier New" panose="02070309020205020404" pitchFamily="49" charset="0"/>
              </a:rPr>
            </a:br>
            <a:r>
              <a:rPr lang="en-IN" sz="2300" b="1" dirty="0">
                <a:solidFill>
                  <a:srgbClr val="000000"/>
                </a:solidFill>
                <a:latin typeface="Courier New" panose="02070309020205020404" pitchFamily="49" charset="0"/>
              </a:rPr>
              <a:t>         </a:t>
            </a:r>
            <a:br>
              <a:rPr lang="en-IN" sz="2300" b="1" dirty="0">
                <a:solidFill>
                  <a:srgbClr val="000000"/>
                </a:solidFill>
                <a:latin typeface="Courier New" panose="02070309020205020404" pitchFamily="49" charset="0"/>
              </a:rPr>
            </a:br>
            <a:r>
              <a:rPr lang="en-IN" sz="2300" b="1" dirty="0">
                <a:solidFill>
                  <a:srgbClr val="000000"/>
                </a:solidFill>
                <a:latin typeface="Courier New" panose="02070309020205020404" pitchFamily="49" charset="0"/>
              </a:rPr>
              <a:t>         </a:t>
            </a:r>
            <a:r>
              <a:rPr lang="en-IN" sz="2300" b="1" dirty="0">
                <a:solidFill>
                  <a:srgbClr val="941EDF"/>
                </a:solidFill>
                <a:latin typeface="Courier New" panose="02070309020205020404" pitchFamily="49" charset="0"/>
              </a:rPr>
              <a:t>int</a:t>
            </a:r>
            <a:r>
              <a:rPr lang="en-IN" sz="2300" b="1" dirty="0">
                <a:solidFill>
                  <a:srgbClr val="000000"/>
                </a:solidFill>
                <a:latin typeface="Courier New" panose="02070309020205020404" pitchFamily="49" charset="0"/>
              </a:rPr>
              <a:t> B = 0b1010;</a:t>
            </a:r>
            <a:br>
              <a:rPr lang="en-IN" sz="2300" b="1" dirty="0">
                <a:solidFill>
                  <a:srgbClr val="000000"/>
                </a:solidFill>
                <a:latin typeface="Courier New" panose="02070309020205020404" pitchFamily="49" charset="0"/>
              </a:rPr>
            </a:br>
            <a:r>
              <a:rPr lang="en-IN" sz="2300" b="1" dirty="0">
                <a:solidFill>
                  <a:srgbClr val="000000"/>
                </a:solidFill>
                <a:latin typeface="Courier New" panose="02070309020205020404" pitchFamily="49" charset="0"/>
              </a:rPr>
              <a:t>         </a:t>
            </a:r>
            <a:r>
              <a:rPr lang="en-IN" sz="2300" b="1" dirty="0">
                <a:solidFill>
                  <a:srgbClr val="941EDF"/>
                </a:solidFill>
                <a:latin typeface="Courier New" panose="02070309020205020404" pitchFamily="49" charset="0"/>
              </a:rPr>
              <a:t>int</a:t>
            </a:r>
            <a:r>
              <a:rPr lang="en-IN" sz="2300" b="1" dirty="0">
                <a:solidFill>
                  <a:srgbClr val="000000"/>
                </a:solidFill>
                <a:latin typeface="Courier New" panose="02070309020205020404" pitchFamily="49" charset="0"/>
              </a:rPr>
              <a:t> </a:t>
            </a:r>
            <a:r>
              <a:rPr lang="en-IN" sz="2300" b="1" dirty="0" err="1">
                <a:solidFill>
                  <a:srgbClr val="000000"/>
                </a:solidFill>
                <a:latin typeface="Courier New" panose="02070309020205020404" pitchFamily="49" charset="0"/>
              </a:rPr>
              <a:t>xy</a:t>
            </a:r>
            <a:r>
              <a:rPr lang="en-IN" sz="2300" b="1" dirty="0">
                <a:solidFill>
                  <a:srgbClr val="000000"/>
                </a:solidFill>
                <a:latin typeface="Courier New" panose="02070309020205020404" pitchFamily="49" charset="0"/>
              </a:rPr>
              <a:t> = 123___456___789;</a:t>
            </a:r>
            <a:br>
              <a:rPr lang="en-IN" sz="2300" b="1" dirty="0">
                <a:solidFill>
                  <a:srgbClr val="000000"/>
                </a:solidFill>
                <a:latin typeface="Courier New" panose="02070309020205020404" pitchFamily="49" charset="0"/>
              </a:rPr>
            </a:br>
            <a:r>
              <a:rPr lang="en-IN" sz="2300" b="1" dirty="0">
                <a:solidFill>
                  <a:srgbClr val="000000"/>
                </a:solidFill>
                <a:latin typeface="Courier New" panose="02070309020205020404" pitchFamily="49" charset="0"/>
              </a:rPr>
              <a:t>         </a:t>
            </a:r>
            <a:r>
              <a:rPr lang="en-IN" sz="2300" b="1" dirty="0" err="1">
                <a:solidFill>
                  <a:srgbClr val="000000"/>
                </a:solidFill>
                <a:latin typeface="Courier New" panose="02070309020205020404" pitchFamily="49" charset="0"/>
              </a:rPr>
              <a:t>System.out.println</a:t>
            </a:r>
            <a:r>
              <a:rPr lang="en-IN" sz="2300" b="1" dirty="0">
                <a:solidFill>
                  <a:srgbClr val="000000"/>
                </a:solidFill>
                <a:latin typeface="Courier New" panose="02070309020205020404" pitchFamily="49" charset="0"/>
              </a:rPr>
              <a:t>(</a:t>
            </a:r>
            <a:r>
              <a:rPr lang="en-IN" sz="2300" b="1" dirty="0">
                <a:solidFill>
                  <a:srgbClr val="00A000"/>
                </a:solidFill>
                <a:latin typeface="Courier New" panose="02070309020205020404" pitchFamily="49" charset="0"/>
              </a:rPr>
              <a:t>" </a:t>
            </a:r>
            <a:r>
              <a:rPr lang="en-IN" sz="2300" b="1" dirty="0" err="1">
                <a:solidFill>
                  <a:srgbClr val="00A000"/>
                </a:solidFill>
                <a:latin typeface="Courier New" panose="02070309020205020404" pitchFamily="49" charset="0"/>
              </a:rPr>
              <a:t>xy</a:t>
            </a:r>
            <a:r>
              <a:rPr lang="en-IN" sz="2300" b="1" dirty="0">
                <a:solidFill>
                  <a:srgbClr val="00A000"/>
                </a:solidFill>
                <a:latin typeface="Courier New" panose="02070309020205020404" pitchFamily="49" charset="0"/>
              </a:rPr>
              <a:t>="</a:t>
            </a:r>
            <a:r>
              <a:rPr lang="en-IN" sz="2300" b="1" dirty="0">
                <a:solidFill>
                  <a:srgbClr val="000000"/>
                </a:solidFill>
                <a:latin typeface="Courier New" panose="02070309020205020404" pitchFamily="49" charset="0"/>
              </a:rPr>
              <a:t>+</a:t>
            </a:r>
            <a:r>
              <a:rPr lang="en-IN" sz="2300" b="1" dirty="0" err="1">
                <a:solidFill>
                  <a:srgbClr val="000000"/>
                </a:solidFill>
                <a:latin typeface="Courier New" panose="02070309020205020404" pitchFamily="49" charset="0"/>
              </a:rPr>
              <a:t>xy</a:t>
            </a:r>
            <a:r>
              <a:rPr lang="en-IN" sz="2300" b="1" dirty="0">
                <a:solidFill>
                  <a:srgbClr val="000000"/>
                </a:solidFill>
                <a:latin typeface="Courier New" panose="02070309020205020404" pitchFamily="49" charset="0"/>
              </a:rPr>
              <a:t>);</a:t>
            </a:r>
            <a:br>
              <a:rPr lang="en-IN" sz="2300" b="1" dirty="0">
                <a:solidFill>
                  <a:srgbClr val="000000"/>
                </a:solidFill>
                <a:latin typeface="Courier New" panose="02070309020205020404" pitchFamily="49" charset="0"/>
              </a:rPr>
            </a:br>
            <a:br>
              <a:rPr lang="en-IN" sz="2300" b="1" dirty="0">
                <a:solidFill>
                  <a:srgbClr val="000000"/>
                </a:solidFill>
                <a:latin typeface="Courier New" panose="02070309020205020404" pitchFamily="49" charset="0"/>
              </a:rPr>
            </a:br>
            <a:r>
              <a:rPr lang="en-IN" sz="2300" b="1" dirty="0">
                <a:solidFill>
                  <a:srgbClr val="000000"/>
                </a:solidFill>
                <a:latin typeface="Courier New" panose="02070309020205020404" pitchFamily="49" charset="0"/>
              </a:rPr>
              <a:t>         </a:t>
            </a:r>
            <a:r>
              <a:rPr lang="en-IN" sz="2300" b="1" dirty="0">
                <a:solidFill>
                  <a:srgbClr val="941EDF"/>
                </a:solidFill>
                <a:latin typeface="Courier New" panose="02070309020205020404" pitchFamily="49" charset="0"/>
              </a:rPr>
              <a:t>double</a:t>
            </a:r>
            <a:r>
              <a:rPr lang="en-IN" sz="2300" b="1" dirty="0">
                <a:solidFill>
                  <a:srgbClr val="000000"/>
                </a:solidFill>
                <a:latin typeface="Courier New" panose="02070309020205020404" pitchFamily="49" charset="0"/>
              </a:rPr>
              <a:t> num1 = 9_423_497_862.0;</a:t>
            </a:r>
            <a:br>
              <a:rPr lang="en-IN" sz="2300" b="1" dirty="0">
                <a:solidFill>
                  <a:srgbClr val="000000"/>
                </a:solidFill>
                <a:latin typeface="Courier New" panose="02070309020205020404" pitchFamily="49" charset="0"/>
              </a:rPr>
            </a:br>
            <a:r>
              <a:rPr lang="en-IN" sz="2300" b="1" dirty="0">
                <a:solidFill>
                  <a:srgbClr val="000000"/>
                </a:solidFill>
                <a:latin typeface="Courier New" panose="02070309020205020404" pitchFamily="49" charset="0"/>
              </a:rPr>
              <a:t>         </a:t>
            </a:r>
            <a:r>
              <a:rPr lang="en-IN" sz="2300" b="1" dirty="0" err="1">
                <a:solidFill>
                  <a:srgbClr val="000000"/>
                </a:solidFill>
                <a:latin typeface="Courier New" panose="02070309020205020404" pitchFamily="49" charset="0"/>
              </a:rPr>
              <a:t>System.out.println</a:t>
            </a:r>
            <a:r>
              <a:rPr lang="en-IN" sz="2300" b="1" dirty="0">
                <a:solidFill>
                  <a:srgbClr val="000000"/>
                </a:solidFill>
                <a:latin typeface="Courier New" panose="02070309020205020404" pitchFamily="49" charset="0"/>
              </a:rPr>
              <a:t>(</a:t>
            </a:r>
            <a:r>
              <a:rPr lang="en-IN" sz="2300" b="1" dirty="0">
                <a:solidFill>
                  <a:srgbClr val="00A000"/>
                </a:solidFill>
                <a:latin typeface="Courier New" panose="02070309020205020404" pitchFamily="49" charset="0"/>
              </a:rPr>
              <a:t>" Double num1="</a:t>
            </a:r>
            <a:r>
              <a:rPr lang="en-IN" sz="2300" b="1" dirty="0">
                <a:solidFill>
                  <a:srgbClr val="000000"/>
                </a:solidFill>
                <a:latin typeface="Courier New" panose="02070309020205020404" pitchFamily="49" charset="0"/>
              </a:rPr>
              <a:t>+num1);</a:t>
            </a:r>
            <a:br>
              <a:rPr lang="en-IN" sz="2300" b="1" dirty="0">
                <a:solidFill>
                  <a:srgbClr val="000000"/>
                </a:solidFill>
                <a:latin typeface="Courier New" panose="02070309020205020404" pitchFamily="49" charset="0"/>
              </a:rPr>
            </a:br>
            <a:r>
              <a:rPr lang="en-IN" sz="2300" b="1" dirty="0">
                <a:solidFill>
                  <a:srgbClr val="000000"/>
                </a:solidFill>
                <a:latin typeface="Courier New" panose="02070309020205020404" pitchFamily="49" charset="0"/>
              </a:rPr>
              <a:t>         </a:t>
            </a:r>
            <a:r>
              <a:rPr lang="en-IN" sz="2300" b="1" dirty="0">
                <a:solidFill>
                  <a:srgbClr val="941EDF"/>
                </a:solidFill>
                <a:latin typeface="Courier New" panose="02070309020205020404" pitchFamily="49" charset="0"/>
              </a:rPr>
              <a:t>double</a:t>
            </a:r>
            <a:r>
              <a:rPr lang="en-IN" sz="2300" b="1" dirty="0">
                <a:solidFill>
                  <a:srgbClr val="000000"/>
                </a:solidFill>
                <a:latin typeface="Courier New" panose="02070309020205020404" pitchFamily="49" charset="0"/>
              </a:rPr>
              <a:t> num2 = 9_423_497.1_0_9;</a:t>
            </a:r>
            <a:br>
              <a:rPr lang="en-IN" sz="2300" b="1" dirty="0">
                <a:solidFill>
                  <a:srgbClr val="000000"/>
                </a:solidFill>
                <a:latin typeface="Courier New" panose="02070309020205020404" pitchFamily="49" charset="0"/>
              </a:rPr>
            </a:br>
            <a:r>
              <a:rPr lang="en-IN" sz="2300" b="1" dirty="0">
                <a:solidFill>
                  <a:srgbClr val="000000"/>
                </a:solidFill>
                <a:latin typeface="Courier New" panose="02070309020205020404" pitchFamily="49" charset="0"/>
              </a:rPr>
              <a:t>         </a:t>
            </a:r>
            <a:r>
              <a:rPr lang="en-IN" sz="2300" b="1" dirty="0" err="1">
                <a:solidFill>
                  <a:srgbClr val="000000"/>
                </a:solidFill>
                <a:latin typeface="Courier New" panose="02070309020205020404" pitchFamily="49" charset="0"/>
              </a:rPr>
              <a:t>System.out.println</a:t>
            </a:r>
            <a:r>
              <a:rPr lang="en-IN" sz="2300" b="1" dirty="0">
                <a:solidFill>
                  <a:srgbClr val="000000"/>
                </a:solidFill>
                <a:latin typeface="Courier New" panose="02070309020205020404" pitchFamily="49" charset="0"/>
              </a:rPr>
              <a:t>(</a:t>
            </a:r>
            <a:r>
              <a:rPr lang="en-IN" sz="2300" b="1" dirty="0">
                <a:solidFill>
                  <a:srgbClr val="00A000"/>
                </a:solidFill>
                <a:latin typeface="Courier New" panose="02070309020205020404" pitchFamily="49" charset="0"/>
              </a:rPr>
              <a:t>" Double num2="</a:t>
            </a:r>
            <a:r>
              <a:rPr lang="en-IN" sz="2300" b="1" dirty="0">
                <a:solidFill>
                  <a:srgbClr val="000000"/>
                </a:solidFill>
                <a:latin typeface="Courier New" panose="02070309020205020404" pitchFamily="49" charset="0"/>
              </a:rPr>
              <a:t>+num2);</a:t>
            </a:r>
            <a:br>
              <a:rPr lang="en-IN" sz="2300" b="1" dirty="0">
                <a:solidFill>
                  <a:srgbClr val="000000"/>
                </a:solidFill>
                <a:latin typeface="Courier New" panose="02070309020205020404" pitchFamily="49" charset="0"/>
              </a:rPr>
            </a:br>
            <a:r>
              <a:rPr lang="en-IN" sz="2300" b="1" dirty="0">
                <a:solidFill>
                  <a:srgbClr val="000000"/>
                </a:solidFill>
                <a:latin typeface="Courier New" panose="02070309020205020404" pitchFamily="49" charset="0"/>
              </a:rPr>
              <a:t>         </a:t>
            </a:r>
            <a:br>
              <a:rPr lang="en-IN" sz="2300" b="1" dirty="0">
                <a:solidFill>
                  <a:srgbClr val="000000"/>
                </a:solidFill>
                <a:latin typeface="Courier New" panose="02070309020205020404" pitchFamily="49" charset="0"/>
              </a:rPr>
            </a:br>
            <a:endParaRPr lang="en-IN" sz="2300" b="1" dirty="0"/>
          </a:p>
        </p:txBody>
      </p:sp>
    </p:spTree>
    <p:extLst>
      <p:ext uri="{BB962C8B-B14F-4D97-AF65-F5344CB8AC3E}">
        <p14:creationId xmlns:p14="http://schemas.microsoft.com/office/powerpoint/2010/main" val="33172465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5520D7-83F2-35D3-0874-ADBA7C0B5E9F}"/>
              </a:ext>
            </a:extLst>
          </p:cNvPr>
          <p:cNvSpPr>
            <a:spLocks noGrp="1"/>
          </p:cNvSpPr>
          <p:nvPr>
            <p:ph idx="1"/>
          </p:nvPr>
        </p:nvSpPr>
        <p:spPr>
          <a:xfrm>
            <a:off x="173621" y="1284789"/>
            <a:ext cx="12986794" cy="5772326"/>
          </a:xfrm>
        </p:spPr>
        <p:txBody>
          <a:bodyPr>
            <a:normAutofit lnSpcReduction="10000"/>
          </a:bodyPr>
          <a:lstStyle/>
          <a:p>
            <a:pPr marL="0" indent="0">
              <a:buNone/>
            </a:pPr>
            <a:r>
              <a:rPr lang="en-IN" sz="2400" b="1" dirty="0">
                <a:solidFill>
                  <a:srgbClr val="000000"/>
                </a:solidFill>
                <a:latin typeface="Courier New" panose="02070309020205020404" pitchFamily="49" charset="0"/>
              </a:rPr>
              <a:t> 	</a:t>
            </a:r>
            <a:r>
              <a:rPr lang="en-IN" sz="2400" b="1" dirty="0">
                <a:solidFill>
                  <a:srgbClr val="941EDF"/>
                </a:solidFill>
                <a:latin typeface="Courier New" panose="02070309020205020404" pitchFamily="49" charset="0"/>
              </a:rPr>
              <a:t>int</a:t>
            </a:r>
            <a:r>
              <a:rPr lang="en-IN" sz="2400" b="1" dirty="0">
                <a:solidFill>
                  <a:srgbClr val="000000"/>
                </a:solidFill>
                <a:latin typeface="Courier New" panose="02070309020205020404" pitchFamily="49" charset="0"/>
              </a:rPr>
              <a:t> B2 = 0b1101_0101_0001_1010;</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r>
              <a:rPr lang="en-IN" sz="2400" b="1" dirty="0" err="1">
                <a:solidFill>
                  <a:srgbClr val="000000"/>
                </a:solidFill>
                <a:latin typeface="Courier New" panose="02070309020205020404" pitchFamily="49" charset="0"/>
              </a:rPr>
              <a:t>System.out.println</a:t>
            </a:r>
            <a:r>
              <a:rPr lang="en-IN" sz="2400" b="1" dirty="0">
                <a:solidFill>
                  <a:srgbClr val="000000"/>
                </a:solidFill>
                <a:latin typeface="Courier New" panose="02070309020205020404" pitchFamily="49" charset="0"/>
              </a:rPr>
              <a:t>(</a:t>
            </a:r>
            <a:r>
              <a:rPr lang="en-IN" sz="2400" b="1" dirty="0">
                <a:solidFill>
                  <a:srgbClr val="00A000"/>
                </a:solidFill>
                <a:latin typeface="Courier New" panose="02070309020205020404" pitchFamily="49" charset="0"/>
              </a:rPr>
              <a:t>" B="</a:t>
            </a:r>
            <a:r>
              <a:rPr lang="en-IN" sz="2400" b="1" dirty="0">
                <a:solidFill>
                  <a:srgbClr val="000000"/>
                </a:solidFill>
                <a:latin typeface="Courier New" panose="02070309020205020404" pitchFamily="49" charset="0"/>
              </a:rPr>
              <a:t>+B);</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r>
              <a:rPr lang="en-IN" sz="2400" b="1" dirty="0" err="1">
                <a:solidFill>
                  <a:srgbClr val="000000"/>
                </a:solidFill>
                <a:latin typeface="Courier New" panose="02070309020205020404" pitchFamily="49" charset="0"/>
              </a:rPr>
              <a:t>System.out.println</a:t>
            </a:r>
            <a:r>
              <a:rPr lang="en-IN" sz="2400" b="1" dirty="0">
                <a:solidFill>
                  <a:srgbClr val="000000"/>
                </a:solidFill>
                <a:latin typeface="Courier New" panose="02070309020205020404" pitchFamily="49" charset="0"/>
              </a:rPr>
              <a:t>(</a:t>
            </a:r>
            <a:r>
              <a:rPr lang="en-IN" sz="2400" b="1" dirty="0">
                <a:solidFill>
                  <a:srgbClr val="00A000"/>
                </a:solidFill>
                <a:latin typeface="Courier New" panose="02070309020205020404" pitchFamily="49" charset="0"/>
              </a:rPr>
              <a:t>" B2="</a:t>
            </a:r>
            <a:r>
              <a:rPr lang="en-IN" sz="2400" b="1" dirty="0">
                <a:solidFill>
                  <a:srgbClr val="000000"/>
                </a:solidFill>
                <a:latin typeface="Courier New" panose="02070309020205020404" pitchFamily="49" charset="0"/>
              </a:rPr>
              <a:t>+B2);</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r>
              <a:rPr lang="en-IN" sz="2400" b="1" dirty="0" err="1">
                <a:solidFill>
                  <a:srgbClr val="000000"/>
                </a:solidFill>
                <a:latin typeface="Courier New" panose="02070309020205020404" pitchFamily="49" charset="0"/>
              </a:rPr>
              <a:t>System.out.println</a:t>
            </a:r>
            <a:r>
              <a:rPr lang="en-IN" sz="2400" b="1" dirty="0">
                <a:solidFill>
                  <a:srgbClr val="000000"/>
                </a:solidFill>
                <a:latin typeface="Courier New" panose="02070309020205020404" pitchFamily="49" charset="0"/>
              </a:rPr>
              <a:t>(</a:t>
            </a:r>
            <a:r>
              <a:rPr lang="en-IN" sz="2400" b="1" dirty="0">
                <a:solidFill>
                  <a:srgbClr val="00A000"/>
                </a:solidFill>
                <a:latin typeface="Courier New" panose="02070309020205020404" pitchFamily="49" charset="0"/>
              </a:rPr>
              <a:t>" B in bin  ="</a:t>
            </a:r>
            <a:r>
              <a:rPr lang="en-IN" sz="2400" b="1" dirty="0">
                <a:solidFill>
                  <a:srgbClr val="000000"/>
                </a:solidFill>
                <a:latin typeface="Courier New" panose="02070309020205020404" pitchFamily="49" charset="0"/>
              </a:rPr>
              <a:t>+</a:t>
            </a:r>
            <a:r>
              <a:rPr lang="en-IN" sz="2400" b="1" dirty="0" err="1">
                <a:solidFill>
                  <a:srgbClr val="000000"/>
                </a:solidFill>
                <a:latin typeface="Courier New" panose="02070309020205020404" pitchFamily="49" charset="0"/>
              </a:rPr>
              <a:t>Integer.toBinaryString</a:t>
            </a:r>
            <a:r>
              <a:rPr lang="en-IN" sz="2400" b="1" dirty="0">
                <a:solidFill>
                  <a:srgbClr val="000000"/>
                </a:solidFill>
                <a:latin typeface="Courier New" panose="02070309020205020404" pitchFamily="49" charset="0"/>
              </a:rPr>
              <a:t>(B));</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r>
              <a:rPr lang="en-IN" sz="2400" b="1" dirty="0" err="1">
                <a:solidFill>
                  <a:srgbClr val="000000"/>
                </a:solidFill>
                <a:latin typeface="Courier New" panose="02070309020205020404" pitchFamily="49" charset="0"/>
              </a:rPr>
              <a:t>System.out.println</a:t>
            </a:r>
            <a:r>
              <a:rPr lang="en-IN" sz="2400" b="1" dirty="0">
                <a:solidFill>
                  <a:srgbClr val="000000"/>
                </a:solidFill>
                <a:latin typeface="Courier New" panose="02070309020205020404" pitchFamily="49" charset="0"/>
              </a:rPr>
              <a:t>(</a:t>
            </a:r>
            <a:r>
              <a:rPr lang="en-IN" sz="2400" b="1" dirty="0">
                <a:solidFill>
                  <a:srgbClr val="00A000"/>
                </a:solidFill>
                <a:latin typeface="Courier New" panose="02070309020205020404" pitchFamily="49" charset="0"/>
              </a:rPr>
              <a:t>" B2 in bin ="</a:t>
            </a:r>
            <a:r>
              <a:rPr lang="en-IN" sz="2400" b="1" dirty="0">
                <a:solidFill>
                  <a:srgbClr val="000000"/>
                </a:solidFill>
                <a:latin typeface="Courier New" panose="02070309020205020404" pitchFamily="49" charset="0"/>
              </a:rPr>
              <a:t>+</a:t>
            </a:r>
            <a:r>
              <a:rPr lang="en-IN" sz="2400" b="1" dirty="0" err="1">
                <a:solidFill>
                  <a:srgbClr val="000000"/>
                </a:solidFill>
                <a:latin typeface="Courier New" panose="02070309020205020404" pitchFamily="49" charset="0"/>
              </a:rPr>
              <a:t>Integer.toBinaryString</a:t>
            </a:r>
            <a:r>
              <a:rPr lang="en-IN" sz="2400" b="1" dirty="0">
                <a:solidFill>
                  <a:srgbClr val="000000"/>
                </a:solidFill>
                <a:latin typeface="Courier New" panose="02070309020205020404" pitchFamily="49" charset="0"/>
              </a:rPr>
              <a:t>(B2));</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String str1 = </a:t>
            </a:r>
            <a:r>
              <a:rPr lang="en-IN" sz="2400" b="1" dirty="0">
                <a:solidFill>
                  <a:srgbClr val="00A000"/>
                </a:solidFill>
                <a:latin typeface="Courier New" panose="02070309020205020404" pitchFamily="49" charset="0"/>
              </a:rPr>
              <a:t>"two\</a:t>
            </a:r>
            <a:r>
              <a:rPr lang="en-IN" sz="2400" b="1" dirty="0" err="1">
                <a:solidFill>
                  <a:srgbClr val="00A000"/>
                </a:solidFill>
                <a:latin typeface="Courier New" panose="02070309020205020404" pitchFamily="49" charset="0"/>
              </a:rPr>
              <a:t>nlines</a:t>
            </a:r>
            <a:r>
              <a:rPr lang="en-IN" sz="2400" b="1" dirty="0">
                <a:solidFill>
                  <a:srgbClr val="00A000"/>
                </a:solidFill>
                <a:latin typeface="Courier New" panose="02070309020205020404" pitchFamily="49" charset="0"/>
              </a:rPr>
              <a:t>  \t tab space "</a:t>
            </a:r>
            <a:r>
              <a:rPr lang="en-IN" sz="2400" b="1" dirty="0">
                <a:solidFill>
                  <a:srgbClr val="000000"/>
                </a:solidFill>
                <a:latin typeface="Courier New" panose="02070309020205020404" pitchFamily="49" charset="0"/>
              </a:rPr>
              <a:t>;</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String str2 = </a:t>
            </a:r>
            <a:r>
              <a:rPr lang="en-IN" sz="2400" b="1" dirty="0">
                <a:solidFill>
                  <a:srgbClr val="00A000"/>
                </a:solidFill>
                <a:latin typeface="Courier New" panose="02070309020205020404" pitchFamily="49" charset="0"/>
              </a:rPr>
              <a:t>" \"This is in quotes\""</a:t>
            </a:r>
            <a:r>
              <a:rPr lang="en-IN" sz="2400" b="1" dirty="0">
                <a:solidFill>
                  <a:srgbClr val="000000"/>
                </a:solidFill>
                <a:latin typeface="Courier New" panose="02070309020205020404" pitchFamily="49" charset="0"/>
              </a:rPr>
              <a:t> ;</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r>
              <a:rPr lang="en-IN" sz="2400" b="1" dirty="0" err="1">
                <a:solidFill>
                  <a:srgbClr val="000000"/>
                </a:solidFill>
                <a:latin typeface="Courier New" panose="02070309020205020404" pitchFamily="49" charset="0"/>
              </a:rPr>
              <a:t>System.out.println</a:t>
            </a:r>
            <a:r>
              <a:rPr lang="en-IN" sz="2400" b="1" dirty="0">
                <a:solidFill>
                  <a:srgbClr val="000000"/>
                </a:solidFill>
                <a:latin typeface="Courier New" panose="02070309020205020404" pitchFamily="49" charset="0"/>
              </a:rPr>
              <a:t>(</a:t>
            </a:r>
            <a:r>
              <a:rPr lang="en-IN" sz="2400" b="1" dirty="0">
                <a:solidFill>
                  <a:srgbClr val="00A000"/>
                </a:solidFill>
                <a:latin typeface="Courier New" panose="02070309020205020404" pitchFamily="49" charset="0"/>
              </a:rPr>
              <a:t>"String 1="</a:t>
            </a:r>
            <a:r>
              <a:rPr lang="en-IN" sz="2400" b="1" dirty="0">
                <a:solidFill>
                  <a:srgbClr val="000000"/>
                </a:solidFill>
                <a:latin typeface="Courier New" panose="02070309020205020404" pitchFamily="49" charset="0"/>
              </a:rPr>
              <a:t>+str1);</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r>
              <a:rPr lang="en-IN" sz="2400" b="1" dirty="0" err="1">
                <a:solidFill>
                  <a:srgbClr val="000000"/>
                </a:solidFill>
                <a:latin typeface="Courier New" panose="02070309020205020404" pitchFamily="49" charset="0"/>
              </a:rPr>
              <a:t>System.out.println</a:t>
            </a:r>
            <a:r>
              <a:rPr lang="en-IN" sz="2400" b="1" dirty="0">
                <a:solidFill>
                  <a:srgbClr val="000000"/>
                </a:solidFill>
                <a:latin typeface="Courier New" panose="02070309020205020404" pitchFamily="49" charset="0"/>
              </a:rPr>
              <a:t>(</a:t>
            </a:r>
            <a:r>
              <a:rPr lang="en-IN" sz="2400" b="1" dirty="0">
                <a:solidFill>
                  <a:srgbClr val="00A000"/>
                </a:solidFill>
                <a:latin typeface="Courier New" panose="02070309020205020404" pitchFamily="49" charset="0"/>
              </a:rPr>
              <a:t>"String 2="</a:t>
            </a:r>
            <a:r>
              <a:rPr lang="en-IN" sz="2400" b="1" dirty="0">
                <a:solidFill>
                  <a:srgbClr val="000000"/>
                </a:solidFill>
                <a:latin typeface="Courier New" panose="02070309020205020404" pitchFamily="49" charset="0"/>
              </a:rPr>
              <a:t>+str2);</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r>
              <a:rPr lang="en-IN" sz="2400" b="1" dirty="0">
                <a:solidFill>
                  <a:srgbClr val="941EDF"/>
                </a:solidFill>
                <a:latin typeface="Courier New" panose="02070309020205020404" pitchFamily="49" charset="0"/>
              </a:rPr>
              <a:t>int</a:t>
            </a:r>
            <a:r>
              <a:rPr lang="en-IN" sz="2400" b="1" dirty="0">
                <a:solidFill>
                  <a:srgbClr val="000000"/>
                </a:solidFill>
                <a:latin typeface="Courier New" panose="02070309020205020404" pitchFamily="49" charset="0"/>
              </a:rPr>
              <a:t> octal11=0123;</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r>
              <a:rPr lang="en-IN" sz="2400" b="1" dirty="0" err="1">
                <a:solidFill>
                  <a:srgbClr val="000000"/>
                </a:solidFill>
                <a:latin typeface="Courier New" panose="02070309020205020404" pitchFamily="49" charset="0"/>
              </a:rPr>
              <a:t>System.out.println</a:t>
            </a:r>
            <a:r>
              <a:rPr lang="en-IN" sz="2400" b="1" dirty="0">
                <a:solidFill>
                  <a:srgbClr val="000000"/>
                </a:solidFill>
                <a:latin typeface="Courier New" panose="02070309020205020404" pitchFamily="49" charset="0"/>
              </a:rPr>
              <a:t>(octal11+</a:t>
            </a:r>
            <a:r>
              <a:rPr lang="en-IN" sz="2400" b="1" dirty="0">
                <a:solidFill>
                  <a:srgbClr val="00A000"/>
                </a:solidFill>
                <a:latin typeface="Courier New" panose="02070309020205020404" pitchFamily="49" charset="0"/>
              </a:rPr>
              <a:t>" \612"</a:t>
            </a:r>
            <a:r>
              <a:rPr lang="en-IN" sz="2400" b="1" dirty="0">
                <a:solidFill>
                  <a:srgbClr val="000000"/>
                </a:solidFill>
                <a:latin typeface="Courier New" panose="02070309020205020404" pitchFamily="49" charset="0"/>
              </a:rPr>
              <a:t>);</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r>
              <a:rPr lang="en-IN" sz="2400" b="1" dirty="0" err="1">
                <a:solidFill>
                  <a:srgbClr val="000000"/>
                </a:solidFill>
                <a:latin typeface="Courier New" panose="02070309020205020404" pitchFamily="49" charset="0"/>
              </a:rPr>
              <a:t>System.out.println</a:t>
            </a:r>
            <a:r>
              <a:rPr lang="en-IN" sz="2400" b="1" dirty="0">
                <a:solidFill>
                  <a:srgbClr val="000000"/>
                </a:solidFill>
                <a:latin typeface="Courier New" panose="02070309020205020404" pitchFamily="49" charset="0"/>
              </a:rPr>
              <a:t>(</a:t>
            </a:r>
            <a:r>
              <a:rPr lang="en-IN" sz="2400" b="1" dirty="0">
                <a:solidFill>
                  <a:srgbClr val="00A000"/>
                </a:solidFill>
                <a:latin typeface="Courier New" panose="02070309020205020404" pitchFamily="49" charset="0"/>
              </a:rPr>
              <a:t>"\u234d"</a:t>
            </a:r>
            <a:r>
              <a:rPr lang="en-IN" sz="2400" b="1" dirty="0">
                <a:solidFill>
                  <a:srgbClr val="000000"/>
                </a:solidFill>
                <a:latin typeface="Courier New" panose="02070309020205020404" pitchFamily="49" charset="0"/>
              </a:rPr>
              <a:t>);    </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         </a:t>
            </a:r>
            <a:br>
              <a:rPr lang="en-IN" sz="2400" b="1" dirty="0">
                <a:solidFill>
                  <a:srgbClr val="000000"/>
                </a:solidFill>
                <a:latin typeface="Courier New" panose="02070309020205020404" pitchFamily="49" charset="0"/>
              </a:rPr>
            </a:br>
            <a:r>
              <a:rPr lang="en-IN" sz="2400" b="1" dirty="0">
                <a:solidFill>
                  <a:srgbClr val="000000"/>
                </a:solidFill>
                <a:latin typeface="Courier New" panose="02070309020205020404" pitchFamily="49" charset="0"/>
              </a:rPr>
              <a:t> </a:t>
            </a:r>
            <a:endParaRPr lang="en-IN" sz="2400" b="1" dirty="0"/>
          </a:p>
        </p:txBody>
      </p:sp>
    </p:spTree>
    <p:extLst>
      <p:ext uri="{BB962C8B-B14F-4D97-AF65-F5344CB8AC3E}">
        <p14:creationId xmlns:p14="http://schemas.microsoft.com/office/powerpoint/2010/main" val="35404468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763EB-D01B-866D-EA72-A250BE45977E}"/>
              </a:ext>
            </a:extLst>
          </p:cNvPr>
          <p:cNvSpPr>
            <a:spLocks noGrp="1"/>
          </p:cNvSpPr>
          <p:nvPr>
            <p:ph type="title"/>
          </p:nvPr>
        </p:nvSpPr>
        <p:spPr/>
        <p:txBody>
          <a:bodyPr>
            <a:normAutofit fontScale="90000"/>
          </a:bodyPr>
          <a:lstStyle/>
          <a:p>
            <a:r>
              <a:rPr lang="en-IN" sz="32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Dynamic Initialization</a:t>
            </a:r>
            <a:br>
              <a:rPr lang="en-IN" sz="3200" dirty="0">
                <a:effectLst/>
                <a:latin typeface="Calibri" panose="020F0502020204030204" pitchFamily="34" charset="0"/>
                <a:ea typeface="Calibri" panose="020F0502020204030204" pitchFamily="34" charset="0"/>
                <a:cs typeface="Arial" panose="020B0604020202020204" pitchFamily="34" charset="0"/>
              </a:rPr>
            </a:br>
            <a:endParaRPr lang="en-IN" sz="5400" dirty="0"/>
          </a:p>
        </p:txBody>
      </p:sp>
      <p:sp>
        <p:nvSpPr>
          <p:cNvPr id="3" name="Content Placeholder 2">
            <a:extLst>
              <a:ext uri="{FF2B5EF4-FFF2-40B4-BE49-F238E27FC236}">
                <a16:creationId xmlns:a16="http://schemas.microsoft.com/office/drawing/2014/main" id="{74E6CE50-E222-44FF-3E7A-2B9F484744AA}"/>
              </a:ext>
            </a:extLst>
          </p:cNvPr>
          <p:cNvSpPr>
            <a:spLocks noGrp="1"/>
          </p:cNvSpPr>
          <p:nvPr>
            <p:ph idx="1"/>
          </p:nvPr>
        </p:nvSpPr>
        <p:spPr>
          <a:xfrm>
            <a:off x="1342663" y="1099595"/>
            <a:ext cx="10161949" cy="6273477"/>
          </a:xfrm>
        </p:spPr>
        <p:txBody>
          <a:bodyPr>
            <a:normAutofit/>
          </a:bodyPr>
          <a:lstStyle/>
          <a:p>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Java allows variables to be initialized dynamically, using any expression valid at the time the variable is declared.</a:t>
            </a:r>
          </a:p>
          <a:p>
            <a:pPr marL="0" indent="0" algn="just">
              <a:buNone/>
            </a:pP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class </a:t>
            </a:r>
            <a:r>
              <a:rPr lang="en-IN" sz="2800" b="1" dirty="0" err="1">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DynInit</a:t>
            </a: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 {</a:t>
            </a:r>
            <a:endParaRPr lang="en-IN" sz="2800" b="1" dirty="0">
              <a:effectLst/>
              <a:latin typeface="Calibri" panose="020F0502020204030204" pitchFamily="34" charset="0"/>
              <a:ea typeface="Calibri" panose="020F0502020204030204" pitchFamily="34" charset="0"/>
              <a:cs typeface="Arial" panose="020B0604020202020204" pitchFamily="34" charset="0"/>
            </a:endParaRPr>
          </a:p>
          <a:p>
            <a:pPr indent="0" algn="just">
              <a:buNone/>
            </a:pP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public static void main(String </a:t>
            </a:r>
            <a:r>
              <a:rPr lang="en-IN" sz="2800" b="1" dirty="0" err="1">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args</a:t>
            </a: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 {</a:t>
            </a:r>
            <a:endParaRPr lang="en-IN" sz="2800" b="1" dirty="0">
              <a:effectLst/>
              <a:latin typeface="Calibri" panose="020F0502020204030204" pitchFamily="34" charset="0"/>
              <a:ea typeface="Calibri" panose="020F0502020204030204" pitchFamily="34" charset="0"/>
              <a:cs typeface="Arial" panose="020B0604020202020204" pitchFamily="34" charset="0"/>
            </a:endParaRPr>
          </a:p>
          <a:p>
            <a:pPr marL="457200" indent="0" algn="just">
              <a:buNone/>
            </a:pP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double a = 3.0, b = 4.0;</a:t>
            </a:r>
            <a:endParaRPr lang="en-IN" sz="2800" b="1" dirty="0">
              <a:effectLst/>
              <a:latin typeface="Calibri" panose="020F0502020204030204" pitchFamily="34" charset="0"/>
              <a:ea typeface="Calibri" panose="020F0502020204030204" pitchFamily="34" charset="0"/>
              <a:cs typeface="Arial" panose="020B0604020202020204" pitchFamily="34" charset="0"/>
            </a:endParaRPr>
          </a:p>
          <a:p>
            <a:pPr marL="457200" indent="0" algn="just">
              <a:buNone/>
            </a:pP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 c is dynamically initialized</a:t>
            </a:r>
            <a:endParaRPr lang="en-IN" sz="2800" b="1" dirty="0">
              <a:effectLst/>
              <a:latin typeface="Calibri" panose="020F0502020204030204" pitchFamily="34" charset="0"/>
              <a:ea typeface="Calibri" panose="020F0502020204030204" pitchFamily="34" charset="0"/>
              <a:cs typeface="Arial" panose="020B0604020202020204" pitchFamily="34" charset="0"/>
            </a:endParaRPr>
          </a:p>
          <a:p>
            <a:pPr marL="457200" indent="0" algn="just">
              <a:buNone/>
            </a:pP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double c = </a:t>
            </a:r>
            <a:r>
              <a:rPr lang="en-IN" sz="2800" b="1" dirty="0" err="1">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Math.sqrt</a:t>
            </a: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 * a + b * b);</a:t>
            </a:r>
            <a:endParaRPr lang="en-IN" sz="2800" b="1" dirty="0">
              <a:effectLst/>
              <a:latin typeface="Calibri" panose="020F0502020204030204" pitchFamily="34" charset="0"/>
              <a:ea typeface="Calibri" panose="020F0502020204030204" pitchFamily="34" charset="0"/>
              <a:cs typeface="Arial" panose="020B0604020202020204" pitchFamily="34" charset="0"/>
            </a:endParaRPr>
          </a:p>
          <a:p>
            <a:pPr marL="457200" indent="0" algn="just">
              <a:buNone/>
            </a:pPr>
            <a:r>
              <a:rPr lang="en-IN" sz="2800" b="1" dirty="0" err="1">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System.out.println</a:t>
            </a: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("Hypotenuse is " + c);</a:t>
            </a:r>
            <a:endParaRPr lang="en-IN" sz="2800" b="1" dirty="0">
              <a:effectLst/>
              <a:latin typeface="Calibri" panose="020F0502020204030204" pitchFamily="34" charset="0"/>
              <a:ea typeface="Calibri" panose="020F0502020204030204" pitchFamily="34" charset="0"/>
              <a:cs typeface="Arial" panose="020B0604020202020204" pitchFamily="34" charset="0"/>
            </a:endParaRPr>
          </a:p>
          <a:p>
            <a:pPr indent="0" algn="just">
              <a:buNone/>
            </a:pP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t>
            </a:r>
            <a:endParaRPr lang="en-IN" sz="2800" b="1"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t>
            </a:r>
            <a:endParaRPr lang="en-IN" sz="2800" b="1" dirty="0">
              <a:effectLst/>
              <a:latin typeface="Calibri" panose="020F0502020204030204" pitchFamily="34" charset="0"/>
              <a:ea typeface="Calibri" panose="020F0502020204030204" pitchFamily="34" charset="0"/>
              <a:cs typeface="Arial" panose="020B0604020202020204" pitchFamily="34" charset="0"/>
            </a:endParaRPr>
          </a:p>
          <a:p>
            <a:endParaRPr lang="en-IN" sz="2800" dirty="0"/>
          </a:p>
        </p:txBody>
      </p:sp>
    </p:spTree>
    <p:extLst>
      <p:ext uri="{BB962C8B-B14F-4D97-AF65-F5344CB8AC3E}">
        <p14:creationId xmlns:p14="http://schemas.microsoft.com/office/powerpoint/2010/main" val="11836311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9B71C-FAA8-7CEB-FCF3-1420F5C9E9D0}"/>
              </a:ext>
            </a:extLst>
          </p:cNvPr>
          <p:cNvSpPr>
            <a:spLocks noGrp="1"/>
          </p:cNvSpPr>
          <p:nvPr>
            <p:ph type="title"/>
          </p:nvPr>
        </p:nvSpPr>
        <p:spPr/>
        <p:txBody>
          <a:bodyPr>
            <a:normAutofit/>
          </a:bodyPr>
          <a:lstStyle/>
          <a:p>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The Scope and Lifetime of Variables:</a:t>
            </a:r>
            <a:endParaRPr lang="en-IN" sz="4800" dirty="0"/>
          </a:p>
        </p:txBody>
      </p:sp>
      <p:sp>
        <p:nvSpPr>
          <p:cNvPr id="3" name="Content Placeholder 2">
            <a:extLst>
              <a:ext uri="{FF2B5EF4-FFF2-40B4-BE49-F238E27FC236}">
                <a16:creationId xmlns:a16="http://schemas.microsoft.com/office/drawing/2014/main" id="{CD607854-811B-0FBA-CE14-DA292AF93B23}"/>
              </a:ext>
            </a:extLst>
          </p:cNvPr>
          <p:cNvSpPr>
            <a:spLocks noGrp="1"/>
          </p:cNvSpPr>
          <p:nvPr>
            <p:ph idx="1"/>
          </p:nvPr>
        </p:nvSpPr>
        <p:spPr>
          <a:xfrm>
            <a:off x="1469985" y="1504709"/>
            <a:ext cx="10034627" cy="4406513"/>
          </a:xfrm>
        </p:spPr>
        <p:txBody>
          <a:bodyPr>
            <a:normAutofit/>
          </a:bodyPr>
          <a:lstStyle/>
          <a:p>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 block defines a </a:t>
            </a:r>
            <a:r>
              <a:rPr lang="en-IN" sz="2800" i="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scope.</a:t>
            </a:r>
          </a:p>
          <a:p>
            <a:r>
              <a:rPr lang="en-IN" sz="2800" i="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The scope of a variable is the area of code where a variable is accessible. </a:t>
            </a:r>
          </a:p>
          <a:p>
            <a:r>
              <a:rPr lang="en-IN" sz="2800" i="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It's a way to determine how accessible a variable is in a program or function, and helps avoid variable naming conflicts.</a:t>
            </a:r>
          </a:p>
          <a:p>
            <a:pPr marL="0" indent="0">
              <a:buNone/>
            </a:pPr>
            <a:endParaRPr lang="en-IN" sz="2800" i="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endParaRPr>
          </a:p>
          <a:p>
            <a:endParaRPr lang="en-IN" sz="2800" dirty="0"/>
          </a:p>
        </p:txBody>
      </p:sp>
    </p:spTree>
    <p:extLst>
      <p:ext uri="{BB962C8B-B14F-4D97-AF65-F5344CB8AC3E}">
        <p14:creationId xmlns:p14="http://schemas.microsoft.com/office/powerpoint/2010/main" val="1643659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134356-554B-E35A-19E7-26DB34B66304}"/>
              </a:ext>
            </a:extLst>
          </p:cNvPr>
          <p:cNvSpPr>
            <a:spLocks noGrp="1"/>
          </p:cNvSpPr>
          <p:nvPr>
            <p:ph idx="1"/>
          </p:nvPr>
        </p:nvSpPr>
        <p:spPr>
          <a:xfrm>
            <a:off x="2008094" y="150358"/>
            <a:ext cx="10183906" cy="6707642"/>
          </a:xfrm>
        </p:spPr>
        <p:txBody>
          <a:bodyPr>
            <a:normAutofit lnSpcReduction="10000"/>
          </a:bodyPr>
          <a:lstStyle/>
          <a:p>
            <a:pPr marL="0" marR="3429000" indent="0" algn="just">
              <a:buNone/>
              <a:tabLst>
                <a:tab pos="251460" algn="l"/>
              </a:tabLst>
            </a:pPr>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class Scope</a:t>
            </a:r>
            <a:endParaRPr lang="en-IN" sz="2400" b="1"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	public static void main(String </a:t>
            </a:r>
            <a:r>
              <a:rPr lang="en-IN" sz="2400" b="1" dirty="0" err="1">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args</a:t>
            </a:r>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t>
            </a:r>
            <a:endParaRPr lang="en-IN" sz="2400" b="1" dirty="0">
              <a:effectLst/>
              <a:latin typeface="Calibri" panose="020F0502020204030204" pitchFamily="34" charset="0"/>
              <a:ea typeface="Calibri" panose="020F0502020204030204" pitchFamily="34" charset="0"/>
              <a:cs typeface="Arial" panose="020B0604020202020204" pitchFamily="34" charset="0"/>
            </a:endParaRPr>
          </a:p>
          <a:p>
            <a:pPr indent="0" algn="just">
              <a:buNone/>
            </a:pPr>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	int x=10; // known to all code within main x = 10;</a:t>
            </a:r>
            <a:endParaRPr lang="en-IN" sz="2400" b="1" dirty="0">
              <a:effectLst/>
              <a:latin typeface="Calibri" panose="020F0502020204030204" pitchFamily="34" charset="0"/>
              <a:ea typeface="Calibri" panose="020F0502020204030204" pitchFamily="34" charset="0"/>
              <a:cs typeface="Arial" panose="020B0604020202020204" pitchFamily="34" charset="0"/>
            </a:endParaRPr>
          </a:p>
          <a:p>
            <a:pPr marL="457200" indent="0" algn="just">
              <a:buNone/>
            </a:pPr>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if(x == 10)</a:t>
            </a:r>
            <a:endParaRPr lang="en-IN" sz="2400" b="1" dirty="0">
              <a:effectLst/>
              <a:latin typeface="Calibri" panose="020F0502020204030204" pitchFamily="34" charset="0"/>
              <a:ea typeface="Calibri" panose="020F0502020204030204" pitchFamily="34" charset="0"/>
              <a:cs typeface="Arial" panose="020B0604020202020204" pitchFamily="34" charset="0"/>
            </a:endParaRPr>
          </a:p>
          <a:p>
            <a:pPr marL="457200" indent="0" algn="just">
              <a:buNone/>
            </a:pPr>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 // start new scope</a:t>
            </a:r>
            <a:endParaRPr lang="en-IN" sz="2400" b="1" dirty="0">
              <a:effectLst/>
              <a:latin typeface="Calibri" panose="020F0502020204030204" pitchFamily="34" charset="0"/>
              <a:ea typeface="Calibri" panose="020F0502020204030204" pitchFamily="34" charset="0"/>
              <a:cs typeface="Arial" panose="020B0604020202020204" pitchFamily="34" charset="0"/>
            </a:endParaRPr>
          </a:p>
          <a:p>
            <a:pPr marL="914400" indent="0" algn="just">
              <a:buNone/>
            </a:pPr>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int y = 20; // known only to this block</a:t>
            </a:r>
            <a:endParaRPr lang="en-IN" sz="2400" b="1" dirty="0">
              <a:effectLst/>
              <a:latin typeface="Calibri" panose="020F0502020204030204" pitchFamily="34" charset="0"/>
              <a:ea typeface="Calibri" panose="020F0502020204030204" pitchFamily="34" charset="0"/>
              <a:cs typeface="Arial" panose="020B0604020202020204" pitchFamily="34" charset="0"/>
            </a:endParaRPr>
          </a:p>
          <a:p>
            <a:pPr marL="0" marR="2273300" indent="0">
              <a:buNone/>
              <a:tabLst>
                <a:tab pos="251460" algn="l"/>
              </a:tabLst>
            </a:pPr>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         			</a:t>
            </a:r>
            <a:r>
              <a:rPr lang="en-IN" sz="2400" b="1" dirty="0" err="1">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System.out.println</a:t>
            </a:r>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("x : "+x);</a:t>
            </a:r>
            <a:endParaRPr lang="en-IN" sz="2400" b="1" dirty="0">
              <a:effectLst/>
              <a:latin typeface="Calibri" panose="020F0502020204030204" pitchFamily="34" charset="0"/>
              <a:ea typeface="Calibri" panose="020F0502020204030204" pitchFamily="34" charset="0"/>
              <a:cs typeface="Arial" panose="020B0604020202020204" pitchFamily="34" charset="0"/>
            </a:endParaRPr>
          </a:p>
          <a:p>
            <a:pPr marL="0" marR="2273300" indent="0">
              <a:buNone/>
              <a:tabLst>
                <a:tab pos="251460" algn="l"/>
              </a:tabLst>
            </a:pPr>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				</a:t>
            </a:r>
            <a:r>
              <a:rPr lang="en-IN" sz="2400" b="1" dirty="0" err="1">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System.out.println</a:t>
            </a:r>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("y : "+y);</a:t>
            </a:r>
            <a:endParaRPr lang="en-IN" sz="2400" b="1" dirty="0">
              <a:effectLst/>
              <a:latin typeface="Calibri" panose="020F0502020204030204" pitchFamily="34" charset="0"/>
              <a:ea typeface="Calibri" panose="020F0502020204030204" pitchFamily="34" charset="0"/>
              <a:cs typeface="Arial" panose="020B0604020202020204" pitchFamily="34" charset="0"/>
            </a:endParaRPr>
          </a:p>
          <a:p>
            <a:pPr marL="0" marR="2273300" indent="0">
              <a:buNone/>
              <a:tabLst>
                <a:tab pos="251460" algn="l"/>
              </a:tabLst>
            </a:pPr>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				x = y * 2;</a:t>
            </a:r>
            <a:endParaRPr lang="en-IN" sz="2400" b="1" dirty="0">
              <a:effectLst/>
              <a:latin typeface="Calibri" panose="020F0502020204030204" pitchFamily="34" charset="0"/>
              <a:ea typeface="Calibri" panose="020F0502020204030204" pitchFamily="34" charset="0"/>
              <a:cs typeface="Arial" panose="020B0604020202020204" pitchFamily="34" charset="0"/>
            </a:endParaRPr>
          </a:p>
          <a:p>
            <a:pPr marL="457200" indent="0" algn="just">
              <a:buNone/>
            </a:pPr>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t>
            </a:r>
            <a:endParaRPr lang="en-IN" sz="2400" b="1"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pPr>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    y = 100; // Error! y not known here</a:t>
            </a:r>
            <a:endParaRPr lang="en-IN" sz="2400" b="1" dirty="0">
              <a:effectLst/>
              <a:latin typeface="Calibri" panose="020F0502020204030204" pitchFamily="34" charset="0"/>
              <a:ea typeface="Calibri" panose="020F0502020204030204" pitchFamily="34" charset="0"/>
              <a:cs typeface="Arial" panose="020B0604020202020204" pitchFamily="34" charset="0"/>
            </a:endParaRPr>
          </a:p>
          <a:p>
            <a:pPr marL="0" indent="0" algn="just">
              <a:buNone/>
              <a:tabLst>
                <a:tab pos="251460" algn="l"/>
              </a:tabLst>
            </a:pPr>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	</a:t>
            </a:r>
            <a:r>
              <a:rPr lang="en-IN" sz="2400" b="1" dirty="0" err="1">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System.out.println</a:t>
            </a:r>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("x is " + x);  // </a:t>
            </a:r>
            <a:endParaRPr lang="en-IN" sz="2400" b="1" dirty="0">
              <a:effectLst/>
              <a:latin typeface="Calibri" panose="020F0502020204030204" pitchFamily="34" charset="0"/>
              <a:ea typeface="Calibri" panose="020F0502020204030204" pitchFamily="34" charset="0"/>
              <a:cs typeface="Arial" panose="020B0604020202020204" pitchFamily="34" charset="0"/>
            </a:endParaRPr>
          </a:p>
          <a:p>
            <a:pPr indent="0" algn="just">
              <a:buNone/>
            </a:pPr>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t>
            </a:r>
            <a:endParaRPr lang="en-IN" sz="2400" b="1"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t>
            </a:r>
            <a:endParaRPr lang="en-IN" sz="2400" b="1" dirty="0"/>
          </a:p>
        </p:txBody>
      </p:sp>
    </p:spTree>
    <p:extLst>
      <p:ext uri="{BB962C8B-B14F-4D97-AF65-F5344CB8AC3E}">
        <p14:creationId xmlns:p14="http://schemas.microsoft.com/office/powerpoint/2010/main" val="2025943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42F1C-08C9-E4A0-37A5-72BF6FCB377E}"/>
              </a:ext>
            </a:extLst>
          </p:cNvPr>
          <p:cNvSpPr>
            <a:spLocks noGrp="1"/>
          </p:cNvSpPr>
          <p:nvPr>
            <p:ph type="title"/>
          </p:nvPr>
        </p:nvSpPr>
        <p:spPr/>
        <p:txBody>
          <a:bodyPr>
            <a:normAutofit/>
          </a:bodyPr>
          <a:lstStyle/>
          <a:p>
            <a:r>
              <a:rPr lang="en-IN" dirty="0"/>
              <a:t>Type Conversion and Casting</a:t>
            </a:r>
          </a:p>
        </p:txBody>
      </p:sp>
      <p:sp>
        <p:nvSpPr>
          <p:cNvPr id="3" name="Content Placeholder 2">
            <a:extLst>
              <a:ext uri="{FF2B5EF4-FFF2-40B4-BE49-F238E27FC236}">
                <a16:creationId xmlns:a16="http://schemas.microsoft.com/office/drawing/2014/main" id="{80B51AFE-9F62-F0ED-9B83-D87C608425AA}"/>
              </a:ext>
            </a:extLst>
          </p:cNvPr>
          <p:cNvSpPr>
            <a:spLocks noGrp="1"/>
          </p:cNvSpPr>
          <p:nvPr>
            <p:ph idx="1"/>
          </p:nvPr>
        </p:nvSpPr>
        <p:spPr>
          <a:xfrm>
            <a:off x="1632030" y="1388961"/>
            <a:ext cx="10255170" cy="5069711"/>
          </a:xfrm>
        </p:spPr>
        <p:txBody>
          <a:bodyPr>
            <a:normAutofit/>
          </a:bodyPr>
          <a:lstStyle/>
          <a:p>
            <a:r>
              <a:rPr lang="en-IN" sz="2400" dirty="0">
                <a:effectLst/>
                <a:latin typeface="Bookman Old Style" panose="02050604050505020204" pitchFamily="18" charset="0"/>
                <a:ea typeface="Bookman Old Style" panose="02050604050505020204" pitchFamily="18" charset="0"/>
                <a:cs typeface="Arial" panose="020B0604020202020204" pitchFamily="34" charset="0"/>
              </a:rPr>
              <a:t>We can assign a value of one type to a variable of another type. </a:t>
            </a:r>
          </a:p>
          <a:p>
            <a:r>
              <a:rPr lang="en-IN" sz="2400" dirty="0">
                <a:effectLst/>
                <a:latin typeface="Bookman Old Style" panose="02050604050505020204" pitchFamily="18" charset="0"/>
                <a:ea typeface="Bookman Old Style" panose="02050604050505020204" pitchFamily="18" charset="0"/>
                <a:cs typeface="Arial" panose="020B0604020202020204" pitchFamily="34" charset="0"/>
              </a:rPr>
              <a:t>If the two types are compatible, then Java will perform the conversion automatically.</a:t>
            </a:r>
          </a:p>
          <a:p>
            <a:r>
              <a:rPr lang="en-IN" sz="2400" dirty="0">
                <a:effectLst/>
                <a:latin typeface="Bookman Old Style" panose="02050604050505020204" pitchFamily="18" charset="0"/>
                <a:ea typeface="Bookman Old Style" panose="02050604050505020204" pitchFamily="18" charset="0"/>
                <a:cs typeface="Arial" panose="020B0604020202020204" pitchFamily="34" charset="0"/>
              </a:rPr>
              <a:t>For example, it is always possible to assign an int value to a long variable. </a:t>
            </a:r>
          </a:p>
          <a:p>
            <a:r>
              <a:rPr lang="en-IN" sz="2400" dirty="0">
                <a:effectLst/>
                <a:latin typeface="Bookman Old Style" panose="02050604050505020204" pitchFamily="18" charset="0"/>
                <a:ea typeface="Bookman Old Style" panose="02050604050505020204" pitchFamily="18" charset="0"/>
                <a:cs typeface="Arial" panose="020B0604020202020204" pitchFamily="34" charset="0"/>
              </a:rPr>
              <a:t>However, not all types are compatible, and thus, not all type conversions are implicitly allowed.</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r>
              <a:rPr lang="en-IN" sz="2400" dirty="0">
                <a:effectLst/>
                <a:latin typeface="Bookman Old Style" panose="02050604050505020204" pitchFamily="18" charset="0"/>
                <a:ea typeface="Bookman Old Style" panose="02050604050505020204" pitchFamily="18" charset="0"/>
                <a:cs typeface="Arial" panose="020B0604020202020204" pitchFamily="34" charset="0"/>
              </a:rPr>
              <a:t>For instance, there is no conversion defined from double to byte. But it is possible for conversion between incompatible types. To do so, you must use a cast, which performs an explicit conversion between incompatible types.</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endParaRPr lang="en-IN" sz="2400" dirty="0"/>
          </a:p>
        </p:txBody>
      </p:sp>
    </p:spTree>
    <p:extLst>
      <p:ext uri="{BB962C8B-B14F-4D97-AF65-F5344CB8AC3E}">
        <p14:creationId xmlns:p14="http://schemas.microsoft.com/office/powerpoint/2010/main" val="3894533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B1B31E-6C70-2361-3B80-5E43184907A6}"/>
              </a:ext>
            </a:extLst>
          </p:cNvPr>
          <p:cNvSpPr>
            <a:spLocks noGrp="1"/>
          </p:cNvSpPr>
          <p:nvPr>
            <p:ph idx="1"/>
          </p:nvPr>
        </p:nvSpPr>
        <p:spPr>
          <a:xfrm>
            <a:off x="1823267" y="681318"/>
            <a:ext cx="9683470" cy="6111687"/>
          </a:xfrm>
        </p:spPr>
        <p:txBody>
          <a:bodyPr>
            <a:normAutofit/>
          </a:bodyPr>
          <a:lstStyle/>
          <a:p>
            <a:r>
              <a:rPr lang="en-IN" sz="2000" b="1" dirty="0">
                <a:effectLst/>
                <a:latin typeface="Bookman Old Style" panose="02050604050505020204" pitchFamily="18" charset="0"/>
                <a:ea typeface="Bookman Old Style" panose="02050604050505020204" pitchFamily="18" charset="0"/>
                <a:cs typeface="Arial" panose="020B0604020202020204" pitchFamily="34" charset="0"/>
              </a:rPr>
              <a:t>Java‘s Automatic Conversions</a:t>
            </a:r>
            <a:endParaRPr lang="en-IN" sz="2000" dirty="0">
              <a:effectLst/>
              <a:latin typeface="Calibri" panose="020F0502020204030204" pitchFamily="34" charset="0"/>
              <a:ea typeface="Calibri" panose="020F0502020204030204" pitchFamily="34" charset="0"/>
              <a:cs typeface="Arial" panose="020B0604020202020204" pitchFamily="34" charset="0"/>
            </a:endParaRPr>
          </a:p>
          <a:p>
            <a:pPr marR="12700" algn="just"/>
            <a:r>
              <a:rPr lang="en-IN" sz="2000" dirty="0">
                <a:effectLst/>
                <a:latin typeface="Bookman Old Style" panose="02050604050505020204" pitchFamily="18" charset="0"/>
                <a:ea typeface="Bookman Old Style" panose="02050604050505020204" pitchFamily="18" charset="0"/>
                <a:cs typeface="Arial" panose="020B0604020202020204" pitchFamily="34" charset="0"/>
              </a:rPr>
              <a:t>When one type of data is assigned to another type of variable, an automatic type conversion will take place if the following two conditions are satisfied:</a:t>
            </a:r>
            <a:endParaRPr lang="en-IN" sz="20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buFont typeface="Arial" panose="020B0604020202020204" pitchFamily="34" charset="0"/>
              <a:buChar char="•"/>
              <a:tabLst>
                <a:tab pos="127000" algn="l"/>
              </a:tabLst>
            </a:pPr>
            <a:r>
              <a:rPr lang="en-IN" sz="2000" dirty="0">
                <a:effectLst/>
                <a:latin typeface="Bookman Old Style" panose="02050604050505020204" pitchFamily="18" charset="0"/>
                <a:ea typeface="Bookman Old Style" panose="02050604050505020204" pitchFamily="18" charset="0"/>
                <a:cs typeface="Arial" panose="020B0604020202020204" pitchFamily="34" charset="0"/>
              </a:rPr>
              <a:t>The two types are compatible.</a:t>
            </a:r>
            <a:endParaRPr lang="en-IN" sz="20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buFont typeface="Arial" panose="020B0604020202020204" pitchFamily="34" charset="0"/>
              <a:buChar char="•"/>
              <a:tabLst>
                <a:tab pos="127000" algn="l"/>
              </a:tabLst>
            </a:pPr>
            <a:r>
              <a:rPr lang="en-IN" sz="2000" dirty="0">
                <a:effectLst/>
                <a:latin typeface="Bookman Old Style" panose="02050604050505020204" pitchFamily="18" charset="0"/>
                <a:ea typeface="Bookman Old Style" panose="02050604050505020204" pitchFamily="18" charset="0"/>
                <a:cs typeface="Arial" panose="020B0604020202020204" pitchFamily="34" charset="0"/>
              </a:rPr>
              <a:t>The destination type is larger than the source type.</a:t>
            </a:r>
          </a:p>
          <a:p>
            <a:pPr marR="12700" algn="just"/>
            <a:r>
              <a:rPr lang="en-IN" sz="2000" dirty="0">
                <a:effectLst/>
                <a:latin typeface="Bookman Old Style" panose="02050604050505020204" pitchFamily="18" charset="0"/>
                <a:ea typeface="Bookman Old Style" panose="02050604050505020204" pitchFamily="18" charset="0"/>
                <a:cs typeface="Arial" panose="020B0604020202020204" pitchFamily="34" charset="0"/>
              </a:rPr>
              <a:t>When these two conditions are met, a widening conversion takes place. </a:t>
            </a:r>
          </a:p>
          <a:p>
            <a:pPr marR="12700" algn="just"/>
            <a:r>
              <a:rPr lang="en-IN" sz="2000" dirty="0">
                <a:effectLst/>
                <a:latin typeface="Bookman Old Style" panose="02050604050505020204" pitchFamily="18" charset="0"/>
                <a:ea typeface="Bookman Old Style" panose="02050604050505020204" pitchFamily="18" charset="0"/>
                <a:cs typeface="Arial" panose="020B0604020202020204" pitchFamily="34" charset="0"/>
              </a:rPr>
              <a:t>For example, the int type is always large enough to hold all valid byte values, so no explicit cast statement is required. For widening conversions, the numeric types, including integer and floating-point types, are compatible with each other. </a:t>
            </a:r>
          </a:p>
          <a:p>
            <a:pPr marR="12700" algn="just"/>
            <a:r>
              <a:rPr lang="en-IN" sz="2000" dirty="0">
                <a:effectLst/>
                <a:latin typeface="Bookman Old Style" panose="02050604050505020204" pitchFamily="18" charset="0"/>
                <a:ea typeface="Bookman Old Style" panose="02050604050505020204" pitchFamily="18" charset="0"/>
                <a:cs typeface="Arial" panose="020B0604020202020204" pitchFamily="34" charset="0"/>
              </a:rPr>
              <a:t>However, the numeric types are not compatible with char or </a:t>
            </a:r>
            <a:r>
              <a:rPr lang="en-IN" sz="2000" dirty="0" err="1">
                <a:effectLst/>
                <a:latin typeface="Bookman Old Style" panose="02050604050505020204" pitchFamily="18" charset="0"/>
                <a:ea typeface="Bookman Old Style" panose="02050604050505020204" pitchFamily="18" charset="0"/>
                <a:cs typeface="Arial" panose="020B0604020202020204" pitchFamily="34" charset="0"/>
              </a:rPr>
              <a:t>boolean</a:t>
            </a:r>
            <a:r>
              <a:rPr lang="en-IN" sz="2000" dirty="0">
                <a:effectLst/>
                <a:latin typeface="Bookman Old Style" panose="02050604050505020204" pitchFamily="18" charset="0"/>
                <a:ea typeface="Bookman Old Style" panose="02050604050505020204" pitchFamily="18" charset="0"/>
                <a:cs typeface="Arial" panose="020B0604020202020204" pitchFamily="34" charset="0"/>
              </a:rPr>
              <a:t>. Also, char and </a:t>
            </a:r>
            <a:r>
              <a:rPr lang="en-IN" sz="2000" dirty="0" err="1">
                <a:effectLst/>
                <a:latin typeface="Bookman Old Style" panose="02050604050505020204" pitchFamily="18" charset="0"/>
                <a:ea typeface="Bookman Old Style" panose="02050604050505020204" pitchFamily="18" charset="0"/>
                <a:cs typeface="Arial" panose="020B0604020202020204" pitchFamily="34" charset="0"/>
              </a:rPr>
              <a:t>boolean</a:t>
            </a:r>
            <a:r>
              <a:rPr lang="en-IN" sz="2000" dirty="0">
                <a:effectLst/>
                <a:latin typeface="Bookman Old Style" panose="02050604050505020204" pitchFamily="18" charset="0"/>
                <a:ea typeface="Bookman Old Style" panose="02050604050505020204" pitchFamily="18" charset="0"/>
                <a:cs typeface="Arial" panose="020B0604020202020204" pitchFamily="34" charset="0"/>
              </a:rPr>
              <a:t> are not compatible with each other.</a:t>
            </a:r>
            <a:endParaRPr lang="en-IN" sz="2000" dirty="0">
              <a:effectLst/>
              <a:latin typeface="Calibri" panose="020F0502020204030204" pitchFamily="34" charset="0"/>
              <a:ea typeface="Calibri" panose="020F0502020204030204" pitchFamily="34" charset="0"/>
              <a:cs typeface="Arial" panose="020B0604020202020204" pitchFamily="34" charset="0"/>
            </a:endParaRPr>
          </a:p>
          <a:p>
            <a:pPr marR="12700" algn="just"/>
            <a:r>
              <a:rPr lang="en-IN" sz="2000" dirty="0">
                <a:effectLst/>
                <a:latin typeface="Bookman Old Style" panose="02050604050505020204" pitchFamily="18" charset="0"/>
                <a:ea typeface="Bookman Old Style" panose="02050604050505020204" pitchFamily="18" charset="0"/>
                <a:cs typeface="Arial" panose="020B0604020202020204" pitchFamily="34" charset="0"/>
              </a:rPr>
              <a:t>Java also performs an automatic type conversion when storing a literal integer constant into variables of type byte, short, or long.</a:t>
            </a:r>
            <a:endParaRPr lang="en-IN" sz="2000" dirty="0">
              <a:effectLst/>
              <a:latin typeface="Calibri" panose="020F0502020204030204" pitchFamily="34" charset="0"/>
              <a:ea typeface="Calibri" panose="020F0502020204030204" pitchFamily="34" charset="0"/>
              <a:cs typeface="Arial" panose="020B0604020202020204" pitchFamily="34" charset="0"/>
            </a:endParaRPr>
          </a:p>
          <a:p>
            <a:endParaRPr lang="en-IN" sz="2000" dirty="0"/>
          </a:p>
        </p:txBody>
      </p:sp>
    </p:spTree>
    <p:extLst>
      <p:ext uri="{BB962C8B-B14F-4D97-AF65-F5344CB8AC3E}">
        <p14:creationId xmlns:p14="http://schemas.microsoft.com/office/powerpoint/2010/main" val="2073997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1C14-526B-C910-B134-B88A9FA07365}"/>
              </a:ext>
            </a:extLst>
          </p:cNvPr>
          <p:cNvSpPr>
            <a:spLocks noGrp="1"/>
          </p:cNvSpPr>
          <p:nvPr>
            <p:ph type="title"/>
          </p:nvPr>
        </p:nvSpPr>
        <p:spPr/>
        <p:txBody>
          <a:bodyPr>
            <a:normAutofit/>
          </a:bodyPr>
          <a:lstStyle/>
          <a:p>
            <a:r>
              <a:rPr lang="en-IN" dirty="0"/>
              <a:t>Casting Incompatible Types</a:t>
            </a:r>
          </a:p>
        </p:txBody>
      </p:sp>
      <p:sp>
        <p:nvSpPr>
          <p:cNvPr id="3" name="Content Placeholder 2">
            <a:extLst>
              <a:ext uri="{FF2B5EF4-FFF2-40B4-BE49-F238E27FC236}">
                <a16:creationId xmlns:a16="http://schemas.microsoft.com/office/drawing/2014/main" id="{A2911DC5-D66D-4D29-DC11-29960A8624FA}"/>
              </a:ext>
            </a:extLst>
          </p:cNvPr>
          <p:cNvSpPr>
            <a:spLocks noGrp="1"/>
          </p:cNvSpPr>
          <p:nvPr>
            <p:ph idx="1"/>
          </p:nvPr>
        </p:nvSpPr>
        <p:spPr>
          <a:xfrm>
            <a:off x="949125" y="1281953"/>
            <a:ext cx="11242876" cy="5813328"/>
          </a:xfrm>
        </p:spPr>
        <p:txBody>
          <a:bodyPr>
            <a:normAutofit fontScale="92500"/>
          </a:bodyPr>
          <a:lstStyle/>
          <a:p>
            <a:pPr marR="12700" algn="just"/>
            <a:r>
              <a:rPr lang="en-IN" sz="2400" dirty="0">
                <a:effectLst/>
                <a:latin typeface="Bookman Old Style" panose="02050604050505020204" pitchFamily="18" charset="0"/>
                <a:ea typeface="Bookman Old Style" panose="02050604050505020204" pitchFamily="18" charset="0"/>
                <a:cs typeface="Arial" panose="020B0604020202020204" pitchFamily="34" charset="0"/>
              </a:rPr>
              <a:t>The automatic type conversions are helpful, they will not fulfil all needs. For example, if we want to assign an int value to a byte variable. </a:t>
            </a:r>
          </a:p>
          <a:p>
            <a:pPr marR="12700" algn="just"/>
            <a:r>
              <a:rPr lang="en-IN" sz="2400" dirty="0">
                <a:effectLst/>
                <a:latin typeface="Bookman Old Style" panose="02050604050505020204" pitchFamily="18" charset="0"/>
                <a:ea typeface="Bookman Old Style" panose="02050604050505020204" pitchFamily="18" charset="0"/>
                <a:cs typeface="Arial" panose="020B0604020202020204" pitchFamily="34" charset="0"/>
              </a:rPr>
              <a:t>This conversion will not be performed automatically, because a byte is smaller than an int. </a:t>
            </a:r>
          </a:p>
          <a:p>
            <a:pPr marR="12700" algn="just"/>
            <a:r>
              <a:rPr lang="en-IN" sz="2400" dirty="0">
                <a:effectLst/>
                <a:latin typeface="Bookman Old Style" panose="02050604050505020204" pitchFamily="18" charset="0"/>
                <a:ea typeface="Bookman Old Style" panose="02050604050505020204" pitchFamily="18" charset="0"/>
                <a:cs typeface="Arial" panose="020B0604020202020204" pitchFamily="34" charset="0"/>
              </a:rPr>
              <a:t>This kind of conversion is sometimes called a narrowing conversion, since you are explicitly making the value narrower so that it will fit into the target type.</a:t>
            </a:r>
            <a:r>
              <a:rPr lang="en-IN" sz="2400" dirty="0">
                <a:effectLst/>
                <a:latin typeface="Calibri" panose="020F0502020204030204" pitchFamily="34" charset="0"/>
                <a:ea typeface="Calibri" panose="020F0502020204030204" pitchFamily="34" charset="0"/>
                <a:cs typeface="Arial" panose="020B0604020202020204" pitchFamily="34" charset="0"/>
              </a:rPr>
              <a:t> </a:t>
            </a:r>
          </a:p>
          <a:p>
            <a:pPr marR="12700" algn="just"/>
            <a:r>
              <a:rPr lang="en-IN" sz="2400" dirty="0">
                <a:effectLst/>
                <a:latin typeface="Bookman Old Style" panose="02050604050505020204" pitchFamily="18" charset="0"/>
                <a:ea typeface="Bookman Old Style" panose="02050604050505020204" pitchFamily="18" charset="0"/>
                <a:cs typeface="Arial" panose="020B0604020202020204" pitchFamily="34" charset="0"/>
              </a:rPr>
              <a:t>To create a conversion between two incompatible types, you must use a cast. A cast is simply an explicit type conversion. It has this general form:</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400" dirty="0">
                <a:effectLst/>
                <a:latin typeface="Times New Roman" panose="02020603050405020304" pitchFamily="18" charset="0"/>
                <a:ea typeface="Times New Roman" panose="02020603050405020304" pitchFamily="18" charset="0"/>
                <a:cs typeface="Arial" panose="020B0604020202020204" pitchFamily="34" charset="0"/>
              </a:rPr>
              <a:t> </a:t>
            </a:r>
            <a:r>
              <a:rPr lang="en-IN" sz="2400" b="1" dirty="0">
                <a:effectLst/>
                <a:latin typeface="Bookman Old Style" panose="02050604050505020204" pitchFamily="18" charset="0"/>
                <a:ea typeface="Bookman Old Style" panose="02050604050505020204" pitchFamily="18" charset="0"/>
                <a:cs typeface="Arial" panose="020B0604020202020204" pitchFamily="34" charset="0"/>
              </a:rPr>
              <a:t>target-type) value</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pPr marR="12700" algn="just"/>
            <a:r>
              <a:rPr lang="en-IN" sz="2400" dirty="0">
                <a:effectLst/>
                <a:latin typeface="Bookman Old Style" panose="02050604050505020204" pitchFamily="18" charset="0"/>
                <a:ea typeface="Bookman Old Style" panose="02050604050505020204" pitchFamily="18" charset="0"/>
                <a:cs typeface="Arial" panose="020B0604020202020204" pitchFamily="34" charset="0"/>
              </a:rPr>
              <a:t>Here, target-type specifies the desired type to convert the specified value to.</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400" dirty="0">
                <a:effectLst/>
                <a:latin typeface="Bookman Old Style" panose="02050604050505020204" pitchFamily="18" charset="0"/>
                <a:ea typeface="Bookman Old Style" panose="02050604050505020204" pitchFamily="18" charset="0"/>
                <a:cs typeface="Arial" panose="020B0604020202020204" pitchFamily="34" charset="0"/>
              </a:rPr>
              <a:t>Example:  int a;</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400" dirty="0">
                <a:effectLst/>
                <a:latin typeface="Bookman Old Style" panose="02050604050505020204" pitchFamily="18" charset="0"/>
                <a:ea typeface="Bookman Old Style" panose="02050604050505020204" pitchFamily="18" charset="0"/>
                <a:cs typeface="Arial" panose="020B0604020202020204" pitchFamily="34" charset="0"/>
              </a:rPr>
              <a:t>byte b;   </a:t>
            </a:r>
            <a:r>
              <a:rPr lang="en-IN" sz="2400" b="1" dirty="0">
                <a:effectLst/>
                <a:latin typeface="Bookman Old Style" panose="02050604050505020204" pitchFamily="18" charset="0"/>
                <a:ea typeface="Bookman Old Style" panose="02050604050505020204" pitchFamily="18" charset="0"/>
                <a:cs typeface="Arial" panose="020B0604020202020204" pitchFamily="34" charset="0"/>
              </a:rPr>
              <a:t>b = (byte) a;</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endParaRPr lang="en-IN" sz="2400" dirty="0"/>
          </a:p>
        </p:txBody>
      </p:sp>
    </p:spTree>
    <p:extLst>
      <p:ext uri="{BB962C8B-B14F-4D97-AF65-F5344CB8AC3E}">
        <p14:creationId xmlns:p14="http://schemas.microsoft.com/office/powerpoint/2010/main" val="7591593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17D8E-543D-51E9-1724-645B2C4B8072}"/>
              </a:ext>
            </a:extLst>
          </p:cNvPr>
          <p:cNvSpPr>
            <a:spLocks noGrp="1"/>
          </p:cNvSpPr>
          <p:nvPr>
            <p:ph type="title"/>
          </p:nvPr>
        </p:nvSpPr>
        <p:spPr>
          <a:xfrm>
            <a:off x="1492509" y="1295441"/>
            <a:ext cx="10583119" cy="3302601"/>
          </a:xfrm>
        </p:spPr>
        <p:txBody>
          <a:bodyPr>
            <a:noAutofit/>
          </a:bodyPr>
          <a:lstStyle/>
          <a:p>
            <a:r>
              <a:rPr lang="en-IN" sz="2800" dirty="0">
                <a:effectLst/>
                <a:latin typeface="Bookman Old Style" panose="02050604050505020204" pitchFamily="18" charset="0"/>
                <a:ea typeface="Bookman Old Style" panose="02050604050505020204" pitchFamily="18" charset="0"/>
                <a:cs typeface="Arial" panose="020B0604020202020204" pitchFamily="34" charset="0"/>
              </a:rPr>
              <a:t>A different type of conversion will occur when a floating-point value is assigned to an integer type: </a:t>
            </a:r>
            <a:r>
              <a:rPr lang="en-IN" sz="2800" b="1" dirty="0">
                <a:effectLst/>
                <a:latin typeface="Bookman Old Style" panose="02050604050505020204" pitchFamily="18" charset="0"/>
                <a:ea typeface="Bookman Old Style" panose="02050604050505020204" pitchFamily="18" charset="0"/>
                <a:cs typeface="Arial" panose="020B0604020202020204" pitchFamily="34" charset="0"/>
              </a:rPr>
              <a:t>truncation.</a:t>
            </a:r>
            <a:r>
              <a:rPr lang="en-IN" sz="2800" dirty="0">
                <a:effectLst/>
                <a:latin typeface="Bookman Old Style" panose="02050604050505020204" pitchFamily="18" charset="0"/>
                <a:ea typeface="Bookman Old Style" panose="02050604050505020204" pitchFamily="18" charset="0"/>
                <a:cs typeface="Arial" panose="020B0604020202020204" pitchFamily="34" charset="0"/>
              </a:rPr>
              <a:t> </a:t>
            </a:r>
            <a:br>
              <a:rPr lang="en-IN" sz="2800" dirty="0">
                <a:effectLst/>
                <a:latin typeface="Bookman Old Style" panose="02050604050505020204" pitchFamily="18" charset="0"/>
                <a:ea typeface="Bookman Old Style" panose="02050604050505020204" pitchFamily="18" charset="0"/>
                <a:cs typeface="Arial" panose="020B0604020202020204" pitchFamily="34" charset="0"/>
              </a:rPr>
            </a:br>
            <a:br>
              <a:rPr lang="en-IN" sz="2800" dirty="0">
                <a:effectLst/>
                <a:latin typeface="Bookman Old Style" panose="02050604050505020204" pitchFamily="18" charset="0"/>
                <a:ea typeface="Bookman Old Style" panose="02050604050505020204" pitchFamily="18" charset="0"/>
                <a:cs typeface="Arial" panose="020B0604020202020204" pitchFamily="34" charset="0"/>
              </a:rPr>
            </a:br>
            <a:r>
              <a:rPr lang="en-IN" sz="2800" dirty="0">
                <a:effectLst/>
                <a:latin typeface="Bookman Old Style" panose="02050604050505020204" pitchFamily="18" charset="0"/>
                <a:ea typeface="Bookman Old Style" panose="02050604050505020204" pitchFamily="18" charset="0"/>
                <a:cs typeface="Arial" panose="020B0604020202020204" pitchFamily="34" charset="0"/>
              </a:rPr>
              <a:t>As integers do not have fractional components so, when a floating-point value is assigned to an integer type, the fractional component is lost.</a:t>
            </a:r>
            <a:endParaRPr lang="en-IN" sz="2800" dirty="0"/>
          </a:p>
        </p:txBody>
      </p:sp>
    </p:spTree>
    <p:extLst>
      <p:ext uri="{BB962C8B-B14F-4D97-AF65-F5344CB8AC3E}">
        <p14:creationId xmlns:p14="http://schemas.microsoft.com/office/powerpoint/2010/main" val="26920200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277465-4315-1170-521A-17547DA454E7}"/>
              </a:ext>
            </a:extLst>
          </p:cNvPr>
          <p:cNvSpPr>
            <a:spLocks noGrp="1"/>
          </p:cNvSpPr>
          <p:nvPr>
            <p:ph idx="1"/>
          </p:nvPr>
        </p:nvSpPr>
        <p:spPr>
          <a:xfrm>
            <a:off x="2083443" y="208344"/>
            <a:ext cx="9421169" cy="7002684"/>
          </a:xfrm>
        </p:spPr>
        <p:txBody>
          <a:bodyPr>
            <a:normAutofit/>
          </a:bodyPr>
          <a:lstStyle/>
          <a:p>
            <a:pPr marL="0" indent="0">
              <a:buNone/>
            </a:pPr>
            <a:r>
              <a:rPr lang="en-IN" sz="2400" b="1" dirty="0"/>
              <a:t>class Conversion</a:t>
            </a:r>
          </a:p>
          <a:p>
            <a:pPr marL="0" indent="0">
              <a:buNone/>
            </a:pPr>
            <a:r>
              <a:rPr lang="en-IN" sz="2400" b="1" dirty="0"/>
              <a:t>{   public static void main(String </a:t>
            </a:r>
            <a:r>
              <a:rPr lang="en-IN" sz="2400" b="1" dirty="0" err="1"/>
              <a:t>args</a:t>
            </a:r>
            <a:r>
              <a:rPr lang="en-IN" sz="2400" b="1" dirty="0"/>
              <a:t>[])</a:t>
            </a:r>
          </a:p>
          <a:p>
            <a:pPr marL="0" indent="0">
              <a:buNone/>
            </a:pPr>
            <a:r>
              <a:rPr lang="en-IN" sz="2400" b="1" dirty="0"/>
              <a:t>      {	byte b;   int </a:t>
            </a:r>
            <a:r>
              <a:rPr lang="en-IN" sz="2400" b="1" dirty="0" err="1"/>
              <a:t>i</a:t>
            </a:r>
            <a:r>
              <a:rPr lang="en-IN" sz="2400" b="1" dirty="0"/>
              <a:t> = 257;   double d = 323.142;</a:t>
            </a:r>
          </a:p>
          <a:p>
            <a:pPr marL="0" indent="0">
              <a:buNone/>
            </a:pPr>
            <a:r>
              <a:rPr lang="en-IN" sz="2400" b="1" dirty="0"/>
              <a:t>		</a:t>
            </a:r>
            <a:r>
              <a:rPr lang="en-IN" sz="2400" b="1" dirty="0" err="1"/>
              <a:t>System.out.println</a:t>
            </a:r>
            <a:r>
              <a:rPr lang="en-IN" sz="2400" b="1" dirty="0"/>
              <a:t>("\</a:t>
            </a:r>
            <a:r>
              <a:rPr lang="en-IN" sz="2400" b="1" dirty="0" err="1"/>
              <a:t>nConversion</a:t>
            </a:r>
            <a:r>
              <a:rPr lang="en-IN" sz="2400" b="1" dirty="0"/>
              <a:t> of int to byte.");</a:t>
            </a:r>
          </a:p>
          <a:p>
            <a:pPr marL="0" indent="0">
              <a:buNone/>
            </a:pPr>
            <a:r>
              <a:rPr lang="en-IN" sz="2400" b="1" dirty="0"/>
              <a:t>		b = (byte) </a:t>
            </a:r>
            <a:r>
              <a:rPr lang="en-IN" sz="2400" b="1" dirty="0" err="1"/>
              <a:t>i</a:t>
            </a:r>
            <a:r>
              <a:rPr lang="en-IN" sz="2400" b="1" dirty="0"/>
              <a:t>;</a:t>
            </a:r>
          </a:p>
          <a:p>
            <a:pPr marL="0" indent="0">
              <a:buNone/>
            </a:pPr>
            <a:r>
              <a:rPr lang="en-IN" sz="2400" b="1" dirty="0"/>
              <a:t>		</a:t>
            </a:r>
            <a:r>
              <a:rPr lang="en-IN" sz="2400" b="1" dirty="0" err="1"/>
              <a:t>System.out.println</a:t>
            </a:r>
            <a:r>
              <a:rPr lang="en-IN" sz="2400" b="1" dirty="0"/>
              <a:t>("</a:t>
            </a:r>
            <a:r>
              <a:rPr lang="en-IN" sz="2400" b="1" dirty="0" err="1"/>
              <a:t>i</a:t>
            </a:r>
            <a:r>
              <a:rPr lang="en-IN" sz="2400" b="1" dirty="0"/>
              <a:t> and b " + </a:t>
            </a:r>
            <a:r>
              <a:rPr lang="en-IN" sz="2400" b="1" dirty="0" err="1"/>
              <a:t>i</a:t>
            </a:r>
            <a:r>
              <a:rPr lang="en-IN" sz="2400" b="1" dirty="0"/>
              <a:t> + " " + b);</a:t>
            </a:r>
          </a:p>
          <a:p>
            <a:pPr marL="0" indent="0">
              <a:buNone/>
            </a:pPr>
            <a:r>
              <a:rPr lang="en-IN" sz="2400" b="1" dirty="0"/>
              <a:t>		</a:t>
            </a:r>
            <a:r>
              <a:rPr lang="en-IN" sz="2400" b="1" dirty="0" err="1"/>
              <a:t>System.out.println</a:t>
            </a:r>
            <a:r>
              <a:rPr lang="en-IN" sz="2400" b="1" dirty="0"/>
              <a:t>("\</a:t>
            </a:r>
            <a:r>
              <a:rPr lang="en-IN" sz="2400" b="1" dirty="0" err="1"/>
              <a:t>nConversion</a:t>
            </a:r>
            <a:r>
              <a:rPr lang="en-IN" sz="2400" b="1" dirty="0"/>
              <a:t> of double to int.");</a:t>
            </a:r>
          </a:p>
          <a:p>
            <a:pPr marL="0" indent="0">
              <a:buNone/>
            </a:pPr>
            <a:r>
              <a:rPr lang="en-IN" sz="2400" b="1" dirty="0"/>
              <a:t>		</a:t>
            </a:r>
            <a:r>
              <a:rPr lang="en-IN" sz="2400" b="1" dirty="0" err="1"/>
              <a:t>i</a:t>
            </a:r>
            <a:r>
              <a:rPr lang="en-IN" sz="2400" b="1" dirty="0"/>
              <a:t> = (int) d;</a:t>
            </a:r>
          </a:p>
          <a:p>
            <a:pPr marL="0" indent="0">
              <a:buNone/>
            </a:pPr>
            <a:r>
              <a:rPr lang="en-IN" sz="2400" b="1" dirty="0"/>
              <a:t>		</a:t>
            </a:r>
            <a:r>
              <a:rPr lang="en-IN" sz="2400" b="1" dirty="0" err="1"/>
              <a:t>System.out.println</a:t>
            </a:r>
            <a:r>
              <a:rPr lang="en-IN" sz="2400" b="1" dirty="0"/>
              <a:t>("d and </a:t>
            </a:r>
            <a:r>
              <a:rPr lang="en-IN" sz="2400" b="1" dirty="0" err="1"/>
              <a:t>i</a:t>
            </a:r>
            <a:r>
              <a:rPr lang="en-IN" sz="2400" b="1" dirty="0"/>
              <a:t> " + d + " " + </a:t>
            </a:r>
            <a:r>
              <a:rPr lang="en-IN" sz="2400" b="1" dirty="0" err="1"/>
              <a:t>i</a:t>
            </a:r>
            <a:r>
              <a:rPr lang="en-IN" sz="2400" b="1" dirty="0"/>
              <a:t>);</a:t>
            </a:r>
          </a:p>
          <a:p>
            <a:pPr marL="0" indent="0">
              <a:buNone/>
            </a:pPr>
            <a:r>
              <a:rPr lang="en-IN" sz="2400" b="1" dirty="0"/>
              <a:t>		</a:t>
            </a:r>
            <a:r>
              <a:rPr lang="en-IN" sz="2400" b="1" dirty="0" err="1"/>
              <a:t>System.out.println</a:t>
            </a:r>
            <a:r>
              <a:rPr lang="en-IN" sz="2400" b="1" dirty="0"/>
              <a:t>("\</a:t>
            </a:r>
            <a:r>
              <a:rPr lang="en-IN" sz="2400" b="1" dirty="0" err="1"/>
              <a:t>nConversion</a:t>
            </a:r>
            <a:r>
              <a:rPr lang="en-IN" sz="2400" b="1" dirty="0"/>
              <a:t> of double to byte.");</a:t>
            </a:r>
          </a:p>
          <a:p>
            <a:pPr marL="0" indent="0">
              <a:buNone/>
            </a:pPr>
            <a:r>
              <a:rPr lang="en-IN" sz="2400" b="1" dirty="0"/>
              <a:t>		b = (byte) d;    </a:t>
            </a:r>
            <a:r>
              <a:rPr lang="en-IN" sz="2400" b="1" dirty="0" err="1"/>
              <a:t>System.out.println</a:t>
            </a:r>
            <a:r>
              <a:rPr lang="en-IN" sz="2400" b="1" dirty="0"/>
              <a:t>("d and b " + d + " " + b);</a:t>
            </a:r>
          </a:p>
          <a:p>
            <a:pPr marL="0" indent="0">
              <a:buNone/>
            </a:pPr>
            <a:r>
              <a:rPr lang="en-IN" sz="2400" b="1" dirty="0"/>
              <a:t>	}</a:t>
            </a:r>
          </a:p>
          <a:p>
            <a:pPr marL="0" indent="0">
              <a:buNone/>
            </a:pPr>
            <a:r>
              <a:rPr lang="en-IN" sz="2400" b="1" dirty="0"/>
              <a:t>}</a:t>
            </a:r>
          </a:p>
          <a:p>
            <a:endParaRPr lang="en-IN" sz="2400" dirty="0"/>
          </a:p>
        </p:txBody>
      </p:sp>
    </p:spTree>
    <p:extLst>
      <p:ext uri="{BB962C8B-B14F-4D97-AF65-F5344CB8AC3E}">
        <p14:creationId xmlns:p14="http://schemas.microsoft.com/office/powerpoint/2010/main" val="20458444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81063B-D0B5-793E-258F-680CFE944ED8}"/>
              </a:ext>
            </a:extLst>
          </p:cNvPr>
          <p:cNvSpPr>
            <a:spLocks noGrp="1"/>
          </p:cNvSpPr>
          <p:nvPr>
            <p:ph idx="1"/>
          </p:nvPr>
        </p:nvSpPr>
        <p:spPr>
          <a:xfrm>
            <a:off x="2048719" y="428263"/>
            <a:ext cx="9455893" cy="5482959"/>
          </a:xfrm>
        </p:spPr>
        <p:txBody>
          <a:bodyPr>
            <a:normAutofit/>
          </a:bodyPr>
          <a:lstStyle/>
          <a:p>
            <a:r>
              <a:rPr lang="en-IN" sz="2400" dirty="0"/>
              <a:t>Int </a:t>
            </a:r>
            <a:r>
              <a:rPr lang="en-IN" sz="2400" dirty="0" err="1"/>
              <a:t>num</a:t>
            </a:r>
            <a:r>
              <a:rPr lang="en-IN" sz="2400" dirty="0"/>
              <a:t>=257;</a:t>
            </a:r>
          </a:p>
          <a:p>
            <a:endParaRPr lang="en-IN" sz="2400" dirty="0"/>
          </a:p>
          <a:p>
            <a:r>
              <a:rPr lang="en-IN" sz="2400" dirty="0"/>
              <a:t>100000001</a:t>
            </a:r>
          </a:p>
          <a:p>
            <a:endParaRPr lang="en-IN" sz="2400" dirty="0"/>
          </a:p>
        </p:txBody>
      </p:sp>
      <p:graphicFrame>
        <p:nvGraphicFramePr>
          <p:cNvPr id="4" name="Table 3">
            <a:extLst>
              <a:ext uri="{FF2B5EF4-FFF2-40B4-BE49-F238E27FC236}">
                <a16:creationId xmlns:a16="http://schemas.microsoft.com/office/drawing/2014/main" id="{AC05EACB-3AEF-08A7-786C-CEC6E44FE71A}"/>
              </a:ext>
            </a:extLst>
          </p:cNvPr>
          <p:cNvGraphicFramePr>
            <a:graphicFrameLocks noGrp="1"/>
          </p:cNvGraphicFramePr>
          <p:nvPr>
            <p:extLst>
              <p:ext uri="{D42A27DB-BD31-4B8C-83A1-F6EECF244321}">
                <p14:modId xmlns:p14="http://schemas.microsoft.com/office/powerpoint/2010/main" val="3815341954"/>
              </p:ext>
            </p:extLst>
          </p:nvPr>
        </p:nvGraphicFramePr>
        <p:xfrm>
          <a:off x="2048719" y="2181691"/>
          <a:ext cx="9681761" cy="2893070"/>
        </p:xfrm>
        <a:graphic>
          <a:graphicData uri="http://schemas.openxmlformats.org/drawingml/2006/table">
            <a:tbl>
              <a:tblPr firstRow="1" bandRow="1">
                <a:tableStyleId>{5C22544A-7EE6-4342-B048-85BDC9FD1C3A}</a:tableStyleId>
              </a:tblPr>
              <a:tblGrid>
                <a:gridCol w="880160">
                  <a:extLst>
                    <a:ext uri="{9D8B030D-6E8A-4147-A177-3AD203B41FA5}">
                      <a16:colId xmlns:a16="http://schemas.microsoft.com/office/drawing/2014/main" val="2793678692"/>
                    </a:ext>
                  </a:extLst>
                </a:gridCol>
                <a:gridCol w="880160">
                  <a:extLst>
                    <a:ext uri="{9D8B030D-6E8A-4147-A177-3AD203B41FA5}">
                      <a16:colId xmlns:a16="http://schemas.microsoft.com/office/drawing/2014/main" val="747973094"/>
                    </a:ext>
                  </a:extLst>
                </a:gridCol>
                <a:gridCol w="880160">
                  <a:extLst>
                    <a:ext uri="{9D8B030D-6E8A-4147-A177-3AD203B41FA5}">
                      <a16:colId xmlns:a16="http://schemas.microsoft.com/office/drawing/2014/main" val="2198938071"/>
                    </a:ext>
                  </a:extLst>
                </a:gridCol>
                <a:gridCol w="880160">
                  <a:extLst>
                    <a:ext uri="{9D8B030D-6E8A-4147-A177-3AD203B41FA5}">
                      <a16:colId xmlns:a16="http://schemas.microsoft.com/office/drawing/2014/main" val="580936858"/>
                    </a:ext>
                  </a:extLst>
                </a:gridCol>
                <a:gridCol w="880160">
                  <a:extLst>
                    <a:ext uri="{9D8B030D-6E8A-4147-A177-3AD203B41FA5}">
                      <a16:colId xmlns:a16="http://schemas.microsoft.com/office/drawing/2014/main" val="3319949286"/>
                    </a:ext>
                  </a:extLst>
                </a:gridCol>
                <a:gridCol w="880160">
                  <a:extLst>
                    <a:ext uri="{9D8B030D-6E8A-4147-A177-3AD203B41FA5}">
                      <a16:colId xmlns:a16="http://schemas.microsoft.com/office/drawing/2014/main" val="906922656"/>
                    </a:ext>
                  </a:extLst>
                </a:gridCol>
                <a:gridCol w="880160">
                  <a:extLst>
                    <a:ext uri="{9D8B030D-6E8A-4147-A177-3AD203B41FA5}">
                      <a16:colId xmlns:a16="http://schemas.microsoft.com/office/drawing/2014/main" val="2155975176"/>
                    </a:ext>
                  </a:extLst>
                </a:gridCol>
                <a:gridCol w="880160">
                  <a:extLst>
                    <a:ext uri="{9D8B030D-6E8A-4147-A177-3AD203B41FA5}">
                      <a16:colId xmlns:a16="http://schemas.microsoft.com/office/drawing/2014/main" val="2531151476"/>
                    </a:ext>
                  </a:extLst>
                </a:gridCol>
                <a:gridCol w="880160">
                  <a:extLst>
                    <a:ext uri="{9D8B030D-6E8A-4147-A177-3AD203B41FA5}">
                      <a16:colId xmlns:a16="http://schemas.microsoft.com/office/drawing/2014/main" val="2026968247"/>
                    </a:ext>
                  </a:extLst>
                </a:gridCol>
                <a:gridCol w="747793">
                  <a:extLst>
                    <a:ext uri="{9D8B030D-6E8A-4147-A177-3AD203B41FA5}">
                      <a16:colId xmlns:a16="http://schemas.microsoft.com/office/drawing/2014/main" val="3494488164"/>
                    </a:ext>
                  </a:extLst>
                </a:gridCol>
                <a:gridCol w="1012528">
                  <a:extLst>
                    <a:ext uri="{9D8B030D-6E8A-4147-A177-3AD203B41FA5}">
                      <a16:colId xmlns:a16="http://schemas.microsoft.com/office/drawing/2014/main" val="3866818576"/>
                    </a:ext>
                  </a:extLst>
                </a:gridCol>
              </a:tblGrid>
              <a:tr h="607070">
                <a:tc>
                  <a:txBody>
                    <a:bodyPr/>
                    <a:lstStyle/>
                    <a:p>
                      <a:r>
                        <a:rPr lang="en-IN" sz="2400" dirty="0"/>
                        <a:t>9</a:t>
                      </a:r>
                    </a:p>
                  </a:txBody>
                  <a:tcPr/>
                </a:tc>
                <a:tc>
                  <a:txBody>
                    <a:bodyPr/>
                    <a:lstStyle/>
                    <a:p>
                      <a:r>
                        <a:rPr lang="en-IN" sz="2400" dirty="0"/>
                        <a:t>8</a:t>
                      </a:r>
                    </a:p>
                  </a:txBody>
                  <a:tcPr/>
                </a:tc>
                <a:tc>
                  <a:txBody>
                    <a:bodyPr/>
                    <a:lstStyle/>
                    <a:p>
                      <a:r>
                        <a:rPr lang="en-IN" sz="2400" dirty="0"/>
                        <a:t>7</a:t>
                      </a:r>
                    </a:p>
                  </a:txBody>
                  <a:tcPr>
                    <a:solidFill>
                      <a:schemeClr val="accent1">
                        <a:lumMod val="60000"/>
                        <a:lumOff val="40000"/>
                      </a:schemeClr>
                    </a:solidFill>
                  </a:tcPr>
                </a:tc>
                <a:tc>
                  <a:txBody>
                    <a:bodyPr/>
                    <a:lstStyle/>
                    <a:p>
                      <a:r>
                        <a:rPr lang="en-IN" sz="2400" dirty="0"/>
                        <a:t>6</a:t>
                      </a:r>
                    </a:p>
                  </a:txBody>
                  <a:tcPr>
                    <a:solidFill>
                      <a:schemeClr val="accent1">
                        <a:lumMod val="60000"/>
                        <a:lumOff val="40000"/>
                      </a:schemeClr>
                    </a:solidFill>
                  </a:tcPr>
                </a:tc>
                <a:tc>
                  <a:txBody>
                    <a:bodyPr/>
                    <a:lstStyle/>
                    <a:p>
                      <a:r>
                        <a:rPr lang="en-IN" sz="2400" dirty="0"/>
                        <a:t>5</a:t>
                      </a:r>
                    </a:p>
                  </a:txBody>
                  <a:tcPr>
                    <a:solidFill>
                      <a:schemeClr val="accent1">
                        <a:lumMod val="60000"/>
                        <a:lumOff val="40000"/>
                      </a:schemeClr>
                    </a:solidFill>
                  </a:tcPr>
                </a:tc>
                <a:tc>
                  <a:txBody>
                    <a:bodyPr/>
                    <a:lstStyle/>
                    <a:p>
                      <a:r>
                        <a:rPr lang="en-IN" sz="2400" dirty="0"/>
                        <a:t>4</a:t>
                      </a:r>
                    </a:p>
                  </a:txBody>
                  <a:tcPr>
                    <a:solidFill>
                      <a:schemeClr val="accent1">
                        <a:lumMod val="60000"/>
                        <a:lumOff val="40000"/>
                      </a:schemeClr>
                    </a:solidFill>
                  </a:tcPr>
                </a:tc>
                <a:tc>
                  <a:txBody>
                    <a:bodyPr/>
                    <a:lstStyle/>
                    <a:p>
                      <a:r>
                        <a:rPr lang="en-IN" sz="2400" dirty="0"/>
                        <a:t>3</a:t>
                      </a:r>
                    </a:p>
                  </a:txBody>
                  <a:tcPr>
                    <a:solidFill>
                      <a:schemeClr val="accent1">
                        <a:lumMod val="60000"/>
                        <a:lumOff val="40000"/>
                      </a:schemeClr>
                    </a:solidFill>
                  </a:tcPr>
                </a:tc>
                <a:tc>
                  <a:txBody>
                    <a:bodyPr/>
                    <a:lstStyle/>
                    <a:p>
                      <a:r>
                        <a:rPr lang="en-IN" sz="2400" dirty="0"/>
                        <a:t>2</a:t>
                      </a:r>
                    </a:p>
                  </a:txBody>
                  <a:tcPr>
                    <a:solidFill>
                      <a:schemeClr val="accent1">
                        <a:lumMod val="60000"/>
                        <a:lumOff val="40000"/>
                      </a:schemeClr>
                    </a:solidFill>
                  </a:tcPr>
                </a:tc>
                <a:tc>
                  <a:txBody>
                    <a:bodyPr/>
                    <a:lstStyle/>
                    <a:p>
                      <a:r>
                        <a:rPr lang="en-IN" sz="2400" dirty="0"/>
                        <a:t>1</a:t>
                      </a:r>
                    </a:p>
                  </a:txBody>
                  <a:tcPr>
                    <a:solidFill>
                      <a:schemeClr val="accent1">
                        <a:lumMod val="60000"/>
                        <a:lumOff val="40000"/>
                      </a:schemeClr>
                    </a:solidFill>
                  </a:tcPr>
                </a:tc>
                <a:tc>
                  <a:txBody>
                    <a:bodyPr/>
                    <a:lstStyle/>
                    <a:p>
                      <a:r>
                        <a:rPr lang="en-IN" sz="2400" dirty="0"/>
                        <a:t>0</a:t>
                      </a:r>
                    </a:p>
                  </a:txBody>
                  <a:tcPr>
                    <a:solidFill>
                      <a:schemeClr val="accent1">
                        <a:lumMod val="60000"/>
                        <a:lumOff val="40000"/>
                      </a:schemeClr>
                    </a:solidFill>
                  </a:tcPr>
                </a:tc>
                <a:tc>
                  <a:txBody>
                    <a:bodyPr/>
                    <a:lstStyle/>
                    <a:p>
                      <a:endParaRPr lang="en-IN" sz="2400" dirty="0"/>
                    </a:p>
                  </a:txBody>
                  <a:tcPr/>
                </a:tc>
                <a:extLst>
                  <a:ext uri="{0D108BD9-81ED-4DB2-BD59-A6C34878D82A}">
                    <a16:rowId xmlns:a16="http://schemas.microsoft.com/office/drawing/2014/main" val="353091605"/>
                  </a:ext>
                </a:extLst>
              </a:tr>
              <a:tr h="368804">
                <a:tc>
                  <a:txBody>
                    <a:bodyPr/>
                    <a:lstStyle/>
                    <a:p>
                      <a:endParaRPr lang="en-IN" sz="2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1</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1</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a:ln>
                            <a:noFill/>
                          </a:ln>
                          <a:solidFill>
                            <a:prstClr val="black"/>
                          </a:solidFill>
                          <a:effectLst/>
                          <a:uLnTx/>
                          <a:uFillTx/>
                          <a:latin typeface="Century Gothic" panose="020B0502020202020204"/>
                          <a:ea typeface="+mn-ea"/>
                          <a:cs typeface="+mn-cs"/>
                        </a:rPr>
                        <a:t>1</a:t>
                      </a:r>
                      <a:endPar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endParaRP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a:ln>
                            <a:noFill/>
                          </a:ln>
                          <a:solidFill>
                            <a:prstClr val="black"/>
                          </a:solidFill>
                          <a:effectLst/>
                          <a:uLnTx/>
                          <a:uFillTx/>
                          <a:latin typeface="Century Gothic" panose="020B0502020202020204"/>
                          <a:ea typeface="+mn-ea"/>
                          <a:cs typeface="+mn-cs"/>
                        </a:rPr>
                        <a:t>1</a:t>
                      </a:r>
                      <a:endPar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endParaRP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a:ln>
                            <a:noFill/>
                          </a:ln>
                          <a:solidFill>
                            <a:prstClr val="black"/>
                          </a:solidFill>
                          <a:effectLst/>
                          <a:uLnTx/>
                          <a:uFillTx/>
                          <a:latin typeface="Century Gothic" panose="020B0502020202020204"/>
                          <a:ea typeface="+mn-ea"/>
                          <a:cs typeface="+mn-cs"/>
                        </a:rPr>
                        <a:t>1</a:t>
                      </a:r>
                      <a:endPar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endParaRP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a:ln>
                            <a:noFill/>
                          </a:ln>
                          <a:solidFill>
                            <a:prstClr val="black"/>
                          </a:solidFill>
                          <a:effectLst/>
                          <a:uLnTx/>
                          <a:uFillTx/>
                          <a:latin typeface="Century Gothic" panose="020B0502020202020204"/>
                          <a:ea typeface="+mn-ea"/>
                          <a:cs typeface="+mn-cs"/>
                        </a:rPr>
                        <a:t>1</a:t>
                      </a:r>
                      <a:endPar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endParaRP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1</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1</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=255</a:t>
                      </a:r>
                    </a:p>
                  </a:txBody>
                  <a:tcPr/>
                </a:tc>
                <a:extLst>
                  <a:ext uri="{0D108BD9-81ED-4DB2-BD59-A6C34878D82A}">
                    <a16:rowId xmlns:a16="http://schemas.microsoft.com/office/drawing/2014/main" val="769759721"/>
                  </a:ext>
                </a:extLst>
              </a:tr>
              <a:tr h="370840">
                <a:tc>
                  <a:txBody>
                    <a:bodyPr/>
                    <a:lstStyle/>
                    <a:p>
                      <a:r>
                        <a:rPr lang="en-IN" sz="2400" dirty="0"/>
                        <a:t>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=256</a:t>
                      </a:r>
                    </a:p>
                  </a:txBody>
                  <a:tcPr/>
                </a:tc>
                <a:extLst>
                  <a:ext uri="{0D108BD9-81ED-4DB2-BD59-A6C34878D82A}">
                    <a16:rowId xmlns:a16="http://schemas.microsoft.com/office/drawing/2014/main" val="2815498604"/>
                  </a:ext>
                </a:extLst>
              </a:tr>
              <a:tr h="370840">
                <a:tc>
                  <a:txBody>
                    <a:bodyPr/>
                    <a:lstStyle/>
                    <a:p>
                      <a:r>
                        <a:rPr lang="en-IN" sz="2400" dirty="0"/>
                        <a:t>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1</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=257</a:t>
                      </a:r>
                    </a:p>
                  </a:txBody>
                  <a:tcPr/>
                </a:tc>
                <a:extLst>
                  <a:ext uri="{0D108BD9-81ED-4DB2-BD59-A6C34878D82A}">
                    <a16:rowId xmlns:a16="http://schemas.microsoft.com/office/drawing/2014/main" val="4027448416"/>
                  </a:ext>
                </a:extLst>
              </a:tr>
              <a:tr h="370840">
                <a:tc>
                  <a:txBody>
                    <a:bodyPr/>
                    <a:lstStyle/>
                    <a:p>
                      <a:r>
                        <a:rPr lang="en-IN" sz="2400" dirty="0"/>
                        <a:t>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1</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=260</a:t>
                      </a:r>
                    </a:p>
                  </a:txBody>
                  <a:tcPr/>
                </a:tc>
                <a:extLst>
                  <a:ext uri="{0D108BD9-81ED-4DB2-BD59-A6C34878D82A}">
                    <a16:rowId xmlns:a16="http://schemas.microsoft.com/office/drawing/2014/main" val="4136674693"/>
                  </a:ext>
                </a:extLst>
              </a:tr>
              <a:tr h="370840">
                <a:tc>
                  <a:txBody>
                    <a:bodyPr/>
                    <a:lstStyle/>
                    <a:p>
                      <a:r>
                        <a:rPr lang="en-IN" sz="2400" dirty="0"/>
                        <a:t>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1</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0</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1</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1</a:t>
                      </a:r>
                    </a:p>
                  </a:txBody>
                  <a:tcPr>
                    <a:solidFill>
                      <a:schemeClr val="accent1">
                        <a:lumMod val="60000"/>
                        <a:lumOff val="40000"/>
                      </a:schemeClr>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2400" b="0" i="0" u="none" strike="noStrike" kern="1200" cap="none" spc="0" normalizeH="0" baseline="0" noProof="0" dirty="0">
                          <a:ln>
                            <a:noFill/>
                          </a:ln>
                          <a:solidFill>
                            <a:prstClr val="black"/>
                          </a:solidFill>
                          <a:effectLst/>
                          <a:uLnTx/>
                          <a:uFillTx/>
                          <a:latin typeface="Century Gothic" panose="020B0502020202020204"/>
                          <a:ea typeface="+mn-ea"/>
                          <a:cs typeface="+mn-cs"/>
                        </a:rPr>
                        <a:t>=323</a:t>
                      </a:r>
                    </a:p>
                  </a:txBody>
                  <a:tcPr/>
                </a:tc>
                <a:extLst>
                  <a:ext uri="{0D108BD9-81ED-4DB2-BD59-A6C34878D82A}">
                    <a16:rowId xmlns:a16="http://schemas.microsoft.com/office/drawing/2014/main" val="3972854801"/>
                  </a:ext>
                </a:extLst>
              </a:tr>
            </a:tbl>
          </a:graphicData>
        </a:graphic>
      </p:graphicFrame>
    </p:spTree>
    <p:extLst>
      <p:ext uri="{BB962C8B-B14F-4D97-AF65-F5344CB8AC3E}">
        <p14:creationId xmlns:p14="http://schemas.microsoft.com/office/powerpoint/2010/main" val="7314463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D967E-2594-A33B-F358-AC6234355E20}"/>
              </a:ext>
            </a:extLst>
          </p:cNvPr>
          <p:cNvSpPr>
            <a:spLocks noGrp="1"/>
          </p:cNvSpPr>
          <p:nvPr>
            <p:ph type="title"/>
          </p:nvPr>
        </p:nvSpPr>
        <p:spPr/>
        <p:txBody>
          <a:bodyPr/>
          <a:lstStyle/>
          <a:p>
            <a:r>
              <a:rPr lang="en-IN" dirty="0"/>
              <a:t>Variables</a:t>
            </a:r>
          </a:p>
        </p:txBody>
      </p:sp>
      <p:sp>
        <p:nvSpPr>
          <p:cNvPr id="3" name="Content Placeholder 2">
            <a:extLst>
              <a:ext uri="{FF2B5EF4-FFF2-40B4-BE49-F238E27FC236}">
                <a16:creationId xmlns:a16="http://schemas.microsoft.com/office/drawing/2014/main" id="{C2CC110B-56A4-0871-2693-A3490AE6CA4A}"/>
              </a:ext>
            </a:extLst>
          </p:cNvPr>
          <p:cNvSpPr>
            <a:spLocks noGrp="1"/>
          </p:cNvSpPr>
          <p:nvPr>
            <p:ph idx="1"/>
          </p:nvPr>
        </p:nvSpPr>
        <p:spPr>
          <a:xfrm>
            <a:off x="1013012" y="1335741"/>
            <a:ext cx="10491600" cy="4575481"/>
          </a:xfrm>
        </p:spPr>
        <p:txBody>
          <a:bodyPr>
            <a:normAutofit/>
          </a:bodyPr>
          <a:lstStyle/>
          <a:p>
            <a:pPr algn="l"/>
            <a:r>
              <a:rPr lang="en-IN" sz="2400" b="0" i="0" u="none" strike="noStrike" baseline="0" dirty="0">
                <a:latin typeface="NewBaskervilleStd-Roman"/>
              </a:rPr>
              <a:t>The variable is the basic unit of storage in a Java program. A variable is defined by the combination of an identifier, a type, and an optional initializer. In addition, all variables have a scope, which defines their visibility, and a lifetime.</a:t>
            </a:r>
          </a:p>
          <a:p>
            <a:pPr algn="l"/>
            <a:endParaRPr lang="en-IN" sz="2400" dirty="0">
              <a:latin typeface="NewBaskervilleStd-Roman"/>
            </a:endParaRPr>
          </a:p>
          <a:p>
            <a:pPr algn="l"/>
            <a:r>
              <a:rPr lang="en-IN" sz="2400" b="0" i="0" dirty="0">
                <a:solidFill>
                  <a:srgbClr val="161513"/>
                </a:solidFill>
                <a:effectLst/>
                <a:latin typeface="OracleSansVF"/>
              </a:rPr>
              <a:t>Except for variables, all instance, class, and class constants are in mixed case with a lowercase first letter. Internal words start with capital letters. </a:t>
            </a:r>
            <a:r>
              <a:rPr lang="en-IN" sz="2400" b="1" i="0" dirty="0">
                <a:solidFill>
                  <a:srgbClr val="FF0000"/>
                </a:solidFill>
                <a:effectLst/>
                <a:latin typeface="OracleSansVF"/>
              </a:rPr>
              <a:t>Variable names should not start with underscore _ or dollar sign $ characters, even though both are allowed.</a:t>
            </a:r>
          </a:p>
          <a:p>
            <a:pPr algn="l"/>
            <a:endParaRPr lang="en-IN" sz="2400" b="1" dirty="0">
              <a:solidFill>
                <a:srgbClr val="FF0000"/>
              </a:solidFill>
            </a:endParaRPr>
          </a:p>
        </p:txBody>
      </p:sp>
      <p:sp>
        <p:nvSpPr>
          <p:cNvPr id="5" name="TextBox 4">
            <a:extLst>
              <a:ext uri="{FF2B5EF4-FFF2-40B4-BE49-F238E27FC236}">
                <a16:creationId xmlns:a16="http://schemas.microsoft.com/office/drawing/2014/main" id="{D77C712B-2D2A-F563-5D57-43FED6358B7E}"/>
              </a:ext>
            </a:extLst>
          </p:cNvPr>
          <p:cNvSpPr txBox="1"/>
          <p:nvPr/>
        </p:nvSpPr>
        <p:spPr>
          <a:xfrm>
            <a:off x="576635" y="5588056"/>
            <a:ext cx="11095412" cy="369332"/>
          </a:xfrm>
          <a:prstGeom prst="rect">
            <a:avLst/>
          </a:prstGeom>
          <a:noFill/>
        </p:spPr>
        <p:txBody>
          <a:bodyPr wrap="square">
            <a:spAutoFit/>
          </a:bodyPr>
          <a:lstStyle/>
          <a:p>
            <a:r>
              <a:rPr lang="en-IN" dirty="0"/>
              <a:t>https://www.oracle.com/java/technologies/javase/codeconventions-namingconventions.html</a:t>
            </a:r>
          </a:p>
        </p:txBody>
      </p:sp>
    </p:spTree>
    <p:extLst>
      <p:ext uri="{BB962C8B-B14F-4D97-AF65-F5344CB8AC3E}">
        <p14:creationId xmlns:p14="http://schemas.microsoft.com/office/powerpoint/2010/main" val="7846916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81F57-F884-08E8-04D1-0374DC4F4019}"/>
              </a:ext>
            </a:extLst>
          </p:cNvPr>
          <p:cNvSpPr>
            <a:spLocks noGrp="1"/>
          </p:cNvSpPr>
          <p:nvPr>
            <p:ph type="title"/>
          </p:nvPr>
        </p:nvSpPr>
        <p:spPr/>
        <p:txBody>
          <a:bodyPr/>
          <a:lstStyle/>
          <a:p>
            <a:r>
              <a:rPr lang="en-IN" b="1" dirty="0"/>
              <a:t>Arrays:</a:t>
            </a:r>
          </a:p>
        </p:txBody>
      </p:sp>
      <p:sp>
        <p:nvSpPr>
          <p:cNvPr id="3" name="Content Placeholder 2">
            <a:extLst>
              <a:ext uri="{FF2B5EF4-FFF2-40B4-BE49-F238E27FC236}">
                <a16:creationId xmlns:a16="http://schemas.microsoft.com/office/drawing/2014/main" id="{B3DD2615-9029-06ED-C03E-39FA01E92295}"/>
              </a:ext>
            </a:extLst>
          </p:cNvPr>
          <p:cNvSpPr>
            <a:spLocks noGrp="1"/>
          </p:cNvSpPr>
          <p:nvPr>
            <p:ph idx="1"/>
          </p:nvPr>
        </p:nvSpPr>
        <p:spPr>
          <a:xfrm>
            <a:off x="1539433" y="1238491"/>
            <a:ext cx="9965179" cy="5474825"/>
          </a:xfrm>
        </p:spPr>
        <p:txBody>
          <a:bodyPr>
            <a:noAutofit/>
          </a:bodyPr>
          <a:lstStyle/>
          <a:p>
            <a:pPr marR="12700" algn="just"/>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An </a:t>
            </a:r>
            <a:r>
              <a:rPr lang="en-IN" sz="2800" i="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array</a:t>
            </a:r>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 is a group of similar-typed variables that are referred to by a common name. Arrays of any type can be created and may have one or more dimensions. A specific element in an array is accessed by its</a:t>
            </a:r>
            <a:r>
              <a:rPr lang="en-IN" sz="2800" dirty="0">
                <a:latin typeface="Calibri" panose="020F0502020204030204" pitchFamily="34" charset="0"/>
                <a:ea typeface="Calibri" panose="020F0502020204030204" pitchFamily="34" charset="0"/>
                <a:cs typeface="Arial" panose="020B0604020202020204" pitchFamily="34" charset="0"/>
              </a:rPr>
              <a:t> </a:t>
            </a:r>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index. </a:t>
            </a:r>
          </a:p>
          <a:p>
            <a:pPr marR="12700" algn="just"/>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Arrays offer a convenient means of grouping related information.</a:t>
            </a:r>
            <a:endParaRPr lang="en-IN" sz="2800"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800" i="1" dirty="0">
                <a:solidFill>
                  <a:srgbClr val="1D1D1E"/>
                </a:solidFill>
                <a:latin typeface="Bookman Old Style" panose="02050604050505020204" pitchFamily="18" charset="0"/>
                <a:ea typeface="Bookman Old Style" panose="02050604050505020204" pitchFamily="18" charset="0"/>
                <a:cs typeface="Arial" panose="020B0604020202020204" pitchFamily="34" charset="0"/>
              </a:rPr>
              <a:t>d</a:t>
            </a:r>
            <a:r>
              <a:rPr lang="en-IN" sz="2800" i="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atatype var-name</a:t>
            </a:r>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 ] = new datatype[size]</a:t>
            </a:r>
          </a:p>
          <a:p>
            <a:pPr algn="just"/>
            <a:r>
              <a:rPr lang="en-IN" sz="2800" dirty="0">
                <a:solidFill>
                  <a:srgbClr val="1D1D1E"/>
                </a:solidFill>
                <a:latin typeface="Bookman Old Style" panose="02050604050505020204" pitchFamily="18" charset="0"/>
                <a:ea typeface="Bookman Old Style" panose="02050604050505020204" pitchFamily="18" charset="0"/>
                <a:cs typeface="Arial" panose="020B0604020202020204" pitchFamily="34" charset="0"/>
              </a:rPr>
              <a:t> int </a:t>
            </a:r>
            <a:r>
              <a:rPr lang="en-IN" sz="2800" dirty="0" err="1">
                <a:solidFill>
                  <a:srgbClr val="1D1D1E"/>
                </a:solidFill>
                <a:latin typeface="Bookman Old Style" panose="02050604050505020204" pitchFamily="18" charset="0"/>
                <a:ea typeface="Bookman Old Style" panose="02050604050505020204" pitchFamily="18" charset="0"/>
                <a:cs typeface="Arial" panose="020B0604020202020204" pitchFamily="34" charset="0"/>
              </a:rPr>
              <a:t>arr</a:t>
            </a:r>
            <a:r>
              <a:rPr lang="en-IN" sz="2800" dirty="0">
                <a:solidFill>
                  <a:srgbClr val="1D1D1E"/>
                </a:solidFill>
                <a:latin typeface="Bookman Old Style" panose="02050604050505020204" pitchFamily="18" charset="0"/>
                <a:ea typeface="Bookman Old Style" panose="02050604050505020204" pitchFamily="18" charset="0"/>
                <a:cs typeface="Arial" panose="020B0604020202020204" pitchFamily="34" charset="0"/>
              </a:rPr>
              <a:t>[]= new int[10];</a:t>
            </a:r>
          </a:p>
          <a:p>
            <a:pPr algn="just"/>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 int month [];</a:t>
            </a:r>
            <a:endParaRPr lang="en-IN" sz="2800"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800" dirty="0">
                <a:effectLst/>
                <a:latin typeface="Calibri" panose="020F0502020204030204" pitchFamily="34" charset="0"/>
                <a:ea typeface="Calibri" panose="020F0502020204030204" pitchFamily="34" charset="0"/>
                <a:cs typeface="Arial" panose="020B0604020202020204" pitchFamily="34" charset="0"/>
              </a:rPr>
              <a:t>Month = new int[12];   or int month[]= new int[10];</a:t>
            </a:r>
          </a:p>
        </p:txBody>
      </p:sp>
    </p:spTree>
    <p:extLst>
      <p:ext uri="{BB962C8B-B14F-4D97-AF65-F5344CB8AC3E}">
        <p14:creationId xmlns:p14="http://schemas.microsoft.com/office/powerpoint/2010/main" val="19001691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16BDA-58B2-9707-3DEB-80423509539D}"/>
              </a:ext>
            </a:extLst>
          </p:cNvPr>
          <p:cNvSpPr>
            <a:spLocks noGrp="1"/>
          </p:cNvSpPr>
          <p:nvPr>
            <p:ph type="title"/>
          </p:nvPr>
        </p:nvSpPr>
        <p:spPr>
          <a:xfrm>
            <a:off x="2589212" y="122087"/>
            <a:ext cx="8911687" cy="1280890"/>
          </a:xfrm>
        </p:spPr>
        <p:txBody>
          <a:bodyPr/>
          <a:lstStyle/>
          <a:p>
            <a:r>
              <a:rPr lang="en-IN" b="1" dirty="0"/>
              <a:t>Arrays</a:t>
            </a:r>
            <a:endParaRPr lang="en-IN" dirty="0"/>
          </a:p>
        </p:txBody>
      </p:sp>
      <p:sp>
        <p:nvSpPr>
          <p:cNvPr id="3" name="Content Placeholder 2">
            <a:extLst>
              <a:ext uri="{FF2B5EF4-FFF2-40B4-BE49-F238E27FC236}">
                <a16:creationId xmlns:a16="http://schemas.microsoft.com/office/drawing/2014/main" id="{AD467E06-8366-43F2-4F1D-D0B379DD8916}"/>
              </a:ext>
            </a:extLst>
          </p:cNvPr>
          <p:cNvSpPr>
            <a:spLocks noGrp="1"/>
          </p:cNvSpPr>
          <p:nvPr>
            <p:ph idx="1"/>
          </p:nvPr>
        </p:nvSpPr>
        <p:spPr>
          <a:xfrm>
            <a:off x="1678329" y="949124"/>
            <a:ext cx="9826283" cy="4962098"/>
          </a:xfrm>
        </p:spPr>
        <p:txBody>
          <a:bodyPr>
            <a:normAutofit fontScale="92500"/>
          </a:bodyPr>
          <a:lstStyle/>
          <a:p>
            <a:pPr marR="12700" algn="just"/>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Arrays can be initialized when they are declared. </a:t>
            </a:r>
          </a:p>
          <a:p>
            <a:pPr marR="12700" algn="just"/>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The process is much the same as that used to initialize the simple types. An </a:t>
            </a:r>
            <a:r>
              <a:rPr lang="en-IN" sz="2800" i="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array initializer</a:t>
            </a:r>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 is a list of comma-separated expressions surrounded by curly braces. </a:t>
            </a:r>
          </a:p>
          <a:p>
            <a:pPr marR="12700" algn="just"/>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The commas separate the values of the array elements. </a:t>
            </a:r>
          </a:p>
          <a:p>
            <a:pPr marR="12700" algn="just"/>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The array will automatically be created large enough to hold the number of elements you specify in the array initializer. </a:t>
            </a:r>
          </a:p>
          <a:p>
            <a:pPr marR="12700" algn="just"/>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There is no need to use </a:t>
            </a: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new</a:t>
            </a:r>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t>
            </a:r>
            <a:r>
              <a:rPr lang="en-IN" sz="2400" dirty="0">
                <a:effectLst/>
                <a:latin typeface="Times New Roman" panose="02020603050405020304" pitchFamily="18" charset="0"/>
                <a:ea typeface="Times New Roman" panose="02020603050405020304" pitchFamily="18" charset="0"/>
                <a:cs typeface="Arial" panose="020B0604020202020204" pitchFamily="34" charset="0"/>
              </a:rPr>
              <a:t> </a:t>
            </a:r>
          </a:p>
          <a:p>
            <a:pPr marR="12700" algn="just"/>
            <a:r>
              <a:rPr lang="en-IN" sz="30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int month[] </a:t>
            </a:r>
            <a:r>
              <a:rPr lang="en-IN" sz="24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 { 31, 28, 31, 30, 31, 30, 31, 31, 30, 31,30, 31 }; </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endParaRPr lang="en-IN" sz="2400" dirty="0"/>
          </a:p>
        </p:txBody>
      </p:sp>
    </p:spTree>
    <p:extLst>
      <p:ext uri="{BB962C8B-B14F-4D97-AF65-F5344CB8AC3E}">
        <p14:creationId xmlns:p14="http://schemas.microsoft.com/office/powerpoint/2010/main" val="14363355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795E05-1D1D-AD58-23B5-48CF7E0F7E41}"/>
              </a:ext>
            </a:extLst>
          </p:cNvPr>
          <p:cNvSpPr>
            <a:spLocks noGrp="1"/>
          </p:cNvSpPr>
          <p:nvPr>
            <p:ph idx="1"/>
          </p:nvPr>
        </p:nvSpPr>
        <p:spPr>
          <a:xfrm>
            <a:off x="2589212" y="600635"/>
            <a:ext cx="8915400" cy="5310587"/>
          </a:xfrm>
        </p:spPr>
        <p:txBody>
          <a:bodyPr>
            <a:normAutofit lnSpcReduction="10000"/>
          </a:bodyPr>
          <a:lstStyle/>
          <a:p>
            <a:pPr marL="0" indent="0">
              <a:buNone/>
            </a:pPr>
            <a:r>
              <a:rPr lang="en-IN" sz="2400" b="1" dirty="0"/>
              <a:t>//	Average an array of values. </a:t>
            </a:r>
          </a:p>
          <a:p>
            <a:pPr marL="0" indent="0">
              <a:buNone/>
            </a:pPr>
            <a:r>
              <a:rPr lang="en-IN" sz="2400" b="1" dirty="0"/>
              <a:t>class Average</a:t>
            </a:r>
          </a:p>
          <a:p>
            <a:pPr marL="0" indent="0">
              <a:buNone/>
            </a:pPr>
            <a:r>
              <a:rPr lang="en-IN" sz="2400" b="1" dirty="0"/>
              <a:t>{	public static void main(String </a:t>
            </a:r>
            <a:r>
              <a:rPr lang="en-IN" sz="2400" b="1" dirty="0" err="1"/>
              <a:t>args</a:t>
            </a:r>
            <a:r>
              <a:rPr lang="en-IN" sz="2400" b="1" dirty="0"/>
              <a:t>[])</a:t>
            </a:r>
          </a:p>
          <a:p>
            <a:pPr marL="0" indent="0">
              <a:buNone/>
            </a:pPr>
            <a:r>
              <a:rPr lang="en-IN" sz="2400" b="1" dirty="0"/>
              <a:t>	{      	double </a:t>
            </a:r>
            <a:r>
              <a:rPr lang="en-IN" sz="2400" b="1" dirty="0" err="1"/>
              <a:t>nums</a:t>
            </a:r>
            <a:r>
              <a:rPr lang="en-IN" sz="2400" b="1" dirty="0"/>
              <a:t>[] = {10.1, 11.2, 12.3, 13.4, 14.5}; </a:t>
            </a:r>
          </a:p>
          <a:p>
            <a:pPr marL="0" indent="0">
              <a:buNone/>
            </a:pPr>
            <a:r>
              <a:rPr lang="en-IN" sz="2400" b="1" dirty="0"/>
              <a:t>			double result = 0;</a:t>
            </a:r>
          </a:p>
          <a:p>
            <a:pPr marL="0" indent="0">
              <a:buNone/>
            </a:pPr>
            <a:r>
              <a:rPr lang="en-IN" sz="2400" b="1" dirty="0"/>
              <a:t>			int </a:t>
            </a:r>
            <a:r>
              <a:rPr lang="en-IN" sz="2400" b="1" dirty="0" err="1"/>
              <a:t>i</a:t>
            </a:r>
            <a:r>
              <a:rPr lang="en-IN" sz="2400" b="1" dirty="0"/>
              <a:t>;</a:t>
            </a:r>
          </a:p>
          <a:p>
            <a:pPr marL="0" indent="0">
              <a:buNone/>
            </a:pPr>
            <a:r>
              <a:rPr lang="en-IN" sz="2400" b="1" dirty="0"/>
              <a:t>			for(</a:t>
            </a:r>
            <a:r>
              <a:rPr lang="en-IN" sz="2400" b="1" dirty="0" err="1"/>
              <a:t>i</a:t>
            </a:r>
            <a:r>
              <a:rPr lang="en-IN" sz="2400" b="1" dirty="0"/>
              <a:t>=0; </a:t>
            </a:r>
            <a:r>
              <a:rPr lang="en-IN" sz="2400" b="1" dirty="0" err="1"/>
              <a:t>i</a:t>
            </a:r>
            <a:r>
              <a:rPr lang="en-IN" sz="2400" b="1" dirty="0"/>
              <a:t>&lt;5; </a:t>
            </a:r>
            <a:r>
              <a:rPr lang="en-IN" sz="2400" b="1" dirty="0" err="1"/>
              <a:t>i</a:t>
            </a:r>
            <a:r>
              <a:rPr lang="en-IN" sz="2400" b="1" dirty="0"/>
              <a:t>++)</a:t>
            </a:r>
          </a:p>
          <a:p>
            <a:pPr marL="0" indent="0">
              <a:buNone/>
            </a:pPr>
            <a:r>
              <a:rPr lang="en-IN" sz="2400" b="1" dirty="0"/>
              <a:t>				result = result + </a:t>
            </a:r>
            <a:r>
              <a:rPr lang="en-IN" sz="2400" b="1" dirty="0" err="1"/>
              <a:t>nums</a:t>
            </a:r>
            <a:r>
              <a:rPr lang="en-IN" sz="2400" b="1" dirty="0"/>
              <a:t>[</a:t>
            </a:r>
            <a:r>
              <a:rPr lang="en-IN" sz="2400" b="1" dirty="0" err="1"/>
              <a:t>i</a:t>
            </a:r>
            <a:r>
              <a:rPr lang="en-IN" sz="2400" b="1" dirty="0"/>
              <a:t>]; </a:t>
            </a:r>
          </a:p>
          <a:p>
            <a:pPr marL="0" indent="0">
              <a:buNone/>
            </a:pPr>
            <a:r>
              <a:rPr lang="en-IN" sz="2400" b="1" dirty="0"/>
              <a:t>			</a:t>
            </a:r>
            <a:r>
              <a:rPr lang="en-IN" sz="2400" b="1" dirty="0" err="1"/>
              <a:t>System.out.println</a:t>
            </a:r>
            <a:r>
              <a:rPr lang="en-IN" sz="2400" b="1" dirty="0"/>
              <a:t>("Average is " + result / 5);</a:t>
            </a:r>
          </a:p>
          <a:p>
            <a:pPr marL="0" indent="0">
              <a:buNone/>
            </a:pPr>
            <a:r>
              <a:rPr lang="en-IN" sz="2400" b="1" dirty="0"/>
              <a:t>	}</a:t>
            </a:r>
          </a:p>
          <a:p>
            <a:pPr marL="0" indent="0">
              <a:buNone/>
            </a:pPr>
            <a:r>
              <a:rPr lang="en-IN" sz="2400" b="1" dirty="0"/>
              <a:t>}</a:t>
            </a:r>
          </a:p>
          <a:p>
            <a:pPr marL="0" indent="0">
              <a:buNone/>
            </a:pPr>
            <a:endParaRPr lang="en-IN" sz="2400" b="1" dirty="0"/>
          </a:p>
        </p:txBody>
      </p:sp>
    </p:spTree>
    <p:extLst>
      <p:ext uri="{BB962C8B-B14F-4D97-AF65-F5344CB8AC3E}">
        <p14:creationId xmlns:p14="http://schemas.microsoft.com/office/powerpoint/2010/main" val="6278414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A9782-50D6-B08A-772F-CE3346E87438}"/>
              </a:ext>
            </a:extLst>
          </p:cNvPr>
          <p:cNvSpPr>
            <a:spLocks noGrp="1"/>
          </p:cNvSpPr>
          <p:nvPr>
            <p:ph type="title"/>
          </p:nvPr>
        </p:nvSpPr>
        <p:spPr/>
        <p:txBody>
          <a:bodyPr/>
          <a:lstStyle/>
          <a:p>
            <a:r>
              <a:rPr lang="en-IN" b="1" dirty="0"/>
              <a:t>Multidimensional Arrays</a:t>
            </a:r>
          </a:p>
        </p:txBody>
      </p:sp>
      <p:sp>
        <p:nvSpPr>
          <p:cNvPr id="3" name="Content Placeholder 2">
            <a:extLst>
              <a:ext uri="{FF2B5EF4-FFF2-40B4-BE49-F238E27FC236}">
                <a16:creationId xmlns:a16="http://schemas.microsoft.com/office/drawing/2014/main" id="{F77F06B3-401F-B959-7ECD-BB5C08FFEDC7}"/>
              </a:ext>
            </a:extLst>
          </p:cNvPr>
          <p:cNvSpPr>
            <a:spLocks noGrp="1"/>
          </p:cNvSpPr>
          <p:nvPr>
            <p:ph idx="1"/>
          </p:nvPr>
        </p:nvSpPr>
        <p:spPr>
          <a:xfrm>
            <a:off x="949124" y="1480459"/>
            <a:ext cx="10660170" cy="3777622"/>
          </a:xfrm>
        </p:spPr>
        <p:txBody>
          <a:bodyPr>
            <a:normAutofit/>
          </a:bodyPr>
          <a:lstStyle/>
          <a:p>
            <a:pPr marR="12700" algn="just"/>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Multidimensional arrays are actually arrays of arrays. </a:t>
            </a:r>
          </a:p>
          <a:p>
            <a:pPr marR="12700" algn="just"/>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To declare a multidimensional array variable, specify each additional index using another set of square brackets. </a:t>
            </a:r>
          </a:p>
          <a:p>
            <a:pPr marR="12700" algn="just"/>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For example, the following declares a two-dimensional array variable called </a:t>
            </a:r>
            <a:r>
              <a:rPr lang="en-IN" sz="2800" b="1" dirty="0" err="1">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twoD</a:t>
            </a:r>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t>
            </a:r>
            <a:endParaRPr lang="en-IN" sz="2800"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800" dirty="0">
                <a:effectLst/>
                <a:latin typeface="Times New Roman" panose="02020603050405020304" pitchFamily="18" charset="0"/>
                <a:ea typeface="Times New Roman" panose="02020603050405020304" pitchFamily="18" charset="0"/>
                <a:cs typeface="Arial" panose="020B0604020202020204" pitchFamily="34" charset="0"/>
              </a:rPr>
              <a:t> </a:t>
            </a:r>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int </a:t>
            </a:r>
            <a:r>
              <a:rPr lang="en-IN" sz="2800" dirty="0" err="1">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twoD</a:t>
            </a:r>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 = new int[4][5];</a:t>
            </a:r>
            <a:endParaRPr lang="en-IN" sz="2800"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800" dirty="0">
                <a:effectLst/>
                <a:latin typeface="Times New Roman" panose="02020603050405020304" pitchFamily="18" charset="0"/>
                <a:ea typeface="Times New Roman" panose="02020603050405020304" pitchFamily="18" charset="0"/>
                <a:cs typeface="Arial" panose="020B0604020202020204" pitchFamily="34" charset="0"/>
              </a:rPr>
              <a:t> </a:t>
            </a:r>
            <a:endParaRPr lang="en-IN" sz="2800" dirty="0">
              <a:effectLst/>
              <a:latin typeface="Calibri" panose="020F0502020204030204" pitchFamily="34" charset="0"/>
              <a:ea typeface="Calibri" panose="020F0502020204030204" pitchFamily="34" charset="0"/>
              <a:cs typeface="Arial" panose="020B0604020202020204" pitchFamily="34" charset="0"/>
            </a:endParaRPr>
          </a:p>
          <a:p>
            <a:endParaRPr lang="en-IN" sz="2800" dirty="0"/>
          </a:p>
        </p:txBody>
      </p:sp>
    </p:spTree>
    <p:extLst>
      <p:ext uri="{BB962C8B-B14F-4D97-AF65-F5344CB8AC3E}">
        <p14:creationId xmlns:p14="http://schemas.microsoft.com/office/powerpoint/2010/main" val="33225646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4D536-C2D0-EFA5-BBB9-38282AE93361}"/>
              </a:ext>
            </a:extLst>
          </p:cNvPr>
          <p:cNvSpPr>
            <a:spLocks noGrp="1"/>
          </p:cNvSpPr>
          <p:nvPr>
            <p:ph type="title"/>
          </p:nvPr>
        </p:nvSpPr>
        <p:spPr/>
        <p:txBody>
          <a:bodyPr/>
          <a:lstStyle/>
          <a:p>
            <a:endParaRPr lang="en-IN"/>
          </a:p>
        </p:txBody>
      </p:sp>
      <p:pic>
        <p:nvPicPr>
          <p:cNvPr id="1027" name="Picture 3">
            <a:extLst>
              <a:ext uri="{FF2B5EF4-FFF2-40B4-BE49-F238E27FC236}">
                <a16:creationId xmlns:a16="http://schemas.microsoft.com/office/drawing/2014/main" id="{907410B8-8F52-8053-150F-B16A2C153CA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92925" y="624110"/>
            <a:ext cx="8009681" cy="5017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79609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C8DD4-371E-30C6-69DF-73A77A7FF0C6}"/>
              </a:ext>
            </a:extLst>
          </p:cNvPr>
          <p:cNvSpPr>
            <a:spLocks noGrp="1"/>
          </p:cNvSpPr>
          <p:nvPr>
            <p:ph type="title"/>
          </p:nvPr>
        </p:nvSpPr>
        <p:spPr>
          <a:xfrm>
            <a:off x="2166205" y="400590"/>
            <a:ext cx="8911687" cy="1280890"/>
          </a:xfrm>
        </p:spPr>
        <p:txBody>
          <a:bodyPr>
            <a:normAutofit/>
          </a:bodyPr>
          <a:lstStyle/>
          <a:p>
            <a:r>
              <a:rPr lang="en-IN" sz="24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You can allocate the remaining dimensions separately. We can allocates the second dimension manually.</a:t>
            </a:r>
            <a:endParaRPr lang="en-IN" sz="4400" dirty="0"/>
          </a:p>
        </p:txBody>
      </p:sp>
      <p:sp>
        <p:nvSpPr>
          <p:cNvPr id="3" name="Content Placeholder 2">
            <a:extLst>
              <a:ext uri="{FF2B5EF4-FFF2-40B4-BE49-F238E27FC236}">
                <a16:creationId xmlns:a16="http://schemas.microsoft.com/office/drawing/2014/main" id="{EB5C9882-FB17-7604-2BEC-C2B646638184}"/>
              </a:ext>
            </a:extLst>
          </p:cNvPr>
          <p:cNvSpPr>
            <a:spLocks noGrp="1"/>
          </p:cNvSpPr>
          <p:nvPr>
            <p:ph idx="1"/>
          </p:nvPr>
        </p:nvSpPr>
        <p:spPr>
          <a:xfrm>
            <a:off x="949124" y="1482315"/>
            <a:ext cx="7769133" cy="5474070"/>
          </a:xfrm>
        </p:spPr>
        <p:txBody>
          <a:bodyPr>
            <a:normAutofit/>
          </a:bodyPr>
          <a:lstStyle/>
          <a:p>
            <a:pPr marL="0" indent="0" algn="just">
              <a:lnSpc>
                <a:spcPct val="115000"/>
              </a:lnSpc>
              <a:buNone/>
            </a:pPr>
            <a:r>
              <a:rPr lang="en-IN" sz="24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int </a:t>
            </a:r>
            <a:r>
              <a:rPr lang="en-IN" sz="2400" dirty="0" err="1">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twoD</a:t>
            </a:r>
            <a:r>
              <a:rPr lang="en-IN" sz="24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 = new int[4][];</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pPr marL="0" indent="0" algn="just">
              <a:lnSpc>
                <a:spcPct val="115000"/>
              </a:lnSpc>
              <a:buNone/>
            </a:pPr>
            <a:r>
              <a:rPr lang="en-IN" sz="2400" dirty="0" err="1">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twoD</a:t>
            </a:r>
            <a:r>
              <a:rPr lang="en-IN" sz="24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[0] = new int[1];</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pPr marL="0" indent="0" algn="just">
              <a:lnSpc>
                <a:spcPct val="115000"/>
              </a:lnSpc>
              <a:buNone/>
            </a:pPr>
            <a:r>
              <a:rPr lang="en-IN" sz="2400" dirty="0" err="1">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twoD</a:t>
            </a:r>
            <a:r>
              <a:rPr lang="en-IN" sz="24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[1] = new int[</a:t>
            </a:r>
            <a:r>
              <a:rPr lang="en-IN" sz="2400" dirty="0">
                <a:solidFill>
                  <a:srgbClr val="1D1D1E"/>
                </a:solidFill>
                <a:latin typeface="Bookman Old Style" panose="02050604050505020204" pitchFamily="18" charset="0"/>
                <a:ea typeface="Bookman Old Style" panose="02050604050505020204" pitchFamily="18" charset="0"/>
                <a:cs typeface="Arial" panose="020B0604020202020204" pitchFamily="34" charset="0"/>
              </a:rPr>
              <a:t>2</a:t>
            </a:r>
            <a:r>
              <a:rPr lang="en-IN" sz="24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pPr marL="0" indent="0" algn="just">
              <a:lnSpc>
                <a:spcPct val="115000"/>
              </a:lnSpc>
              <a:buNone/>
            </a:pPr>
            <a:r>
              <a:rPr lang="en-IN" sz="2400" dirty="0" err="1">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twoD</a:t>
            </a:r>
            <a:r>
              <a:rPr lang="en-IN" sz="24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[2] = new int[3];</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pPr marL="0" indent="0" algn="just">
              <a:lnSpc>
                <a:spcPct val="115000"/>
              </a:lnSpc>
              <a:buNone/>
            </a:pPr>
            <a:r>
              <a:rPr lang="en-IN" sz="2400" dirty="0" err="1">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twoD</a:t>
            </a:r>
            <a:r>
              <a:rPr lang="en-IN" sz="24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[3] = new int[4];</a:t>
            </a:r>
            <a:endParaRPr lang="en-IN" sz="2400" dirty="0">
              <a:effectLst/>
              <a:latin typeface="Calibri" panose="020F0502020204030204" pitchFamily="34" charset="0"/>
              <a:ea typeface="Calibri" panose="020F0502020204030204" pitchFamily="34" charset="0"/>
              <a:cs typeface="Arial" panose="020B0604020202020204" pitchFamily="34" charset="0"/>
            </a:endParaRPr>
          </a:p>
          <a:p>
            <a:pPr algn="just">
              <a:lnSpc>
                <a:spcPct val="115000"/>
              </a:lnSpc>
            </a:pPr>
            <a:endParaRPr lang="en-IN" sz="2400" dirty="0">
              <a:effectLst/>
              <a:latin typeface="Calibri" panose="020F0502020204030204" pitchFamily="34" charset="0"/>
              <a:ea typeface="Calibri" panose="020F0502020204030204" pitchFamily="34" charset="0"/>
              <a:cs typeface="Arial" panose="020B0604020202020204" pitchFamily="34" charset="0"/>
            </a:endParaRPr>
          </a:p>
          <a:p>
            <a:pPr marR="12700" algn="just"/>
            <a:r>
              <a:rPr lang="en-IN" sz="24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we can creates a two dimensional array in which the sizes of the second dimension are unequal.</a:t>
            </a:r>
            <a:endParaRPr lang="en-IN" sz="2400" dirty="0"/>
          </a:p>
        </p:txBody>
      </p:sp>
      <p:pic>
        <p:nvPicPr>
          <p:cNvPr id="2050" name="Picture 2">
            <a:extLst>
              <a:ext uri="{FF2B5EF4-FFF2-40B4-BE49-F238E27FC236}">
                <a16:creationId xmlns:a16="http://schemas.microsoft.com/office/drawing/2014/main" id="{157CB5CF-8733-2F00-19C7-4084F0C9DD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66844" y="1681480"/>
            <a:ext cx="3528916" cy="3164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21276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ABF03F-3BF3-0574-B971-4EF7FCC59499}"/>
              </a:ext>
            </a:extLst>
          </p:cNvPr>
          <p:cNvSpPr>
            <a:spLocks noGrp="1"/>
          </p:cNvSpPr>
          <p:nvPr>
            <p:ph idx="1"/>
          </p:nvPr>
        </p:nvSpPr>
        <p:spPr>
          <a:xfrm>
            <a:off x="1574157" y="138896"/>
            <a:ext cx="9930455" cy="7083708"/>
          </a:xfrm>
        </p:spPr>
        <p:txBody>
          <a:bodyPr>
            <a:normAutofit lnSpcReduction="10000"/>
          </a:bodyPr>
          <a:lstStyle/>
          <a:p>
            <a:pPr marL="0" indent="0">
              <a:buNone/>
            </a:pPr>
            <a:r>
              <a:rPr lang="en-IN" sz="1800" b="1" dirty="0">
                <a:solidFill>
                  <a:srgbClr val="941EDF"/>
                </a:solidFill>
                <a:latin typeface="Courier New" panose="02070309020205020404" pitchFamily="49" charset="0"/>
              </a:rPr>
              <a:t>import</a:t>
            </a: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java.util.Scanner</a:t>
            </a:r>
            <a:r>
              <a:rPr lang="en-IN" sz="1800" b="1" dirty="0">
                <a:solidFill>
                  <a:srgbClr val="000000"/>
                </a:solidFill>
                <a:latin typeface="Courier New" panose="02070309020205020404" pitchFamily="49" charset="0"/>
              </a:rPr>
              <a:t>;</a:t>
            </a:r>
            <a:br>
              <a:rPr lang="en-IN" sz="1800" b="1" dirty="0">
                <a:solidFill>
                  <a:srgbClr val="000000"/>
                </a:solidFill>
                <a:latin typeface="Courier New" panose="02070309020205020404" pitchFamily="49" charset="0"/>
              </a:rPr>
            </a:br>
            <a:r>
              <a:rPr lang="en-IN" sz="1800" b="1" dirty="0">
                <a:solidFill>
                  <a:srgbClr val="941EDF"/>
                </a:solidFill>
                <a:latin typeface="Courier New" panose="02070309020205020404" pitchFamily="49" charset="0"/>
              </a:rPr>
              <a:t>public</a:t>
            </a:r>
            <a:r>
              <a:rPr lang="en-IN" sz="1800" b="1" dirty="0">
                <a:solidFill>
                  <a:srgbClr val="000000"/>
                </a:solidFill>
                <a:latin typeface="Courier New" panose="02070309020205020404" pitchFamily="49" charset="0"/>
              </a:rPr>
              <a:t> </a:t>
            </a:r>
            <a:r>
              <a:rPr lang="en-IN" sz="1800" b="1" dirty="0">
                <a:solidFill>
                  <a:srgbClr val="941EDF"/>
                </a:solidFill>
                <a:latin typeface="Courier New" panose="02070309020205020404" pitchFamily="49" charset="0"/>
              </a:rPr>
              <a:t>class</a:t>
            </a: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VariableColumArray</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a:t>
            </a:r>
            <a:r>
              <a:rPr lang="en-IN" sz="1800" b="1" dirty="0">
                <a:solidFill>
                  <a:srgbClr val="941EDF"/>
                </a:solidFill>
                <a:latin typeface="Courier New" panose="02070309020205020404" pitchFamily="49" charset="0"/>
              </a:rPr>
              <a:t>public</a:t>
            </a:r>
            <a:r>
              <a:rPr lang="en-IN" sz="1800" b="1" dirty="0">
                <a:solidFill>
                  <a:srgbClr val="000000"/>
                </a:solidFill>
                <a:latin typeface="Courier New" panose="02070309020205020404" pitchFamily="49" charset="0"/>
              </a:rPr>
              <a:t> </a:t>
            </a:r>
            <a:r>
              <a:rPr lang="en-IN" sz="1800" b="1" dirty="0">
                <a:solidFill>
                  <a:srgbClr val="941EDF"/>
                </a:solidFill>
                <a:latin typeface="Courier New" panose="02070309020205020404" pitchFamily="49" charset="0"/>
              </a:rPr>
              <a:t>static</a:t>
            </a:r>
            <a:r>
              <a:rPr lang="en-IN" sz="1800" b="1" dirty="0">
                <a:solidFill>
                  <a:srgbClr val="000000"/>
                </a:solidFill>
                <a:latin typeface="Courier New" panose="02070309020205020404" pitchFamily="49" charset="0"/>
              </a:rPr>
              <a:t> </a:t>
            </a:r>
            <a:r>
              <a:rPr lang="en-IN" sz="1800" b="1" dirty="0">
                <a:solidFill>
                  <a:srgbClr val="941EDF"/>
                </a:solidFill>
                <a:latin typeface="Courier New" panose="02070309020205020404" pitchFamily="49" charset="0"/>
              </a:rPr>
              <a:t>void</a:t>
            </a:r>
            <a:r>
              <a:rPr lang="en-IN" sz="1800" b="1" dirty="0">
                <a:solidFill>
                  <a:srgbClr val="000000"/>
                </a:solidFill>
                <a:latin typeface="Courier New" panose="02070309020205020404" pitchFamily="49" charset="0"/>
              </a:rPr>
              <a:t> main(String[] </a:t>
            </a:r>
            <a:r>
              <a:rPr lang="en-IN" sz="1800" b="1" dirty="0" err="1">
                <a:solidFill>
                  <a:srgbClr val="000000"/>
                </a:solidFill>
                <a:latin typeface="Courier New" panose="02070309020205020404" pitchFamily="49" charset="0"/>
              </a:rPr>
              <a:t>args</a:t>
            </a:r>
            <a:r>
              <a:rPr lang="en-IN" sz="1800" b="1" dirty="0">
                <a:solidFill>
                  <a:srgbClr val="000000"/>
                </a:solidFill>
                <a:latin typeface="Courier New" panose="02070309020205020404" pitchFamily="49" charset="0"/>
              </a:rPr>
              <a:t>) </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  </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Scanner input = </a:t>
            </a:r>
            <a:r>
              <a:rPr lang="en-IN" sz="1800" b="1" dirty="0">
                <a:solidFill>
                  <a:srgbClr val="941EDF"/>
                </a:solidFill>
                <a:latin typeface="Courier New" panose="02070309020205020404" pitchFamily="49" charset="0"/>
              </a:rPr>
              <a:t>new</a:t>
            </a:r>
            <a:r>
              <a:rPr lang="en-IN" sz="1800" b="1" dirty="0">
                <a:solidFill>
                  <a:srgbClr val="000000"/>
                </a:solidFill>
                <a:latin typeface="Courier New" panose="02070309020205020404" pitchFamily="49" charset="0"/>
              </a:rPr>
              <a:t> Scanner(System.in);</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a:t>
            </a:r>
            <a:r>
              <a:rPr lang="en-IN" sz="1800" b="1" dirty="0">
                <a:solidFill>
                  <a:srgbClr val="941EDF"/>
                </a:solidFill>
                <a:latin typeface="Courier New" panose="02070309020205020404" pitchFamily="49" charset="0"/>
              </a:rPr>
              <a:t>int</a:t>
            </a: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twoD</a:t>
            </a:r>
            <a:r>
              <a:rPr lang="en-IN" sz="1800" b="1" dirty="0">
                <a:solidFill>
                  <a:srgbClr val="000000"/>
                </a:solidFill>
                <a:latin typeface="Courier New" panose="02070309020205020404" pitchFamily="49" charset="0"/>
              </a:rPr>
              <a:t>[][] = </a:t>
            </a:r>
            <a:r>
              <a:rPr lang="en-IN" sz="1800" b="1" dirty="0">
                <a:solidFill>
                  <a:srgbClr val="941EDF"/>
                </a:solidFill>
                <a:latin typeface="Courier New" panose="02070309020205020404" pitchFamily="49" charset="0"/>
              </a:rPr>
              <a:t>new</a:t>
            </a:r>
            <a:r>
              <a:rPr lang="en-IN" sz="1800" b="1" dirty="0">
                <a:solidFill>
                  <a:srgbClr val="000000"/>
                </a:solidFill>
                <a:latin typeface="Courier New" panose="02070309020205020404" pitchFamily="49" charset="0"/>
              </a:rPr>
              <a:t> </a:t>
            </a:r>
            <a:r>
              <a:rPr lang="en-IN" sz="1800" b="1" dirty="0">
                <a:solidFill>
                  <a:srgbClr val="941EDF"/>
                </a:solidFill>
                <a:latin typeface="Courier New" panose="02070309020205020404" pitchFamily="49" charset="0"/>
              </a:rPr>
              <a:t>int</a:t>
            </a:r>
            <a:r>
              <a:rPr lang="en-IN" sz="1800" b="1" dirty="0">
                <a:solidFill>
                  <a:srgbClr val="000000"/>
                </a:solidFill>
                <a:latin typeface="Courier New" panose="02070309020205020404" pitchFamily="49" charset="0"/>
              </a:rPr>
              <a:t>[4][];</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a:t>
            </a:r>
            <a:r>
              <a:rPr lang="en-IN" sz="1800" b="1" dirty="0">
                <a:solidFill>
                  <a:srgbClr val="941EDF"/>
                </a:solidFill>
                <a:latin typeface="Courier New" panose="02070309020205020404" pitchFamily="49" charset="0"/>
              </a:rPr>
              <a:t>int</a:t>
            </a: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i,j</a:t>
            </a:r>
            <a:r>
              <a:rPr lang="en-IN" sz="1800" b="1" dirty="0">
                <a:solidFill>
                  <a:srgbClr val="000000"/>
                </a:solidFill>
                <a:latin typeface="Courier New" panose="02070309020205020404" pitchFamily="49" charset="0"/>
              </a:rPr>
              <a:t>;</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twoD</a:t>
            </a:r>
            <a:r>
              <a:rPr lang="en-IN" sz="1800" b="1" dirty="0">
                <a:solidFill>
                  <a:srgbClr val="000000"/>
                </a:solidFill>
                <a:latin typeface="Courier New" panose="02070309020205020404" pitchFamily="49" charset="0"/>
              </a:rPr>
              <a:t>[0] = </a:t>
            </a:r>
            <a:r>
              <a:rPr lang="en-IN" sz="1800" b="1" dirty="0">
                <a:solidFill>
                  <a:srgbClr val="941EDF"/>
                </a:solidFill>
                <a:latin typeface="Courier New" panose="02070309020205020404" pitchFamily="49" charset="0"/>
              </a:rPr>
              <a:t>new</a:t>
            </a:r>
            <a:r>
              <a:rPr lang="en-IN" sz="1800" b="1" dirty="0">
                <a:solidFill>
                  <a:srgbClr val="000000"/>
                </a:solidFill>
                <a:latin typeface="Courier New" panose="02070309020205020404" pitchFamily="49" charset="0"/>
              </a:rPr>
              <a:t> </a:t>
            </a:r>
            <a:r>
              <a:rPr lang="en-IN" sz="1800" b="1" dirty="0">
                <a:solidFill>
                  <a:srgbClr val="941EDF"/>
                </a:solidFill>
                <a:latin typeface="Courier New" panose="02070309020205020404" pitchFamily="49" charset="0"/>
              </a:rPr>
              <a:t>int</a:t>
            </a:r>
            <a:r>
              <a:rPr lang="en-IN" sz="1800" b="1" dirty="0">
                <a:solidFill>
                  <a:srgbClr val="000000"/>
                </a:solidFill>
                <a:latin typeface="Courier New" panose="02070309020205020404" pitchFamily="49" charset="0"/>
              </a:rPr>
              <a:t>[1];</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twoD</a:t>
            </a:r>
            <a:r>
              <a:rPr lang="en-IN" sz="1800" b="1" dirty="0">
                <a:solidFill>
                  <a:srgbClr val="000000"/>
                </a:solidFill>
                <a:latin typeface="Courier New" panose="02070309020205020404" pitchFamily="49" charset="0"/>
              </a:rPr>
              <a:t>[1] = </a:t>
            </a:r>
            <a:r>
              <a:rPr lang="en-IN" sz="1800" b="1" dirty="0">
                <a:solidFill>
                  <a:srgbClr val="941EDF"/>
                </a:solidFill>
                <a:latin typeface="Courier New" panose="02070309020205020404" pitchFamily="49" charset="0"/>
              </a:rPr>
              <a:t>new</a:t>
            </a:r>
            <a:r>
              <a:rPr lang="en-IN" sz="1800" b="1" dirty="0">
                <a:solidFill>
                  <a:srgbClr val="000000"/>
                </a:solidFill>
                <a:latin typeface="Courier New" panose="02070309020205020404" pitchFamily="49" charset="0"/>
              </a:rPr>
              <a:t> </a:t>
            </a:r>
            <a:r>
              <a:rPr lang="en-IN" sz="1800" b="1" dirty="0">
                <a:solidFill>
                  <a:srgbClr val="941EDF"/>
                </a:solidFill>
                <a:latin typeface="Courier New" panose="02070309020205020404" pitchFamily="49" charset="0"/>
              </a:rPr>
              <a:t>int</a:t>
            </a:r>
            <a:r>
              <a:rPr lang="en-IN" sz="1800" b="1" dirty="0">
                <a:solidFill>
                  <a:srgbClr val="000000"/>
                </a:solidFill>
                <a:latin typeface="Courier New" panose="02070309020205020404" pitchFamily="49" charset="0"/>
              </a:rPr>
              <a:t>[2];</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twoD</a:t>
            </a:r>
            <a:r>
              <a:rPr lang="en-IN" sz="1800" b="1" dirty="0">
                <a:solidFill>
                  <a:srgbClr val="000000"/>
                </a:solidFill>
                <a:latin typeface="Courier New" panose="02070309020205020404" pitchFamily="49" charset="0"/>
              </a:rPr>
              <a:t>[2] = </a:t>
            </a:r>
            <a:r>
              <a:rPr lang="en-IN" sz="1800" b="1" dirty="0">
                <a:solidFill>
                  <a:srgbClr val="941EDF"/>
                </a:solidFill>
                <a:latin typeface="Courier New" panose="02070309020205020404" pitchFamily="49" charset="0"/>
              </a:rPr>
              <a:t>new</a:t>
            </a:r>
            <a:r>
              <a:rPr lang="en-IN" sz="1800" b="1" dirty="0">
                <a:solidFill>
                  <a:srgbClr val="000000"/>
                </a:solidFill>
                <a:latin typeface="Courier New" panose="02070309020205020404" pitchFamily="49" charset="0"/>
              </a:rPr>
              <a:t> </a:t>
            </a:r>
            <a:r>
              <a:rPr lang="en-IN" sz="1800" b="1" dirty="0">
                <a:solidFill>
                  <a:srgbClr val="941EDF"/>
                </a:solidFill>
                <a:latin typeface="Courier New" panose="02070309020205020404" pitchFamily="49" charset="0"/>
              </a:rPr>
              <a:t>int</a:t>
            </a:r>
            <a:r>
              <a:rPr lang="en-IN" sz="1800" b="1" dirty="0">
                <a:solidFill>
                  <a:srgbClr val="000000"/>
                </a:solidFill>
                <a:latin typeface="Courier New" panose="02070309020205020404" pitchFamily="49" charset="0"/>
              </a:rPr>
              <a:t>[3];</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twoD</a:t>
            </a:r>
            <a:r>
              <a:rPr lang="en-IN" sz="1800" b="1" dirty="0">
                <a:solidFill>
                  <a:srgbClr val="000000"/>
                </a:solidFill>
                <a:latin typeface="Courier New" panose="02070309020205020404" pitchFamily="49" charset="0"/>
              </a:rPr>
              <a:t>[3] = </a:t>
            </a:r>
            <a:r>
              <a:rPr lang="en-IN" sz="1800" b="1" dirty="0">
                <a:solidFill>
                  <a:srgbClr val="941EDF"/>
                </a:solidFill>
                <a:latin typeface="Courier New" panose="02070309020205020404" pitchFamily="49" charset="0"/>
              </a:rPr>
              <a:t>new</a:t>
            </a:r>
            <a:r>
              <a:rPr lang="en-IN" sz="1800" b="1" dirty="0">
                <a:solidFill>
                  <a:srgbClr val="000000"/>
                </a:solidFill>
                <a:latin typeface="Courier New" panose="02070309020205020404" pitchFamily="49" charset="0"/>
              </a:rPr>
              <a:t> </a:t>
            </a:r>
            <a:r>
              <a:rPr lang="en-IN" sz="1800" b="1" dirty="0">
                <a:solidFill>
                  <a:srgbClr val="941EDF"/>
                </a:solidFill>
                <a:latin typeface="Courier New" panose="02070309020205020404" pitchFamily="49" charset="0"/>
              </a:rPr>
              <a:t>int</a:t>
            </a:r>
            <a:r>
              <a:rPr lang="en-IN" sz="1800" b="1" dirty="0">
                <a:solidFill>
                  <a:srgbClr val="000000"/>
                </a:solidFill>
                <a:latin typeface="Courier New" panose="02070309020205020404" pitchFamily="49" charset="0"/>
              </a:rPr>
              <a:t>[4];</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System.out.println</a:t>
            </a:r>
            <a:r>
              <a:rPr lang="en-IN" sz="1800" b="1" dirty="0">
                <a:solidFill>
                  <a:srgbClr val="000000"/>
                </a:solidFill>
                <a:latin typeface="Courier New" panose="02070309020205020404" pitchFamily="49" charset="0"/>
              </a:rPr>
              <a:t>(</a:t>
            </a:r>
            <a:r>
              <a:rPr lang="en-IN" sz="1800" b="1" dirty="0">
                <a:solidFill>
                  <a:srgbClr val="00A000"/>
                </a:solidFill>
                <a:latin typeface="Courier New" panose="02070309020205020404" pitchFamily="49" charset="0"/>
              </a:rPr>
              <a:t>"Enter Matrix </a:t>
            </a:r>
            <a:r>
              <a:rPr lang="en-IN" sz="1800" b="1" dirty="0" err="1">
                <a:solidFill>
                  <a:srgbClr val="00A000"/>
                </a:solidFill>
                <a:latin typeface="Courier New" panose="02070309020205020404" pitchFamily="49" charset="0"/>
              </a:rPr>
              <a:t>elemnts</a:t>
            </a:r>
            <a:r>
              <a:rPr lang="en-IN" sz="1800" b="1" dirty="0">
                <a:solidFill>
                  <a:srgbClr val="00A000"/>
                </a:solidFill>
                <a:latin typeface="Courier New" panose="02070309020205020404" pitchFamily="49" charset="0"/>
              </a:rPr>
              <a:t> </a:t>
            </a:r>
            <a:r>
              <a:rPr lang="en-IN" sz="1800" b="1" dirty="0" err="1">
                <a:solidFill>
                  <a:srgbClr val="00A000"/>
                </a:solidFill>
                <a:latin typeface="Courier New" panose="02070309020205020404" pitchFamily="49" charset="0"/>
              </a:rPr>
              <a:t>twoD</a:t>
            </a:r>
            <a:r>
              <a:rPr lang="en-IN" sz="1800" b="1" dirty="0">
                <a:solidFill>
                  <a:srgbClr val="00A000"/>
                </a:solidFill>
                <a:latin typeface="Courier New" panose="02070309020205020404" pitchFamily="49" charset="0"/>
              </a:rPr>
              <a:t> "</a:t>
            </a:r>
            <a:r>
              <a:rPr lang="en-IN" sz="1800" b="1" dirty="0">
                <a:solidFill>
                  <a:srgbClr val="000000"/>
                </a:solidFill>
                <a:latin typeface="Courier New" panose="02070309020205020404" pitchFamily="49" charset="0"/>
              </a:rPr>
              <a:t>);          </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a:t>
            </a:r>
            <a:r>
              <a:rPr lang="en-IN" sz="1800" b="1" dirty="0">
                <a:solidFill>
                  <a:srgbClr val="941EDF"/>
                </a:solidFill>
                <a:latin typeface="Courier New" panose="02070309020205020404" pitchFamily="49" charset="0"/>
              </a:rPr>
              <a:t>for</a:t>
            </a:r>
            <a:r>
              <a:rPr lang="en-IN" sz="1800" b="1" dirty="0">
                <a:solidFill>
                  <a:srgbClr val="000000"/>
                </a:solidFill>
                <a:latin typeface="Courier New" panose="02070309020205020404" pitchFamily="49" charset="0"/>
              </a:rPr>
              <a:t>(</a:t>
            </a:r>
            <a:r>
              <a:rPr lang="en-IN" sz="1800" b="1" dirty="0" err="1">
                <a:solidFill>
                  <a:srgbClr val="000000"/>
                </a:solidFill>
                <a:latin typeface="Courier New" panose="02070309020205020404" pitchFamily="49" charset="0"/>
              </a:rPr>
              <a:t>i</a:t>
            </a:r>
            <a:r>
              <a:rPr lang="en-IN" sz="1800" b="1" dirty="0">
                <a:solidFill>
                  <a:srgbClr val="000000"/>
                </a:solidFill>
                <a:latin typeface="Courier New" panose="02070309020205020404" pitchFamily="49" charset="0"/>
              </a:rPr>
              <a:t>=0;i&lt;4;i++)</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  </a:t>
            </a:r>
            <a:r>
              <a:rPr lang="en-IN" sz="1800" b="1" dirty="0" err="1">
                <a:solidFill>
                  <a:srgbClr val="000000"/>
                </a:solidFill>
                <a:latin typeface="Courier New" panose="02070309020205020404" pitchFamily="49" charset="0"/>
              </a:rPr>
              <a:t>System.out.println</a:t>
            </a:r>
            <a:r>
              <a:rPr lang="en-IN" sz="1800" b="1" dirty="0">
                <a:solidFill>
                  <a:srgbClr val="000000"/>
                </a:solidFill>
                <a:latin typeface="Courier New" panose="02070309020205020404" pitchFamily="49" charset="0"/>
              </a:rPr>
              <a:t>(</a:t>
            </a:r>
            <a:r>
              <a:rPr lang="en-IN" sz="1800" b="1" dirty="0">
                <a:solidFill>
                  <a:srgbClr val="00A000"/>
                </a:solidFill>
                <a:latin typeface="Courier New" panose="02070309020205020404" pitchFamily="49" charset="0"/>
              </a:rPr>
              <a:t>"Enter elements="</a:t>
            </a:r>
            <a:r>
              <a:rPr lang="en-IN" sz="1800" b="1" dirty="0">
                <a:solidFill>
                  <a:srgbClr val="000000"/>
                </a:solidFill>
                <a:latin typeface="Courier New" panose="02070309020205020404" pitchFamily="49" charset="0"/>
              </a:rPr>
              <a:t>+(i+1));</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a:t>
            </a:r>
            <a:r>
              <a:rPr lang="en-IN" sz="1800" b="1" dirty="0">
                <a:solidFill>
                  <a:srgbClr val="941EDF"/>
                </a:solidFill>
                <a:latin typeface="Courier New" panose="02070309020205020404" pitchFamily="49" charset="0"/>
              </a:rPr>
              <a:t>for</a:t>
            </a:r>
            <a:r>
              <a:rPr lang="en-IN" sz="1800" b="1" dirty="0">
                <a:solidFill>
                  <a:srgbClr val="000000"/>
                </a:solidFill>
                <a:latin typeface="Courier New" panose="02070309020205020404" pitchFamily="49" charset="0"/>
              </a:rPr>
              <a:t>(j=0;j&lt;i+1;j++)</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  </a:t>
            </a:r>
            <a:r>
              <a:rPr lang="en-IN" sz="1800" b="1" dirty="0" err="1">
                <a:solidFill>
                  <a:srgbClr val="000000"/>
                </a:solidFill>
                <a:latin typeface="Courier New" panose="02070309020205020404" pitchFamily="49" charset="0"/>
              </a:rPr>
              <a:t>twoD</a:t>
            </a:r>
            <a:r>
              <a:rPr lang="en-IN" sz="1800" b="1" dirty="0">
                <a:solidFill>
                  <a:srgbClr val="000000"/>
                </a:solidFill>
                <a:latin typeface="Courier New" panose="02070309020205020404" pitchFamily="49" charset="0"/>
              </a:rPr>
              <a:t>[</a:t>
            </a:r>
            <a:r>
              <a:rPr lang="en-IN" sz="1800" b="1" dirty="0" err="1">
                <a:solidFill>
                  <a:srgbClr val="000000"/>
                </a:solidFill>
                <a:latin typeface="Courier New" panose="02070309020205020404" pitchFamily="49" charset="0"/>
              </a:rPr>
              <a:t>i</a:t>
            </a:r>
            <a:r>
              <a:rPr lang="en-IN" sz="1800" b="1" dirty="0">
                <a:solidFill>
                  <a:srgbClr val="000000"/>
                </a:solidFill>
                <a:latin typeface="Courier New" panose="02070309020205020404" pitchFamily="49" charset="0"/>
              </a:rPr>
              <a:t>][j] =</a:t>
            </a:r>
            <a:r>
              <a:rPr lang="en-IN" sz="1800" b="1" dirty="0" err="1">
                <a:solidFill>
                  <a:srgbClr val="000000"/>
                </a:solidFill>
                <a:latin typeface="Courier New" panose="02070309020205020404" pitchFamily="49" charset="0"/>
              </a:rPr>
              <a:t>input.nextInt</a:t>
            </a:r>
            <a:r>
              <a:rPr lang="en-IN" sz="1800" b="1" dirty="0">
                <a:solidFill>
                  <a:srgbClr val="000000"/>
                </a:solidFill>
                <a:latin typeface="Courier New" panose="02070309020205020404" pitchFamily="49" charset="0"/>
              </a:rPr>
              <a:t>();</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System.out.println</a:t>
            </a:r>
            <a:r>
              <a:rPr lang="en-IN" sz="1800" b="1" dirty="0">
                <a:solidFill>
                  <a:srgbClr val="000000"/>
                </a:solidFill>
                <a:latin typeface="Courier New" panose="02070309020205020404" pitchFamily="49" charset="0"/>
              </a:rPr>
              <a:t>(</a:t>
            </a:r>
            <a:r>
              <a:rPr lang="en-IN" sz="1800" b="1" dirty="0">
                <a:solidFill>
                  <a:srgbClr val="00A000"/>
                </a:solidFill>
                <a:latin typeface="Courier New" panose="02070309020205020404" pitchFamily="49" charset="0"/>
              </a:rPr>
              <a:t>"</a:t>
            </a:r>
            <a:r>
              <a:rPr lang="en-IN" sz="1800" b="1" dirty="0" err="1">
                <a:solidFill>
                  <a:srgbClr val="00A000"/>
                </a:solidFill>
                <a:latin typeface="Courier New" panose="02070309020205020404" pitchFamily="49" charset="0"/>
              </a:rPr>
              <a:t>TwoD</a:t>
            </a:r>
            <a:r>
              <a:rPr lang="en-IN" sz="1800" b="1" dirty="0">
                <a:solidFill>
                  <a:srgbClr val="00A000"/>
                </a:solidFill>
                <a:latin typeface="Courier New" panose="02070309020205020404" pitchFamily="49" charset="0"/>
              </a:rPr>
              <a:t> arrays is "</a:t>
            </a:r>
            <a:r>
              <a:rPr lang="en-IN" sz="1800" b="1" dirty="0">
                <a:solidFill>
                  <a:srgbClr val="000000"/>
                </a:solidFill>
                <a:latin typeface="Courier New" panose="02070309020205020404" pitchFamily="49" charset="0"/>
              </a:rPr>
              <a:t>);      </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a:t>
            </a:r>
            <a:r>
              <a:rPr lang="en-IN" sz="1800" b="1" dirty="0">
                <a:solidFill>
                  <a:srgbClr val="941EDF"/>
                </a:solidFill>
                <a:latin typeface="Courier New" panose="02070309020205020404" pitchFamily="49" charset="0"/>
              </a:rPr>
              <a:t>for</a:t>
            </a:r>
            <a:r>
              <a:rPr lang="en-IN" sz="1800" b="1" dirty="0">
                <a:solidFill>
                  <a:srgbClr val="000000"/>
                </a:solidFill>
                <a:latin typeface="Courier New" panose="02070309020205020404" pitchFamily="49" charset="0"/>
              </a:rPr>
              <a:t>(</a:t>
            </a:r>
            <a:r>
              <a:rPr lang="en-IN" sz="1800" b="1" dirty="0" err="1">
                <a:solidFill>
                  <a:srgbClr val="000000"/>
                </a:solidFill>
                <a:latin typeface="Courier New" panose="02070309020205020404" pitchFamily="49" charset="0"/>
              </a:rPr>
              <a:t>i</a:t>
            </a:r>
            <a:r>
              <a:rPr lang="en-IN" sz="1800" b="1" dirty="0">
                <a:solidFill>
                  <a:srgbClr val="000000"/>
                </a:solidFill>
                <a:latin typeface="Courier New" panose="02070309020205020404" pitchFamily="49" charset="0"/>
              </a:rPr>
              <a:t>=0;i&lt;4;i++)</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  </a:t>
            </a:r>
            <a:r>
              <a:rPr lang="en-IN" sz="1800" b="1" dirty="0">
                <a:solidFill>
                  <a:srgbClr val="941EDF"/>
                </a:solidFill>
                <a:latin typeface="Courier New" panose="02070309020205020404" pitchFamily="49" charset="0"/>
              </a:rPr>
              <a:t>for</a:t>
            </a:r>
            <a:r>
              <a:rPr lang="en-IN" sz="1800" b="1" dirty="0">
                <a:solidFill>
                  <a:srgbClr val="000000"/>
                </a:solidFill>
                <a:latin typeface="Courier New" panose="02070309020205020404" pitchFamily="49" charset="0"/>
              </a:rPr>
              <a:t>(j=0;j&lt;i+1;j++)</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  </a:t>
            </a:r>
            <a:r>
              <a:rPr lang="en-IN" sz="1800" b="1" dirty="0" err="1">
                <a:solidFill>
                  <a:srgbClr val="000000"/>
                </a:solidFill>
                <a:latin typeface="Courier New" panose="02070309020205020404" pitchFamily="49" charset="0"/>
              </a:rPr>
              <a:t>System.out.print</a:t>
            </a:r>
            <a:r>
              <a:rPr lang="en-IN" sz="1800" b="1" dirty="0">
                <a:solidFill>
                  <a:srgbClr val="000000"/>
                </a:solidFill>
                <a:latin typeface="Courier New" panose="02070309020205020404" pitchFamily="49" charset="0"/>
              </a:rPr>
              <a:t>(</a:t>
            </a:r>
            <a:r>
              <a:rPr lang="en-IN" sz="1800" b="1" dirty="0" err="1">
                <a:solidFill>
                  <a:srgbClr val="000000"/>
                </a:solidFill>
                <a:latin typeface="Courier New" panose="02070309020205020404" pitchFamily="49" charset="0"/>
              </a:rPr>
              <a:t>twoD</a:t>
            </a:r>
            <a:r>
              <a:rPr lang="en-IN" sz="1800" b="1" dirty="0">
                <a:solidFill>
                  <a:srgbClr val="000000"/>
                </a:solidFill>
                <a:latin typeface="Courier New" panose="02070309020205020404" pitchFamily="49" charset="0"/>
              </a:rPr>
              <a:t>[</a:t>
            </a:r>
            <a:r>
              <a:rPr lang="en-IN" sz="1800" b="1" dirty="0" err="1">
                <a:solidFill>
                  <a:srgbClr val="000000"/>
                </a:solidFill>
                <a:latin typeface="Courier New" panose="02070309020205020404" pitchFamily="49" charset="0"/>
              </a:rPr>
              <a:t>i</a:t>
            </a:r>
            <a:r>
              <a:rPr lang="en-IN" sz="1800" b="1" dirty="0">
                <a:solidFill>
                  <a:srgbClr val="000000"/>
                </a:solidFill>
                <a:latin typeface="Courier New" panose="02070309020205020404" pitchFamily="49" charset="0"/>
              </a:rPr>
              <a:t>][j]+</a:t>
            </a:r>
            <a:r>
              <a:rPr lang="en-IN" sz="1800" b="1" dirty="0">
                <a:solidFill>
                  <a:srgbClr val="00A000"/>
                </a:solidFill>
                <a:latin typeface="Courier New" panose="02070309020205020404" pitchFamily="49" charset="0"/>
              </a:rPr>
              <a:t>"  "</a:t>
            </a:r>
            <a:r>
              <a:rPr lang="en-IN" sz="1800" b="1" dirty="0">
                <a:solidFill>
                  <a:srgbClr val="000000"/>
                </a:solidFill>
                <a:latin typeface="Courier New" panose="02070309020205020404" pitchFamily="49" charset="0"/>
              </a:rPr>
              <a:t>);</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a:t>
            </a:r>
            <a:r>
              <a:rPr lang="en-IN" sz="1800" b="1" dirty="0" err="1">
                <a:solidFill>
                  <a:srgbClr val="000000"/>
                </a:solidFill>
                <a:latin typeface="Courier New" panose="02070309020205020404" pitchFamily="49" charset="0"/>
              </a:rPr>
              <a:t>System.out.println</a:t>
            </a:r>
            <a:r>
              <a:rPr lang="en-IN" sz="1800" b="1" dirty="0">
                <a:solidFill>
                  <a:srgbClr val="000000"/>
                </a:solidFill>
                <a:latin typeface="Courier New" panose="02070309020205020404" pitchFamily="49" charset="0"/>
              </a:rPr>
              <a:t>(</a:t>
            </a:r>
            <a:r>
              <a:rPr lang="en-IN" sz="1800" b="1" dirty="0">
                <a:solidFill>
                  <a:srgbClr val="00A000"/>
                </a:solidFill>
                <a:latin typeface="Courier New" panose="02070309020205020404" pitchFamily="49" charset="0"/>
              </a:rPr>
              <a:t>" "</a:t>
            </a:r>
            <a:r>
              <a:rPr lang="en-IN" sz="1800" b="1" dirty="0">
                <a:solidFill>
                  <a:srgbClr val="000000"/>
                </a:solidFill>
                <a:latin typeface="Courier New" panose="02070309020205020404" pitchFamily="49" charset="0"/>
              </a:rPr>
              <a:t>);</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   </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 }</a:t>
            </a:r>
            <a:br>
              <a:rPr lang="en-IN" sz="1800" b="1" dirty="0">
                <a:solidFill>
                  <a:srgbClr val="000000"/>
                </a:solidFill>
                <a:latin typeface="Courier New" panose="02070309020205020404" pitchFamily="49" charset="0"/>
              </a:rPr>
            </a:br>
            <a:r>
              <a:rPr lang="en-IN" sz="1800" b="1" dirty="0">
                <a:solidFill>
                  <a:srgbClr val="000000"/>
                </a:solidFill>
                <a:latin typeface="Courier New" panose="02070309020205020404" pitchFamily="49" charset="0"/>
              </a:rPr>
              <a:t>}</a:t>
            </a:r>
            <a:endParaRPr lang="en-IN" b="1" dirty="0"/>
          </a:p>
        </p:txBody>
      </p:sp>
    </p:spTree>
    <p:extLst>
      <p:ext uri="{BB962C8B-B14F-4D97-AF65-F5344CB8AC3E}">
        <p14:creationId xmlns:p14="http://schemas.microsoft.com/office/powerpoint/2010/main" val="13418002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1EE9B-95AF-1BDA-6D6B-2B243F71EEEF}"/>
              </a:ext>
            </a:extLst>
          </p:cNvPr>
          <p:cNvSpPr>
            <a:spLocks noGrp="1"/>
          </p:cNvSpPr>
          <p:nvPr>
            <p:ph type="title"/>
          </p:nvPr>
        </p:nvSpPr>
        <p:spPr>
          <a:xfrm>
            <a:off x="1828801" y="624110"/>
            <a:ext cx="9675812" cy="1280890"/>
          </a:xfrm>
        </p:spPr>
        <p:txBody>
          <a:bodyPr>
            <a:normAutofit/>
          </a:bodyPr>
          <a:lstStyle/>
          <a:p>
            <a:r>
              <a:rPr lang="en-IN" sz="4000" b="1" dirty="0"/>
              <a:t>3 D array</a:t>
            </a:r>
          </a:p>
        </p:txBody>
      </p:sp>
      <p:sp>
        <p:nvSpPr>
          <p:cNvPr id="3" name="Content Placeholder 2">
            <a:extLst>
              <a:ext uri="{FF2B5EF4-FFF2-40B4-BE49-F238E27FC236}">
                <a16:creationId xmlns:a16="http://schemas.microsoft.com/office/drawing/2014/main" id="{DF711D1B-061D-8261-88B3-B30C518574D5}"/>
              </a:ext>
            </a:extLst>
          </p:cNvPr>
          <p:cNvSpPr>
            <a:spLocks noGrp="1"/>
          </p:cNvSpPr>
          <p:nvPr>
            <p:ph idx="1"/>
          </p:nvPr>
        </p:nvSpPr>
        <p:spPr>
          <a:xfrm>
            <a:off x="1180618" y="1817225"/>
            <a:ext cx="10323994" cy="4093997"/>
          </a:xfrm>
        </p:spPr>
        <p:txBody>
          <a:bodyPr>
            <a:normAutofit/>
          </a:bodyPr>
          <a:lstStyle/>
          <a:p>
            <a:pPr marL="0" indent="0">
              <a:buNone/>
            </a:pPr>
            <a:r>
              <a:rPr lang="en-IN" sz="36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 three-dimensional array can be created where first index specifies the number of tables, second one number </a:t>
            </a:r>
            <a:r>
              <a:rPr lang="en-IN" sz="3600" dirty="0">
                <a:solidFill>
                  <a:srgbClr val="1D1D1E"/>
                </a:solidFill>
                <a:latin typeface="Bookman Old Style" panose="02050604050505020204" pitchFamily="18" charset="0"/>
                <a:ea typeface="Bookman Old Style" panose="02050604050505020204" pitchFamily="18" charset="0"/>
                <a:cs typeface="Arial" panose="020B0604020202020204" pitchFamily="34" charset="0"/>
              </a:rPr>
              <a:t>o</a:t>
            </a:r>
            <a:r>
              <a:rPr lang="en-IN" sz="36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f rows and the third number of columns.</a:t>
            </a:r>
            <a:endParaRPr lang="en-IN" sz="3600" dirty="0">
              <a:effectLst/>
              <a:latin typeface="Calibri" panose="020F0502020204030204" pitchFamily="34" charset="0"/>
              <a:ea typeface="Calibri" panose="020F0502020204030204" pitchFamily="34" charset="0"/>
              <a:cs typeface="Arial" panose="020B0604020202020204" pitchFamily="34" charset="0"/>
            </a:endParaRPr>
          </a:p>
          <a:p>
            <a:endParaRPr lang="en-IN" sz="3600" dirty="0"/>
          </a:p>
        </p:txBody>
      </p:sp>
    </p:spTree>
    <p:extLst>
      <p:ext uri="{BB962C8B-B14F-4D97-AF65-F5344CB8AC3E}">
        <p14:creationId xmlns:p14="http://schemas.microsoft.com/office/powerpoint/2010/main" val="31662056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7EFCDB-BA6E-6DCD-3379-71880E3B0306}"/>
              </a:ext>
            </a:extLst>
          </p:cNvPr>
          <p:cNvSpPr>
            <a:spLocks noGrp="1"/>
          </p:cNvSpPr>
          <p:nvPr>
            <p:ph idx="1"/>
          </p:nvPr>
        </p:nvSpPr>
        <p:spPr>
          <a:xfrm>
            <a:off x="2589212" y="590308"/>
            <a:ext cx="8915400" cy="6267691"/>
          </a:xfrm>
        </p:spPr>
        <p:txBody>
          <a:bodyPr>
            <a:noAutofit/>
          </a:bodyPr>
          <a:lstStyle/>
          <a:p>
            <a:pPr marL="0" indent="0">
              <a:buNone/>
            </a:pPr>
            <a:r>
              <a:rPr lang="en-IN" sz="2800" b="1" dirty="0"/>
              <a:t>//	Demonstrate a three-dimensional array. class </a:t>
            </a:r>
            <a:r>
              <a:rPr lang="en-IN" sz="2800" b="1" dirty="0" err="1"/>
              <a:t>class</a:t>
            </a:r>
            <a:r>
              <a:rPr lang="en-IN" sz="2800" b="1" dirty="0"/>
              <a:t>  </a:t>
            </a:r>
            <a:r>
              <a:rPr lang="en-IN" sz="2800" b="1" dirty="0" err="1"/>
              <a:t>threeDMatrix</a:t>
            </a:r>
            <a:endParaRPr lang="en-IN" sz="2800" b="1" dirty="0"/>
          </a:p>
          <a:p>
            <a:pPr marL="0" indent="0">
              <a:buNone/>
            </a:pPr>
            <a:r>
              <a:rPr lang="en-IN" sz="2800" b="1" dirty="0"/>
              <a:t>{	public static void main(String </a:t>
            </a:r>
            <a:r>
              <a:rPr lang="en-IN" sz="2800" b="1" dirty="0" err="1"/>
              <a:t>args</a:t>
            </a:r>
            <a:r>
              <a:rPr lang="en-IN" sz="2800" b="1" dirty="0"/>
              <a:t>[])</a:t>
            </a:r>
          </a:p>
          <a:p>
            <a:pPr marL="0" indent="0">
              <a:buNone/>
            </a:pPr>
            <a:r>
              <a:rPr lang="en-IN" sz="2800" b="1" dirty="0"/>
              <a:t>	{	int </a:t>
            </a:r>
            <a:r>
              <a:rPr lang="en-IN" sz="2800" b="1" dirty="0" err="1"/>
              <a:t>threeD</a:t>
            </a:r>
            <a:r>
              <a:rPr lang="en-IN" sz="2800" b="1" dirty="0"/>
              <a:t>[][][] = new int[3][3][3]; int </a:t>
            </a:r>
            <a:r>
              <a:rPr lang="en-IN" sz="2800" b="1" dirty="0" err="1"/>
              <a:t>i</a:t>
            </a:r>
            <a:r>
              <a:rPr lang="en-IN" sz="2800" b="1" dirty="0"/>
              <a:t>, j, k;</a:t>
            </a:r>
          </a:p>
          <a:p>
            <a:pPr marL="0" indent="0">
              <a:buNone/>
            </a:pPr>
            <a:r>
              <a:rPr lang="en-IN" sz="2800" b="1" dirty="0"/>
              <a:t>		for(</a:t>
            </a:r>
            <a:r>
              <a:rPr lang="en-IN" sz="2800" b="1" dirty="0" err="1"/>
              <a:t>i</a:t>
            </a:r>
            <a:r>
              <a:rPr lang="en-IN" sz="2800" b="1" dirty="0"/>
              <a:t>=0; </a:t>
            </a:r>
            <a:r>
              <a:rPr lang="en-IN" sz="2800" b="1" dirty="0" err="1"/>
              <a:t>i</a:t>
            </a:r>
            <a:r>
              <a:rPr lang="en-IN" sz="2800" b="1" dirty="0"/>
              <a:t>&lt;3; </a:t>
            </a:r>
            <a:r>
              <a:rPr lang="en-IN" sz="2800" b="1" dirty="0" err="1"/>
              <a:t>i</a:t>
            </a:r>
            <a:r>
              <a:rPr lang="en-IN" sz="2800" b="1" dirty="0"/>
              <a:t>++) 			</a:t>
            </a:r>
          </a:p>
          <a:p>
            <a:pPr marL="0" indent="0">
              <a:buNone/>
            </a:pPr>
            <a:r>
              <a:rPr lang="en-IN" sz="2800" b="1" dirty="0"/>
              <a:t>			for(j=0; j&lt;3; </a:t>
            </a:r>
            <a:r>
              <a:rPr lang="en-IN" sz="2800" b="1" dirty="0" err="1"/>
              <a:t>j++</a:t>
            </a:r>
            <a:r>
              <a:rPr lang="en-IN" sz="2800" b="1" dirty="0"/>
              <a:t>) </a:t>
            </a:r>
          </a:p>
          <a:p>
            <a:pPr marL="0" indent="0">
              <a:buNone/>
            </a:pPr>
            <a:r>
              <a:rPr lang="en-IN" sz="2800" b="1" dirty="0"/>
              <a:t>				for(k=0; k&lt;3; k++) </a:t>
            </a:r>
          </a:p>
          <a:p>
            <a:pPr marL="0" indent="0">
              <a:buNone/>
            </a:pPr>
            <a:r>
              <a:rPr lang="en-IN" sz="2800" b="1" dirty="0"/>
              <a:t>					</a:t>
            </a:r>
            <a:r>
              <a:rPr lang="en-IN" sz="2800" b="1" dirty="0" err="1"/>
              <a:t>threeD</a:t>
            </a:r>
            <a:r>
              <a:rPr lang="en-IN" sz="2800" b="1" dirty="0"/>
              <a:t>[</a:t>
            </a:r>
            <a:r>
              <a:rPr lang="en-IN" sz="2800" b="1" dirty="0" err="1"/>
              <a:t>i</a:t>
            </a:r>
            <a:r>
              <a:rPr lang="en-IN" sz="2800" b="1" dirty="0"/>
              <a:t>][j][k] = i+1; </a:t>
            </a:r>
          </a:p>
          <a:p>
            <a:pPr marL="0" indent="0">
              <a:buNone/>
            </a:pPr>
            <a:r>
              <a:rPr lang="en-IN" sz="2800" b="1" dirty="0"/>
              <a:t>		</a:t>
            </a:r>
          </a:p>
        </p:txBody>
      </p:sp>
    </p:spTree>
    <p:extLst>
      <p:ext uri="{BB962C8B-B14F-4D97-AF65-F5344CB8AC3E}">
        <p14:creationId xmlns:p14="http://schemas.microsoft.com/office/powerpoint/2010/main" val="27001574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4B9A17-145C-279A-0C62-6AF42AEE9B18}"/>
              </a:ext>
            </a:extLst>
          </p:cNvPr>
          <p:cNvSpPr>
            <a:spLocks noGrp="1"/>
          </p:cNvSpPr>
          <p:nvPr>
            <p:ph idx="1"/>
          </p:nvPr>
        </p:nvSpPr>
        <p:spPr>
          <a:xfrm>
            <a:off x="2589212" y="428263"/>
            <a:ext cx="8915400" cy="5482959"/>
          </a:xfrm>
        </p:spPr>
        <p:txBody>
          <a:bodyPr>
            <a:normAutofit lnSpcReduction="10000"/>
          </a:bodyPr>
          <a:lstStyle/>
          <a:p>
            <a:pPr marL="0" indent="0">
              <a:buNone/>
            </a:pPr>
            <a:r>
              <a:rPr lang="en-IN" sz="2800" b="1" dirty="0"/>
              <a:t>for(</a:t>
            </a:r>
            <a:r>
              <a:rPr lang="en-IN" sz="2800" b="1" dirty="0" err="1"/>
              <a:t>i</a:t>
            </a:r>
            <a:r>
              <a:rPr lang="en-IN" sz="2800" b="1" dirty="0"/>
              <a:t>=0; </a:t>
            </a:r>
            <a:r>
              <a:rPr lang="en-IN" sz="2800" b="1" dirty="0" err="1"/>
              <a:t>i</a:t>
            </a:r>
            <a:r>
              <a:rPr lang="en-IN" sz="2800" b="1" dirty="0"/>
              <a:t>&lt;3; </a:t>
            </a:r>
            <a:r>
              <a:rPr lang="en-IN" sz="2800" b="1" dirty="0" err="1"/>
              <a:t>i</a:t>
            </a:r>
            <a:r>
              <a:rPr lang="en-IN" sz="2800" b="1" dirty="0"/>
              <a:t>++)</a:t>
            </a:r>
          </a:p>
          <a:p>
            <a:pPr marL="0" indent="0">
              <a:buNone/>
            </a:pPr>
            <a:r>
              <a:rPr lang="en-IN" sz="2800" b="1" dirty="0"/>
              <a:t>		{ 	for(j=0; j&lt;3; </a:t>
            </a:r>
            <a:r>
              <a:rPr lang="en-IN" sz="2800" b="1" dirty="0" err="1"/>
              <a:t>j++</a:t>
            </a:r>
            <a:r>
              <a:rPr lang="en-IN" sz="2800" b="1" dirty="0"/>
              <a:t>)</a:t>
            </a:r>
          </a:p>
          <a:p>
            <a:pPr marL="0" indent="0">
              <a:buNone/>
            </a:pPr>
            <a:r>
              <a:rPr lang="en-IN" sz="2800" b="1" dirty="0"/>
              <a:t>			{     	for(k=0; k&lt;3; k++)</a:t>
            </a:r>
          </a:p>
          <a:p>
            <a:pPr marL="0" indent="0">
              <a:buNone/>
            </a:pPr>
            <a:r>
              <a:rPr lang="en-IN" sz="2800" b="1" dirty="0"/>
              <a:t>					</a:t>
            </a:r>
            <a:r>
              <a:rPr lang="en-IN" sz="2800" b="1" dirty="0" err="1"/>
              <a:t>System.out.print</a:t>
            </a:r>
            <a:r>
              <a:rPr lang="en-IN" sz="2800" b="1" dirty="0"/>
              <a:t>(</a:t>
            </a:r>
            <a:r>
              <a:rPr lang="en-IN" sz="2800" b="1" dirty="0" err="1"/>
              <a:t>threeD</a:t>
            </a:r>
            <a:r>
              <a:rPr lang="en-IN" sz="2800" b="1" dirty="0"/>
              <a:t>[</a:t>
            </a:r>
            <a:r>
              <a:rPr lang="en-IN" sz="2800" b="1" dirty="0" err="1"/>
              <a:t>i</a:t>
            </a:r>
            <a:r>
              <a:rPr lang="en-IN" sz="2800" b="1" dirty="0"/>
              <a:t>][j][k] + " ");</a:t>
            </a:r>
          </a:p>
          <a:p>
            <a:pPr marL="0" indent="0">
              <a:buNone/>
            </a:pPr>
            <a:r>
              <a:rPr lang="en-IN" sz="2800" b="1" dirty="0"/>
              <a:t>				</a:t>
            </a:r>
            <a:r>
              <a:rPr lang="en-IN" sz="2800" b="1" dirty="0" err="1"/>
              <a:t>System.out.println</a:t>
            </a:r>
            <a:r>
              <a:rPr lang="en-IN" sz="2800" b="1" dirty="0"/>
              <a:t>();</a:t>
            </a:r>
          </a:p>
          <a:p>
            <a:pPr marL="0" indent="0">
              <a:buNone/>
            </a:pPr>
            <a:r>
              <a:rPr lang="en-IN" sz="2800" b="1" dirty="0"/>
              <a:t>			}</a:t>
            </a:r>
          </a:p>
          <a:p>
            <a:pPr marL="0" indent="0">
              <a:buNone/>
            </a:pPr>
            <a:r>
              <a:rPr lang="en-IN" sz="2800" b="1" dirty="0"/>
              <a:t>			</a:t>
            </a:r>
            <a:r>
              <a:rPr lang="en-IN" sz="2800" b="1" dirty="0" err="1"/>
              <a:t>System.out.println</a:t>
            </a:r>
            <a:r>
              <a:rPr lang="en-IN" sz="2800" b="1" dirty="0"/>
              <a:t>();</a:t>
            </a:r>
          </a:p>
          <a:p>
            <a:pPr marL="0" indent="0">
              <a:buNone/>
            </a:pPr>
            <a:r>
              <a:rPr lang="en-IN" sz="2800" b="1" dirty="0"/>
              <a:t>		}</a:t>
            </a:r>
          </a:p>
          <a:p>
            <a:pPr marL="0" indent="0">
              <a:buNone/>
            </a:pPr>
            <a:r>
              <a:rPr lang="en-IN" sz="2800" b="1" dirty="0"/>
              <a:t>	}</a:t>
            </a:r>
          </a:p>
          <a:p>
            <a:pPr marL="0" indent="0">
              <a:buNone/>
            </a:pPr>
            <a:r>
              <a:rPr lang="en-IN" sz="2800" b="1" dirty="0"/>
              <a:t>}</a:t>
            </a:r>
          </a:p>
          <a:p>
            <a:endParaRPr lang="en-IN" sz="2800" dirty="0"/>
          </a:p>
        </p:txBody>
      </p:sp>
    </p:spTree>
    <p:extLst>
      <p:ext uri="{BB962C8B-B14F-4D97-AF65-F5344CB8AC3E}">
        <p14:creationId xmlns:p14="http://schemas.microsoft.com/office/powerpoint/2010/main" val="1193379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0838DF-F93D-39C6-056A-D4E9C2DAFD32}"/>
              </a:ext>
            </a:extLst>
          </p:cNvPr>
          <p:cNvSpPr>
            <a:spLocks noGrp="1"/>
          </p:cNvSpPr>
          <p:nvPr>
            <p:ph idx="1"/>
          </p:nvPr>
        </p:nvSpPr>
        <p:spPr>
          <a:xfrm>
            <a:off x="1713053" y="101600"/>
            <a:ext cx="9803134" cy="6756400"/>
          </a:xfrm>
        </p:spPr>
        <p:txBody>
          <a:bodyPr>
            <a:normAutofit/>
          </a:bodyPr>
          <a:lstStyle/>
          <a:p>
            <a:pPr marL="0" indent="0" algn="just">
              <a:buNone/>
            </a:pP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1 2 3 </a:t>
            </a:r>
          </a:p>
          <a:p>
            <a:pPr marL="0" indent="0" algn="just">
              <a:buNone/>
            </a:pP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1 2 3 </a:t>
            </a:r>
          </a:p>
          <a:p>
            <a:pPr marL="0" indent="0" algn="just">
              <a:buNone/>
            </a:pP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1 2 3 </a:t>
            </a:r>
          </a:p>
          <a:p>
            <a:pPr marL="0" indent="0" algn="just">
              <a:buNone/>
            </a:pPr>
            <a:endPar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endParaRPr>
          </a:p>
          <a:p>
            <a:pPr marL="0" indent="0" algn="just">
              <a:buNone/>
            </a:pP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1 2 3 </a:t>
            </a:r>
          </a:p>
          <a:p>
            <a:pPr marL="0" indent="0" algn="just">
              <a:buNone/>
            </a:pP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1 2 3 </a:t>
            </a:r>
          </a:p>
          <a:p>
            <a:pPr marL="0" indent="0" algn="just">
              <a:buNone/>
            </a:pP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1 2 3 </a:t>
            </a:r>
          </a:p>
          <a:p>
            <a:pPr marL="0" indent="0" algn="just">
              <a:buNone/>
            </a:pPr>
            <a:endPar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endParaRPr>
          </a:p>
          <a:p>
            <a:pPr marL="0" indent="0" algn="just">
              <a:buNone/>
            </a:pP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1 2 3 </a:t>
            </a:r>
          </a:p>
          <a:p>
            <a:pPr marL="0" indent="0" algn="just">
              <a:buNone/>
            </a:pP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1 2 3 </a:t>
            </a:r>
          </a:p>
          <a:p>
            <a:pPr marL="0" indent="0" algn="just">
              <a:buNone/>
            </a:pPr>
            <a:r>
              <a:rPr lang="en-IN" sz="2800" b="1"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1 2 3 </a:t>
            </a:r>
          </a:p>
        </p:txBody>
      </p:sp>
      <p:pic>
        <p:nvPicPr>
          <p:cNvPr id="2050" name="Picture 2" descr="Rubik Cube 3x3 | Stickerless High Speed Cube Puzzle | Educational Puzzle Game for Kids | BirdFlee Rubik Cube">
            <a:extLst>
              <a:ext uri="{FF2B5EF4-FFF2-40B4-BE49-F238E27FC236}">
                <a16:creationId xmlns:a16="http://schemas.microsoft.com/office/drawing/2014/main" id="{78559D1D-E278-6B28-21BE-DFBF6AC1A3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74107" y="0"/>
            <a:ext cx="2898916" cy="3321934"/>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Python NumPy array - Create NumPy ...">
            <a:extLst>
              <a:ext uri="{FF2B5EF4-FFF2-40B4-BE49-F238E27FC236}">
                <a16:creationId xmlns:a16="http://schemas.microsoft.com/office/drawing/2014/main" id="{2CB846B7-CEA7-65AA-F4D7-E2E72C4C17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2177" y="2569581"/>
            <a:ext cx="7518816" cy="4186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19866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8DAB6-B6DD-CADC-AB7A-110A6F4CC581}"/>
              </a:ext>
            </a:extLst>
          </p:cNvPr>
          <p:cNvSpPr>
            <a:spLocks noGrp="1"/>
          </p:cNvSpPr>
          <p:nvPr>
            <p:ph type="title"/>
          </p:nvPr>
        </p:nvSpPr>
        <p:spPr>
          <a:xfrm>
            <a:off x="2373006" y="334743"/>
            <a:ext cx="8911687" cy="892173"/>
          </a:xfrm>
        </p:spPr>
        <p:txBody>
          <a:bodyPr/>
          <a:lstStyle/>
          <a:p>
            <a:r>
              <a:rPr lang="en-IN" sz="36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Alternative Array Declaration Syntax</a:t>
            </a:r>
            <a:endParaRPr lang="en-IN" dirty="0"/>
          </a:p>
        </p:txBody>
      </p:sp>
      <p:sp>
        <p:nvSpPr>
          <p:cNvPr id="3" name="Content Placeholder 2">
            <a:extLst>
              <a:ext uri="{FF2B5EF4-FFF2-40B4-BE49-F238E27FC236}">
                <a16:creationId xmlns:a16="http://schemas.microsoft.com/office/drawing/2014/main" id="{9D52AD22-D229-9828-0B82-2E6F6D46853E}"/>
              </a:ext>
            </a:extLst>
          </p:cNvPr>
          <p:cNvSpPr>
            <a:spLocks noGrp="1"/>
          </p:cNvSpPr>
          <p:nvPr>
            <p:ph idx="1"/>
          </p:nvPr>
        </p:nvSpPr>
        <p:spPr>
          <a:xfrm>
            <a:off x="1006996" y="1361440"/>
            <a:ext cx="10497615" cy="5496560"/>
          </a:xfrm>
        </p:spPr>
        <p:txBody>
          <a:bodyPr>
            <a:normAutofit lnSpcReduction="10000"/>
          </a:bodyPr>
          <a:lstStyle/>
          <a:p>
            <a:pPr algn="just"/>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There is a second form that may be used to declare an array:</a:t>
            </a:r>
            <a:r>
              <a:rPr lang="en-IN" sz="2800" dirty="0">
                <a:effectLst/>
                <a:latin typeface="Times New Roman" panose="02020603050405020304" pitchFamily="18" charset="0"/>
                <a:ea typeface="Times New Roman" panose="02020603050405020304" pitchFamily="18" charset="0"/>
                <a:cs typeface="Arial" panose="020B0604020202020204" pitchFamily="34" charset="0"/>
              </a:rPr>
              <a:t> </a:t>
            </a:r>
            <a:endParaRPr lang="en-IN" sz="2800"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type[ ] var-name;</a:t>
            </a:r>
            <a:endParaRPr lang="en-IN" sz="2800" dirty="0">
              <a:effectLst/>
              <a:latin typeface="Calibri" panose="020F0502020204030204" pitchFamily="34" charset="0"/>
              <a:ea typeface="Calibri" panose="020F0502020204030204" pitchFamily="34" charset="0"/>
              <a:cs typeface="Arial" panose="020B0604020202020204" pitchFamily="34" charset="0"/>
            </a:endParaRPr>
          </a:p>
          <a:p>
            <a:pPr marR="12700" algn="just"/>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Here, the square brackets follow the type specifier, and not the name of the array variable. For example, the following two declarations are equivalent:</a:t>
            </a:r>
            <a:endParaRPr lang="en-IN" sz="2800" dirty="0">
              <a:effectLst/>
              <a:latin typeface="Calibri" panose="020F0502020204030204" pitchFamily="34" charset="0"/>
              <a:ea typeface="Calibri" panose="020F0502020204030204" pitchFamily="34" charset="0"/>
              <a:cs typeface="Arial" panose="020B0604020202020204" pitchFamily="34" charset="0"/>
            </a:endParaRPr>
          </a:p>
          <a:p>
            <a:pPr algn="just"/>
            <a:r>
              <a:rPr lang="en-IN" sz="2800" dirty="0">
                <a:solidFill>
                  <a:srgbClr val="1D1D1E"/>
                </a:solidFill>
                <a:effectLst/>
                <a:latin typeface="Bookman Old Style" panose="02050604050505020204" pitchFamily="18" charset="0"/>
                <a:ea typeface="Bookman Old Style" panose="02050604050505020204" pitchFamily="18" charset="0"/>
                <a:cs typeface="Arial" panose="020B0604020202020204" pitchFamily="34" charset="0"/>
              </a:rPr>
              <a:t>int al[] = new int[3];</a:t>
            </a:r>
          </a:p>
          <a:p>
            <a:pPr algn="just"/>
            <a:r>
              <a:rPr lang="en-IN" sz="2800" dirty="0">
                <a:effectLst/>
                <a:latin typeface="Calibri" panose="020F0502020204030204" pitchFamily="34" charset="0"/>
                <a:ea typeface="Calibri" panose="020F0502020204030204" pitchFamily="34" charset="0"/>
                <a:cs typeface="Arial" panose="020B0604020202020204" pitchFamily="34" charset="0"/>
              </a:rPr>
              <a:t>int[] a2 = new int[3];</a:t>
            </a:r>
          </a:p>
          <a:p>
            <a:pPr marL="0" indent="0" algn="just">
              <a:buNone/>
            </a:pPr>
            <a:r>
              <a:rPr lang="en-IN" sz="2800" dirty="0">
                <a:effectLst/>
                <a:latin typeface="Calibri" panose="020F0502020204030204" pitchFamily="34" charset="0"/>
                <a:ea typeface="Calibri" panose="020F0502020204030204" pitchFamily="34" charset="0"/>
                <a:cs typeface="Arial" panose="020B0604020202020204" pitchFamily="34" charset="0"/>
              </a:rPr>
              <a:t>The following declarations are also equivalent:</a:t>
            </a:r>
          </a:p>
          <a:p>
            <a:pPr algn="just"/>
            <a:r>
              <a:rPr lang="en-IN" sz="2800" dirty="0">
                <a:effectLst/>
                <a:latin typeface="Calibri" panose="020F0502020204030204" pitchFamily="34" charset="0"/>
                <a:ea typeface="Calibri" panose="020F0502020204030204" pitchFamily="34" charset="0"/>
                <a:cs typeface="Arial" panose="020B0604020202020204" pitchFamily="34" charset="0"/>
              </a:rPr>
              <a:t>char twod1[][] = new char[3][4];</a:t>
            </a:r>
          </a:p>
          <a:p>
            <a:pPr algn="just"/>
            <a:r>
              <a:rPr lang="en-IN" sz="2800" dirty="0">
                <a:effectLst/>
                <a:latin typeface="Calibri" panose="020F0502020204030204" pitchFamily="34" charset="0"/>
                <a:ea typeface="Calibri" panose="020F0502020204030204" pitchFamily="34" charset="0"/>
                <a:cs typeface="Arial" panose="020B0604020202020204" pitchFamily="34" charset="0"/>
              </a:rPr>
              <a:t>char[][] twod2 = new char[3][4];</a:t>
            </a:r>
          </a:p>
          <a:p>
            <a:pPr algn="just"/>
            <a:endParaRPr lang="en-IN" sz="2800" dirty="0">
              <a:effectLst/>
              <a:latin typeface="Calibri" panose="020F0502020204030204" pitchFamily="34" charset="0"/>
              <a:ea typeface="Calibri" panose="020F0502020204030204" pitchFamily="34" charset="0"/>
              <a:cs typeface="Arial" panose="020B0604020202020204" pitchFamily="34" charset="0"/>
            </a:endParaRPr>
          </a:p>
          <a:p>
            <a:endParaRPr lang="en-IN" sz="2800" dirty="0"/>
          </a:p>
        </p:txBody>
      </p:sp>
    </p:spTree>
    <p:extLst>
      <p:ext uri="{BB962C8B-B14F-4D97-AF65-F5344CB8AC3E}">
        <p14:creationId xmlns:p14="http://schemas.microsoft.com/office/powerpoint/2010/main" val="352816370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4612</TotalTime>
  <Words>4311</Words>
  <Application>Microsoft Office PowerPoint</Application>
  <PresentationFormat>Widescreen</PresentationFormat>
  <Paragraphs>380</Paragraphs>
  <Slides>44</Slides>
  <Notes>1</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44</vt:i4>
      </vt:variant>
    </vt:vector>
  </HeadingPairs>
  <TitlesOfParts>
    <vt:vector size="61" baseType="lpstr">
      <vt:lpstr>Abadi</vt:lpstr>
      <vt:lpstr>Arial</vt:lpstr>
      <vt:lpstr>Bookman Old Style</vt:lpstr>
      <vt:lpstr>Calibri</vt:lpstr>
      <vt:lpstr>Century Gothic</vt:lpstr>
      <vt:lpstr>Comic Sans MS</vt:lpstr>
      <vt:lpstr>Courier New</vt:lpstr>
      <vt:lpstr>CourierStd</vt:lpstr>
      <vt:lpstr>DINMittelEFOP-Bold</vt:lpstr>
      <vt:lpstr>NewBaskervilleStd-Bold</vt:lpstr>
      <vt:lpstr>NewBaskervilleStd-Italic</vt:lpstr>
      <vt:lpstr>NewBaskervilleStd-Roman</vt:lpstr>
      <vt:lpstr>OracleSansVF</vt:lpstr>
      <vt:lpstr>Times New Roman</vt:lpstr>
      <vt:lpstr>Wingdings</vt:lpstr>
      <vt:lpstr>Wingdings 3</vt:lpstr>
      <vt:lpstr>Wisp</vt:lpstr>
      <vt:lpstr>OOPs  with Java Chapter 3 Data Types, Variables, &amp; Arrays</vt:lpstr>
      <vt:lpstr>Data Types, Variables, and Arrays</vt:lpstr>
      <vt:lpstr>Primitive Data Types – Simple Data Types</vt:lpstr>
      <vt:lpstr>The Primitive Types</vt:lpstr>
      <vt:lpstr>Integers</vt:lpstr>
      <vt:lpstr>PowerPoint Presentation</vt:lpstr>
      <vt:lpstr>Floating point Numbers</vt:lpstr>
      <vt:lpstr>PowerPoint Presentation</vt:lpstr>
      <vt:lpstr>Character Data Types</vt:lpstr>
      <vt:lpstr>Can add unicodes values, increment, decremet.</vt:lpstr>
      <vt:lpstr>Booleans </vt:lpstr>
      <vt:lpstr>PowerPoint Presentation</vt:lpstr>
      <vt:lpstr>Three interesting things about Boolean value</vt:lpstr>
      <vt:lpstr>Integer Literals</vt:lpstr>
      <vt:lpstr>PowerPoint Presentation</vt:lpstr>
      <vt:lpstr>Floating-Point Literals</vt:lpstr>
      <vt:lpstr>Character Literals  </vt:lpstr>
      <vt:lpstr>String Literals</vt:lpstr>
      <vt:lpstr>PowerPoint Presentation</vt:lpstr>
      <vt:lpstr>PowerPoint Presentation</vt:lpstr>
      <vt:lpstr>PowerPoint Presentation</vt:lpstr>
      <vt:lpstr>PowerPoint Presentation</vt:lpstr>
      <vt:lpstr>Dynamic Initialization </vt:lpstr>
      <vt:lpstr>The Scope and Lifetime of Variables:</vt:lpstr>
      <vt:lpstr>PowerPoint Presentation</vt:lpstr>
      <vt:lpstr>Type Conversion and Casting</vt:lpstr>
      <vt:lpstr>PowerPoint Presentation</vt:lpstr>
      <vt:lpstr>Casting Incompatible Types</vt:lpstr>
      <vt:lpstr>A different type of conversion will occur when a floating-point value is assigned to an integer type: truncation.   As integers do not have fractional components so, when a floating-point value is assigned to an integer type, the fractional component is lost.</vt:lpstr>
      <vt:lpstr>PowerPoint Presentation</vt:lpstr>
      <vt:lpstr>PowerPoint Presentation</vt:lpstr>
      <vt:lpstr>Variables</vt:lpstr>
      <vt:lpstr>Arrays:</vt:lpstr>
      <vt:lpstr>Arrays</vt:lpstr>
      <vt:lpstr>PowerPoint Presentation</vt:lpstr>
      <vt:lpstr>Multidimensional Arrays</vt:lpstr>
      <vt:lpstr>PowerPoint Presentation</vt:lpstr>
      <vt:lpstr>You can allocate the remaining dimensions separately. We can allocates the second dimension manually.</vt:lpstr>
      <vt:lpstr>PowerPoint Presentation</vt:lpstr>
      <vt:lpstr>3 D array</vt:lpstr>
      <vt:lpstr>PowerPoint Presentation</vt:lpstr>
      <vt:lpstr>PowerPoint Presentation</vt:lpstr>
      <vt:lpstr>PowerPoint Presentation</vt:lpstr>
      <vt:lpstr>Alternative Array Declaration Syntax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OOP</dc:title>
  <dc:creator>ganga holi</dc:creator>
  <cp:lastModifiedBy>ganga holi</cp:lastModifiedBy>
  <cp:revision>78</cp:revision>
  <dcterms:created xsi:type="dcterms:W3CDTF">2023-11-30T17:44:15Z</dcterms:created>
  <dcterms:modified xsi:type="dcterms:W3CDTF">2024-09-03T17:07:10Z</dcterms:modified>
</cp:coreProperties>
</file>