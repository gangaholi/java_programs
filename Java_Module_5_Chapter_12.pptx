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84" r:id="rId1"/>
  </p:sldMasterIdLst>
  <p:sldIdLst>
    <p:sldId id="256" r:id="rId2"/>
    <p:sldId id="257" r:id="rId3"/>
    <p:sldId id="258" r:id="rId4"/>
    <p:sldId id="259" r:id="rId5"/>
    <p:sldId id="314" r:id="rId6"/>
    <p:sldId id="316" r:id="rId7"/>
    <p:sldId id="317" r:id="rId8"/>
    <p:sldId id="260" r:id="rId9"/>
    <p:sldId id="311" r:id="rId10"/>
    <p:sldId id="312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</p:sldIdLst>
  <p:sldSz cx="9144000" cy="6858000" type="screen4x3"/>
  <p:notesSz cx="9144000" cy="6858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1" d="100"/>
          <a:sy n="81" d="100"/>
        </p:scale>
        <p:origin x="1498" y="53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42416" y="2514601"/>
            <a:ext cx="6600451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42416" y="4777380"/>
            <a:ext cx="6600451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8"/>
          <p:cNvSpPr/>
          <p:nvPr/>
        </p:nvSpPr>
        <p:spPr bwMode="auto">
          <a:xfrm>
            <a:off x="-31719" y="4321158"/>
            <a:ext cx="1395473" cy="781781"/>
          </a:xfrm>
          <a:custGeom>
            <a:avLst/>
            <a:gdLst/>
            <a:ahLst/>
            <a:cxnLst/>
            <a:rect l="l" t="t" r="r" b="b"/>
            <a:pathLst>
              <a:path w="8042" h="10000">
                <a:moveTo>
                  <a:pt x="5799" y="10000"/>
                </a:moveTo>
                <a:cubicBezTo>
                  <a:pt x="5880" y="10000"/>
                  <a:pt x="5934" y="9940"/>
                  <a:pt x="5961" y="9880"/>
                </a:cubicBezTo>
                <a:cubicBezTo>
                  <a:pt x="5961" y="9820"/>
                  <a:pt x="5988" y="9820"/>
                  <a:pt x="5988" y="9820"/>
                </a:cubicBezTo>
                <a:lnTo>
                  <a:pt x="8042" y="5260"/>
                </a:lnTo>
                <a:cubicBezTo>
                  <a:pt x="8096" y="5140"/>
                  <a:pt x="8096" y="4901"/>
                  <a:pt x="8042" y="4721"/>
                </a:cubicBezTo>
                <a:lnTo>
                  <a:pt x="5988" y="221"/>
                </a:lnTo>
                <a:cubicBezTo>
                  <a:pt x="5988" y="160"/>
                  <a:pt x="5961" y="160"/>
                  <a:pt x="5961" y="160"/>
                </a:cubicBezTo>
                <a:cubicBezTo>
                  <a:pt x="5934" y="101"/>
                  <a:pt x="5880" y="41"/>
                  <a:pt x="5799" y="41"/>
                </a:cubicBezTo>
                <a:lnTo>
                  <a:pt x="18" y="0"/>
                </a:lnTo>
                <a:cubicBezTo>
                  <a:pt x="12" y="3330"/>
                  <a:pt x="6" y="6661"/>
                  <a:pt x="0" y="9991"/>
                </a:cubicBezTo>
                <a:lnTo>
                  <a:pt x="5799" y="10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23334" y="4529541"/>
            <a:ext cx="584978" cy="365125"/>
          </a:xfrm>
        </p:spPr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01077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1" y="624110"/>
            <a:ext cx="6589199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42415" y="2133600"/>
            <a:ext cx="6591985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944923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2074562"/>
            <a:ext cx="6591985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3581400"/>
            <a:ext cx="659198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92044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42416" y="2136706"/>
            <a:ext cx="3197531" cy="376739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37307" y="2136706"/>
            <a:ext cx="3197093" cy="376739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787783"/>
            <a:ext cx="584978" cy="365125"/>
          </a:xfrm>
        </p:spPr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48348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65352" y="2226626"/>
            <a:ext cx="287459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942415" y="2802888"/>
            <a:ext cx="3197532" cy="310570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6154" y="2223398"/>
            <a:ext cx="28732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333715" y="2799660"/>
            <a:ext cx="3195680" cy="310570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12/4/2024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787783"/>
            <a:ext cx="584978" cy="365125"/>
          </a:xfrm>
        </p:spPr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600626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0" y="624110"/>
            <a:ext cx="6589200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12/4/2024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361249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12/4/2024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11618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446088"/>
            <a:ext cx="2629584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43494" y="446089"/>
            <a:ext cx="3790906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1598613"/>
            <a:ext cx="2629584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291464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4800600"/>
            <a:ext cx="6591985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42415" y="634965"/>
            <a:ext cx="6591985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367338"/>
            <a:ext cx="6591985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77190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609600"/>
            <a:ext cx="6591985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4354046"/>
            <a:ext cx="6591985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80888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88123" y="609600"/>
            <a:ext cx="6109587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15972" y="3505200"/>
            <a:ext cx="5653888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4354046"/>
            <a:ext cx="6591985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9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  <p:sp>
        <p:nvSpPr>
          <p:cNvPr id="14" name="TextBox 13"/>
          <p:cNvSpPr txBox="1"/>
          <p:nvPr/>
        </p:nvSpPr>
        <p:spPr>
          <a:xfrm>
            <a:off x="1808316" y="64800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9533" y="290530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72370347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2438401"/>
            <a:ext cx="6591985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591985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7907557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2188123" y="609600"/>
            <a:ext cx="6109587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2415" y="4343400"/>
            <a:ext cx="6688292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688292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2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  <p:sp>
        <p:nvSpPr>
          <p:cNvPr id="11" name="TextBox 10"/>
          <p:cNvSpPr txBox="1"/>
          <p:nvPr/>
        </p:nvSpPr>
        <p:spPr>
          <a:xfrm>
            <a:off x="1808316" y="64800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69533" y="290530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31453307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6" y="627407"/>
            <a:ext cx="6591984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2415" y="4343400"/>
            <a:ext cx="6591985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591985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664329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885436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78535" y="627406"/>
            <a:ext cx="1656132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42416" y="627406"/>
            <a:ext cx="4716348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81540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>
  <p:cSld name="1_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chemeClr val="tx1"/>
                </a:solidFill>
                <a:latin typeface="Carlito"/>
                <a:cs typeface="Carli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12/4/2024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197196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Group 35"/>
          <p:cNvGrpSpPr/>
          <p:nvPr/>
        </p:nvGrpSpPr>
        <p:grpSpPr>
          <a:xfrm>
            <a:off x="1" y="228600"/>
            <a:ext cx="1981200" cy="6638628"/>
            <a:chOff x="2487613" y="285750"/>
            <a:chExt cx="2428875" cy="5654676"/>
          </a:xfrm>
        </p:grpSpPr>
        <p:sp>
          <p:nvSpPr>
            <p:cNvPr id="37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8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9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0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1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2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3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4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5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6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7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8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49" name="Group 48"/>
          <p:cNvGrpSpPr/>
          <p:nvPr/>
        </p:nvGrpSpPr>
        <p:grpSpPr>
          <a:xfrm>
            <a:off x="20421" y="285"/>
            <a:ext cx="1952272" cy="6852968"/>
            <a:chOff x="6627813" y="195717"/>
            <a:chExt cx="1952625" cy="5678034"/>
          </a:xfrm>
        </p:grpSpPr>
        <p:sp>
          <p:nvSpPr>
            <p:cNvPr id="50" name="Freeform 27"/>
            <p:cNvSpPr/>
            <p:nvPr/>
          </p:nvSpPr>
          <p:spPr bwMode="auto">
            <a:xfrm>
              <a:off x="6627813" y="195717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1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2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3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4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5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6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7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8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9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60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61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62" name="Rectangle 6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945200" y="624110"/>
            <a:ext cx="6589200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2133600"/>
            <a:ext cx="6591985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772400" y="6135089"/>
            <a:ext cx="766380" cy="3701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12/4/2024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42415" y="6135809"/>
            <a:ext cx="57164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11228" y="787783"/>
            <a:ext cx="58497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18937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  <p:sldLayoutId id="2147483696" r:id="rId12"/>
    <p:sldLayoutId id="2147483697" r:id="rId13"/>
    <p:sldLayoutId id="2147483698" r:id="rId14"/>
    <p:sldLayoutId id="2147483699" r:id="rId15"/>
    <p:sldLayoutId id="2147483700" r:id="rId16"/>
    <p:sldLayoutId id="2147483701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752600" y="2282774"/>
            <a:ext cx="6941311" cy="2038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indent="484505" algn="r">
              <a:lnSpc>
                <a:spcPct val="100000"/>
              </a:lnSpc>
              <a:spcBef>
                <a:spcPts val="105"/>
              </a:spcBef>
            </a:pPr>
            <a:r>
              <a:rPr sz="4400" cap="small" spc="-60" dirty="0">
                <a:solidFill>
                  <a:srgbClr val="003300"/>
                </a:solidFill>
              </a:rPr>
              <a:t>Enumerations, </a:t>
            </a:r>
            <a:r>
              <a:rPr sz="4400" cap="small" spc="-20" dirty="0">
                <a:solidFill>
                  <a:srgbClr val="003300"/>
                </a:solidFill>
              </a:rPr>
              <a:t>Autoboxing,</a:t>
            </a:r>
            <a:r>
              <a:rPr sz="4400" cap="small" spc="-125" dirty="0">
                <a:solidFill>
                  <a:srgbClr val="003300"/>
                </a:solidFill>
              </a:rPr>
              <a:t> </a:t>
            </a:r>
            <a:r>
              <a:rPr sz="4400" cap="small" spc="-55" dirty="0">
                <a:solidFill>
                  <a:srgbClr val="003300"/>
                </a:solidFill>
              </a:rPr>
              <a:t>and </a:t>
            </a:r>
            <a:r>
              <a:rPr sz="4400" cap="small" spc="-10" dirty="0">
                <a:solidFill>
                  <a:srgbClr val="003300"/>
                </a:solidFill>
              </a:rPr>
              <a:t>Annotations</a:t>
            </a:r>
            <a:endParaRPr sz="4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743200" y="2286000"/>
            <a:ext cx="4757038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cap="small" spc="-65" dirty="0">
                <a:solidFill>
                  <a:srgbClr val="003300"/>
                </a:solidFill>
              </a:rPr>
              <a:t>Enumerations</a:t>
            </a:r>
            <a:endParaRPr sz="4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F895C3E-C355-BB0E-736B-8A196BCA92AC}"/>
              </a:ext>
            </a:extLst>
          </p:cNvPr>
          <p:cNvSpPr txBox="1"/>
          <p:nvPr/>
        </p:nvSpPr>
        <p:spPr>
          <a:xfrm>
            <a:off x="1066800" y="3613835"/>
            <a:ext cx="78486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Enum</a:t>
            </a:r>
            <a:r>
              <a:rPr lang="en-IN" sz="2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 is short for "enumerations",</a:t>
            </a:r>
          </a:p>
          <a:p>
            <a:r>
              <a:rPr lang="en-IN" sz="2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 which means "specifically listed".</a:t>
            </a:r>
            <a:endParaRPr lang="en-IN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24000" y="456387"/>
            <a:ext cx="3429000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b="0" spc="-10" dirty="0">
                <a:latin typeface="Carlito"/>
                <a:cs typeface="Carlito"/>
              </a:rPr>
              <a:t>Introduction</a:t>
            </a:r>
            <a:endParaRPr sz="4400">
              <a:latin typeface="Carlito"/>
              <a:cs typeface="Carlito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41044" y="1533905"/>
            <a:ext cx="7921625" cy="4033092"/>
          </a:xfrm>
          <a:prstGeom prst="rect">
            <a:avLst/>
          </a:prstGeom>
        </p:spPr>
        <p:txBody>
          <a:bodyPr vert="horz" wrap="square" lIns="0" tIns="92075" rIns="0" bIns="0" rtlCol="0">
            <a:spAutoFit/>
          </a:bodyPr>
          <a:lstStyle/>
          <a:p>
            <a:pPr marL="355600" marR="5080" indent="-342900" algn="just">
              <a:lnSpc>
                <a:spcPts val="2590"/>
              </a:lnSpc>
              <a:spcBef>
                <a:spcPts val="725"/>
              </a:spcBef>
              <a:buFont typeface="Arial"/>
              <a:buChar char="•"/>
              <a:tabLst>
                <a:tab pos="355600" algn="l"/>
              </a:tabLst>
            </a:pPr>
            <a:r>
              <a:rPr lang="en-IN" sz="2700" dirty="0">
                <a:latin typeface="Carlito"/>
                <a:cs typeface="Carlito"/>
              </a:rPr>
              <a:t>E</a:t>
            </a:r>
            <a:r>
              <a:rPr sz="2700" dirty="0">
                <a:latin typeface="Carlito"/>
                <a:cs typeface="Carlito"/>
              </a:rPr>
              <a:t>numeration</a:t>
            </a:r>
            <a:r>
              <a:rPr sz="2700" spc="10" dirty="0">
                <a:latin typeface="Carlito"/>
                <a:cs typeface="Carlito"/>
              </a:rPr>
              <a:t> </a:t>
            </a:r>
            <a:r>
              <a:rPr sz="2700" dirty="0">
                <a:latin typeface="Carlito"/>
                <a:cs typeface="Carlito"/>
              </a:rPr>
              <a:t>is</a:t>
            </a:r>
            <a:r>
              <a:rPr sz="2700" spc="5" dirty="0">
                <a:latin typeface="Carlito"/>
                <a:cs typeface="Carlito"/>
              </a:rPr>
              <a:t> </a:t>
            </a:r>
            <a:r>
              <a:rPr sz="2700" dirty="0">
                <a:latin typeface="Carlito"/>
                <a:cs typeface="Carlito"/>
              </a:rPr>
              <a:t>a</a:t>
            </a:r>
            <a:r>
              <a:rPr sz="2700" spc="20" dirty="0">
                <a:latin typeface="Carlito"/>
                <a:cs typeface="Carlito"/>
              </a:rPr>
              <a:t> </a:t>
            </a:r>
            <a:r>
              <a:rPr sz="2700" dirty="0">
                <a:latin typeface="Carlito"/>
                <a:cs typeface="Carlito"/>
              </a:rPr>
              <a:t>list</a:t>
            </a:r>
            <a:r>
              <a:rPr sz="2700" spc="5" dirty="0">
                <a:latin typeface="Carlito"/>
                <a:cs typeface="Carlito"/>
              </a:rPr>
              <a:t> </a:t>
            </a:r>
            <a:r>
              <a:rPr sz="2700" dirty="0">
                <a:latin typeface="Carlito"/>
                <a:cs typeface="Carlito"/>
              </a:rPr>
              <a:t>of</a:t>
            </a:r>
            <a:r>
              <a:rPr sz="2700" spc="20" dirty="0">
                <a:latin typeface="Carlito"/>
                <a:cs typeface="Carlito"/>
              </a:rPr>
              <a:t> </a:t>
            </a:r>
            <a:r>
              <a:rPr sz="2700" dirty="0">
                <a:latin typeface="Carlito"/>
                <a:cs typeface="Carlito"/>
              </a:rPr>
              <a:t>named constants</a:t>
            </a:r>
            <a:r>
              <a:rPr sz="2700" spc="10" dirty="0">
                <a:latin typeface="Carlito"/>
                <a:cs typeface="Carlito"/>
              </a:rPr>
              <a:t> </a:t>
            </a:r>
            <a:r>
              <a:rPr sz="2700" dirty="0">
                <a:latin typeface="Carlito"/>
                <a:cs typeface="Carlito"/>
              </a:rPr>
              <a:t>that define</a:t>
            </a:r>
            <a:r>
              <a:rPr sz="2700" spc="-5" dirty="0">
                <a:latin typeface="Carlito"/>
                <a:cs typeface="Carlito"/>
              </a:rPr>
              <a:t> </a:t>
            </a:r>
            <a:r>
              <a:rPr sz="2700" spc="-50" dirty="0">
                <a:latin typeface="Carlito"/>
                <a:cs typeface="Carlito"/>
              </a:rPr>
              <a:t>a </a:t>
            </a:r>
            <a:r>
              <a:rPr sz="2700" dirty="0">
                <a:latin typeface="Carlito"/>
                <a:cs typeface="Carlito"/>
              </a:rPr>
              <a:t>new</a:t>
            </a:r>
            <a:r>
              <a:rPr sz="2700" spc="-50" dirty="0">
                <a:latin typeface="Carlito"/>
                <a:cs typeface="Carlito"/>
              </a:rPr>
              <a:t> </a:t>
            </a:r>
            <a:r>
              <a:rPr sz="2700" dirty="0">
                <a:latin typeface="Carlito"/>
                <a:cs typeface="Carlito"/>
              </a:rPr>
              <a:t>data</a:t>
            </a:r>
            <a:r>
              <a:rPr sz="2700" spc="-60" dirty="0">
                <a:latin typeface="Carlito"/>
                <a:cs typeface="Carlito"/>
              </a:rPr>
              <a:t> </a:t>
            </a:r>
            <a:r>
              <a:rPr sz="2700" dirty="0">
                <a:latin typeface="Carlito"/>
                <a:cs typeface="Carlito"/>
              </a:rPr>
              <a:t>type</a:t>
            </a:r>
            <a:r>
              <a:rPr sz="2700" spc="-45" dirty="0">
                <a:latin typeface="Carlito"/>
                <a:cs typeface="Carlito"/>
              </a:rPr>
              <a:t> </a:t>
            </a:r>
            <a:r>
              <a:rPr sz="2700" dirty="0">
                <a:latin typeface="Carlito"/>
                <a:cs typeface="Carlito"/>
              </a:rPr>
              <a:t>and</a:t>
            </a:r>
            <a:r>
              <a:rPr sz="2700" spc="-50" dirty="0">
                <a:latin typeface="Carlito"/>
                <a:cs typeface="Carlito"/>
              </a:rPr>
              <a:t> </a:t>
            </a:r>
            <a:r>
              <a:rPr sz="2700" dirty="0">
                <a:latin typeface="Carlito"/>
                <a:cs typeface="Carlito"/>
              </a:rPr>
              <a:t>its</a:t>
            </a:r>
            <a:r>
              <a:rPr sz="2700" spc="-35" dirty="0">
                <a:latin typeface="Carlito"/>
                <a:cs typeface="Carlito"/>
              </a:rPr>
              <a:t> </a:t>
            </a:r>
            <a:r>
              <a:rPr sz="2700" dirty="0">
                <a:latin typeface="Carlito"/>
                <a:cs typeface="Carlito"/>
              </a:rPr>
              <a:t>legal</a:t>
            </a:r>
            <a:r>
              <a:rPr sz="2700" spc="-40" dirty="0">
                <a:latin typeface="Carlito"/>
                <a:cs typeface="Carlito"/>
              </a:rPr>
              <a:t> </a:t>
            </a:r>
            <a:r>
              <a:rPr sz="2700" spc="-10" dirty="0">
                <a:latin typeface="Carlito"/>
                <a:cs typeface="Carlito"/>
              </a:rPr>
              <a:t>values.</a:t>
            </a:r>
            <a:endParaRPr sz="2700" dirty="0">
              <a:latin typeface="Carlito"/>
              <a:cs typeface="Carlito"/>
            </a:endParaRPr>
          </a:p>
          <a:p>
            <a:pPr marL="355600" marR="5080" indent="-342900" algn="just">
              <a:lnSpc>
                <a:spcPts val="2590"/>
              </a:lnSpc>
              <a:spcBef>
                <a:spcPts val="655"/>
              </a:spcBef>
              <a:buFont typeface="Arial"/>
              <a:buChar char="•"/>
              <a:tabLst>
                <a:tab pos="355600" algn="l"/>
              </a:tabLst>
            </a:pPr>
            <a:r>
              <a:rPr sz="2700" dirty="0">
                <a:latin typeface="Carlito"/>
                <a:cs typeface="Carlito"/>
              </a:rPr>
              <a:t>enumeration</a:t>
            </a:r>
            <a:r>
              <a:rPr sz="2700" spc="495" dirty="0">
                <a:latin typeface="Carlito"/>
                <a:cs typeface="Carlito"/>
              </a:rPr>
              <a:t> </a:t>
            </a:r>
            <a:r>
              <a:rPr sz="2700" dirty="0">
                <a:latin typeface="Carlito"/>
                <a:cs typeface="Carlito"/>
              </a:rPr>
              <a:t>object</a:t>
            </a:r>
            <a:r>
              <a:rPr sz="2700" spc="484" dirty="0">
                <a:latin typeface="Carlito"/>
                <a:cs typeface="Carlito"/>
              </a:rPr>
              <a:t> </a:t>
            </a:r>
            <a:r>
              <a:rPr sz="2700" dirty="0">
                <a:latin typeface="Carlito"/>
                <a:cs typeface="Carlito"/>
              </a:rPr>
              <a:t>can</a:t>
            </a:r>
            <a:r>
              <a:rPr sz="2700" spc="490" dirty="0">
                <a:latin typeface="Carlito"/>
                <a:cs typeface="Carlito"/>
              </a:rPr>
              <a:t> </a:t>
            </a:r>
            <a:r>
              <a:rPr sz="2700" dirty="0">
                <a:latin typeface="Carlito"/>
                <a:cs typeface="Carlito"/>
              </a:rPr>
              <a:t>hold</a:t>
            </a:r>
            <a:r>
              <a:rPr sz="2700" spc="490" dirty="0">
                <a:latin typeface="Carlito"/>
                <a:cs typeface="Carlito"/>
              </a:rPr>
              <a:t> </a:t>
            </a:r>
            <a:r>
              <a:rPr sz="2700" dirty="0">
                <a:latin typeface="Carlito"/>
                <a:cs typeface="Carlito"/>
              </a:rPr>
              <a:t>only</a:t>
            </a:r>
            <a:r>
              <a:rPr sz="2700" spc="505" dirty="0">
                <a:latin typeface="Carlito"/>
                <a:cs typeface="Carlito"/>
              </a:rPr>
              <a:t> </a:t>
            </a:r>
            <a:r>
              <a:rPr sz="2700" dirty="0">
                <a:latin typeface="Carlito"/>
                <a:cs typeface="Carlito"/>
              </a:rPr>
              <a:t>a</a:t>
            </a:r>
            <a:r>
              <a:rPr sz="2700" spc="490" dirty="0">
                <a:latin typeface="Carlito"/>
                <a:cs typeface="Carlito"/>
              </a:rPr>
              <a:t> </a:t>
            </a:r>
            <a:r>
              <a:rPr sz="2700" dirty="0">
                <a:latin typeface="Carlito"/>
                <a:cs typeface="Carlito"/>
              </a:rPr>
              <a:t>value</a:t>
            </a:r>
            <a:r>
              <a:rPr sz="2700" spc="490" dirty="0">
                <a:latin typeface="Carlito"/>
                <a:cs typeface="Carlito"/>
              </a:rPr>
              <a:t> </a:t>
            </a:r>
            <a:r>
              <a:rPr sz="2700" dirty="0">
                <a:latin typeface="Carlito"/>
                <a:cs typeface="Carlito"/>
              </a:rPr>
              <a:t>that</a:t>
            </a:r>
            <a:r>
              <a:rPr sz="2700" spc="495" dirty="0">
                <a:latin typeface="Carlito"/>
                <a:cs typeface="Carlito"/>
              </a:rPr>
              <a:t> </a:t>
            </a:r>
            <a:r>
              <a:rPr sz="2700" spc="-25" dirty="0">
                <a:latin typeface="Carlito"/>
                <a:cs typeface="Carlito"/>
              </a:rPr>
              <a:t>was </a:t>
            </a:r>
            <a:r>
              <a:rPr sz="2700" dirty="0">
                <a:latin typeface="Carlito"/>
                <a:cs typeface="Carlito"/>
              </a:rPr>
              <a:t>declared</a:t>
            </a:r>
            <a:r>
              <a:rPr sz="2700" spc="-40" dirty="0">
                <a:latin typeface="Carlito"/>
                <a:cs typeface="Carlito"/>
              </a:rPr>
              <a:t> </a:t>
            </a:r>
            <a:r>
              <a:rPr sz="2700" dirty="0">
                <a:latin typeface="Carlito"/>
                <a:cs typeface="Carlito"/>
              </a:rPr>
              <a:t>in</a:t>
            </a:r>
            <a:r>
              <a:rPr sz="2700" spc="-20" dirty="0">
                <a:latin typeface="Carlito"/>
                <a:cs typeface="Carlito"/>
              </a:rPr>
              <a:t> </a:t>
            </a:r>
            <a:r>
              <a:rPr sz="2700" dirty="0">
                <a:latin typeface="Carlito"/>
                <a:cs typeface="Carlito"/>
              </a:rPr>
              <a:t>the</a:t>
            </a:r>
            <a:r>
              <a:rPr sz="2700" spc="-30" dirty="0">
                <a:latin typeface="Carlito"/>
                <a:cs typeface="Carlito"/>
              </a:rPr>
              <a:t> </a:t>
            </a:r>
            <a:r>
              <a:rPr sz="2700" spc="-20" dirty="0">
                <a:latin typeface="Carlito"/>
                <a:cs typeface="Carlito"/>
              </a:rPr>
              <a:t>list.</a:t>
            </a:r>
            <a:endParaRPr sz="2700" dirty="0">
              <a:latin typeface="Carlito"/>
              <a:cs typeface="Carlito"/>
            </a:endParaRPr>
          </a:p>
          <a:p>
            <a:pPr marL="355600" marR="7620" indent="-342900" algn="just">
              <a:lnSpc>
                <a:spcPts val="2590"/>
              </a:lnSpc>
              <a:spcBef>
                <a:spcPts val="655"/>
              </a:spcBef>
              <a:buFont typeface="Arial"/>
              <a:buChar char="•"/>
              <a:tabLst>
                <a:tab pos="355600" algn="l"/>
              </a:tabLst>
            </a:pPr>
            <a:r>
              <a:rPr sz="2700" dirty="0">
                <a:latin typeface="Carlito"/>
                <a:cs typeface="Carlito"/>
              </a:rPr>
              <a:t>Enumerations</a:t>
            </a:r>
            <a:r>
              <a:rPr sz="2700" spc="310" dirty="0">
                <a:latin typeface="Carlito"/>
                <a:cs typeface="Carlito"/>
              </a:rPr>
              <a:t> </a:t>
            </a:r>
            <a:r>
              <a:rPr sz="2700" dirty="0">
                <a:latin typeface="Carlito"/>
                <a:cs typeface="Carlito"/>
              </a:rPr>
              <a:t>are</a:t>
            </a:r>
            <a:r>
              <a:rPr sz="2700" spc="320" dirty="0">
                <a:latin typeface="Carlito"/>
                <a:cs typeface="Carlito"/>
              </a:rPr>
              <a:t> </a:t>
            </a:r>
            <a:r>
              <a:rPr sz="2700" dirty="0">
                <a:latin typeface="Carlito"/>
                <a:cs typeface="Carlito"/>
              </a:rPr>
              <a:t>commonly</a:t>
            </a:r>
            <a:r>
              <a:rPr sz="2700" spc="325" dirty="0">
                <a:latin typeface="Carlito"/>
                <a:cs typeface="Carlito"/>
              </a:rPr>
              <a:t> </a:t>
            </a:r>
            <a:r>
              <a:rPr sz="2700" dirty="0">
                <a:latin typeface="Carlito"/>
                <a:cs typeface="Carlito"/>
              </a:rPr>
              <a:t>used</a:t>
            </a:r>
            <a:r>
              <a:rPr sz="2700" spc="315" dirty="0">
                <a:latin typeface="Carlito"/>
                <a:cs typeface="Carlito"/>
              </a:rPr>
              <a:t> </a:t>
            </a:r>
            <a:r>
              <a:rPr sz="2700" dirty="0">
                <a:latin typeface="Carlito"/>
                <a:cs typeface="Carlito"/>
              </a:rPr>
              <a:t>to</a:t>
            </a:r>
            <a:r>
              <a:rPr sz="2700" spc="315" dirty="0">
                <a:latin typeface="Carlito"/>
                <a:cs typeface="Carlito"/>
              </a:rPr>
              <a:t> </a:t>
            </a:r>
            <a:r>
              <a:rPr sz="2700" dirty="0">
                <a:latin typeface="Carlito"/>
                <a:cs typeface="Carlito"/>
              </a:rPr>
              <a:t>define</a:t>
            </a:r>
            <a:r>
              <a:rPr sz="2700" spc="305" dirty="0">
                <a:latin typeface="Carlito"/>
                <a:cs typeface="Carlito"/>
              </a:rPr>
              <a:t> </a:t>
            </a:r>
            <a:r>
              <a:rPr sz="2700" dirty="0">
                <a:latin typeface="Carlito"/>
                <a:cs typeface="Carlito"/>
              </a:rPr>
              <a:t>a</a:t>
            </a:r>
            <a:r>
              <a:rPr sz="2700" spc="315" dirty="0">
                <a:latin typeface="Carlito"/>
                <a:cs typeface="Carlito"/>
              </a:rPr>
              <a:t> </a:t>
            </a:r>
            <a:r>
              <a:rPr sz="2700" dirty="0">
                <a:latin typeface="Carlito"/>
                <a:cs typeface="Carlito"/>
              </a:rPr>
              <a:t>set</a:t>
            </a:r>
            <a:r>
              <a:rPr sz="2700" spc="320" dirty="0">
                <a:latin typeface="Carlito"/>
                <a:cs typeface="Carlito"/>
              </a:rPr>
              <a:t> </a:t>
            </a:r>
            <a:r>
              <a:rPr sz="2700" spc="-25" dirty="0">
                <a:latin typeface="Carlito"/>
                <a:cs typeface="Carlito"/>
              </a:rPr>
              <a:t>of </a:t>
            </a:r>
            <a:r>
              <a:rPr sz="2700" dirty="0">
                <a:latin typeface="Carlito"/>
                <a:cs typeface="Carlito"/>
              </a:rPr>
              <a:t>values</a:t>
            </a:r>
            <a:r>
              <a:rPr sz="2700" spc="-60" dirty="0">
                <a:latin typeface="Carlito"/>
                <a:cs typeface="Carlito"/>
              </a:rPr>
              <a:t> </a:t>
            </a:r>
            <a:r>
              <a:rPr sz="2700" dirty="0">
                <a:latin typeface="Carlito"/>
                <a:cs typeface="Carlito"/>
              </a:rPr>
              <a:t>that</a:t>
            </a:r>
            <a:r>
              <a:rPr sz="2700" spc="-55" dirty="0">
                <a:latin typeface="Carlito"/>
                <a:cs typeface="Carlito"/>
              </a:rPr>
              <a:t> </a:t>
            </a:r>
            <a:r>
              <a:rPr sz="2700" spc="-10" dirty="0">
                <a:latin typeface="Carlito"/>
                <a:cs typeface="Carlito"/>
              </a:rPr>
              <a:t>represent</a:t>
            </a:r>
            <a:r>
              <a:rPr sz="2700" spc="-75" dirty="0">
                <a:latin typeface="Carlito"/>
                <a:cs typeface="Carlito"/>
              </a:rPr>
              <a:t> </a:t>
            </a:r>
            <a:r>
              <a:rPr sz="2700" dirty="0">
                <a:latin typeface="Carlito"/>
                <a:cs typeface="Carlito"/>
              </a:rPr>
              <a:t>a</a:t>
            </a:r>
            <a:r>
              <a:rPr sz="2700" spc="-40" dirty="0">
                <a:latin typeface="Carlito"/>
                <a:cs typeface="Carlito"/>
              </a:rPr>
              <a:t> </a:t>
            </a:r>
            <a:r>
              <a:rPr sz="2700" dirty="0">
                <a:latin typeface="Carlito"/>
                <a:cs typeface="Carlito"/>
              </a:rPr>
              <a:t>collection</a:t>
            </a:r>
            <a:r>
              <a:rPr sz="2700" spc="-50" dirty="0">
                <a:latin typeface="Carlito"/>
                <a:cs typeface="Carlito"/>
              </a:rPr>
              <a:t> </a:t>
            </a:r>
            <a:r>
              <a:rPr sz="2700" dirty="0">
                <a:latin typeface="Carlito"/>
                <a:cs typeface="Carlito"/>
              </a:rPr>
              <a:t>of</a:t>
            </a:r>
            <a:r>
              <a:rPr sz="2700" spc="-40" dirty="0">
                <a:latin typeface="Carlito"/>
                <a:cs typeface="Carlito"/>
              </a:rPr>
              <a:t> </a:t>
            </a:r>
            <a:r>
              <a:rPr sz="2700" spc="-10" dirty="0">
                <a:latin typeface="Carlito"/>
                <a:cs typeface="Carlito"/>
              </a:rPr>
              <a:t>items.</a:t>
            </a:r>
            <a:endParaRPr sz="2700" dirty="0">
              <a:latin typeface="Carlito"/>
              <a:cs typeface="Carlito"/>
            </a:endParaRPr>
          </a:p>
          <a:p>
            <a:pPr marL="355600" marR="5080" indent="-342900" algn="just">
              <a:lnSpc>
                <a:spcPct val="80000"/>
              </a:lnSpc>
              <a:spcBef>
                <a:spcPts val="670"/>
              </a:spcBef>
              <a:buFont typeface="Arial"/>
              <a:buChar char="•"/>
              <a:tabLst>
                <a:tab pos="355600" algn="l"/>
              </a:tabLst>
            </a:pPr>
            <a:r>
              <a:rPr sz="2700" dirty="0">
                <a:latin typeface="Carlito"/>
                <a:cs typeface="Carlito"/>
              </a:rPr>
              <a:t>For</a:t>
            </a:r>
            <a:r>
              <a:rPr sz="2700" spc="320" dirty="0">
                <a:latin typeface="Carlito"/>
                <a:cs typeface="Carlito"/>
              </a:rPr>
              <a:t> </a:t>
            </a:r>
            <a:r>
              <a:rPr sz="2700" dirty="0">
                <a:latin typeface="Carlito"/>
                <a:cs typeface="Carlito"/>
              </a:rPr>
              <a:t>example,</a:t>
            </a:r>
            <a:r>
              <a:rPr sz="2700" spc="320" dirty="0">
                <a:latin typeface="Carlito"/>
                <a:cs typeface="Carlito"/>
              </a:rPr>
              <a:t> </a:t>
            </a:r>
            <a:r>
              <a:rPr sz="2700" dirty="0">
                <a:latin typeface="Carlito"/>
                <a:cs typeface="Carlito"/>
              </a:rPr>
              <a:t>an</a:t>
            </a:r>
            <a:r>
              <a:rPr sz="2700" spc="310" dirty="0">
                <a:latin typeface="Carlito"/>
                <a:cs typeface="Carlito"/>
              </a:rPr>
              <a:t> </a:t>
            </a:r>
            <a:r>
              <a:rPr sz="2700" dirty="0">
                <a:latin typeface="Carlito"/>
                <a:cs typeface="Carlito"/>
              </a:rPr>
              <a:t>enumeration</a:t>
            </a:r>
            <a:r>
              <a:rPr sz="2700" spc="335" dirty="0">
                <a:latin typeface="Carlito"/>
                <a:cs typeface="Carlito"/>
              </a:rPr>
              <a:t> </a:t>
            </a:r>
            <a:r>
              <a:rPr sz="2700" dirty="0">
                <a:latin typeface="Carlito"/>
                <a:cs typeface="Carlito"/>
              </a:rPr>
              <a:t>to</a:t>
            </a:r>
            <a:r>
              <a:rPr sz="2700" spc="330" dirty="0">
                <a:latin typeface="Carlito"/>
                <a:cs typeface="Carlito"/>
              </a:rPr>
              <a:t> </a:t>
            </a:r>
            <a:r>
              <a:rPr sz="2700" dirty="0">
                <a:latin typeface="Carlito"/>
                <a:cs typeface="Carlito"/>
              </a:rPr>
              <a:t>represent</a:t>
            </a:r>
            <a:r>
              <a:rPr sz="2700" spc="320" dirty="0">
                <a:latin typeface="Carlito"/>
                <a:cs typeface="Carlito"/>
              </a:rPr>
              <a:t> </a:t>
            </a:r>
            <a:r>
              <a:rPr sz="2700" dirty="0">
                <a:latin typeface="Carlito"/>
                <a:cs typeface="Carlito"/>
              </a:rPr>
              <a:t>the</a:t>
            </a:r>
            <a:r>
              <a:rPr sz="2700" spc="305" dirty="0">
                <a:latin typeface="Carlito"/>
                <a:cs typeface="Carlito"/>
              </a:rPr>
              <a:t> </a:t>
            </a:r>
            <a:r>
              <a:rPr sz="2700" spc="-10" dirty="0">
                <a:latin typeface="Carlito"/>
                <a:cs typeface="Carlito"/>
              </a:rPr>
              <a:t>error </a:t>
            </a:r>
            <a:r>
              <a:rPr sz="2700" dirty="0">
                <a:latin typeface="Carlito"/>
                <a:cs typeface="Carlito"/>
              </a:rPr>
              <a:t>codes</a:t>
            </a:r>
            <a:r>
              <a:rPr sz="2700" spc="400" dirty="0">
                <a:latin typeface="Carlito"/>
                <a:cs typeface="Carlito"/>
              </a:rPr>
              <a:t> </a:t>
            </a:r>
            <a:r>
              <a:rPr sz="2700" dirty="0">
                <a:latin typeface="Carlito"/>
                <a:cs typeface="Carlito"/>
              </a:rPr>
              <a:t>that</a:t>
            </a:r>
            <a:r>
              <a:rPr sz="2700" spc="400" dirty="0">
                <a:latin typeface="Carlito"/>
                <a:cs typeface="Carlito"/>
              </a:rPr>
              <a:t> </a:t>
            </a:r>
            <a:r>
              <a:rPr sz="2700" dirty="0">
                <a:latin typeface="Carlito"/>
                <a:cs typeface="Carlito"/>
              </a:rPr>
              <a:t>can</a:t>
            </a:r>
            <a:r>
              <a:rPr sz="2700" spc="395" dirty="0">
                <a:latin typeface="Carlito"/>
                <a:cs typeface="Carlito"/>
              </a:rPr>
              <a:t> </a:t>
            </a:r>
            <a:r>
              <a:rPr sz="2700" dirty="0">
                <a:latin typeface="Carlito"/>
                <a:cs typeface="Carlito"/>
              </a:rPr>
              <a:t>result</a:t>
            </a:r>
            <a:r>
              <a:rPr sz="2700" spc="400" dirty="0">
                <a:latin typeface="Carlito"/>
                <a:cs typeface="Carlito"/>
              </a:rPr>
              <a:t> </a:t>
            </a:r>
            <a:r>
              <a:rPr sz="2700" dirty="0">
                <a:latin typeface="Carlito"/>
                <a:cs typeface="Carlito"/>
              </a:rPr>
              <a:t>from</a:t>
            </a:r>
            <a:r>
              <a:rPr sz="2700" spc="409" dirty="0">
                <a:latin typeface="Carlito"/>
                <a:cs typeface="Carlito"/>
              </a:rPr>
              <a:t> </a:t>
            </a:r>
            <a:r>
              <a:rPr sz="2700" dirty="0">
                <a:latin typeface="Carlito"/>
                <a:cs typeface="Carlito"/>
              </a:rPr>
              <a:t>some</a:t>
            </a:r>
            <a:r>
              <a:rPr sz="2700" spc="405" dirty="0">
                <a:latin typeface="Carlito"/>
                <a:cs typeface="Carlito"/>
              </a:rPr>
              <a:t> </a:t>
            </a:r>
            <a:r>
              <a:rPr sz="2700" dirty="0">
                <a:latin typeface="Carlito"/>
                <a:cs typeface="Carlito"/>
              </a:rPr>
              <a:t>operation,</a:t>
            </a:r>
            <a:r>
              <a:rPr sz="2700" spc="405" dirty="0">
                <a:latin typeface="Carlito"/>
                <a:cs typeface="Carlito"/>
              </a:rPr>
              <a:t> </a:t>
            </a:r>
            <a:r>
              <a:rPr sz="2700" dirty="0">
                <a:latin typeface="Carlito"/>
                <a:cs typeface="Carlito"/>
              </a:rPr>
              <a:t>such</a:t>
            </a:r>
            <a:r>
              <a:rPr sz="2700" spc="395" dirty="0">
                <a:latin typeface="Carlito"/>
                <a:cs typeface="Carlito"/>
              </a:rPr>
              <a:t> </a:t>
            </a:r>
            <a:r>
              <a:rPr sz="2700" spc="-25" dirty="0">
                <a:latin typeface="Carlito"/>
                <a:cs typeface="Carlito"/>
              </a:rPr>
              <a:t>as </a:t>
            </a:r>
            <a:r>
              <a:rPr sz="2700" dirty="0">
                <a:latin typeface="Carlito"/>
                <a:cs typeface="Carlito"/>
              </a:rPr>
              <a:t>success,</a:t>
            </a:r>
            <a:r>
              <a:rPr sz="2700" spc="-25" dirty="0">
                <a:latin typeface="Carlito"/>
                <a:cs typeface="Carlito"/>
              </a:rPr>
              <a:t> </a:t>
            </a:r>
            <a:r>
              <a:rPr sz="2700" dirty="0">
                <a:latin typeface="Carlito"/>
                <a:cs typeface="Carlito"/>
              </a:rPr>
              <a:t>failed,</a:t>
            </a:r>
            <a:r>
              <a:rPr sz="2700" spc="-30" dirty="0">
                <a:latin typeface="Carlito"/>
                <a:cs typeface="Carlito"/>
              </a:rPr>
              <a:t> </a:t>
            </a:r>
            <a:r>
              <a:rPr sz="2700" dirty="0">
                <a:latin typeface="Carlito"/>
                <a:cs typeface="Carlito"/>
              </a:rPr>
              <a:t>or</a:t>
            </a:r>
            <a:r>
              <a:rPr sz="2700" spc="-20" dirty="0">
                <a:latin typeface="Carlito"/>
                <a:cs typeface="Carlito"/>
              </a:rPr>
              <a:t> </a:t>
            </a:r>
            <a:r>
              <a:rPr sz="2700" dirty="0">
                <a:latin typeface="Carlito"/>
                <a:cs typeface="Carlito"/>
              </a:rPr>
              <a:t>pending;</a:t>
            </a:r>
            <a:r>
              <a:rPr sz="2700" spc="-20" dirty="0">
                <a:latin typeface="Carlito"/>
                <a:cs typeface="Carlito"/>
              </a:rPr>
              <a:t> </a:t>
            </a:r>
            <a:r>
              <a:rPr sz="2700" dirty="0">
                <a:latin typeface="Carlito"/>
                <a:cs typeface="Carlito"/>
              </a:rPr>
              <a:t>or</a:t>
            </a:r>
            <a:r>
              <a:rPr sz="2700" spc="-20" dirty="0">
                <a:latin typeface="Carlito"/>
                <a:cs typeface="Carlito"/>
              </a:rPr>
              <a:t> </a:t>
            </a:r>
            <a:r>
              <a:rPr sz="2700" dirty="0">
                <a:latin typeface="Carlito"/>
                <a:cs typeface="Carlito"/>
              </a:rPr>
              <a:t>a</a:t>
            </a:r>
            <a:r>
              <a:rPr sz="2700" spc="-15" dirty="0">
                <a:latin typeface="Carlito"/>
                <a:cs typeface="Carlito"/>
              </a:rPr>
              <a:t> </a:t>
            </a:r>
            <a:r>
              <a:rPr sz="2700" dirty="0">
                <a:latin typeface="Carlito"/>
                <a:cs typeface="Carlito"/>
              </a:rPr>
              <a:t>list</a:t>
            </a:r>
            <a:r>
              <a:rPr sz="2700" spc="-25" dirty="0">
                <a:latin typeface="Carlito"/>
                <a:cs typeface="Carlito"/>
              </a:rPr>
              <a:t> </a:t>
            </a:r>
            <a:r>
              <a:rPr sz="2700" dirty="0">
                <a:latin typeface="Carlito"/>
                <a:cs typeface="Carlito"/>
              </a:rPr>
              <a:t>of</a:t>
            </a:r>
            <a:r>
              <a:rPr sz="2700" spc="-10" dirty="0">
                <a:latin typeface="Carlito"/>
                <a:cs typeface="Carlito"/>
              </a:rPr>
              <a:t> </a:t>
            </a:r>
            <a:r>
              <a:rPr sz="2700" dirty="0">
                <a:latin typeface="Carlito"/>
                <a:cs typeface="Carlito"/>
              </a:rPr>
              <a:t>the</a:t>
            </a:r>
            <a:r>
              <a:rPr sz="2700" spc="-30" dirty="0">
                <a:latin typeface="Carlito"/>
                <a:cs typeface="Carlito"/>
              </a:rPr>
              <a:t> </a:t>
            </a:r>
            <a:r>
              <a:rPr sz="2700" dirty="0">
                <a:latin typeface="Carlito"/>
                <a:cs typeface="Carlito"/>
              </a:rPr>
              <a:t>states</a:t>
            </a:r>
            <a:r>
              <a:rPr sz="2700" spc="-15" dirty="0">
                <a:latin typeface="Carlito"/>
                <a:cs typeface="Carlito"/>
              </a:rPr>
              <a:t> </a:t>
            </a:r>
            <a:r>
              <a:rPr sz="2700" dirty="0">
                <a:latin typeface="Carlito"/>
                <a:cs typeface="Carlito"/>
              </a:rPr>
              <a:t>that</a:t>
            </a:r>
            <a:r>
              <a:rPr sz="2700" spc="-30" dirty="0">
                <a:latin typeface="Carlito"/>
                <a:cs typeface="Carlito"/>
              </a:rPr>
              <a:t> </a:t>
            </a:r>
            <a:r>
              <a:rPr sz="2700" spc="-50" dirty="0">
                <a:latin typeface="Carlito"/>
                <a:cs typeface="Carlito"/>
              </a:rPr>
              <a:t>a </a:t>
            </a:r>
            <a:r>
              <a:rPr sz="2700" dirty="0">
                <a:latin typeface="Carlito"/>
                <a:cs typeface="Carlito"/>
              </a:rPr>
              <a:t>device</a:t>
            </a:r>
            <a:r>
              <a:rPr sz="2700" spc="120" dirty="0">
                <a:latin typeface="Carlito"/>
                <a:cs typeface="Carlito"/>
              </a:rPr>
              <a:t>  </a:t>
            </a:r>
            <a:r>
              <a:rPr sz="2700" dirty="0">
                <a:latin typeface="Carlito"/>
                <a:cs typeface="Carlito"/>
              </a:rPr>
              <a:t>might</a:t>
            </a:r>
            <a:r>
              <a:rPr sz="2700" spc="130" dirty="0">
                <a:latin typeface="Carlito"/>
                <a:cs typeface="Carlito"/>
              </a:rPr>
              <a:t>  </a:t>
            </a:r>
            <a:r>
              <a:rPr sz="2700" dirty="0">
                <a:latin typeface="Carlito"/>
                <a:cs typeface="Carlito"/>
              </a:rPr>
              <a:t>be</a:t>
            </a:r>
            <a:r>
              <a:rPr sz="2700" spc="125" dirty="0">
                <a:latin typeface="Carlito"/>
                <a:cs typeface="Carlito"/>
              </a:rPr>
              <a:t>  </a:t>
            </a:r>
            <a:r>
              <a:rPr sz="2700" dirty="0">
                <a:latin typeface="Carlito"/>
                <a:cs typeface="Carlito"/>
              </a:rPr>
              <a:t>in,</a:t>
            </a:r>
            <a:r>
              <a:rPr sz="2700" spc="125" dirty="0">
                <a:latin typeface="Carlito"/>
                <a:cs typeface="Carlito"/>
              </a:rPr>
              <a:t>  </a:t>
            </a:r>
            <a:r>
              <a:rPr sz="2700" dirty="0">
                <a:latin typeface="Carlito"/>
                <a:cs typeface="Carlito"/>
              </a:rPr>
              <a:t>such</a:t>
            </a:r>
            <a:r>
              <a:rPr sz="2700" spc="120" dirty="0">
                <a:latin typeface="Carlito"/>
                <a:cs typeface="Carlito"/>
              </a:rPr>
              <a:t>  </a:t>
            </a:r>
            <a:r>
              <a:rPr sz="2700" dirty="0">
                <a:latin typeface="Carlito"/>
                <a:cs typeface="Carlito"/>
              </a:rPr>
              <a:t>as</a:t>
            </a:r>
            <a:r>
              <a:rPr sz="2700" spc="125" dirty="0">
                <a:latin typeface="Carlito"/>
                <a:cs typeface="Carlito"/>
              </a:rPr>
              <a:t>  </a:t>
            </a:r>
            <a:r>
              <a:rPr sz="2700" dirty="0">
                <a:latin typeface="Carlito"/>
                <a:cs typeface="Carlito"/>
              </a:rPr>
              <a:t>running,</a:t>
            </a:r>
            <a:r>
              <a:rPr sz="2700" spc="120" dirty="0">
                <a:latin typeface="Carlito"/>
                <a:cs typeface="Carlito"/>
              </a:rPr>
              <a:t>  </a:t>
            </a:r>
            <a:r>
              <a:rPr sz="2700" dirty="0">
                <a:latin typeface="Carlito"/>
                <a:cs typeface="Carlito"/>
              </a:rPr>
              <a:t>stopped,</a:t>
            </a:r>
            <a:r>
              <a:rPr sz="2700" spc="130" dirty="0">
                <a:latin typeface="Carlito"/>
                <a:cs typeface="Carlito"/>
              </a:rPr>
              <a:t>  </a:t>
            </a:r>
            <a:r>
              <a:rPr sz="2700" spc="-25" dirty="0">
                <a:latin typeface="Carlito"/>
                <a:cs typeface="Carlito"/>
              </a:rPr>
              <a:t>or </a:t>
            </a:r>
            <a:r>
              <a:rPr sz="2700" spc="-10" dirty="0">
                <a:latin typeface="Carlito"/>
                <a:cs typeface="Carlito"/>
              </a:rPr>
              <a:t>paused</a:t>
            </a:r>
            <a:endParaRPr sz="2700" dirty="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457200" y="624110"/>
            <a:ext cx="8077200" cy="1039336"/>
          </a:xfrm>
          <a:prstGeom prst="rect">
            <a:avLst/>
          </a:prstGeom>
        </p:spPr>
        <p:txBody>
          <a:bodyPr vert="horz" wrap="square" lIns="0" tIns="358724" rIns="0" bIns="0" rtlCol="0">
            <a:spAutoFit/>
          </a:bodyPr>
          <a:lstStyle/>
          <a:p>
            <a:pPr marL="546100">
              <a:lnSpc>
                <a:spcPct val="100000"/>
              </a:lnSpc>
              <a:spcBef>
                <a:spcPts val="105"/>
              </a:spcBef>
            </a:pPr>
            <a:r>
              <a:rPr sz="4400" b="0" dirty="0">
                <a:latin typeface="Carlito"/>
                <a:cs typeface="Carlito"/>
              </a:rPr>
              <a:t>Enumeration</a:t>
            </a:r>
            <a:r>
              <a:rPr sz="4400" b="0" spc="-195" dirty="0">
                <a:latin typeface="Carlito"/>
                <a:cs typeface="Carlito"/>
              </a:rPr>
              <a:t> </a:t>
            </a:r>
            <a:r>
              <a:rPr sz="4400" b="0" spc="-10" dirty="0">
                <a:latin typeface="Carlito"/>
                <a:cs typeface="Carlito"/>
              </a:rPr>
              <a:t>Fundamentals</a:t>
            </a:r>
            <a:endParaRPr sz="4400" dirty="0">
              <a:latin typeface="Carlito"/>
              <a:cs typeface="Carlito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936855C-DD30-9347-B6A4-60F75F75ECD6}"/>
              </a:ext>
            </a:extLst>
          </p:cNvPr>
          <p:cNvSpPr txBox="1"/>
          <p:nvPr/>
        </p:nvSpPr>
        <p:spPr>
          <a:xfrm>
            <a:off x="990600" y="2554193"/>
            <a:ext cx="7924800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2800" b="0" i="0" u="none" strike="noStrike" baseline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// An enumeration of apple varieties.</a:t>
            </a:r>
          </a:p>
          <a:p>
            <a:pPr algn="l"/>
            <a:r>
              <a:rPr lang="en-IN" sz="2800" b="0" i="0" u="none" strike="noStrike" baseline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enum</a:t>
            </a:r>
            <a:r>
              <a:rPr lang="en-IN" sz="2800" b="0" i="0" u="none" strike="noStrike" baseline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Apple </a:t>
            </a:r>
          </a:p>
          <a:p>
            <a:pPr algn="l"/>
            <a:r>
              <a:rPr lang="en-IN" sz="2800" b="0" i="0" u="none" strike="noStrike" baseline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{</a:t>
            </a:r>
          </a:p>
          <a:p>
            <a:pPr algn="l"/>
            <a:r>
              <a:rPr lang="en-IN" sz="2800" b="0" i="0" u="none" strike="noStrike" baseline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Jonathan, </a:t>
            </a:r>
            <a:r>
              <a:rPr lang="en-IN" sz="2800" b="0" i="0" u="none" strike="noStrike" baseline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GoldenDel</a:t>
            </a:r>
            <a:r>
              <a:rPr lang="en-IN" sz="2800" b="0" i="0" u="none" strike="noStrike" baseline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IN" sz="2800" b="0" i="0" u="none" strike="noStrike" baseline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RedDel</a:t>
            </a:r>
            <a:r>
              <a:rPr lang="en-IN" sz="2800" b="0" i="0" u="none" strike="noStrike" baseline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Winesap, Cortland</a:t>
            </a:r>
          </a:p>
          <a:p>
            <a:pPr algn="l"/>
            <a:r>
              <a:rPr lang="en-IN" sz="2800" b="0" i="0" u="none" strike="noStrike" baseline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}</a:t>
            </a:r>
          </a:p>
          <a:p>
            <a:pPr algn="l"/>
            <a:endParaRPr lang="en-IN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endParaRPr lang="en-IN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endParaRPr lang="en-IN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25A34E-7D6F-FD6D-5357-0203B8A3A3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7800" y="624110"/>
            <a:ext cx="7391400" cy="1280890"/>
          </a:xfrm>
        </p:spPr>
        <p:txBody>
          <a:bodyPr>
            <a:normAutofit/>
          </a:bodyPr>
          <a:lstStyle/>
          <a:p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You can also have an 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rgbClr val="DC143C"/>
                </a:solidFill>
                <a:effectLst/>
                <a:latin typeface="Consolas" panose="020B0609020204030204" pitchFamily="49" charset="0"/>
              </a:rPr>
              <a:t>enum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 inside class: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lang="en-IN" sz="2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968A551-FAB1-3BD0-8FE3-1CA4D23C6E6D}"/>
              </a:ext>
            </a:extLst>
          </p:cNvPr>
          <p:cNvSpPr txBox="1"/>
          <p:nvPr/>
        </p:nvSpPr>
        <p:spPr>
          <a:xfrm>
            <a:off x="1066800" y="2000195"/>
            <a:ext cx="8001000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77AA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77AA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en-US" sz="2400" dirty="0">
                <a:solidFill>
                  <a:srgbClr val="DD4A68"/>
                </a:solidFill>
                <a:latin typeface="Consolas" panose="020B0609020204030204" pitchFamily="49" charset="0"/>
              </a:rPr>
              <a:t>EnumDemo11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0077AA"/>
                </a:solidFill>
                <a:effectLst/>
                <a:latin typeface="Consolas" panose="020B0609020204030204" pitchFamily="49" charset="0"/>
              </a:rPr>
              <a:t>enum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DD4A68"/>
                </a:solidFill>
                <a:effectLst/>
                <a:latin typeface="Consolas" panose="020B0609020204030204" pitchFamily="49" charset="0"/>
              </a:rPr>
              <a:t>Level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LOW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MEDIUM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HIGH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	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77AA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77AA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77AA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DD4A68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DD4A68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[]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		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DD4A68"/>
                </a:solidFill>
                <a:effectLst/>
                <a:latin typeface="Consolas" panose="020B0609020204030204" pitchFamily="49" charset="0"/>
              </a:rPr>
              <a:t>Level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myVar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9A6E3A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DD4A68"/>
                </a:solidFill>
                <a:effectLst/>
                <a:latin typeface="Consolas" panose="020B0609020204030204" pitchFamily="49" charset="0"/>
              </a:rPr>
              <a:t>Level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MEDIUM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			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DD4A68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DD4A68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myVar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);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	}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638989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7D759D-18FE-985A-F031-3617B60638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Switch </a:t>
            </a:r>
            <a:r>
              <a:rPr lang="en-IN" dirty="0" err="1"/>
              <a:t>staement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1C7A998-8E76-B83D-80D9-87146CA2FAA5}"/>
              </a:ext>
            </a:extLst>
          </p:cNvPr>
          <p:cNvSpPr txBox="1"/>
          <p:nvPr/>
        </p:nvSpPr>
        <p:spPr>
          <a:xfrm>
            <a:off x="914400" y="1447800"/>
            <a:ext cx="9067800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enum</a:t>
            </a:r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Level </a:t>
            </a:r>
          </a:p>
          <a:p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	{ LOW, MEDIUM, HIGH } </a:t>
            </a:r>
          </a:p>
          <a:p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public class EnumDemo12</a:t>
            </a:r>
          </a:p>
          <a:p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{       public static void main(String[] </a:t>
            </a:r>
            <a:r>
              <a:rPr lang="en-IN" sz="2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args</a:t>
            </a:r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 </a:t>
            </a:r>
          </a:p>
          <a:p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{   Level </a:t>
            </a:r>
            <a:r>
              <a:rPr lang="en-IN" sz="2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myVar</a:t>
            </a:r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= </a:t>
            </a:r>
            <a:r>
              <a:rPr lang="en-IN" sz="2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Level.MEDIUM</a:t>
            </a:r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; </a:t>
            </a:r>
          </a:p>
          <a:p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   switch(</a:t>
            </a:r>
            <a:r>
              <a:rPr lang="en-IN" sz="2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myVar</a:t>
            </a:r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 </a:t>
            </a:r>
          </a:p>
          <a:p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   { </a:t>
            </a:r>
          </a:p>
          <a:p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	case LOW: </a:t>
            </a:r>
            <a:r>
              <a:rPr lang="en-IN" sz="2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System.out.println</a:t>
            </a:r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("Low level"); break; </a:t>
            </a:r>
          </a:p>
          <a:p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		case MEDIUM: </a:t>
            </a:r>
            <a:r>
              <a:rPr lang="en-IN" sz="2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System.out.println</a:t>
            </a:r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("</a:t>
            </a:r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Medium level</a:t>
            </a:r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"); break; </a:t>
            </a:r>
          </a:p>
          <a:p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	case HIGH: </a:t>
            </a:r>
            <a:r>
              <a:rPr lang="en-IN" sz="2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System.out.println</a:t>
            </a:r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("High level"); break;</a:t>
            </a:r>
          </a:p>
          <a:p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	 }</a:t>
            </a:r>
          </a:p>
          <a:p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 }</a:t>
            </a:r>
          </a:p>
          <a:p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} </a:t>
            </a:r>
          </a:p>
        </p:txBody>
      </p:sp>
    </p:spTree>
    <p:extLst>
      <p:ext uri="{BB962C8B-B14F-4D97-AF65-F5344CB8AC3E}">
        <p14:creationId xmlns:p14="http://schemas.microsoft.com/office/powerpoint/2010/main" val="29157432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AD4FA1-ED26-E388-4F48-DA5330EB6E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624110"/>
            <a:ext cx="7010400" cy="1280890"/>
          </a:xfrm>
        </p:spPr>
        <p:txBody>
          <a:bodyPr>
            <a:normAutofit fontScale="90000"/>
          </a:bodyPr>
          <a:lstStyle/>
          <a:p>
            <a:r>
              <a:rPr lang="en-IN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Difference between Enums and Classes</a:t>
            </a:r>
            <a:br>
              <a:rPr lang="en-IN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</a:br>
            <a:endParaRPr lang="en-IN" dirty="0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C3CF7DD0-A53A-3131-30B1-D15D87B04F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6800" y="1906488"/>
            <a:ext cx="7848600" cy="43755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63480" rIns="0" bIns="6348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An 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DC143C"/>
                </a:solidFill>
                <a:effectLst/>
                <a:latin typeface="Consolas" panose="020B0609020204030204" pitchFamily="49" charset="0"/>
              </a:rPr>
              <a:t>enum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 can, just like a 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DC143C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, have attributes and methods.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2000" dirty="0">
              <a:solidFill>
                <a:srgbClr val="000000"/>
              </a:solidFill>
              <a:latin typeface="Verdana" panose="020B060403050404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The only difference is that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enum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 constants are 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DC143C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, 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DC143C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 and 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DC143C"/>
                </a:solidFill>
                <a:effectLst/>
                <a:latin typeface="Consolas" panose="020B0609020204030204" pitchFamily="49" charset="0"/>
              </a:rPr>
              <a:t>final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 (unchangeable - cannot be overridden).</a:t>
            </a:r>
            <a:endParaRPr kumimoji="0" lang="en-US" altLang="en-US" sz="105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An 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DC143C"/>
                </a:solidFill>
                <a:effectLst/>
                <a:latin typeface="Consolas" panose="020B0609020204030204" pitchFamily="49" charset="0"/>
              </a:rPr>
              <a:t>enum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 cannot be used to create objects, and it cannot extend other classes (but it can implement interfaces).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Why And When To Use Enums?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Use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enums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 when you have values that you know aren't going to change, like month days, days, colors, deck of cards, etc.</a:t>
            </a: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110934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4400" y="0"/>
            <a:ext cx="8382000" cy="1011892"/>
          </a:xfrm>
          <a:prstGeom prst="rect">
            <a:avLst/>
          </a:prstGeom>
        </p:spPr>
        <p:txBody>
          <a:bodyPr vert="horz" wrap="square" lIns="0" tIns="392506" rIns="0" bIns="0" rtlCol="0">
            <a:spAutoFit/>
          </a:bodyPr>
          <a:lstStyle/>
          <a:p>
            <a:pPr marL="546100">
              <a:lnSpc>
                <a:spcPct val="100000"/>
              </a:lnSpc>
              <a:spcBef>
                <a:spcPts val="95"/>
              </a:spcBef>
            </a:pPr>
            <a:r>
              <a:rPr sz="4000" b="0" dirty="0">
                <a:latin typeface="Carlito"/>
                <a:cs typeface="Carlito"/>
              </a:rPr>
              <a:t>The</a:t>
            </a:r>
            <a:r>
              <a:rPr sz="4000" b="0" spc="-45" dirty="0">
                <a:latin typeface="Carlito"/>
                <a:cs typeface="Carlito"/>
              </a:rPr>
              <a:t> </a:t>
            </a:r>
            <a:r>
              <a:rPr sz="4000" b="0" dirty="0">
                <a:latin typeface="Carlito"/>
                <a:cs typeface="Carlito"/>
              </a:rPr>
              <a:t>values(</a:t>
            </a:r>
            <a:r>
              <a:rPr sz="4000" b="0" spc="-50" dirty="0">
                <a:latin typeface="Carlito"/>
                <a:cs typeface="Carlito"/>
              </a:rPr>
              <a:t> </a:t>
            </a:r>
            <a:r>
              <a:rPr sz="4000" b="0" dirty="0">
                <a:latin typeface="Carlito"/>
                <a:cs typeface="Carlito"/>
              </a:rPr>
              <a:t>)</a:t>
            </a:r>
            <a:r>
              <a:rPr sz="4000" b="0" spc="-50" dirty="0">
                <a:latin typeface="Carlito"/>
                <a:cs typeface="Carlito"/>
              </a:rPr>
              <a:t> </a:t>
            </a:r>
            <a:r>
              <a:rPr sz="4000" b="0" dirty="0">
                <a:latin typeface="Carlito"/>
                <a:cs typeface="Carlito"/>
              </a:rPr>
              <a:t>and</a:t>
            </a:r>
            <a:r>
              <a:rPr sz="4000" b="0" spc="-50" dirty="0">
                <a:latin typeface="Carlito"/>
                <a:cs typeface="Carlito"/>
              </a:rPr>
              <a:t> </a:t>
            </a:r>
            <a:r>
              <a:rPr sz="4000" b="0" dirty="0">
                <a:latin typeface="Carlito"/>
                <a:cs typeface="Carlito"/>
              </a:rPr>
              <a:t>valueOf(</a:t>
            </a:r>
            <a:r>
              <a:rPr sz="4000" b="0" spc="-55" dirty="0">
                <a:latin typeface="Carlito"/>
                <a:cs typeface="Carlito"/>
              </a:rPr>
              <a:t> </a:t>
            </a:r>
            <a:r>
              <a:rPr sz="4000" b="0" dirty="0">
                <a:latin typeface="Carlito"/>
                <a:cs typeface="Carlito"/>
              </a:rPr>
              <a:t>)</a:t>
            </a:r>
            <a:r>
              <a:rPr sz="4000" b="0" spc="-60" dirty="0">
                <a:latin typeface="Carlito"/>
                <a:cs typeface="Carlito"/>
              </a:rPr>
              <a:t> </a:t>
            </a:r>
            <a:r>
              <a:rPr sz="4000" b="0" spc="-10" dirty="0">
                <a:latin typeface="Carlito"/>
                <a:cs typeface="Carlito"/>
              </a:rPr>
              <a:t>Methods</a:t>
            </a:r>
            <a:endParaRPr sz="4000" dirty="0">
              <a:latin typeface="Carlito"/>
              <a:cs typeface="Carlito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41044" y="1613154"/>
            <a:ext cx="7918450" cy="4090222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354965" algn="l"/>
              </a:tabLst>
            </a:pPr>
            <a:r>
              <a:rPr sz="2400" dirty="0">
                <a:latin typeface="Carlito"/>
                <a:cs typeface="Carlito"/>
              </a:rPr>
              <a:t>All</a:t>
            </a:r>
            <a:r>
              <a:rPr sz="2400" spc="110" dirty="0">
                <a:latin typeface="Carlito"/>
                <a:cs typeface="Carlito"/>
              </a:rPr>
              <a:t> </a:t>
            </a:r>
            <a:r>
              <a:rPr sz="2400" dirty="0">
                <a:latin typeface="Carlito"/>
                <a:cs typeface="Carlito"/>
              </a:rPr>
              <a:t>enumerations</a:t>
            </a:r>
            <a:r>
              <a:rPr sz="2400" spc="114" dirty="0">
                <a:latin typeface="Carlito"/>
                <a:cs typeface="Carlito"/>
              </a:rPr>
              <a:t> </a:t>
            </a:r>
            <a:r>
              <a:rPr sz="2400" dirty="0">
                <a:latin typeface="Carlito"/>
                <a:cs typeface="Carlito"/>
              </a:rPr>
              <a:t>automatically</a:t>
            </a:r>
            <a:r>
              <a:rPr sz="2400" spc="114" dirty="0">
                <a:latin typeface="Carlito"/>
                <a:cs typeface="Carlito"/>
              </a:rPr>
              <a:t> </a:t>
            </a:r>
            <a:r>
              <a:rPr sz="2400" dirty="0">
                <a:latin typeface="Carlito"/>
                <a:cs typeface="Carlito"/>
              </a:rPr>
              <a:t>contain</a:t>
            </a:r>
            <a:r>
              <a:rPr sz="2400" spc="120" dirty="0">
                <a:latin typeface="Carlito"/>
                <a:cs typeface="Carlito"/>
              </a:rPr>
              <a:t> </a:t>
            </a:r>
            <a:r>
              <a:rPr sz="2400" dirty="0">
                <a:latin typeface="Carlito"/>
                <a:cs typeface="Carlito"/>
              </a:rPr>
              <a:t>two</a:t>
            </a:r>
            <a:r>
              <a:rPr sz="2400" spc="114" dirty="0">
                <a:latin typeface="Carlito"/>
                <a:cs typeface="Carlito"/>
              </a:rPr>
              <a:t> </a:t>
            </a:r>
            <a:r>
              <a:rPr sz="2400" dirty="0">
                <a:latin typeface="Carlito"/>
                <a:cs typeface="Carlito"/>
              </a:rPr>
              <a:t>predefined</a:t>
            </a:r>
            <a:r>
              <a:rPr sz="2400" spc="130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methods:</a:t>
            </a:r>
            <a:r>
              <a:rPr lang="en-IN" sz="2400" spc="-10" dirty="0">
                <a:latin typeface="Carlito"/>
                <a:cs typeface="Carlito"/>
              </a:rPr>
              <a:t>  </a:t>
            </a:r>
            <a:r>
              <a:rPr sz="2400" b="1" dirty="0">
                <a:solidFill>
                  <a:srgbClr val="FF0000"/>
                </a:solidFill>
                <a:latin typeface="Carlito"/>
                <a:cs typeface="Carlito"/>
              </a:rPr>
              <a:t>values(</a:t>
            </a:r>
            <a:r>
              <a:rPr sz="2400" b="1" spc="-60" dirty="0">
                <a:solidFill>
                  <a:srgbClr val="FF0000"/>
                </a:solidFill>
                <a:latin typeface="Carlito"/>
                <a:cs typeface="Carlito"/>
              </a:rPr>
              <a:t> </a:t>
            </a:r>
            <a:r>
              <a:rPr sz="2400" b="1" dirty="0">
                <a:solidFill>
                  <a:srgbClr val="FF0000"/>
                </a:solidFill>
                <a:latin typeface="Carlito"/>
                <a:cs typeface="Carlito"/>
              </a:rPr>
              <a:t>)</a:t>
            </a:r>
            <a:r>
              <a:rPr sz="2400" b="1" spc="-50" dirty="0">
                <a:solidFill>
                  <a:srgbClr val="FF0000"/>
                </a:solidFill>
                <a:latin typeface="Carlito"/>
                <a:cs typeface="Carlito"/>
              </a:rPr>
              <a:t> </a:t>
            </a:r>
            <a:r>
              <a:rPr sz="2400" b="1" dirty="0">
                <a:solidFill>
                  <a:srgbClr val="FF0000"/>
                </a:solidFill>
                <a:latin typeface="Carlito"/>
                <a:cs typeface="Carlito"/>
              </a:rPr>
              <a:t>and</a:t>
            </a:r>
            <a:r>
              <a:rPr sz="2400" b="1" spc="-55" dirty="0">
                <a:solidFill>
                  <a:srgbClr val="FF0000"/>
                </a:solidFill>
                <a:latin typeface="Carlito"/>
                <a:cs typeface="Carlito"/>
              </a:rPr>
              <a:t> </a:t>
            </a:r>
            <a:r>
              <a:rPr sz="2400" b="1" dirty="0">
                <a:solidFill>
                  <a:srgbClr val="FF0000"/>
                </a:solidFill>
                <a:latin typeface="Carlito"/>
                <a:cs typeface="Carlito"/>
              </a:rPr>
              <a:t>valueOf(</a:t>
            </a:r>
            <a:r>
              <a:rPr sz="2400" b="1" spc="-45" dirty="0">
                <a:solidFill>
                  <a:srgbClr val="FF0000"/>
                </a:solidFill>
                <a:latin typeface="Carlito"/>
                <a:cs typeface="Carlito"/>
              </a:rPr>
              <a:t> </a:t>
            </a:r>
            <a:r>
              <a:rPr sz="2400" b="1" spc="-25" dirty="0">
                <a:solidFill>
                  <a:srgbClr val="FF0000"/>
                </a:solidFill>
                <a:latin typeface="Carlito"/>
                <a:cs typeface="Carlito"/>
              </a:rPr>
              <a:t>).</a:t>
            </a:r>
            <a:endParaRPr sz="2400" b="1" dirty="0">
              <a:solidFill>
                <a:srgbClr val="FF0000"/>
              </a:solidFill>
              <a:latin typeface="Carlito"/>
              <a:cs typeface="Carlito"/>
            </a:endParaRPr>
          </a:p>
          <a:p>
            <a:pPr marL="354965" indent="-342265">
              <a:lnSpc>
                <a:spcPct val="100000"/>
              </a:lnSpc>
              <a:spcBef>
                <a:spcPts val="530"/>
              </a:spcBef>
              <a:buFont typeface="Arial"/>
              <a:buChar char="•"/>
              <a:tabLst>
                <a:tab pos="354965" algn="l"/>
              </a:tabLst>
            </a:pPr>
            <a:r>
              <a:rPr sz="2400" dirty="0">
                <a:latin typeface="Carlito"/>
                <a:cs typeface="Carlito"/>
              </a:rPr>
              <a:t>Their</a:t>
            </a:r>
            <a:r>
              <a:rPr sz="2400" spc="-80" dirty="0">
                <a:latin typeface="Carlito"/>
                <a:cs typeface="Carlito"/>
              </a:rPr>
              <a:t> </a:t>
            </a:r>
            <a:r>
              <a:rPr sz="2400" dirty="0">
                <a:latin typeface="Carlito"/>
                <a:cs typeface="Carlito"/>
              </a:rPr>
              <a:t>general</a:t>
            </a:r>
            <a:r>
              <a:rPr sz="2400" spc="-65" dirty="0">
                <a:latin typeface="Carlito"/>
                <a:cs typeface="Carlito"/>
              </a:rPr>
              <a:t> </a:t>
            </a:r>
            <a:r>
              <a:rPr sz="2400" dirty="0">
                <a:latin typeface="Carlito"/>
                <a:cs typeface="Carlito"/>
              </a:rPr>
              <a:t>forms</a:t>
            </a:r>
            <a:r>
              <a:rPr sz="2400" spc="-70" dirty="0">
                <a:latin typeface="Carlito"/>
                <a:cs typeface="Carlito"/>
              </a:rPr>
              <a:t> </a:t>
            </a:r>
            <a:r>
              <a:rPr sz="2400" dirty="0">
                <a:latin typeface="Carlito"/>
                <a:cs typeface="Carlito"/>
              </a:rPr>
              <a:t>are</a:t>
            </a:r>
            <a:r>
              <a:rPr sz="2400" spc="-95" dirty="0">
                <a:latin typeface="Carlito"/>
                <a:cs typeface="Carlito"/>
              </a:rPr>
              <a:t> </a:t>
            </a:r>
            <a:r>
              <a:rPr sz="2400" dirty="0">
                <a:latin typeface="Carlito"/>
                <a:cs typeface="Carlito"/>
              </a:rPr>
              <a:t>shown</a:t>
            </a:r>
            <a:r>
              <a:rPr sz="2400" spc="-75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here:</a:t>
            </a:r>
            <a:endParaRPr sz="2400" dirty="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525"/>
              </a:spcBef>
              <a:buFont typeface="Arial"/>
              <a:buChar char="–"/>
              <a:tabLst>
                <a:tab pos="756285" algn="l"/>
              </a:tabLst>
            </a:pPr>
            <a:r>
              <a:rPr sz="2400" b="1" i="1" dirty="0">
                <a:solidFill>
                  <a:srgbClr val="FF0000"/>
                </a:solidFill>
                <a:latin typeface="Carlito"/>
                <a:cs typeface="Carlito"/>
              </a:rPr>
              <a:t>public</a:t>
            </a:r>
            <a:r>
              <a:rPr sz="2400" b="1" i="1" spc="-45" dirty="0">
                <a:solidFill>
                  <a:srgbClr val="FF0000"/>
                </a:solidFill>
                <a:latin typeface="Carlito"/>
                <a:cs typeface="Carlito"/>
              </a:rPr>
              <a:t> </a:t>
            </a:r>
            <a:r>
              <a:rPr sz="2400" b="1" i="1" dirty="0">
                <a:solidFill>
                  <a:srgbClr val="FF0000"/>
                </a:solidFill>
                <a:latin typeface="Carlito"/>
                <a:cs typeface="Carlito"/>
              </a:rPr>
              <a:t>static</a:t>
            </a:r>
            <a:r>
              <a:rPr sz="2400" b="1" i="1" spc="-50" dirty="0">
                <a:solidFill>
                  <a:srgbClr val="FF0000"/>
                </a:solidFill>
                <a:latin typeface="Carlito"/>
                <a:cs typeface="Carlito"/>
              </a:rPr>
              <a:t> </a:t>
            </a:r>
            <a:r>
              <a:rPr sz="2400" b="1" i="1" spc="-25" dirty="0">
                <a:solidFill>
                  <a:srgbClr val="FF0000"/>
                </a:solidFill>
                <a:latin typeface="Carlito"/>
                <a:cs typeface="Carlito"/>
              </a:rPr>
              <a:t>enum-</a:t>
            </a:r>
            <a:r>
              <a:rPr sz="2400" b="1" i="1" dirty="0">
                <a:solidFill>
                  <a:srgbClr val="FF0000"/>
                </a:solidFill>
                <a:latin typeface="Carlito"/>
                <a:cs typeface="Carlito"/>
              </a:rPr>
              <a:t>type [</a:t>
            </a:r>
            <a:r>
              <a:rPr sz="2400" b="1" i="1" spc="-25" dirty="0">
                <a:solidFill>
                  <a:srgbClr val="FF0000"/>
                </a:solidFill>
                <a:latin typeface="Carlito"/>
                <a:cs typeface="Carlito"/>
              </a:rPr>
              <a:t> </a:t>
            </a:r>
            <a:r>
              <a:rPr sz="2400" b="1" i="1" dirty="0">
                <a:solidFill>
                  <a:srgbClr val="FF0000"/>
                </a:solidFill>
                <a:latin typeface="Carlito"/>
                <a:cs typeface="Carlito"/>
              </a:rPr>
              <a:t>]</a:t>
            </a:r>
            <a:r>
              <a:rPr sz="2400" b="1" i="1" spc="-25" dirty="0">
                <a:solidFill>
                  <a:srgbClr val="FF0000"/>
                </a:solidFill>
                <a:latin typeface="Carlito"/>
                <a:cs typeface="Carlito"/>
              </a:rPr>
              <a:t> </a:t>
            </a:r>
            <a:r>
              <a:rPr sz="2400" b="1" i="1" dirty="0">
                <a:solidFill>
                  <a:srgbClr val="FF0000"/>
                </a:solidFill>
                <a:latin typeface="Carlito"/>
                <a:cs typeface="Carlito"/>
              </a:rPr>
              <a:t>values(</a:t>
            </a:r>
            <a:r>
              <a:rPr sz="2400" b="1" i="1" spc="-35" dirty="0">
                <a:solidFill>
                  <a:srgbClr val="FF0000"/>
                </a:solidFill>
                <a:latin typeface="Carlito"/>
                <a:cs typeface="Carlito"/>
              </a:rPr>
              <a:t> </a:t>
            </a:r>
            <a:r>
              <a:rPr sz="2400" b="1" i="1" spc="-50" dirty="0">
                <a:solidFill>
                  <a:srgbClr val="FF0000"/>
                </a:solidFill>
                <a:latin typeface="Carlito"/>
                <a:cs typeface="Carlito"/>
              </a:rPr>
              <a:t>)</a:t>
            </a:r>
            <a:endParaRPr sz="2400" b="1" i="1" dirty="0">
              <a:solidFill>
                <a:srgbClr val="FF0000"/>
              </a:solidFill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530"/>
              </a:spcBef>
              <a:buFont typeface="Arial"/>
              <a:buChar char="–"/>
              <a:tabLst>
                <a:tab pos="756285" algn="l"/>
              </a:tabLst>
            </a:pPr>
            <a:r>
              <a:rPr sz="2400" b="1" i="1" dirty="0">
                <a:solidFill>
                  <a:srgbClr val="FF0000"/>
                </a:solidFill>
                <a:latin typeface="Carlito"/>
                <a:cs typeface="Carlito"/>
              </a:rPr>
              <a:t>public</a:t>
            </a:r>
            <a:r>
              <a:rPr sz="2400" b="1" i="1" spc="-45" dirty="0">
                <a:solidFill>
                  <a:srgbClr val="FF0000"/>
                </a:solidFill>
                <a:latin typeface="Carlito"/>
                <a:cs typeface="Carlito"/>
              </a:rPr>
              <a:t> </a:t>
            </a:r>
            <a:r>
              <a:rPr sz="2400" b="1" i="1" dirty="0">
                <a:solidFill>
                  <a:srgbClr val="FF0000"/>
                </a:solidFill>
                <a:latin typeface="Carlito"/>
                <a:cs typeface="Carlito"/>
              </a:rPr>
              <a:t>static</a:t>
            </a:r>
            <a:r>
              <a:rPr sz="2400" b="1" i="1" spc="-50" dirty="0">
                <a:solidFill>
                  <a:srgbClr val="FF0000"/>
                </a:solidFill>
                <a:latin typeface="Carlito"/>
                <a:cs typeface="Carlito"/>
              </a:rPr>
              <a:t> </a:t>
            </a:r>
            <a:r>
              <a:rPr sz="2400" b="1" i="1" spc="-25" dirty="0">
                <a:solidFill>
                  <a:srgbClr val="FF0000"/>
                </a:solidFill>
                <a:latin typeface="Carlito"/>
                <a:cs typeface="Carlito"/>
              </a:rPr>
              <a:t>enum-</a:t>
            </a:r>
            <a:r>
              <a:rPr sz="2400" b="1" i="1" dirty="0">
                <a:solidFill>
                  <a:srgbClr val="FF0000"/>
                </a:solidFill>
                <a:latin typeface="Carlito"/>
                <a:cs typeface="Carlito"/>
              </a:rPr>
              <a:t>type </a:t>
            </a:r>
            <a:r>
              <a:rPr sz="2400" b="1" i="1" spc="-10" dirty="0">
                <a:solidFill>
                  <a:srgbClr val="FF0000"/>
                </a:solidFill>
                <a:latin typeface="Carlito"/>
                <a:cs typeface="Carlito"/>
              </a:rPr>
              <a:t>valueOf(String</a:t>
            </a:r>
            <a:r>
              <a:rPr sz="2400" b="1" i="1" spc="-30" dirty="0">
                <a:solidFill>
                  <a:srgbClr val="FF0000"/>
                </a:solidFill>
                <a:latin typeface="Carlito"/>
                <a:cs typeface="Carlito"/>
              </a:rPr>
              <a:t> </a:t>
            </a:r>
            <a:r>
              <a:rPr sz="2400" b="1" i="1" dirty="0">
                <a:solidFill>
                  <a:srgbClr val="FF0000"/>
                </a:solidFill>
                <a:latin typeface="Carlito"/>
                <a:cs typeface="Carlito"/>
              </a:rPr>
              <a:t>str</a:t>
            </a:r>
            <a:r>
              <a:rPr sz="2400" b="1" i="1" spc="-30" dirty="0">
                <a:solidFill>
                  <a:srgbClr val="FF0000"/>
                </a:solidFill>
                <a:latin typeface="Carlito"/>
                <a:cs typeface="Carlito"/>
              </a:rPr>
              <a:t> </a:t>
            </a:r>
            <a:r>
              <a:rPr sz="2400" b="1" i="1" spc="-50" dirty="0">
                <a:solidFill>
                  <a:srgbClr val="FF0000"/>
                </a:solidFill>
                <a:latin typeface="Carlito"/>
                <a:cs typeface="Carlito"/>
              </a:rPr>
              <a:t>)</a:t>
            </a:r>
            <a:endParaRPr sz="2400" b="1" i="1" dirty="0">
              <a:solidFill>
                <a:srgbClr val="FF0000"/>
              </a:solidFill>
              <a:latin typeface="Carlito"/>
              <a:cs typeface="Carlito"/>
            </a:endParaRPr>
          </a:p>
          <a:p>
            <a:pPr marL="355600" marR="5080" indent="-342900">
              <a:lnSpc>
                <a:spcPct val="100000"/>
              </a:lnSpc>
              <a:spcBef>
                <a:spcPts val="530"/>
              </a:spcBef>
              <a:buFont typeface="Arial"/>
              <a:buChar char="•"/>
              <a:tabLst>
                <a:tab pos="355600" algn="l"/>
              </a:tabLst>
            </a:pPr>
            <a:r>
              <a:rPr sz="2400" dirty="0">
                <a:latin typeface="Carlito"/>
                <a:cs typeface="Carlito"/>
              </a:rPr>
              <a:t>The</a:t>
            </a:r>
            <a:r>
              <a:rPr sz="2400" spc="235" dirty="0">
                <a:latin typeface="Carlito"/>
                <a:cs typeface="Carlito"/>
              </a:rPr>
              <a:t> </a:t>
            </a:r>
            <a:r>
              <a:rPr sz="2400" b="1" i="1" dirty="0">
                <a:latin typeface="Carlito"/>
                <a:cs typeface="Carlito"/>
              </a:rPr>
              <a:t>values(</a:t>
            </a:r>
            <a:r>
              <a:rPr sz="2400" b="1" i="1" spc="235" dirty="0">
                <a:latin typeface="Carlito"/>
                <a:cs typeface="Carlito"/>
              </a:rPr>
              <a:t> </a:t>
            </a:r>
            <a:r>
              <a:rPr sz="2400" b="1" i="1" dirty="0">
                <a:latin typeface="Carlito"/>
                <a:cs typeface="Carlito"/>
              </a:rPr>
              <a:t>)</a:t>
            </a:r>
            <a:r>
              <a:rPr sz="2400" spc="245" dirty="0">
                <a:latin typeface="Carlito"/>
                <a:cs typeface="Carlito"/>
              </a:rPr>
              <a:t> </a:t>
            </a:r>
            <a:r>
              <a:rPr sz="2400" dirty="0">
                <a:latin typeface="Carlito"/>
                <a:cs typeface="Carlito"/>
              </a:rPr>
              <a:t>method</a:t>
            </a:r>
            <a:r>
              <a:rPr sz="2400" spc="235" dirty="0">
                <a:latin typeface="Carlito"/>
                <a:cs typeface="Carlito"/>
              </a:rPr>
              <a:t> </a:t>
            </a:r>
            <a:r>
              <a:rPr sz="2400" dirty="0">
                <a:latin typeface="Carlito"/>
                <a:cs typeface="Carlito"/>
              </a:rPr>
              <a:t>returns</a:t>
            </a:r>
            <a:r>
              <a:rPr sz="2400" spc="235" dirty="0">
                <a:latin typeface="Carlito"/>
                <a:cs typeface="Carlito"/>
              </a:rPr>
              <a:t> </a:t>
            </a:r>
            <a:r>
              <a:rPr sz="2400" dirty="0">
                <a:latin typeface="Carlito"/>
                <a:cs typeface="Carlito"/>
              </a:rPr>
              <a:t>an</a:t>
            </a:r>
            <a:r>
              <a:rPr sz="2400" spc="229" dirty="0">
                <a:latin typeface="Carlito"/>
                <a:cs typeface="Carlito"/>
              </a:rPr>
              <a:t> </a:t>
            </a:r>
            <a:r>
              <a:rPr sz="2400" dirty="0">
                <a:latin typeface="Carlito"/>
                <a:cs typeface="Carlito"/>
              </a:rPr>
              <a:t>array</a:t>
            </a:r>
            <a:r>
              <a:rPr sz="2400" spc="220" dirty="0">
                <a:latin typeface="Carlito"/>
                <a:cs typeface="Carlito"/>
              </a:rPr>
              <a:t> </a:t>
            </a:r>
            <a:r>
              <a:rPr sz="2400" dirty="0">
                <a:latin typeface="Carlito"/>
                <a:cs typeface="Carlito"/>
              </a:rPr>
              <a:t>that</a:t>
            </a:r>
            <a:r>
              <a:rPr sz="2400" spc="245" dirty="0">
                <a:latin typeface="Carlito"/>
                <a:cs typeface="Carlito"/>
              </a:rPr>
              <a:t> </a:t>
            </a:r>
            <a:r>
              <a:rPr sz="2400" dirty="0">
                <a:latin typeface="Carlito"/>
                <a:cs typeface="Carlito"/>
              </a:rPr>
              <a:t>contains</a:t>
            </a:r>
            <a:r>
              <a:rPr sz="2400" spc="240" dirty="0">
                <a:latin typeface="Carlito"/>
                <a:cs typeface="Carlito"/>
              </a:rPr>
              <a:t> </a:t>
            </a:r>
            <a:r>
              <a:rPr sz="2400" dirty="0">
                <a:latin typeface="Carlito"/>
                <a:cs typeface="Carlito"/>
              </a:rPr>
              <a:t>a</a:t>
            </a:r>
            <a:r>
              <a:rPr sz="2400" spc="235" dirty="0">
                <a:latin typeface="Carlito"/>
                <a:cs typeface="Carlito"/>
              </a:rPr>
              <a:t> </a:t>
            </a:r>
            <a:r>
              <a:rPr sz="2400" dirty="0">
                <a:latin typeface="Carlito"/>
                <a:cs typeface="Carlito"/>
              </a:rPr>
              <a:t>list</a:t>
            </a:r>
            <a:r>
              <a:rPr sz="2400" spc="225" dirty="0">
                <a:latin typeface="Carlito"/>
                <a:cs typeface="Carlito"/>
              </a:rPr>
              <a:t> </a:t>
            </a:r>
            <a:r>
              <a:rPr sz="2400" dirty="0">
                <a:latin typeface="Carlito"/>
                <a:cs typeface="Carlito"/>
              </a:rPr>
              <a:t>of</a:t>
            </a:r>
            <a:r>
              <a:rPr sz="2400" spc="245" dirty="0">
                <a:latin typeface="Carlito"/>
                <a:cs typeface="Carlito"/>
              </a:rPr>
              <a:t> </a:t>
            </a:r>
            <a:r>
              <a:rPr sz="2400" spc="-25" dirty="0">
                <a:latin typeface="Carlito"/>
                <a:cs typeface="Carlito"/>
              </a:rPr>
              <a:t>the </a:t>
            </a:r>
            <a:r>
              <a:rPr sz="2400" spc="-10" dirty="0">
                <a:latin typeface="Carlito"/>
                <a:cs typeface="Carlito"/>
              </a:rPr>
              <a:t>enumeration</a:t>
            </a:r>
            <a:r>
              <a:rPr sz="2400" spc="-35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constants.</a:t>
            </a:r>
            <a:endParaRPr sz="2400" dirty="0">
              <a:latin typeface="Carlito"/>
              <a:cs typeface="Carlito"/>
            </a:endParaRPr>
          </a:p>
          <a:p>
            <a:pPr marL="354965" indent="-342265">
              <a:lnSpc>
                <a:spcPct val="100000"/>
              </a:lnSpc>
              <a:spcBef>
                <a:spcPts val="530"/>
              </a:spcBef>
              <a:buFont typeface="Arial"/>
              <a:buChar char="•"/>
              <a:tabLst>
                <a:tab pos="354965" algn="l"/>
              </a:tabLst>
            </a:pPr>
            <a:r>
              <a:rPr sz="2400" dirty="0">
                <a:latin typeface="Carlito"/>
                <a:cs typeface="Carlito"/>
              </a:rPr>
              <a:t>The</a:t>
            </a:r>
            <a:r>
              <a:rPr sz="2400" spc="210" dirty="0">
                <a:latin typeface="Carlito"/>
                <a:cs typeface="Carlito"/>
              </a:rPr>
              <a:t> </a:t>
            </a:r>
            <a:r>
              <a:rPr sz="2400" b="1" i="1" dirty="0">
                <a:latin typeface="Carlito"/>
                <a:cs typeface="Carlito"/>
              </a:rPr>
              <a:t>valueOf(</a:t>
            </a:r>
            <a:r>
              <a:rPr sz="2400" b="1" i="1" spc="210" dirty="0">
                <a:latin typeface="Carlito"/>
                <a:cs typeface="Carlito"/>
              </a:rPr>
              <a:t> </a:t>
            </a:r>
            <a:r>
              <a:rPr sz="2400" b="1" i="1" dirty="0">
                <a:latin typeface="Carlito"/>
                <a:cs typeface="Carlito"/>
              </a:rPr>
              <a:t>)</a:t>
            </a:r>
            <a:r>
              <a:rPr sz="2400" spc="215" dirty="0">
                <a:latin typeface="Carlito"/>
                <a:cs typeface="Carlito"/>
              </a:rPr>
              <a:t> </a:t>
            </a:r>
            <a:r>
              <a:rPr sz="2400" dirty="0">
                <a:latin typeface="Carlito"/>
                <a:cs typeface="Carlito"/>
              </a:rPr>
              <a:t>method</a:t>
            </a:r>
            <a:r>
              <a:rPr sz="2400" spc="204" dirty="0">
                <a:latin typeface="Carlito"/>
                <a:cs typeface="Carlito"/>
              </a:rPr>
              <a:t> </a:t>
            </a:r>
            <a:r>
              <a:rPr sz="2400" dirty="0">
                <a:latin typeface="Carlito"/>
                <a:cs typeface="Carlito"/>
              </a:rPr>
              <a:t>returns</a:t>
            </a:r>
            <a:r>
              <a:rPr sz="2400" spc="204" dirty="0">
                <a:latin typeface="Carlito"/>
                <a:cs typeface="Carlito"/>
              </a:rPr>
              <a:t> </a:t>
            </a:r>
            <a:r>
              <a:rPr sz="2400" dirty="0">
                <a:latin typeface="Carlito"/>
                <a:cs typeface="Carlito"/>
              </a:rPr>
              <a:t>the</a:t>
            </a:r>
            <a:r>
              <a:rPr sz="2400" spc="210" dirty="0">
                <a:latin typeface="Carlito"/>
                <a:cs typeface="Carlito"/>
              </a:rPr>
              <a:t> </a:t>
            </a:r>
            <a:r>
              <a:rPr sz="2400" dirty="0">
                <a:latin typeface="Carlito"/>
                <a:cs typeface="Carlito"/>
              </a:rPr>
              <a:t>enumeration</a:t>
            </a:r>
            <a:r>
              <a:rPr sz="2400" spc="225" dirty="0">
                <a:latin typeface="Carlito"/>
                <a:cs typeface="Carlito"/>
              </a:rPr>
              <a:t> </a:t>
            </a:r>
            <a:r>
              <a:rPr sz="2400" dirty="0">
                <a:latin typeface="Carlito"/>
                <a:cs typeface="Carlito"/>
              </a:rPr>
              <a:t>constant</a:t>
            </a:r>
            <a:r>
              <a:rPr sz="2400" spc="200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whose</a:t>
            </a:r>
            <a:r>
              <a:rPr lang="en-IN" sz="2400" spc="-10" dirty="0">
                <a:latin typeface="Carlito"/>
                <a:cs typeface="Carlito"/>
              </a:rPr>
              <a:t>  </a:t>
            </a:r>
            <a:r>
              <a:rPr sz="2400" dirty="0">
                <a:latin typeface="Carlito"/>
                <a:cs typeface="Carlito"/>
              </a:rPr>
              <a:t>value</a:t>
            </a:r>
            <a:r>
              <a:rPr sz="2400" spc="-60" dirty="0">
                <a:latin typeface="Carlito"/>
                <a:cs typeface="Carlito"/>
              </a:rPr>
              <a:t> </a:t>
            </a:r>
            <a:r>
              <a:rPr sz="2400" dirty="0">
                <a:latin typeface="Carlito"/>
                <a:cs typeface="Carlito"/>
              </a:rPr>
              <a:t>corresponds</a:t>
            </a:r>
            <a:r>
              <a:rPr sz="2400" spc="-45" dirty="0">
                <a:latin typeface="Carlito"/>
                <a:cs typeface="Carlito"/>
              </a:rPr>
              <a:t> </a:t>
            </a:r>
            <a:r>
              <a:rPr sz="2400" dirty="0">
                <a:latin typeface="Carlito"/>
                <a:cs typeface="Carlito"/>
              </a:rPr>
              <a:t>to</a:t>
            </a:r>
            <a:r>
              <a:rPr sz="2400" spc="-30" dirty="0">
                <a:latin typeface="Carlito"/>
                <a:cs typeface="Carlito"/>
              </a:rPr>
              <a:t> </a:t>
            </a:r>
            <a:r>
              <a:rPr sz="2400" dirty="0">
                <a:latin typeface="Carlito"/>
                <a:cs typeface="Carlito"/>
              </a:rPr>
              <a:t>the</a:t>
            </a:r>
            <a:r>
              <a:rPr sz="2400" spc="-40" dirty="0">
                <a:latin typeface="Carlito"/>
                <a:cs typeface="Carlito"/>
              </a:rPr>
              <a:t> </a:t>
            </a:r>
            <a:r>
              <a:rPr sz="2400" dirty="0">
                <a:latin typeface="Carlito"/>
                <a:cs typeface="Carlito"/>
              </a:rPr>
              <a:t>string</a:t>
            </a:r>
            <a:r>
              <a:rPr sz="2400" spc="-40" dirty="0">
                <a:latin typeface="Carlito"/>
                <a:cs typeface="Carlito"/>
              </a:rPr>
              <a:t> </a:t>
            </a:r>
            <a:r>
              <a:rPr sz="2400" dirty="0">
                <a:latin typeface="Carlito"/>
                <a:cs typeface="Carlito"/>
              </a:rPr>
              <a:t>passed</a:t>
            </a:r>
            <a:r>
              <a:rPr sz="2400" spc="-50" dirty="0">
                <a:latin typeface="Carlito"/>
                <a:cs typeface="Carlito"/>
              </a:rPr>
              <a:t> </a:t>
            </a:r>
            <a:r>
              <a:rPr sz="2400" dirty="0">
                <a:latin typeface="Carlito"/>
                <a:cs typeface="Carlito"/>
              </a:rPr>
              <a:t>in</a:t>
            </a:r>
            <a:r>
              <a:rPr sz="2400" spc="-55" dirty="0">
                <a:latin typeface="Carlito"/>
                <a:cs typeface="Carlito"/>
              </a:rPr>
              <a:t> </a:t>
            </a:r>
            <a:r>
              <a:rPr sz="2400" spc="-20" dirty="0">
                <a:latin typeface="Carlito"/>
                <a:cs typeface="Carlito"/>
              </a:rPr>
              <a:t>str.</a:t>
            </a:r>
            <a:endParaRPr sz="2400" dirty="0">
              <a:latin typeface="Carlito"/>
              <a:cs typeface="Carlito"/>
            </a:endParaRPr>
          </a:p>
          <a:p>
            <a:pPr marL="354965" indent="-342265">
              <a:lnSpc>
                <a:spcPct val="100000"/>
              </a:lnSpc>
              <a:spcBef>
                <a:spcPts val="530"/>
              </a:spcBef>
              <a:buFont typeface="Arial"/>
              <a:buChar char="•"/>
              <a:tabLst>
                <a:tab pos="354965" algn="l"/>
              </a:tabLst>
            </a:pPr>
            <a:r>
              <a:rPr sz="2400" dirty="0">
                <a:latin typeface="Carlito"/>
                <a:cs typeface="Carlito"/>
              </a:rPr>
              <a:t>In</a:t>
            </a:r>
            <a:r>
              <a:rPr sz="2400" spc="-35" dirty="0">
                <a:latin typeface="Carlito"/>
                <a:cs typeface="Carlito"/>
              </a:rPr>
              <a:t> </a:t>
            </a:r>
            <a:r>
              <a:rPr sz="2400" dirty="0">
                <a:latin typeface="Carlito"/>
                <a:cs typeface="Carlito"/>
              </a:rPr>
              <a:t>both</a:t>
            </a:r>
            <a:r>
              <a:rPr sz="2400" spc="-20" dirty="0">
                <a:latin typeface="Carlito"/>
                <a:cs typeface="Carlito"/>
              </a:rPr>
              <a:t> </a:t>
            </a:r>
            <a:r>
              <a:rPr sz="2400" dirty="0">
                <a:latin typeface="Carlito"/>
                <a:cs typeface="Carlito"/>
              </a:rPr>
              <a:t>cases,</a:t>
            </a:r>
            <a:r>
              <a:rPr sz="2400" spc="-5" dirty="0">
                <a:latin typeface="Carlito"/>
                <a:cs typeface="Carlito"/>
              </a:rPr>
              <a:t> </a:t>
            </a:r>
            <a:r>
              <a:rPr sz="2400" spc="-25" dirty="0">
                <a:latin typeface="Carlito"/>
                <a:cs typeface="Carlito"/>
              </a:rPr>
              <a:t>enum-</a:t>
            </a:r>
            <a:r>
              <a:rPr sz="2400" dirty="0">
                <a:latin typeface="Carlito"/>
                <a:cs typeface="Carlito"/>
              </a:rPr>
              <a:t>type is</a:t>
            </a:r>
            <a:r>
              <a:rPr sz="2400" spc="-15" dirty="0">
                <a:latin typeface="Carlito"/>
                <a:cs typeface="Carlito"/>
              </a:rPr>
              <a:t> </a:t>
            </a:r>
            <a:r>
              <a:rPr sz="2400" dirty="0">
                <a:latin typeface="Carlito"/>
                <a:cs typeface="Carlito"/>
              </a:rPr>
              <a:t>the</a:t>
            </a:r>
            <a:r>
              <a:rPr sz="2400" spc="-30" dirty="0">
                <a:latin typeface="Carlito"/>
                <a:cs typeface="Carlito"/>
              </a:rPr>
              <a:t> </a:t>
            </a:r>
            <a:r>
              <a:rPr sz="2400" dirty="0">
                <a:latin typeface="Carlito"/>
                <a:cs typeface="Carlito"/>
              </a:rPr>
              <a:t>type</a:t>
            </a:r>
            <a:r>
              <a:rPr sz="2400" spc="-10" dirty="0">
                <a:latin typeface="Carlito"/>
                <a:cs typeface="Carlito"/>
              </a:rPr>
              <a:t> </a:t>
            </a:r>
            <a:r>
              <a:rPr sz="2400" dirty="0">
                <a:latin typeface="Carlito"/>
                <a:cs typeface="Carlito"/>
              </a:rPr>
              <a:t>of</a:t>
            </a:r>
            <a:r>
              <a:rPr sz="2400" spc="-20" dirty="0">
                <a:latin typeface="Carlito"/>
                <a:cs typeface="Carlito"/>
              </a:rPr>
              <a:t> </a:t>
            </a:r>
            <a:r>
              <a:rPr sz="2400" dirty="0">
                <a:latin typeface="Carlito"/>
                <a:cs typeface="Carlito"/>
              </a:rPr>
              <a:t>the</a:t>
            </a:r>
            <a:r>
              <a:rPr sz="2400" spc="-15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enumeration</a:t>
            </a:r>
            <a:endParaRPr sz="2400" dirty="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199E346-B1DC-70AD-5ACC-40F054396707}"/>
              </a:ext>
            </a:extLst>
          </p:cNvPr>
          <p:cNvSpPr txBox="1"/>
          <p:nvPr/>
        </p:nvSpPr>
        <p:spPr>
          <a:xfrm>
            <a:off x="1219200" y="228600"/>
            <a:ext cx="8534400" cy="6001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2400" b="0" i="0" u="none" strike="noStrike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// An enumeration of apple varieties.</a:t>
            </a:r>
          </a:p>
          <a:p>
            <a:pPr algn="l"/>
            <a:r>
              <a:rPr lang="en-IN" sz="2400" b="0" i="0" u="none" strike="noStrike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enum</a:t>
            </a:r>
            <a:r>
              <a:rPr lang="en-IN" sz="2400" b="0" i="0" u="none" strike="noStrike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Apple {</a:t>
            </a:r>
          </a:p>
          <a:p>
            <a:pPr algn="l"/>
            <a:r>
              <a:rPr lang="en-IN" sz="2400" b="0" i="0" u="none" strike="noStrike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Jonathan, </a:t>
            </a:r>
            <a:r>
              <a:rPr lang="en-IN" sz="2400" b="0" i="0" u="none" strike="noStrike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GoldenDel</a:t>
            </a:r>
            <a:r>
              <a:rPr lang="en-IN" sz="2400" b="0" i="0" u="none" strike="noStrike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IN" sz="2400" b="0" i="0" u="none" strike="noStrike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RedDel</a:t>
            </a:r>
            <a:r>
              <a:rPr lang="en-IN" sz="2400" b="0" i="0" u="none" strike="noStrike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Winesap, Cortland</a:t>
            </a:r>
          </a:p>
          <a:p>
            <a:pPr algn="l"/>
            <a:r>
              <a:rPr lang="en-IN" sz="2400" b="0" i="0" u="none" strike="noStrike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}</a:t>
            </a:r>
          </a:p>
          <a:p>
            <a:pPr algn="l"/>
            <a:r>
              <a:rPr lang="en-IN" sz="2400" b="0" i="0" u="none" strike="noStrike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class </a:t>
            </a:r>
            <a:r>
              <a:rPr lang="en-IN" sz="2400" b="0" i="0" u="none" strike="noStrike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EnumDemo</a:t>
            </a:r>
            <a:r>
              <a:rPr lang="en-IN" sz="2400" b="0" i="0" u="none" strike="noStrike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{</a:t>
            </a:r>
          </a:p>
          <a:p>
            <a:pPr algn="l"/>
            <a:r>
              <a:rPr lang="en-IN" sz="2400" b="0" i="0" u="none" strike="noStrike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public static void main(String </a:t>
            </a:r>
            <a:r>
              <a:rPr lang="en-IN" sz="2400" b="0" i="0" u="none" strike="noStrike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args</a:t>
            </a:r>
            <a:r>
              <a:rPr lang="en-IN" sz="2400" b="0" i="0" u="none" strike="noStrike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[])</a:t>
            </a:r>
          </a:p>
          <a:p>
            <a:pPr algn="l"/>
            <a:r>
              <a:rPr lang="en-IN" sz="2400" b="0" i="0" u="none" strike="noStrike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{      Apple ap;</a:t>
            </a:r>
          </a:p>
          <a:p>
            <a:pPr algn="l"/>
            <a:r>
              <a:rPr lang="en-IN" sz="2400" b="0" i="0" u="none" strike="noStrike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  ap = </a:t>
            </a:r>
            <a:r>
              <a:rPr lang="en-IN" sz="2400" b="0" i="0" u="none" strike="noStrike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Apple.RedDel</a:t>
            </a:r>
            <a:r>
              <a:rPr lang="en-IN" sz="2400" b="0" i="0" u="none" strike="noStrike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;</a:t>
            </a:r>
          </a:p>
          <a:p>
            <a:pPr algn="l"/>
            <a:r>
              <a:rPr lang="en-IN" sz="2400" b="0" i="0" u="none" strike="noStrike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  // Output an </a:t>
            </a:r>
            <a:r>
              <a:rPr lang="en-IN" sz="2400" b="0" i="0" u="none" strike="noStrike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enum</a:t>
            </a:r>
            <a:r>
              <a:rPr lang="en-IN" sz="2400" b="0" i="0" u="none" strike="noStrike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value.</a:t>
            </a:r>
          </a:p>
          <a:p>
            <a:pPr algn="l"/>
            <a:r>
              <a:rPr lang="en-IN" sz="2400" b="0" i="0" u="none" strike="noStrike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   </a:t>
            </a:r>
            <a:r>
              <a:rPr lang="en-IN" sz="2400" b="0" i="0" u="none" strike="noStrike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System.out.println</a:t>
            </a:r>
            <a:r>
              <a:rPr lang="en-IN" sz="2400" b="0" i="0" u="none" strike="noStrike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("Value of ap: " + ap);</a:t>
            </a:r>
          </a:p>
          <a:p>
            <a:pPr algn="l"/>
            <a:r>
              <a:rPr lang="en-IN" sz="2400" b="0" i="0" u="none" strike="noStrike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   </a:t>
            </a:r>
            <a:r>
              <a:rPr lang="en-IN" sz="2400" b="0" i="0" u="none" strike="noStrike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System.out.println</a:t>
            </a:r>
            <a:r>
              <a:rPr lang="en-IN" sz="2400" b="0" i="0" u="none" strike="noStrike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();</a:t>
            </a:r>
          </a:p>
          <a:p>
            <a:pPr algn="l"/>
            <a:r>
              <a:rPr lang="en-IN" sz="2400" b="0" i="0" u="none" strike="noStrike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   ap = </a:t>
            </a:r>
            <a:r>
              <a:rPr lang="en-IN" sz="2400" b="0" i="0" u="none" strike="noStrike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Apple.GoldenDel</a:t>
            </a:r>
            <a:r>
              <a:rPr lang="en-IN" sz="2400" b="0" i="0" u="none" strike="noStrike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;</a:t>
            </a:r>
          </a:p>
          <a:p>
            <a:pPr algn="l"/>
            <a:r>
              <a:rPr lang="en-IN" sz="2400" b="0" i="0" u="none" strike="noStrike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  // Compare two </a:t>
            </a:r>
            <a:r>
              <a:rPr lang="en-IN" sz="2400" b="0" i="0" u="none" strike="noStrike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enum</a:t>
            </a:r>
            <a:r>
              <a:rPr lang="en-IN" sz="2400" b="0" i="0" u="none" strike="noStrike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values.</a:t>
            </a:r>
          </a:p>
          <a:p>
            <a:pPr algn="l"/>
            <a:r>
              <a:rPr lang="en-IN" sz="2400" b="0" i="0" u="none" strike="noStrike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  if(ap == </a:t>
            </a:r>
            <a:r>
              <a:rPr lang="en-IN" sz="2400" b="0" i="0" u="none" strike="noStrike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Apple.GoldenDel</a:t>
            </a:r>
            <a:r>
              <a:rPr lang="en-IN" sz="2400" b="0" i="0" u="none" strike="noStrike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</a:p>
          <a:p>
            <a:pPr algn="l"/>
            <a:r>
              <a:rPr lang="en-IN" sz="2400" b="0" i="0" u="none" strike="noStrike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        </a:t>
            </a:r>
            <a:r>
              <a:rPr lang="en-IN" sz="2400" b="0" i="0" u="none" strike="noStrike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System.out.println</a:t>
            </a:r>
            <a:r>
              <a:rPr lang="en-IN" sz="2400" b="0" i="0" u="none" strike="noStrike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("ap contains </a:t>
            </a:r>
            <a:r>
              <a:rPr lang="en-IN" sz="2400" b="0" i="0" u="none" strike="noStrike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GoldenDel</a:t>
            </a:r>
            <a:r>
              <a:rPr lang="en-IN" sz="2400" b="0" i="0" u="none" strike="noStrike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.\n");</a:t>
            </a:r>
          </a:p>
          <a:p>
            <a:pPr algn="l"/>
            <a:r>
              <a:rPr lang="en-IN" sz="2400" b="0" i="0" u="none" strike="noStrike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  // Use an </a:t>
            </a:r>
            <a:r>
              <a:rPr lang="en-IN" sz="2400" b="0" i="0" u="none" strike="noStrike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enum</a:t>
            </a:r>
            <a:r>
              <a:rPr lang="en-IN" sz="2400" b="0" i="0" u="none" strike="noStrike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to control a switch statement.</a:t>
            </a:r>
          </a:p>
        </p:txBody>
      </p:sp>
    </p:spTree>
    <p:extLst>
      <p:ext uri="{BB962C8B-B14F-4D97-AF65-F5344CB8AC3E}">
        <p14:creationId xmlns:p14="http://schemas.microsoft.com/office/powerpoint/2010/main" val="20571353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BB3F9BC-6035-7350-EC3B-E2423D3D6096}"/>
              </a:ext>
            </a:extLst>
          </p:cNvPr>
          <p:cNvSpPr txBox="1"/>
          <p:nvPr/>
        </p:nvSpPr>
        <p:spPr>
          <a:xfrm>
            <a:off x="1295400" y="381000"/>
            <a:ext cx="8153400" cy="6001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2400" b="0" i="0" u="none" strike="noStrike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switch(ap) </a:t>
            </a:r>
          </a:p>
          <a:p>
            <a:pPr algn="l"/>
            <a:r>
              <a:rPr lang="en-IN" sz="2400" b="0" i="0" u="none" strike="noStrike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{</a:t>
            </a:r>
          </a:p>
          <a:p>
            <a:pPr algn="l"/>
            <a:r>
              <a:rPr lang="en-IN" sz="2400" b="0" i="0" u="none" strike="noStrike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case Jonathan:   </a:t>
            </a:r>
            <a:r>
              <a:rPr lang="en-IN" sz="2400" b="0" i="0" u="none" strike="noStrike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System.out.println</a:t>
            </a:r>
            <a:r>
              <a:rPr lang="en-IN" sz="2400" b="0" i="0" u="none" strike="noStrike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("Jonathan is red."); </a:t>
            </a:r>
          </a:p>
          <a:p>
            <a:pPr algn="l"/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				</a:t>
            </a:r>
            <a:r>
              <a:rPr lang="en-IN" sz="2400" b="0" i="0" u="none" strike="noStrike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break;</a:t>
            </a:r>
          </a:p>
          <a:p>
            <a:pPr algn="l"/>
            <a:r>
              <a:rPr lang="en-IN" sz="2400" b="0" i="0" u="none" strike="noStrike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case </a:t>
            </a:r>
            <a:r>
              <a:rPr lang="en-IN" sz="2400" b="0" i="0" u="none" strike="noStrike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GoldenDel</a:t>
            </a:r>
            <a:r>
              <a:rPr lang="en-IN" sz="2400" b="0" i="0" u="none" strike="noStrike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 </a:t>
            </a:r>
          </a:p>
          <a:p>
            <a:pPr algn="l"/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	</a:t>
            </a:r>
            <a:r>
              <a:rPr lang="en-IN" sz="2400" b="0" i="0" u="none" strike="noStrike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System.out.println</a:t>
            </a:r>
            <a:r>
              <a:rPr lang="en-IN" sz="2400" b="0" i="0" u="none" strike="noStrike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("Golden Delicious is yellow.");</a:t>
            </a:r>
          </a:p>
          <a:p>
            <a:pPr algn="l"/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			</a:t>
            </a:r>
            <a:r>
              <a:rPr lang="en-IN" sz="2400" b="0" i="0" u="none" strike="noStrike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break;</a:t>
            </a:r>
          </a:p>
          <a:p>
            <a:pPr algn="l"/>
            <a:r>
              <a:rPr lang="en-IN" sz="2400" b="0" i="0" u="none" strike="noStrike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case </a:t>
            </a:r>
            <a:r>
              <a:rPr lang="en-IN" sz="2400" b="0" i="0" u="none" strike="noStrike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RedDel</a:t>
            </a:r>
            <a:r>
              <a:rPr lang="en-IN" sz="2400" b="0" i="0" u="none" strike="noStrike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n-IN" sz="2400" b="0" i="0" u="none" strike="noStrike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System.out.println</a:t>
            </a:r>
            <a:r>
              <a:rPr lang="en-IN" sz="2400" b="0" i="0" u="none" strike="noStrike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("Red Delicious is red.");</a:t>
            </a:r>
          </a:p>
          <a:p>
            <a:pPr algn="l"/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			</a:t>
            </a:r>
            <a:r>
              <a:rPr lang="en-IN" sz="2400" b="0" i="0" u="none" strike="noStrike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break;</a:t>
            </a:r>
          </a:p>
          <a:p>
            <a:pPr algn="l"/>
            <a:r>
              <a:rPr lang="en-IN" sz="2400" b="0" i="0" u="none" strike="noStrike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case Winesap: </a:t>
            </a:r>
            <a:r>
              <a:rPr lang="en-IN" sz="2400" b="0" i="0" u="none" strike="noStrike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System.out.println</a:t>
            </a:r>
            <a:r>
              <a:rPr lang="en-IN" sz="2400" b="0" i="0" u="none" strike="noStrike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("Winesap is red."); </a:t>
            </a:r>
          </a:p>
          <a:p>
            <a:pPr algn="l"/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			</a:t>
            </a:r>
            <a:r>
              <a:rPr lang="en-IN" sz="2400" b="0" i="0" u="none" strike="noStrike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break;</a:t>
            </a:r>
          </a:p>
          <a:p>
            <a:pPr algn="l"/>
            <a:r>
              <a:rPr lang="en-IN" sz="2400" b="0" i="0" u="none" strike="noStrike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case Cortland: </a:t>
            </a:r>
            <a:r>
              <a:rPr lang="en-IN" sz="2400" b="0" i="0" u="none" strike="noStrike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System.out.println</a:t>
            </a:r>
            <a:r>
              <a:rPr lang="en-IN" sz="2400" b="0" i="0" u="none" strike="noStrike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("Cortland is red."); </a:t>
            </a:r>
          </a:p>
          <a:p>
            <a:pPr algn="l"/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</a:t>
            </a:r>
            <a:r>
              <a:rPr lang="en-IN" sz="2400" b="0" i="0" u="none" strike="noStrike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break;</a:t>
            </a:r>
          </a:p>
          <a:p>
            <a:pPr algn="l"/>
            <a:r>
              <a:rPr lang="en-IN" sz="2400" b="0" i="0" u="none" strike="noStrike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}</a:t>
            </a:r>
          </a:p>
          <a:p>
            <a:pPr algn="l"/>
            <a:r>
              <a:rPr lang="en-IN" sz="2400" b="0" i="0" u="none" strike="noStrike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}</a:t>
            </a:r>
          </a:p>
          <a:p>
            <a:pPr algn="l"/>
            <a:r>
              <a:rPr lang="en-IN" sz="2400" b="0" i="0" u="none" strike="noStrike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}</a:t>
            </a:r>
            <a:endParaRPr lang="en-IN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084118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685798" y="93467"/>
            <a:ext cx="9249293" cy="6764533"/>
            <a:chOff x="685798" y="76185"/>
            <a:chExt cx="9249293" cy="6764533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85798" y="76185"/>
              <a:ext cx="6553201" cy="6764533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981311" y="516118"/>
              <a:ext cx="2953780" cy="1464461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2400" y="-95192"/>
            <a:ext cx="8534400" cy="1044901"/>
          </a:xfrm>
          <a:prstGeom prst="rect">
            <a:avLst/>
          </a:prstGeom>
        </p:spPr>
        <p:txBody>
          <a:bodyPr vert="horz" wrap="square" lIns="0" tIns="364236" rIns="0" bIns="0" rtlCol="0">
            <a:spAutoFit/>
          </a:bodyPr>
          <a:lstStyle/>
          <a:p>
            <a:pPr marL="546100">
              <a:lnSpc>
                <a:spcPct val="100000"/>
              </a:lnSpc>
              <a:spcBef>
                <a:spcPts val="105"/>
              </a:spcBef>
            </a:pPr>
            <a:r>
              <a:rPr sz="4400" b="0" dirty="0">
                <a:latin typeface="Carlito"/>
                <a:cs typeface="Carlito"/>
              </a:rPr>
              <a:t>Java</a:t>
            </a:r>
            <a:r>
              <a:rPr sz="4400" b="0" spc="-135" dirty="0">
                <a:latin typeface="Carlito"/>
                <a:cs typeface="Carlito"/>
              </a:rPr>
              <a:t> </a:t>
            </a:r>
            <a:r>
              <a:rPr sz="4400" b="0" spc="-10" dirty="0">
                <a:latin typeface="Carlito"/>
                <a:cs typeface="Carlito"/>
              </a:rPr>
              <a:t>Enumerations</a:t>
            </a:r>
            <a:r>
              <a:rPr sz="4400" b="0" spc="-130" dirty="0">
                <a:latin typeface="Carlito"/>
                <a:cs typeface="Carlito"/>
              </a:rPr>
              <a:t> </a:t>
            </a:r>
            <a:r>
              <a:rPr sz="4400" b="0" dirty="0">
                <a:latin typeface="Carlito"/>
                <a:cs typeface="Carlito"/>
              </a:rPr>
              <a:t>Are</a:t>
            </a:r>
            <a:r>
              <a:rPr sz="4400" b="0" spc="-130" dirty="0">
                <a:latin typeface="Carlito"/>
                <a:cs typeface="Carlito"/>
              </a:rPr>
              <a:t> </a:t>
            </a:r>
            <a:r>
              <a:rPr sz="4400" b="0" dirty="0">
                <a:latin typeface="Carlito"/>
                <a:cs typeface="Carlito"/>
              </a:rPr>
              <a:t>Class</a:t>
            </a:r>
            <a:r>
              <a:rPr sz="4400" b="0" spc="-125" dirty="0">
                <a:latin typeface="Carlito"/>
                <a:cs typeface="Carlito"/>
              </a:rPr>
              <a:t> </a:t>
            </a:r>
            <a:r>
              <a:rPr sz="4400" b="0" spc="-10" dirty="0">
                <a:latin typeface="Carlito"/>
                <a:cs typeface="Carlito"/>
              </a:rPr>
              <a:t>Types</a:t>
            </a:r>
            <a:endParaRPr sz="4400" dirty="0">
              <a:latin typeface="Carlito"/>
              <a:cs typeface="Carlito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64844" y="1617929"/>
            <a:ext cx="3788410" cy="3154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rlito"/>
                <a:cs typeface="Carlito"/>
              </a:rPr>
              <a:t>//</a:t>
            </a:r>
            <a:r>
              <a:rPr sz="1800" spc="-15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Use</a:t>
            </a:r>
            <a:r>
              <a:rPr sz="1800" spc="-20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an</a:t>
            </a:r>
            <a:r>
              <a:rPr sz="1800" spc="-15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enum</a:t>
            </a:r>
            <a:r>
              <a:rPr sz="1800" spc="-25" dirty="0">
                <a:latin typeface="Carlito"/>
                <a:cs typeface="Carlito"/>
              </a:rPr>
              <a:t> </a:t>
            </a:r>
            <a:r>
              <a:rPr sz="1800" spc="-20" dirty="0">
                <a:latin typeface="Carlito"/>
                <a:cs typeface="Carlito"/>
              </a:rPr>
              <a:t>constructor,</a:t>
            </a:r>
            <a:r>
              <a:rPr sz="1800" spc="-10" dirty="0">
                <a:latin typeface="Carlito"/>
                <a:cs typeface="Carlito"/>
              </a:rPr>
              <a:t> instance</a:t>
            </a:r>
            <a:endParaRPr sz="1800" dirty="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800" dirty="0">
                <a:latin typeface="Carlito"/>
                <a:cs typeface="Carlito"/>
              </a:rPr>
              <a:t>variable,</a:t>
            </a:r>
            <a:r>
              <a:rPr sz="1800" spc="-50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and</a:t>
            </a:r>
            <a:r>
              <a:rPr sz="1800" spc="-40" dirty="0">
                <a:latin typeface="Carlito"/>
                <a:cs typeface="Carlito"/>
              </a:rPr>
              <a:t> </a:t>
            </a:r>
            <a:r>
              <a:rPr sz="1800" spc="-10" dirty="0">
                <a:latin typeface="Carlito"/>
                <a:cs typeface="Carlito"/>
              </a:rPr>
              <a:t>method.</a:t>
            </a:r>
            <a:endParaRPr sz="1800" dirty="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  <a:spcBef>
                <a:spcPts val="430"/>
              </a:spcBef>
            </a:pPr>
            <a:r>
              <a:rPr sz="1800" dirty="0">
                <a:latin typeface="Carlito"/>
                <a:cs typeface="Carlito"/>
              </a:rPr>
              <a:t>enum</a:t>
            </a:r>
            <a:r>
              <a:rPr sz="1800" spc="-50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Apple</a:t>
            </a:r>
            <a:r>
              <a:rPr sz="1800" spc="-35" dirty="0">
                <a:latin typeface="Carlito"/>
                <a:cs typeface="Carlito"/>
              </a:rPr>
              <a:t> </a:t>
            </a:r>
            <a:r>
              <a:rPr sz="1800" spc="-50" dirty="0">
                <a:latin typeface="Carlito"/>
                <a:cs typeface="Carlito"/>
              </a:rPr>
              <a:t>{</a:t>
            </a:r>
            <a:endParaRPr sz="1800" dirty="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  <a:spcBef>
                <a:spcPts val="434"/>
              </a:spcBef>
            </a:pPr>
            <a:r>
              <a:rPr sz="1800" spc="-10" dirty="0">
                <a:latin typeface="Carlito"/>
                <a:cs typeface="Carlito"/>
              </a:rPr>
              <a:t>Jonathan(10),</a:t>
            </a:r>
            <a:r>
              <a:rPr sz="1800" spc="-55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GoldenDel(9),</a:t>
            </a:r>
            <a:r>
              <a:rPr sz="1800" spc="-45" dirty="0">
                <a:latin typeface="Carlito"/>
                <a:cs typeface="Carlito"/>
              </a:rPr>
              <a:t> </a:t>
            </a:r>
            <a:r>
              <a:rPr sz="1800" spc="-10" dirty="0">
                <a:latin typeface="Carlito"/>
                <a:cs typeface="Carlito"/>
              </a:rPr>
              <a:t>RedDel(12),</a:t>
            </a:r>
            <a:endParaRPr sz="1800" dirty="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latin typeface="Carlito"/>
                <a:cs typeface="Carlito"/>
              </a:rPr>
              <a:t>Winesap(15),</a:t>
            </a:r>
            <a:r>
              <a:rPr sz="1800" spc="-105" dirty="0">
                <a:latin typeface="Carlito"/>
                <a:cs typeface="Carlito"/>
              </a:rPr>
              <a:t> </a:t>
            </a:r>
            <a:r>
              <a:rPr sz="1800" spc="-10" dirty="0">
                <a:latin typeface="Carlito"/>
                <a:cs typeface="Carlito"/>
              </a:rPr>
              <a:t>Cortland(8);</a:t>
            </a:r>
            <a:endParaRPr sz="1800" dirty="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  <a:spcBef>
                <a:spcPts val="430"/>
              </a:spcBef>
            </a:pPr>
            <a:r>
              <a:rPr sz="1800" spc="-10" dirty="0">
                <a:latin typeface="Carlito"/>
                <a:cs typeface="Carlito"/>
              </a:rPr>
              <a:t>private</a:t>
            </a:r>
            <a:r>
              <a:rPr sz="1800" spc="-40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int</a:t>
            </a:r>
            <a:r>
              <a:rPr sz="1800" spc="-35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price;</a:t>
            </a:r>
            <a:r>
              <a:rPr sz="1800" spc="-15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//</a:t>
            </a:r>
            <a:r>
              <a:rPr sz="1800" spc="-25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price</a:t>
            </a:r>
            <a:r>
              <a:rPr sz="1800" spc="-15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of</a:t>
            </a:r>
            <a:r>
              <a:rPr sz="1800" spc="-45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each</a:t>
            </a:r>
            <a:r>
              <a:rPr sz="1800" spc="-25" dirty="0">
                <a:latin typeface="Carlito"/>
                <a:cs typeface="Carlito"/>
              </a:rPr>
              <a:t> </a:t>
            </a:r>
            <a:r>
              <a:rPr sz="1800" spc="-10" dirty="0">
                <a:latin typeface="Carlito"/>
                <a:cs typeface="Carlito"/>
              </a:rPr>
              <a:t>apple</a:t>
            </a:r>
            <a:endParaRPr sz="1800" dirty="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  <a:spcBef>
                <a:spcPts val="434"/>
              </a:spcBef>
            </a:pPr>
            <a:r>
              <a:rPr sz="1800" dirty="0">
                <a:latin typeface="Carlito"/>
                <a:cs typeface="Carlito"/>
              </a:rPr>
              <a:t>//</a:t>
            </a:r>
            <a:r>
              <a:rPr sz="1800" spc="-10" dirty="0">
                <a:latin typeface="Carlito"/>
                <a:cs typeface="Carlito"/>
              </a:rPr>
              <a:t> Constructor</a:t>
            </a:r>
            <a:endParaRPr sz="1800" dirty="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  <a:spcBef>
                <a:spcPts val="430"/>
              </a:spcBef>
            </a:pPr>
            <a:r>
              <a:rPr sz="1800" dirty="0">
                <a:latin typeface="Carlito"/>
                <a:cs typeface="Carlito"/>
              </a:rPr>
              <a:t>Apple(int</a:t>
            </a:r>
            <a:r>
              <a:rPr sz="1800" spc="-15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p)</a:t>
            </a:r>
            <a:r>
              <a:rPr sz="1800" spc="-30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{</a:t>
            </a:r>
            <a:r>
              <a:rPr sz="1800" spc="-35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price</a:t>
            </a:r>
            <a:r>
              <a:rPr sz="1800" spc="-5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=</a:t>
            </a:r>
            <a:r>
              <a:rPr sz="1800" spc="-40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p;</a:t>
            </a:r>
            <a:r>
              <a:rPr sz="1800" spc="-25" dirty="0">
                <a:latin typeface="Carlito"/>
                <a:cs typeface="Carlito"/>
              </a:rPr>
              <a:t> </a:t>
            </a:r>
            <a:r>
              <a:rPr sz="1800" spc="-50" dirty="0">
                <a:latin typeface="Carlito"/>
                <a:cs typeface="Carlito"/>
              </a:rPr>
              <a:t>}</a:t>
            </a:r>
            <a:endParaRPr sz="1800" dirty="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  <a:spcBef>
                <a:spcPts val="434"/>
              </a:spcBef>
            </a:pPr>
            <a:r>
              <a:rPr sz="1800" dirty="0">
                <a:latin typeface="Carlito"/>
                <a:cs typeface="Carlito"/>
              </a:rPr>
              <a:t>int</a:t>
            </a:r>
            <a:r>
              <a:rPr sz="1800" spc="-45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getPrice()</a:t>
            </a:r>
            <a:r>
              <a:rPr sz="1800" spc="-35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{</a:t>
            </a:r>
            <a:r>
              <a:rPr sz="1800" spc="-45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return</a:t>
            </a:r>
            <a:r>
              <a:rPr sz="1800" spc="-40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price;</a:t>
            </a:r>
            <a:r>
              <a:rPr sz="1800" spc="-30" dirty="0">
                <a:latin typeface="Carlito"/>
                <a:cs typeface="Carlito"/>
              </a:rPr>
              <a:t> </a:t>
            </a:r>
            <a:r>
              <a:rPr sz="1800" spc="-50" dirty="0">
                <a:latin typeface="Carlito"/>
                <a:cs typeface="Carlito"/>
              </a:rPr>
              <a:t>}</a:t>
            </a:r>
            <a:endParaRPr sz="1800" dirty="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  <a:spcBef>
                <a:spcPts val="434"/>
              </a:spcBef>
            </a:pPr>
            <a:r>
              <a:rPr sz="1800" spc="-50" dirty="0">
                <a:latin typeface="Carlito"/>
                <a:cs typeface="Carlito"/>
              </a:rPr>
              <a:t>}</a:t>
            </a:r>
            <a:endParaRPr sz="1800" dirty="0">
              <a:latin typeface="Carlito"/>
              <a:cs typeface="Carlito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956428" y="1562671"/>
            <a:ext cx="3590925" cy="5240020"/>
          </a:xfrm>
          <a:prstGeom prst="rect">
            <a:avLst/>
          </a:prstGeom>
        </p:spPr>
        <p:txBody>
          <a:bodyPr vert="horz" wrap="square" lIns="0" tIns="679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35"/>
              </a:spcBef>
            </a:pPr>
            <a:r>
              <a:rPr sz="1800" dirty="0">
                <a:latin typeface="Carlito"/>
                <a:cs typeface="Carlito"/>
              </a:rPr>
              <a:t>class</a:t>
            </a:r>
            <a:r>
              <a:rPr sz="1800" spc="-65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EnumDemo3</a:t>
            </a:r>
            <a:r>
              <a:rPr sz="1800" spc="-60" dirty="0">
                <a:latin typeface="Carlito"/>
                <a:cs typeface="Carlito"/>
              </a:rPr>
              <a:t> </a:t>
            </a:r>
            <a:r>
              <a:rPr sz="1800" spc="-50" dirty="0">
                <a:latin typeface="Carlito"/>
                <a:cs typeface="Carlito"/>
              </a:rPr>
              <a:t>{</a:t>
            </a:r>
            <a:endParaRPr sz="180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  <a:spcBef>
                <a:spcPts val="434"/>
              </a:spcBef>
            </a:pPr>
            <a:r>
              <a:rPr sz="1800" dirty="0">
                <a:latin typeface="Carlito"/>
                <a:cs typeface="Carlito"/>
              </a:rPr>
              <a:t>public</a:t>
            </a:r>
            <a:r>
              <a:rPr sz="1800" spc="-55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static</a:t>
            </a:r>
            <a:r>
              <a:rPr sz="1800" spc="-65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void</a:t>
            </a:r>
            <a:r>
              <a:rPr sz="1800" spc="-70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main(String</a:t>
            </a:r>
            <a:r>
              <a:rPr sz="1800" spc="-30" dirty="0">
                <a:latin typeface="Carlito"/>
                <a:cs typeface="Carlito"/>
              </a:rPr>
              <a:t> </a:t>
            </a:r>
            <a:r>
              <a:rPr sz="1800" spc="-10" dirty="0">
                <a:latin typeface="Carlito"/>
                <a:cs typeface="Carlito"/>
              </a:rPr>
              <a:t>args[])</a:t>
            </a:r>
            <a:endParaRPr sz="180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  <a:spcBef>
                <a:spcPts val="434"/>
              </a:spcBef>
            </a:pPr>
            <a:r>
              <a:rPr sz="1800" spc="-50" dirty="0">
                <a:latin typeface="Carlito"/>
                <a:cs typeface="Carlito"/>
              </a:rPr>
              <a:t>{</a:t>
            </a:r>
            <a:endParaRPr sz="180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  <a:spcBef>
                <a:spcPts val="430"/>
              </a:spcBef>
            </a:pPr>
            <a:r>
              <a:rPr sz="1800" dirty="0">
                <a:latin typeface="Carlito"/>
                <a:cs typeface="Carlito"/>
              </a:rPr>
              <a:t>Apple</a:t>
            </a:r>
            <a:r>
              <a:rPr sz="1800" spc="-35" dirty="0">
                <a:latin typeface="Carlito"/>
                <a:cs typeface="Carlito"/>
              </a:rPr>
              <a:t> </a:t>
            </a:r>
            <a:r>
              <a:rPr sz="1800" spc="-25" dirty="0">
                <a:latin typeface="Carlito"/>
                <a:cs typeface="Carlito"/>
              </a:rPr>
              <a:t>ap;</a:t>
            </a:r>
            <a:endParaRPr sz="1800">
              <a:latin typeface="Carlito"/>
              <a:cs typeface="Carlito"/>
            </a:endParaRPr>
          </a:p>
          <a:p>
            <a:pPr marL="12700" marR="56515">
              <a:lnSpc>
                <a:spcPct val="120000"/>
              </a:lnSpc>
            </a:pPr>
            <a:r>
              <a:rPr sz="1800" dirty="0">
                <a:latin typeface="Carlito"/>
                <a:cs typeface="Carlito"/>
              </a:rPr>
              <a:t>//</a:t>
            </a:r>
            <a:r>
              <a:rPr sz="1800" spc="-40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Display</a:t>
            </a:r>
            <a:r>
              <a:rPr sz="1800" spc="-40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price</a:t>
            </a:r>
            <a:r>
              <a:rPr sz="1800" spc="-20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of</a:t>
            </a:r>
            <a:r>
              <a:rPr sz="1800" spc="-55" dirty="0">
                <a:latin typeface="Carlito"/>
                <a:cs typeface="Carlito"/>
              </a:rPr>
              <a:t> </a:t>
            </a:r>
            <a:r>
              <a:rPr sz="1800" spc="-10" dirty="0">
                <a:latin typeface="Carlito"/>
                <a:cs typeface="Carlito"/>
              </a:rPr>
              <a:t>Winesap. System.out.println("Winesap</a:t>
            </a:r>
            <a:r>
              <a:rPr sz="1800" spc="10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costs</a:t>
            </a:r>
            <a:r>
              <a:rPr sz="1800" spc="-5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"</a:t>
            </a:r>
            <a:r>
              <a:rPr sz="1800" spc="15" dirty="0">
                <a:latin typeface="Carlito"/>
                <a:cs typeface="Carlito"/>
              </a:rPr>
              <a:t> </a:t>
            </a:r>
            <a:r>
              <a:rPr sz="1800" spc="-50" dirty="0">
                <a:latin typeface="Carlito"/>
                <a:cs typeface="Carlito"/>
              </a:rPr>
              <a:t>+ </a:t>
            </a:r>
            <a:r>
              <a:rPr sz="1800" spc="-10" dirty="0">
                <a:latin typeface="Carlito"/>
                <a:cs typeface="Carlito"/>
              </a:rPr>
              <a:t>Apple.Winesap.getPrice()</a:t>
            </a:r>
            <a:r>
              <a:rPr sz="1800" spc="-35" dirty="0">
                <a:latin typeface="Carlito"/>
                <a:cs typeface="Carlito"/>
              </a:rPr>
              <a:t> </a:t>
            </a:r>
            <a:r>
              <a:rPr sz="1800" spc="-50" dirty="0">
                <a:latin typeface="Carlito"/>
                <a:cs typeface="Carlito"/>
              </a:rPr>
              <a:t>+</a:t>
            </a:r>
            <a:endParaRPr sz="180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  <a:spcBef>
                <a:spcPts val="434"/>
              </a:spcBef>
            </a:pPr>
            <a:r>
              <a:rPr sz="1800" dirty="0">
                <a:latin typeface="Carlito"/>
                <a:cs typeface="Carlito"/>
              </a:rPr>
              <a:t>"</a:t>
            </a:r>
            <a:r>
              <a:rPr sz="1800" spc="-5" dirty="0">
                <a:latin typeface="Carlito"/>
                <a:cs typeface="Carlito"/>
              </a:rPr>
              <a:t> </a:t>
            </a:r>
            <a:r>
              <a:rPr sz="1800" spc="-10" dirty="0">
                <a:latin typeface="Carlito"/>
                <a:cs typeface="Carlito"/>
              </a:rPr>
              <a:t>cents.\n");</a:t>
            </a:r>
            <a:endParaRPr sz="1800">
              <a:latin typeface="Carlito"/>
              <a:cs typeface="Carlito"/>
            </a:endParaRPr>
          </a:p>
          <a:p>
            <a:pPr marL="12700" marR="5080">
              <a:lnSpc>
                <a:spcPct val="120000"/>
              </a:lnSpc>
            </a:pPr>
            <a:r>
              <a:rPr sz="1800" dirty="0">
                <a:latin typeface="Carlito"/>
                <a:cs typeface="Carlito"/>
              </a:rPr>
              <a:t>//</a:t>
            </a:r>
            <a:r>
              <a:rPr sz="1800" spc="-35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Display</a:t>
            </a:r>
            <a:r>
              <a:rPr sz="1800" spc="-30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all</a:t>
            </a:r>
            <a:r>
              <a:rPr sz="1800" spc="-45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apples</a:t>
            </a:r>
            <a:r>
              <a:rPr sz="1800" spc="-35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and</a:t>
            </a:r>
            <a:r>
              <a:rPr sz="1800" spc="-35" dirty="0">
                <a:latin typeface="Carlito"/>
                <a:cs typeface="Carlito"/>
              </a:rPr>
              <a:t> </a:t>
            </a:r>
            <a:r>
              <a:rPr sz="1800" spc="-10" dirty="0">
                <a:latin typeface="Carlito"/>
                <a:cs typeface="Carlito"/>
              </a:rPr>
              <a:t>prices. System.out.println("All</a:t>
            </a:r>
            <a:r>
              <a:rPr sz="1800" spc="5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apple</a:t>
            </a:r>
            <a:r>
              <a:rPr sz="1800" spc="20" dirty="0">
                <a:latin typeface="Carlito"/>
                <a:cs typeface="Carlito"/>
              </a:rPr>
              <a:t> </a:t>
            </a:r>
            <a:r>
              <a:rPr sz="1800" spc="-10" dirty="0">
                <a:latin typeface="Carlito"/>
                <a:cs typeface="Carlito"/>
              </a:rPr>
              <a:t>prices:"); for(Apple </a:t>
            </a:r>
            <a:r>
              <a:rPr sz="1800" dirty="0">
                <a:latin typeface="Carlito"/>
                <a:cs typeface="Carlito"/>
              </a:rPr>
              <a:t>a</a:t>
            </a:r>
            <a:r>
              <a:rPr sz="1800" spc="-15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: </a:t>
            </a:r>
            <a:r>
              <a:rPr sz="1800" spc="-10" dirty="0">
                <a:latin typeface="Carlito"/>
                <a:cs typeface="Carlito"/>
              </a:rPr>
              <a:t>Apple.values()) System.out.println(a</a:t>
            </a:r>
            <a:r>
              <a:rPr sz="1800" spc="-15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+ "</a:t>
            </a:r>
            <a:r>
              <a:rPr sz="1800" spc="-10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costs</a:t>
            </a:r>
            <a:r>
              <a:rPr sz="1800" spc="-25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"</a:t>
            </a:r>
            <a:r>
              <a:rPr sz="1800" spc="-10" dirty="0">
                <a:latin typeface="Carlito"/>
                <a:cs typeface="Carlito"/>
              </a:rPr>
              <a:t> </a:t>
            </a:r>
            <a:r>
              <a:rPr sz="1800" spc="-50" dirty="0">
                <a:latin typeface="Carlito"/>
                <a:cs typeface="Carlito"/>
              </a:rPr>
              <a:t>+</a:t>
            </a:r>
            <a:endParaRPr sz="180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800" dirty="0">
                <a:latin typeface="Carlito"/>
                <a:cs typeface="Carlito"/>
              </a:rPr>
              <a:t>a.getPrice()</a:t>
            </a:r>
            <a:r>
              <a:rPr sz="1800" spc="-70" dirty="0">
                <a:latin typeface="Carlito"/>
                <a:cs typeface="Carlito"/>
              </a:rPr>
              <a:t> </a:t>
            </a:r>
            <a:r>
              <a:rPr sz="1800" spc="-50" dirty="0">
                <a:latin typeface="Carlito"/>
                <a:cs typeface="Carlito"/>
              </a:rPr>
              <a:t>+</a:t>
            </a:r>
            <a:endParaRPr sz="180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  <a:spcBef>
                <a:spcPts val="430"/>
              </a:spcBef>
            </a:pPr>
            <a:r>
              <a:rPr sz="1800" dirty="0">
                <a:latin typeface="Carlito"/>
                <a:cs typeface="Carlito"/>
              </a:rPr>
              <a:t>"</a:t>
            </a:r>
            <a:r>
              <a:rPr sz="1800" spc="-5" dirty="0">
                <a:latin typeface="Carlito"/>
                <a:cs typeface="Carlito"/>
              </a:rPr>
              <a:t> </a:t>
            </a:r>
            <a:r>
              <a:rPr sz="1800" spc="-10" dirty="0">
                <a:latin typeface="Carlito"/>
                <a:cs typeface="Carlito"/>
              </a:rPr>
              <a:t>cents.");</a:t>
            </a:r>
            <a:endParaRPr sz="180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  <a:spcBef>
                <a:spcPts val="434"/>
              </a:spcBef>
            </a:pPr>
            <a:r>
              <a:rPr sz="1800" spc="-50" dirty="0">
                <a:latin typeface="Carlito"/>
                <a:cs typeface="Carlito"/>
              </a:rPr>
              <a:t>}</a:t>
            </a:r>
            <a:endParaRPr sz="180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  <a:spcBef>
                <a:spcPts val="430"/>
              </a:spcBef>
            </a:pPr>
            <a:r>
              <a:rPr sz="1800" spc="-50" dirty="0">
                <a:latin typeface="Carlito"/>
                <a:cs typeface="Carlito"/>
              </a:rPr>
              <a:t>}</a:t>
            </a:r>
            <a:endParaRPr sz="1800">
              <a:latin typeface="Carlito"/>
              <a:cs typeface="Carlito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47800" y="4952998"/>
            <a:ext cx="2391155" cy="1810512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743200" y="3711066"/>
            <a:ext cx="4314443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cap="small" spc="-75" dirty="0">
                <a:solidFill>
                  <a:srgbClr val="003300"/>
                </a:solidFill>
              </a:rPr>
              <a:t>Autoboxing</a:t>
            </a:r>
            <a:endParaRPr sz="4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00200" y="456387"/>
            <a:ext cx="5105400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b="0" spc="-10" dirty="0">
                <a:latin typeface="Carlito"/>
                <a:cs typeface="Carlito"/>
              </a:rPr>
              <a:t>Introduction</a:t>
            </a:r>
            <a:endParaRPr sz="4400" dirty="0">
              <a:latin typeface="Carlito"/>
              <a:cs typeface="Carlito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41044" y="1614678"/>
            <a:ext cx="7922259" cy="359282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8890" indent="-342900" algn="just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355600" algn="l"/>
              </a:tabLst>
            </a:pPr>
            <a:r>
              <a:rPr sz="1800" dirty="0">
                <a:latin typeface="Carlito"/>
                <a:cs typeface="Carlito"/>
              </a:rPr>
              <a:t>Beginning</a:t>
            </a:r>
            <a:r>
              <a:rPr sz="1800" spc="45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with</a:t>
            </a:r>
            <a:r>
              <a:rPr sz="1800" spc="50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JDK</a:t>
            </a:r>
            <a:r>
              <a:rPr sz="1800" spc="55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5,</a:t>
            </a:r>
            <a:r>
              <a:rPr sz="1800" spc="50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Java</a:t>
            </a:r>
            <a:r>
              <a:rPr sz="1800" spc="50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added</a:t>
            </a:r>
            <a:r>
              <a:rPr sz="1800" spc="55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two</a:t>
            </a:r>
            <a:r>
              <a:rPr sz="1800" spc="55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important</a:t>
            </a:r>
            <a:r>
              <a:rPr sz="1800" spc="45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features:</a:t>
            </a:r>
            <a:r>
              <a:rPr sz="1800" spc="45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autoboxing</a:t>
            </a:r>
            <a:r>
              <a:rPr sz="1800" spc="50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and</a:t>
            </a:r>
            <a:r>
              <a:rPr sz="1800" spc="65" dirty="0">
                <a:latin typeface="Carlito"/>
                <a:cs typeface="Carlito"/>
              </a:rPr>
              <a:t> </a:t>
            </a:r>
            <a:r>
              <a:rPr sz="1800" spc="-10" dirty="0">
                <a:latin typeface="Carlito"/>
                <a:cs typeface="Carlito"/>
              </a:rPr>
              <a:t>auto- unboxing.</a:t>
            </a:r>
            <a:endParaRPr sz="1800" dirty="0">
              <a:latin typeface="Carlito"/>
              <a:cs typeface="Carlito"/>
            </a:endParaRPr>
          </a:p>
          <a:p>
            <a:pPr marL="355600" marR="5080" indent="-342900" algn="just">
              <a:lnSpc>
                <a:spcPct val="100000"/>
              </a:lnSpc>
              <a:spcBef>
                <a:spcPts val="430"/>
              </a:spcBef>
              <a:buFont typeface="Arial"/>
              <a:buChar char="•"/>
              <a:tabLst>
                <a:tab pos="355600" algn="l"/>
              </a:tabLst>
            </a:pPr>
            <a:r>
              <a:rPr sz="1800" dirty="0">
                <a:latin typeface="Carlito"/>
                <a:cs typeface="Carlito"/>
              </a:rPr>
              <a:t>Autoboxing</a:t>
            </a:r>
            <a:r>
              <a:rPr sz="1800" spc="285" dirty="0">
                <a:latin typeface="Carlito"/>
                <a:cs typeface="Carlito"/>
              </a:rPr>
              <a:t>  </a:t>
            </a:r>
            <a:r>
              <a:rPr sz="1800" dirty="0">
                <a:latin typeface="Carlito"/>
                <a:cs typeface="Carlito"/>
              </a:rPr>
              <a:t>is</a:t>
            </a:r>
            <a:r>
              <a:rPr sz="1800" spc="280" dirty="0">
                <a:latin typeface="Carlito"/>
                <a:cs typeface="Carlito"/>
              </a:rPr>
              <a:t>  </a:t>
            </a:r>
            <a:r>
              <a:rPr sz="1800" dirty="0">
                <a:latin typeface="Carlito"/>
                <a:cs typeface="Carlito"/>
              </a:rPr>
              <a:t>the</a:t>
            </a:r>
            <a:r>
              <a:rPr sz="1800" spc="285" dirty="0">
                <a:latin typeface="Carlito"/>
                <a:cs typeface="Carlito"/>
              </a:rPr>
              <a:t>  </a:t>
            </a:r>
            <a:r>
              <a:rPr sz="1800" dirty="0">
                <a:latin typeface="Carlito"/>
                <a:cs typeface="Carlito"/>
              </a:rPr>
              <a:t>process</a:t>
            </a:r>
            <a:r>
              <a:rPr sz="1800" spc="290" dirty="0">
                <a:latin typeface="Carlito"/>
                <a:cs typeface="Carlito"/>
              </a:rPr>
              <a:t>  </a:t>
            </a:r>
            <a:r>
              <a:rPr sz="1800" dirty="0">
                <a:latin typeface="Carlito"/>
                <a:cs typeface="Carlito"/>
              </a:rPr>
              <a:t>by</a:t>
            </a:r>
            <a:r>
              <a:rPr sz="1800" spc="280" dirty="0">
                <a:latin typeface="Carlito"/>
                <a:cs typeface="Carlito"/>
              </a:rPr>
              <a:t>  </a:t>
            </a:r>
            <a:r>
              <a:rPr sz="1800" dirty="0">
                <a:latin typeface="Carlito"/>
                <a:cs typeface="Carlito"/>
              </a:rPr>
              <a:t>which</a:t>
            </a:r>
            <a:r>
              <a:rPr sz="1800" spc="285" dirty="0">
                <a:latin typeface="Carlito"/>
                <a:cs typeface="Carlito"/>
              </a:rPr>
              <a:t>  </a:t>
            </a:r>
            <a:r>
              <a:rPr sz="1800" dirty="0">
                <a:latin typeface="Carlito"/>
                <a:cs typeface="Carlito"/>
              </a:rPr>
              <a:t>a</a:t>
            </a:r>
            <a:r>
              <a:rPr sz="1800" spc="285" dirty="0">
                <a:latin typeface="Carlito"/>
                <a:cs typeface="Carlito"/>
              </a:rPr>
              <a:t>  </a:t>
            </a:r>
            <a:r>
              <a:rPr sz="1800" dirty="0">
                <a:latin typeface="Carlito"/>
                <a:cs typeface="Carlito"/>
              </a:rPr>
              <a:t>primitive</a:t>
            </a:r>
            <a:r>
              <a:rPr sz="1800" spc="290" dirty="0">
                <a:latin typeface="Carlito"/>
                <a:cs typeface="Carlito"/>
              </a:rPr>
              <a:t>  </a:t>
            </a:r>
            <a:r>
              <a:rPr sz="1800" dirty="0">
                <a:latin typeface="Carlito"/>
                <a:cs typeface="Carlito"/>
              </a:rPr>
              <a:t>type</a:t>
            </a:r>
            <a:r>
              <a:rPr sz="1800" spc="285" dirty="0">
                <a:latin typeface="Carlito"/>
                <a:cs typeface="Carlito"/>
              </a:rPr>
              <a:t>  </a:t>
            </a:r>
            <a:r>
              <a:rPr sz="1800" dirty="0">
                <a:latin typeface="Carlito"/>
                <a:cs typeface="Carlito"/>
              </a:rPr>
              <a:t>is</a:t>
            </a:r>
            <a:r>
              <a:rPr sz="1800" spc="285" dirty="0">
                <a:latin typeface="Carlito"/>
                <a:cs typeface="Carlito"/>
              </a:rPr>
              <a:t>  </a:t>
            </a:r>
            <a:r>
              <a:rPr sz="1800" spc="-10" dirty="0">
                <a:latin typeface="Carlito"/>
                <a:cs typeface="Carlito"/>
              </a:rPr>
              <a:t>automatically </a:t>
            </a:r>
            <a:r>
              <a:rPr sz="1800" dirty="0">
                <a:latin typeface="Carlito"/>
                <a:cs typeface="Carlito"/>
              </a:rPr>
              <a:t>encapsulated</a:t>
            </a:r>
            <a:r>
              <a:rPr sz="1800" spc="265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(boxed)</a:t>
            </a:r>
            <a:r>
              <a:rPr sz="1800" spc="245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into</a:t>
            </a:r>
            <a:r>
              <a:rPr sz="1800" spc="240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its</a:t>
            </a:r>
            <a:r>
              <a:rPr sz="1800" spc="245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equivalent</a:t>
            </a:r>
            <a:r>
              <a:rPr sz="1800" spc="245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type</a:t>
            </a:r>
            <a:r>
              <a:rPr sz="1800" spc="254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wrapper</a:t>
            </a:r>
            <a:r>
              <a:rPr sz="1800" spc="235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whenever</a:t>
            </a:r>
            <a:r>
              <a:rPr sz="1800" spc="245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an</a:t>
            </a:r>
            <a:r>
              <a:rPr sz="1800" spc="240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object</a:t>
            </a:r>
            <a:r>
              <a:rPr sz="1800" spc="240" dirty="0">
                <a:latin typeface="Carlito"/>
                <a:cs typeface="Carlito"/>
              </a:rPr>
              <a:t> </a:t>
            </a:r>
            <a:r>
              <a:rPr sz="1800" spc="-25" dirty="0">
                <a:latin typeface="Carlito"/>
                <a:cs typeface="Carlito"/>
              </a:rPr>
              <a:t>of </a:t>
            </a:r>
            <a:r>
              <a:rPr sz="1800" dirty="0">
                <a:latin typeface="Carlito"/>
                <a:cs typeface="Carlito"/>
              </a:rPr>
              <a:t>that</a:t>
            </a:r>
            <a:r>
              <a:rPr sz="1800" spc="-35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type</a:t>
            </a:r>
            <a:r>
              <a:rPr sz="1800" spc="-25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is</a:t>
            </a:r>
            <a:r>
              <a:rPr sz="1800" spc="-25" dirty="0">
                <a:latin typeface="Carlito"/>
                <a:cs typeface="Carlito"/>
              </a:rPr>
              <a:t> </a:t>
            </a:r>
            <a:r>
              <a:rPr sz="1800" spc="-10" dirty="0">
                <a:latin typeface="Carlito"/>
                <a:cs typeface="Carlito"/>
              </a:rPr>
              <a:t>needed.</a:t>
            </a:r>
            <a:endParaRPr sz="1800" dirty="0">
              <a:latin typeface="Carlito"/>
              <a:cs typeface="Carlito"/>
            </a:endParaRPr>
          </a:p>
          <a:p>
            <a:pPr marL="354965" indent="-342265" algn="just">
              <a:lnSpc>
                <a:spcPct val="100000"/>
              </a:lnSpc>
              <a:spcBef>
                <a:spcPts val="434"/>
              </a:spcBef>
              <a:buFont typeface="Arial"/>
              <a:buChar char="•"/>
              <a:tabLst>
                <a:tab pos="354965" algn="l"/>
              </a:tabLst>
            </a:pPr>
            <a:r>
              <a:rPr sz="1800" dirty="0">
                <a:latin typeface="Carlito"/>
                <a:cs typeface="Carlito"/>
              </a:rPr>
              <a:t>There</a:t>
            </a:r>
            <a:r>
              <a:rPr sz="1800" spc="-20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is</a:t>
            </a:r>
            <a:r>
              <a:rPr sz="1800" spc="-30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no</a:t>
            </a:r>
            <a:r>
              <a:rPr sz="1800" spc="-35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need</a:t>
            </a:r>
            <a:r>
              <a:rPr sz="1800" spc="-15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to</a:t>
            </a:r>
            <a:r>
              <a:rPr sz="1800" spc="-35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explicitly</a:t>
            </a:r>
            <a:r>
              <a:rPr sz="1800" spc="-15" dirty="0">
                <a:latin typeface="Carlito"/>
                <a:cs typeface="Carlito"/>
              </a:rPr>
              <a:t> </a:t>
            </a:r>
            <a:r>
              <a:rPr sz="1800" spc="-10" dirty="0">
                <a:latin typeface="Carlito"/>
                <a:cs typeface="Carlito"/>
              </a:rPr>
              <a:t>construct</a:t>
            </a:r>
            <a:r>
              <a:rPr sz="1800" spc="-25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an</a:t>
            </a:r>
            <a:r>
              <a:rPr sz="1800" spc="-20" dirty="0">
                <a:latin typeface="Carlito"/>
                <a:cs typeface="Carlito"/>
              </a:rPr>
              <a:t> </a:t>
            </a:r>
            <a:r>
              <a:rPr sz="1800" spc="-10" dirty="0">
                <a:latin typeface="Carlito"/>
                <a:cs typeface="Carlito"/>
              </a:rPr>
              <a:t>object.</a:t>
            </a:r>
            <a:endParaRPr sz="1800" dirty="0">
              <a:latin typeface="Carlito"/>
              <a:cs typeface="Carlito"/>
            </a:endParaRPr>
          </a:p>
          <a:p>
            <a:pPr marL="354965" indent="-342265" algn="just">
              <a:lnSpc>
                <a:spcPct val="100000"/>
              </a:lnSpc>
              <a:spcBef>
                <a:spcPts val="430"/>
              </a:spcBef>
              <a:buFont typeface="Arial"/>
              <a:buChar char="•"/>
              <a:tabLst>
                <a:tab pos="354965" algn="l"/>
              </a:tabLst>
            </a:pPr>
            <a:r>
              <a:rPr sz="1800" spc="-10" dirty="0">
                <a:latin typeface="Carlito"/>
                <a:cs typeface="Carlito"/>
              </a:rPr>
              <a:t>Auto-</a:t>
            </a:r>
            <a:r>
              <a:rPr sz="1800" dirty="0">
                <a:latin typeface="Carlito"/>
                <a:cs typeface="Carlito"/>
              </a:rPr>
              <a:t>unboxing</a:t>
            </a:r>
            <a:r>
              <a:rPr sz="1800" spc="185" dirty="0">
                <a:latin typeface="Carlito"/>
                <a:cs typeface="Carlito"/>
              </a:rPr>
              <a:t>  </a:t>
            </a:r>
            <a:r>
              <a:rPr sz="1800" dirty="0">
                <a:latin typeface="Carlito"/>
                <a:cs typeface="Carlito"/>
              </a:rPr>
              <a:t>is</a:t>
            </a:r>
            <a:r>
              <a:rPr sz="1800" spc="175" dirty="0">
                <a:latin typeface="Carlito"/>
                <a:cs typeface="Carlito"/>
              </a:rPr>
              <a:t>  </a:t>
            </a:r>
            <a:r>
              <a:rPr sz="1800" dirty="0">
                <a:latin typeface="Carlito"/>
                <a:cs typeface="Carlito"/>
              </a:rPr>
              <a:t>the</a:t>
            </a:r>
            <a:r>
              <a:rPr sz="1800" spc="185" dirty="0">
                <a:latin typeface="Carlito"/>
                <a:cs typeface="Carlito"/>
              </a:rPr>
              <a:t>  </a:t>
            </a:r>
            <a:r>
              <a:rPr sz="1800" dirty="0">
                <a:latin typeface="Carlito"/>
                <a:cs typeface="Carlito"/>
              </a:rPr>
              <a:t>process</a:t>
            </a:r>
            <a:r>
              <a:rPr sz="1800" spc="180" dirty="0">
                <a:latin typeface="Carlito"/>
                <a:cs typeface="Carlito"/>
              </a:rPr>
              <a:t>  </a:t>
            </a:r>
            <a:r>
              <a:rPr sz="1800" dirty="0">
                <a:latin typeface="Carlito"/>
                <a:cs typeface="Carlito"/>
              </a:rPr>
              <a:t>by</a:t>
            </a:r>
            <a:r>
              <a:rPr sz="1800" spc="185" dirty="0">
                <a:latin typeface="Carlito"/>
                <a:cs typeface="Carlito"/>
              </a:rPr>
              <a:t>  </a:t>
            </a:r>
            <a:r>
              <a:rPr sz="1800" dirty="0">
                <a:latin typeface="Carlito"/>
                <a:cs typeface="Carlito"/>
              </a:rPr>
              <a:t>which</a:t>
            </a:r>
            <a:r>
              <a:rPr sz="1800" spc="185" dirty="0">
                <a:latin typeface="Carlito"/>
                <a:cs typeface="Carlito"/>
              </a:rPr>
              <a:t>  </a:t>
            </a:r>
            <a:r>
              <a:rPr sz="1800" dirty="0">
                <a:latin typeface="Carlito"/>
                <a:cs typeface="Carlito"/>
              </a:rPr>
              <a:t>the</a:t>
            </a:r>
            <a:r>
              <a:rPr sz="1800" spc="185" dirty="0">
                <a:latin typeface="Carlito"/>
                <a:cs typeface="Carlito"/>
              </a:rPr>
              <a:t>  </a:t>
            </a:r>
            <a:r>
              <a:rPr sz="1800" dirty="0">
                <a:latin typeface="Carlito"/>
                <a:cs typeface="Carlito"/>
              </a:rPr>
              <a:t>value</a:t>
            </a:r>
            <a:r>
              <a:rPr sz="1800" spc="185" dirty="0">
                <a:latin typeface="Carlito"/>
                <a:cs typeface="Carlito"/>
              </a:rPr>
              <a:t>  </a:t>
            </a:r>
            <a:r>
              <a:rPr sz="1800" dirty="0">
                <a:latin typeface="Carlito"/>
                <a:cs typeface="Carlito"/>
              </a:rPr>
              <a:t>of</a:t>
            </a:r>
            <a:r>
              <a:rPr sz="1800" spc="180" dirty="0">
                <a:latin typeface="Carlito"/>
                <a:cs typeface="Carlito"/>
              </a:rPr>
              <a:t>  </a:t>
            </a:r>
            <a:r>
              <a:rPr sz="1800" dirty="0">
                <a:latin typeface="Carlito"/>
                <a:cs typeface="Carlito"/>
              </a:rPr>
              <a:t>a</a:t>
            </a:r>
            <a:r>
              <a:rPr sz="1800" spc="175" dirty="0">
                <a:latin typeface="Carlito"/>
                <a:cs typeface="Carlito"/>
              </a:rPr>
              <a:t>  </a:t>
            </a:r>
            <a:r>
              <a:rPr sz="1800" dirty="0">
                <a:latin typeface="Carlito"/>
                <a:cs typeface="Carlito"/>
              </a:rPr>
              <a:t>boxed</a:t>
            </a:r>
            <a:r>
              <a:rPr sz="1800" spc="185" dirty="0">
                <a:latin typeface="Carlito"/>
                <a:cs typeface="Carlito"/>
              </a:rPr>
              <a:t>  </a:t>
            </a:r>
            <a:r>
              <a:rPr sz="1800" dirty="0">
                <a:latin typeface="Carlito"/>
                <a:cs typeface="Carlito"/>
              </a:rPr>
              <a:t>object</a:t>
            </a:r>
            <a:r>
              <a:rPr sz="1800" spc="175" dirty="0">
                <a:latin typeface="Carlito"/>
                <a:cs typeface="Carlito"/>
              </a:rPr>
              <a:t>  </a:t>
            </a:r>
            <a:r>
              <a:rPr sz="1800" spc="-25" dirty="0">
                <a:latin typeface="Carlito"/>
                <a:cs typeface="Carlito"/>
              </a:rPr>
              <a:t>is</a:t>
            </a:r>
            <a:endParaRPr sz="1800" dirty="0">
              <a:latin typeface="Carlito"/>
              <a:cs typeface="Carlito"/>
            </a:endParaRPr>
          </a:p>
          <a:p>
            <a:pPr marL="355600" algn="just">
              <a:lnSpc>
                <a:spcPct val="100000"/>
              </a:lnSpc>
              <a:spcBef>
                <a:spcPts val="5"/>
              </a:spcBef>
            </a:pPr>
            <a:r>
              <a:rPr sz="1800" spc="-10" dirty="0">
                <a:latin typeface="Carlito"/>
                <a:cs typeface="Carlito"/>
              </a:rPr>
              <a:t>automatically</a:t>
            </a:r>
            <a:r>
              <a:rPr sz="1800" spc="-50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extracted</a:t>
            </a:r>
            <a:r>
              <a:rPr sz="1800" spc="-25" dirty="0">
                <a:latin typeface="Carlito"/>
                <a:cs typeface="Carlito"/>
              </a:rPr>
              <a:t> </a:t>
            </a:r>
            <a:r>
              <a:rPr sz="1800" spc="-10" dirty="0">
                <a:latin typeface="Carlito"/>
                <a:cs typeface="Carlito"/>
              </a:rPr>
              <a:t>(unboxed)</a:t>
            </a:r>
            <a:r>
              <a:rPr sz="1800" spc="-30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from</a:t>
            </a:r>
            <a:r>
              <a:rPr sz="1800" spc="-45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a</a:t>
            </a:r>
            <a:r>
              <a:rPr sz="1800" spc="-50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type</a:t>
            </a:r>
            <a:r>
              <a:rPr sz="1800" spc="-50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wrapper</a:t>
            </a:r>
            <a:r>
              <a:rPr sz="1800" spc="-35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when</a:t>
            </a:r>
            <a:r>
              <a:rPr sz="1800" spc="-30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its</a:t>
            </a:r>
            <a:r>
              <a:rPr sz="1800" spc="-40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value</a:t>
            </a:r>
            <a:r>
              <a:rPr sz="1800" spc="-50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is</a:t>
            </a:r>
            <a:r>
              <a:rPr sz="1800" spc="-40" dirty="0">
                <a:latin typeface="Carlito"/>
                <a:cs typeface="Carlito"/>
              </a:rPr>
              <a:t> </a:t>
            </a:r>
            <a:r>
              <a:rPr sz="1800" spc="-10" dirty="0">
                <a:latin typeface="Carlito"/>
                <a:cs typeface="Carlito"/>
              </a:rPr>
              <a:t>needed.</a:t>
            </a:r>
            <a:endParaRPr sz="1800" dirty="0">
              <a:latin typeface="Carlito"/>
              <a:cs typeface="Carlito"/>
            </a:endParaRPr>
          </a:p>
          <a:p>
            <a:pPr marL="355600" marR="10160" indent="-342900" algn="just">
              <a:lnSpc>
                <a:spcPct val="100000"/>
              </a:lnSpc>
              <a:spcBef>
                <a:spcPts val="430"/>
              </a:spcBef>
              <a:buFont typeface="Arial"/>
              <a:buChar char="•"/>
              <a:tabLst>
                <a:tab pos="355600" algn="l"/>
              </a:tabLst>
            </a:pPr>
            <a:r>
              <a:rPr sz="1800" dirty="0">
                <a:latin typeface="Carlito"/>
                <a:cs typeface="Carlito"/>
              </a:rPr>
              <a:t>With</a:t>
            </a:r>
            <a:r>
              <a:rPr sz="1800" spc="250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autoboxing,</a:t>
            </a:r>
            <a:r>
              <a:rPr sz="1800" spc="250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it</a:t>
            </a:r>
            <a:r>
              <a:rPr sz="1800" spc="260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is</a:t>
            </a:r>
            <a:r>
              <a:rPr sz="1800" spc="260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no</a:t>
            </a:r>
            <a:r>
              <a:rPr sz="1800" spc="260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longer</a:t>
            </a:r>
            <a:r>
              <a:rPr sz="1800" spc="250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necessary</a:t>
            </a:r>
            <a:r>
              <a:rPr sz="1800" spc="260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to</a:t>
            </a:r>
            <a:r>
              <a:rPr sz="1800" spc="254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manually</a:t>
            </a:r>
            <a:r>
              <a:rPr sz="1800" spc="240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construct</a:t>
            </a:r>
            <a:r>
              <a:rPr sz="1800" spc="250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an</a:t>
            </a:r>
            <a:r>
              <a:rPr sz="1800" spc="265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object</a:t>
            </a:r>
            <a:r>
              <a:rPr sz="1800" spc="260" dirty="0">
                <a:latin typeface="Carlito"/>
                <a:cs typeface="Carlito"/>
              </a:rPr>
              <a:t> </a:t>
            </a:r>
            <a:r>
              <a:rPr sz="1800" spc="-25" dirty="0">
                <a:latin typeface="Carlito"/>
                <a:cs typeface="Carlito"/>
              </a:rPr>
              <a:t>in </a:t>
            </a:r>
            <a:r>
              <a:rPr sz="1800" dirty="0">
                <a:latin typeface="Carlito"/>
                <a:cs typeface="Carlito"/>
              </a:rPr>
              <a:t>order</a:t>
            </a:r>
            <a:r>
              <a:rPr sz="1800" spc="-35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to</a:t>
            </a:r>
            <a:r>
              <a:rPr sz="1800" spc="-25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wrap</a:t>
            </a:r>
            <a:r>
              <a:rPr sz="1800" spc="-20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a</a:t>
            </a:r>
            <a:r>
              <a:rPr sz="1800" spc="-25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primitive</a:t>
            </a:r>
            <a:r>
              <a:rPr sz="1800" spc="-25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type.</a:t>
            </a:r>
            <a:r>
              <a:rPr sz="1800" spc="-20" dirty="0">
                <a:latin typeface="Carlito"/>
                <a:cs typeface="Carlito"/>
              </a:rPr>
              <a:t> </a:t>
            </a:r>
            <a:r>
              <a:rPr sz="1800" spc="-35" dirty="0">
                <a:latin typeface="Carlito"/>
                <a:cs typeface="Carlito"/>
              </a:rPr>
              <a:t>You</a:t>
            </a:r>
            <a:r>
              <a:rPr sz="1800" spc="-25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need</a:t>
            </a:r>
            <a:r>
              <a:rPr sz="1800" spc="-25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only</a:t>
            </a:r>
            <a:r>
              <a:rPr sz="1800" spc="-30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assign</a:t>
            </a:r>
            <a:r>
              <a:rPr sz="1800" spc="-15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that</a:t>
            </a:r>
            <a:r>
              <a:rPr sz="1800" spc="-25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value</a:t>
            </a:r>
            <a:r>
              <a:rPr sz="1800" spc="-30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to</a:t>
            </a:r>
            <a:r>
              <a:rPr sz="1800" spc="-35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a</a:t>
            </a:r>
            <a:r>
              <a:rPr sz="1800" spc="-20" dirty="0">
                <a:latin typeface="Carlito"/>
                <a:cs typeface="Carlito"/>
              </a:rPr>
              <a:t> </a:t>
            </a:r>
            <a:r>
              <a:rPr sz="1800" spc="-10" dirty="0">
                <a:latin typeface="Carlito"/>
                <a:cs typeface="Carlito"/>
              </a:rPr>
              <a:t>type-wrapper reference.</a:t>
            </a:r>
            <a:endParaRPr sz="1800" dirty="0">
              <a:latin typeface="Carlito"/>
              <a:cs typeface="Carlito"/>
            </a:endParaRPr>
          </a:p>
          <a:p>
            <a:pPr marL="354965" indent="-342265" algn="just">
              <a:lnSpc>
                <a:spcPct val="100000"/>
              </a:lnSpc>
              <a:spcBef>
                <a:spcPts val="434"/>
              </a:spcBef>
              <a:buFont typeface="Arial"/>
              <a:buChar char="•"/>
              <a:tabLst>
                <a:tab pos="354965" algn="l"/>
              </a:tabLst>
            </a:pPr>
            <a:r>
              <a:rPr sz="1800" dirty="0">
                <a:latin typeface="Carlito"/>
                <a:cs typeface="Carlito"/>
              </a:rPr>
              <a:t>Java</a:t>
            </a:r>
            <a:r>
              <a:rPr sz="1800" spc="-40" dirty="0">
                <a:latin typeface="Carlito"/>
                <a:cs typeface="Carlito"/>
              </a:rPr>
              <a:t> </a:t>
            </a:r>
            <a:r>
              <a:rPr sz="1800" spc="-10" dirty="0">
                <a:latin typeface="Carlito"/>
                <a:cs typeface="Carlito"/>
              </a:rPr>
              <a:t>automatically</a:t>
            </a:r>
            <a:r>
              <a:rPr sz="1800" spc="-30" dirty="0">
                <a:latin typeface="Carlito"/>
                <a:cs typeface="Carlito"/>
              </a:rPr>
              <a:t> </a:t>
            </a:r>
            <a:r>
              <a:rPr sz="1800" spc="-10" dirty="0">
                <a:latin typeface="Carlito"/>
                <a:cs typeface="Carlito"/>
              </a:rPr>
              <a:t>constructs</a:t>
            </a:r>
            <a:r>
              <a:rPr sz="1800" spc="-15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the</a:t>
            </a:r>
            <a:r>
              <a:rPr sz="1800" spc="-15" dirty="0">
                <a:latin typeface="Carlito"/>
                <a:cs typeface="Carlito"/>
              </a:rPr>
              <a:t> </a:t>
            </a:r>
            <a:r>
              <a:rPr sz="1800" spc="-10" dirty="0">
                <a:latin typeface="Carlito"/>
                <a:cs typeface="Carlito"/>
              </a:rPr>
              <a:t>object</a:t>
            </a:r>
            <a:endParaRPr sz="1800" dirty="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0600" y="76200"/>
            <a:ext cx="8153400" cy="1011892"/>
          </a:xfrm>
          <a:prstGeom prst="rect">
            <a:avLst/>
          </a:prstGeom>
        </p:spPr>
        <p:txBody>
          <a:bodyPr vert="horz" wrap="square" lIns="0" tIns="392506" rIns="0" bIns="0" rtlCol="0">
            <a:spAutoFit/>
          </a:bodyPr>
          <a:lstStyle/>
          <a:p>
            <a:pPr marL="546100">
              <a:lnSpc>
                <a:spcPct val="100000"/>
              </a:lnSpc>
              <a:spcBef>
                <a:spcPts val="95"/>
              </a:spcBef>
            </a:pPr>
            <a:r>
              <a:rPr sz="4000" b="0" spc="-25" dirty="0">
                <a:latin typeface="Carlito"/>
                <a:cs typeface="Carlito"/>
              </a:rPr>
              <a:t>Demonstrate</a:t>
            </a:r>
            <a:r>
              <a:rPr sz="4000" b="0" spc="-130" dirty="0">
                <a:latin typeface="Carlito"/>
                <a:cs typeface="Carlito"/>
              </a:rPr>
              <a:t> </a:t>
            </a:r>
            <a:r>
              <a:rPr sz="4000" b="0" spc="-10" dirty="0">
                <a:latin typeface="Carlito"/>
                <a:cs typeface="Carlito"/>
              </a:rPr>
              <a:t>autoboxing/unboxing</a:t>
            </a:r>
            <a:endParaRPr sz="4000" dirty="0">
              <a:latin typeface="Carlito"/>
              <a:cs typeface="Carlito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idx="1"/>
          </p:nvPr>
        </p:nvSpPr>
        <p:spPr>
          <a:xfrm>
            <a:off x="838200" y="1295400"/>
            <a:ext cx="8686799" cy="3952847"/>
          </a:xfrm>
          <a:prstGeom prst="rect">
            <a:avLst/>
          </a:prstGeom>
        </p:spPr>
        <p:txBody>
          <a:bodyPr vert="horz" wrap="square" lIns="0" tIns="782798" rIns="0" bIns="0" rtlCol="0">
            <a:spAutoFit/>
          </a:bodyPr>
          <a:lstStyle/>
          <a:p>
            <a:pPr marL="0" indent="0">
              <a:lnSpc>
                <a:spcPct val="100000"/>
              </a:lnSpc>
              <a:spcBef>
                <a:spcPts val="770"/>
              </a:spcBef>
              <a:buNone/>
            </a:pPr>
            <a:r>
              <a:rPr sz="2400" dirty="0"/>
              <a:t>class</a:t>
            </a:r>
            <a:r>
              <a:rPr sz="2400" spc="-85" dirty="0"/>
              <a:t> </a:t>
            </a:r>
            <a:r>
              <a:rPr sz="2400" spc="-10" dirty="0" err="1"/>
              <a:t>AutoBox</a:t>
            </a:r>
            <a:endParaRPr lang="en-IN" sz="2400" spc="-10" dirty="0"/>
          </a:p>
          <a:p>
            <a:pPr marL="0" indent="0">
              <a:lnSpc>
                <a:spcPct val="100000"/>
              </a:lnSpc>
              <a:spcBef>
                <a:spcPts val="770"/>
              </a:spcBef>
              <a:buNone/>
            </a:pPr>
            <a:r>
              <a:rPr sz="2400" spc="-70" dirty="0"/>
              <a:t> </a:t>
            </a:r>
            <a:r>
              <a:rPr sz="2400" spc="-50" dirty="0"/>
              <a:t>{</a:t>
            </a:r>
            <a:r>
              <a:rPr lang="en-IN" sz="2400" spc="-50" dirty="0"/>
              <a:t>      </a:t>
            </a:r>
            <a:r>
              <a:rPr sz="2400" dirty="0"/>
              <a:t>public</a:t>
            </a:r>
            <a:r>
              <a:rPr sz="2400" spc="-80" dirty="0"/>
              <a:t> </a:t>
            </a:r>
            <a:r>
              <a:rPr sz="2400" dirty="0"/>
              <a:t>static</a:t>
            </a:r>
            <a:r>
              <a:rPr sz="2400" spc="-105" dirty="0"/>
              <a:t> </a:t>
            </a:r>
            <a:r>
              <a:rPr sz="2400" dirty="0"/>
              <a:t>void</a:t>
            </a:r>
            <a:r>
              <a:rPr sz="2400" spc="-110" dirty="0"/>
              <a:t> </a:t>
            </a:r>
            <a:r>
              <a:rPr sz="2400" dirty="0"/>
              <a:t>main(String</a:t>
            </a:r>
            <a:r>
              <a:rPr sz="2400" spc="-90" dirty="0"/>
              <a:t> </a:t>
            </a:r>
            <a:r>
              <a:rPr sz="2400" dirty="0"/>
              <a:t>args[])</a:t>
            </a:r>
            <a:r>
              <a:rPr sz="2400" spc="-100" dirty="0"/>
              <a:t> </a:t>
            </a:r>
            <a:endParaRPr lang="en-IN" sz="2400" spc="-100" dirty="0"/>
          </a:p>
          <a:p>
            <a:pPr marL="0" indent="0">
              <a:lnSpc>
                <a:spcPct val="100000"/>
              </a:lnSpc>
              <a:spcBef>
                <a:spcPts val="770"/>
              </a:spcBef>
              <a:buNone/>
            </a:pPr>
            <a:r>
              <a:rPr lang="en-IN" sz="2400" spc="-100" dirty="0"/>
              <a:t>          </a:t>
            </a:r>
            <a:r>
              <a:rPr sz="2400" spc="-50" dirty="0"/>
              <a:t>{ </a:t>
            </a:r>
            <a:r>
              <a:rPr lang="en-IN" sz="2400" spc="-50" dirty="0"/>
              <a:t>   </a:t>
            </a:r>
            <a:r>
              <a:rPr sz="2400" dirty="0"/>
              <a:t>Integer</a:t>
            </a:r>
            <a:r>
              <a:rPr sz="2400" spc="-75" dirty="0"/>
              <a:t> </a:t>
            </a:r>
            <a:r>
              <a:rPr sz="2400" dirty="0"/>
              <a:t>iOb</a:t>
            </a:r>
            <a:r>
              <a:rPr sz="2400" spc="-45" dirty="0"/>
              <a:t> </a:t>
            </a:r>
            <a:r>
              <a:rPr sz="2400" dirty="0"/>
              <a:t>=</a:t>
            </a:r>
            <a:r>
              <a:rPr sz="2400" spc="-40" dirty="0"/>
              <a:t> </a:t>
            </a:r>
            <a:r>
              <a:rPr sz="2400" dirty="0"/>
              <a:t>100;</a:t>
            </a:r>
            <a:r>
              <a:rPr sz="2400" spc="-35" dirty="0"/>
              <a:t> </a:t>
            </a:r>
            <a:r>
              <a:rPr sz="2400" dirty="0"/>
              <a:t>//</a:t>
            </a:r>
            <a:r>
              <a:rPr sz="2400" spc="-40" dirty="0"/>
              <a:t> </a:t>
            </a:r>
            <a:r>
              <a:rPr sz="2400" spc="-10" dirty="0"/>
              <a:t>autobox</a:t>
            </a:r>
            <a:r>
              <a:rPr sz="2400" spc="-40" dirty="0"/>
              <a:t> </a:t>
            </a:r>
            <a:r>
              <a:rPr sz="2400" dirty="0"/>
              <a:t>an</a:t>
            </a:r>
            <a:r>
              <a:rPr sz="2400" spc="-55" dirty="0"/>
              <a:t> </a:t>
            </a:r>
            <a:r>
              <a:rPr sz="2400" spc="-25" dirty="0"/>
              <a:t>int</a:t>
            </a:r>
            <a:r>
              <a:rPr lang="en-IN" sz="2400" spc="-25" dirty="0"/>
              <a:t>\</a:t>
            </a:r>
          </a:p>
          <a:p>
            <a:pPr marL="0" indent="0">
              <a:lnSpc>
                <a:spcPct val="100000"/>
              </a:lnSpc>
              <a:spcBef>
                <a:spcPts val="770"/>
              </a:spcBef>
              <a:buNone/>
            </a:pPr>
            <a:r>
              <a:rPr lang="en-IN" sz="2400" spc="-25" dirty="0"/>
              <a:t>             </a:t>
            </a:r>
            <a:r>
              <a:rPr sz="2400" spc="-25" dirty="0"/>
              <a:t> </a:t>
            </a:r>
            <a:r>
              <a:rPr sz="2400" dirty="0"/>
              <a:t>int</a:t>
            </a:r>
            <a:r>
              <a:rPr sz="2400" spc="-10" dirty="0"/>
              <a:t> </a:t>
            </a:r>
            <a:r>
              <a:rPr sz="2400" dirty="0"/>
              <a:t>i</a:t>
            </a:r>
            <a:r>
              <a:rPr sz="2400" spc="-30" dirty="0"/>
              <a:t> </a:t>
            </a:r>
            <a:r>
              <a:rPr sz="2400" dirty="0"/>
              <a:t>=</a:t>
            </a:r>
            <a:r>
              <a:rPr sz="2400" spc="-15" dirty="0"/>
              <a:t> </a:t>
            </a:r>
            <a:r>
              <a:rPr sz="2400" dirty="0"/>
              <a:t>iOb;</a:t>
            </a:r>
            <a:r>
              <a:rPr sz="2400" spc="-10" dirty="0"/>
              <a:t> </a:t>
            </a:r>
            <a:r>
              <a:rPr sz="2400" dirty="0"/>
              <a:t>//</a:t>
            </a:r>
            <a:r>
              <a:rPr sz="2400" spc="-10" dirty="0"/>
              <a:t> </a:t>
            </a:r>
            <a:r>
              <a:rPr sz="2400" spc="-25" dirty="0"/>
              <a:t>auto-</a:t>
            </a:r>
            <a:r>
              <a:rPr sz="2400" spc="-10" dirty="0"/>
              <a:t>unbox</a:t>
            </a:r>
            <a:endParaRPr sz="2400" dirty="0"/>
          </a:p>
          <a:p>
            <a:pPr marL="0" indent="0">
              <a:lnSpc>
                <a:spcPct val="100000"/>
              </a:lnSpc>
              <a:spcBef>
                <a:spcPts val="675"/>
              </a:spcBef>
              <a:buNone/>
            </a:pPr>
            <a:r>
              <a:rPr lang="en-IN" sz="2400" spc="-20" dirty="0"/>
              <a:t>              </a:t>
            </a:r>
            <a:r>
              <a:rPr sz="2400" spc="-20" dirty="0" err="1"/>
              <a:t>System.out.println</a:t>
            </a:r>
            <a:r>
              <a:rPr sz="2400" spc="-20" dirty="0"/>
              <a:t>(i</a:t>
            </a:r>
            <a:r>
              <a:rPr sz="2400" spc="10" dirty="0"/>
              <a:t> </a:t>
            </a:r>
            <a:r>
              <a:rPr sz="2400" dirty="0"/>
              <a:t>+</a:t>
            </a:r>
            <a:r>
              <a:rPr sz="2400" spc="-25" dirty="0"/>
              <a:t> </a:t>
            </a:r>
            <a:r>
              <a:rPr sz="2400" dirty="0"/>
              <a:t>"</a:t>
            </a:r>
            <a:r>
              <a:rPr sz="2400" spc="-35" dirty="0"/>
              <a:t> </a:t>
            </a:r>
            <a:r>
              <a:rPr sz="2400" dirty="0"/>
              <a:t>"</a:t>
            </a:r>
            <a:r>
              <a:rPr sz="2400" spc="-30" dirty="0"/>
              <a:t> </a:t>
            </a:r>
            <a:r>
              <a:rPr sz="2400" dirty="0"/>
              <a:t>+</a:t>
            </a:r>
            <a:r>
              <a:rPr sz="2400" spc="-20" dirty="0"/>
              <a:t> </a:t>
            </a:r>
            <a:r>
              <a:rPr sz="2400" dirty="0"/>
              <a:t>iOb);</a:t>
            </a:r>
            <a:r>
              <a:rPr sz="2400" spc="-30" dirty="0"/>
              <a:t> </a:t>
            </a:r>
            <a:r>
              <a:rPr sz="2400" dirty="0"/>
              <a:t>//</a:t>
            </a:r>
            <a:r>
              <a:rPr sz="2400" spc="-10" dirty="0"/>
              <a:t> </a:t>
            </a:r>
            <a:r>
              <a:rPr sz="2400" dirty="0"/>
              <a:t>displays</a:t>
            </a:r>
            <a:r>
              <a:rPr sz="2400" spc="-20" dirty="0"/>
              <a:t> </a:t>
            </a:r>
            <a:r>
              <a:rPr sz="2400" dirty="0"/>
              <a:t>100</a:t>
            </a:r>
            <a:r>
              <a:rPr sz="2400" spc="-10" dirty="0"/>
              <a:t> </a:t>
            </a:r>
            <a:endParaRPr lang="en-IN" sz="2400" spc="-10" dirty="0"/>
          </a:p>
          <a:p>
            <a:pPr marL="0" indent="0">
              <a:lnSpc>
                <a:spcPct val="100000"/>
              </a:lnSpc>
              <a:spcBef>
                <a:spcPts val="675"/>
              </a:spcBef>
              <a:buNone/>
            </a:pPr>
            <a:r>
              <a:rPr lang="en-IN" sz="2400" spc="-50" dirty="0"/>
              <a:t>        </a:t>
            </a:r>
            <a:r>
              <a:rPr sz="2400" spc="-50" dirty="0"/>
              <a:t>}</a:t>
            </a:r>
            <a:endParaRPr sz="2400" dirty="0"/>
          </a:p>
          <a:p>
            <a:pPr marL="0" indent="0">
              <a:lnSpc>
                <a:spcPct val="100000"/>
              </a:lnSpc>
              <a:spcBef>
                <a:spcPts val="670"/>
              </a:spcBef>
              <a:buNone/>
            </a:pPr>
            <a:r>
              <a:rPr sz="2400" spc="-50" dirty="0"/>
              <a:t>}</a:t>
            </a:r>
            <a:endParaRPr sz="2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58724" rIns="0" bIns="0" rtlCol="0">
            <a:spAutoFit/>
          </a:bodyPr>
          <a:lstStyle/>
          <a:p>
            <a:pPr marL="546100">
              <a:lnSpc>
                <a:spcPct val="100000"/>
              </a:lnSpc>
              <a:spcBef>
                <a:spcPts val="105"/>
              </a:spcBef>
            </a:pPr>
            <a:r>
              <a:rPr sz="4400" b="0" dirty="0">
                <a:latin typeface="Carlito"/>
                <a:cs typeface="Carlito"/>
              </a:rPr>
              <a:t>Autoboxing</a:t>
            </a:r>
            <a:r>
              <a:rPr sz="4400" b="0" spc="-125" dirty="0">
                <a:latin typeface="Carlito"/>
                <a:cs typeface="Carlito"/>
              </a:rPr>
              <a:t> </a:t>
            </a:r>
            <a:r>
              <a:rPr sz="4400" b="0" dirty="0">
                <a:latin typeface="Carlito"/>
                <a:cs typeface="Carlito"/>
              </a:rPr>
              <a:t>and</a:t>
            </a:r>
            <a:r>
              <a:rPr sz="4400" b="0" spc="-114" dirty="0">
                <a:latin typeface="Carlito"/>
                <a:cs typeface="Carlito"/>
              </a:rPr>
              <a:t> </a:t>
            </a:r>
            <a:r>
              <a:rPr sz="4400" b="0" spc="-10" dirty="0">
                <a:latin typeface="Carlito"/>
                <a:cs typeface="Carlito"/>
              </a:rPr>
              <a:t>Methods</a:t>
            </a:r>
            <a:endParaRPr sz="4400">
              <a:latin typeface="Carlito"/>
              <a:cs typeface="Carlito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 vert="horz" wrap="square" lIns="0" tIns="223210" rIns="0" bIns="0" rtlCol="0">
            <a:spAutoFit/>
          </a:bodyPr>
          <a:lstStyle/>
          <a:p>
            <a:pPr marL="317500">
              <a:lnSpc>
                <a:spcPct val="100000"/>
              </a:lnSpc>
              <a:spcBef>
                <a:spcPts val="105"/>
              </a:spcBef>
            </a:pPr>
            <a:r>
              <a:rPr sz="2000" dirty="0"/>
              <a:t>class</a:t>
            </a:r>
            <a:r>
              <a:rPr sz="2000" spc="-70" dirty="0"/>
              <a:t> </a:t>
            </a:r>
            <a:r>
              <a:rPr sz="2000" dirty="0"/>
              <a:t>AutoBox2</a:t>
            </a:r>
            <a:r>
              <a:rPr sz="2000" spc="-100" dirty="0"/>
              <a:t> </a:t>
            </a:r>
            <a:r>
              <a:rPr sz="2000" spc="-50" dirty="0"/>
              <a:t>{</a:t>
            </a:r>
            <a:endParaRPr sz="2000"/>
          </a:p>
          <a:p>
            <a:pPr marL="317500" marR="1895475">
              <a:lnSpc>
                <a:spcPct val="100000"/>
              </a:lnSpc>
            </a:pPr>
            <a:r>
              <a:rPr sz="2000" dirty="0"/>
              <a:t>//</a:t>
            </a:r>
            <a:r>
              <a:rPr sz="2000" spc="-45" dirty="0"/>
              <a:t> </a:t>
            </a:r>
            <a:r>
              <a:rPr sz="2000" spc="-55" dirty="0"/>
              <a:t>Take</a:t>
            </a:r>
            <a:r>
              <a:rPr sz="2000" spc="-40" dirty="0"/>
              <a:t> </a:t>
            </a:r>
            <a:r>
              <a:rPr sz="2000" dirty="0"/>
              <a:t>an</a:t>
            </a:r>
            <a:r>
              <a:rPr sz="2000" spc="-40" dirty="0"/>
              <a:t> </a:t>
            </a:r>
            <a:r>
              <a:rPr sz="2000" dirty="0"/>
              <a:t>Integer</a:t>
            </a:r>
            <a:r>
              <a:rPr sz="2000" spc="-55" dirty="0"/>
              <a:t> </a:t>
            </a:r>
            <a:r>
              <a:rPr sz="2000" spc="-10" dirty="0"/>
              <a:t>parameter</a:t>
            </a:r>
            <a:r>
              <a:rPr sz="2000" spc="-30" dirty="0"/>
              <a:t> </a:t>
            </a:r>
            <a:r>
              <a:rPr sz="2000" dirty="0"/>
              <a:t>and</a:t>
            </a:r>
            <a:r>
              <a:rPr sz="2000" spc="-30" dirty="0"/>
              <a:t> </a:t>
            </a:r>
            <a:r>
              <a:rPr sz="2000" dirty="0"/>
              <a:t>return</a:t>
            </a:r>
            <a:r>
              <a:rPr sz="2000" spc="-35" dirty="0"/>
              <a:t> </a:t>
            </a:r>
            <a:r>
              <a:rPr sz="2000" dirty="0"/>
              <a:t>an</a:t>
            </a:r>
            <a:r>
              <a:rPr sz="2000" spc="-40" dirty="0"/>
              <a:t> </a:t>
            </a:r>
            <a:r>
              <a:rPr sz="2000" dirty="0"/>
              <a:t>int</a:t>
            </a:r>
            <a:r>
              <a:rPr sz="2000" spc="-35" dirty="0"/>
              <a:t> </a:t>
            </a:r>
            <a:r>
              <a:rPr sz="2000" spc="-10" dirty="0"/>
              <a:t>value; </a:t>
            </a:r>
            <a:r>
              <a:rPr sz="2000" dirty="0"/>
              <a:t>static</a:t>
            </a:r>
            <a:r>
              <a:rPr sz="2000" spc="-50" dirty="0"/>
              <a:t> </a:t>
            </a:r>
            <a:r>
              <a:rPr sz="2000" dirty="0"/>
              <a:t>int</a:t>
            </a:r>
            <a:r>
              <a:rPr sz="2000" spc="-65" dirty="0"/>
              <a:t> </a:t>
            </a:r>
            <a:r>
              <a:rPr sz="2000" dirty="0"/>
              <a:t>m(Integer</a:t>
            </a:r>
            <a:r>
              <a:rPr sz="2000" spc="-65" dirty="0"/>
              <a:t> </a:t>
            </a:r>
            <a:r>
              <a:rPr sz="2000" dirty="0"/>
              <a:t>v)</a:t>
            </a:r>
            <a:r>
              <a:rPr sz="2000" spc="-70" dirty="0"/>
              <a:t> </a:t>
            </a:r>
            <a:r>
              <a:rPr sz="2000" spc="-50" dirty="0"/>
              <a:t>{</a:t>
            </a:r>
            <a:endParaRPr sz="2000"/>
          </a:p>
          <a:p>
            <a:pPr marL="317500">
              <a:lnSpc>
                <a:spcPct val="100000"/>
              </a:lnSpc>
            </a:pPr>
            <a:r>
              <a:rPr sz="2000" dirty="0"/>
              <a:t>return</a:t>
            </a:r>
            <a:r>
              <a:rPr sz="2000" spc="-25" dirty="0"/>
              <a:t> </a:t>
            </a:r>
            <a:r>
              <a:rPr sz="2000" dirty="0"/>
              <a:t>v</a:t>
            </a:r>
            <a:r>
              <a:rPr sz="2000" spc="-45" dirty="0"/>
              <a:t> </a:t>
            </a:r>
            <a:r>
              <a:rPr sz="2000" dirty="0"/>
              <a:t>;</a:t>
            </a:r>
            <a:r>
              <a:rPr sz="2000" spc="-30" dirty="0"/>
              <a:t> </a:t>
            </a:r>
            <a:r>
              <a:rPr sz="2000" dirty="0"/>
              <a:t>//</a:t>
            </a:r>
            <a:r>
              <a:rPr sz="2000" spc="-35" dirty="0"/>
              <a:t> </a:t>
            </a:r>
            <a:r>
              <a:rPr sz="2000" spc="-10" dirty="0"/>
              <a:t>auto-</a:t>
            </a:r>
            <a:r>
              <a:rPr sz="2000" dirty="0"/>
              <a:t>unbox</a:t>
            </a:r>
            <a:r>
              <a:rPr sz="2000" spc="-65" dirty="0"/>
              <a:t> </a:t>
            </a:r>
            <a:r>
              <a:rPr sz="2000" dirty="0"/>
              <a:t>to</a:t>
            </a:r>
            <a:r>
              <a:rPr sz="2000" spc="-30" dirty="0"/>
              <a:t> </a:t>
            </a:r>
            <a:r>
              <a:rPr sz="2000" spc="-25" dirty="0"/>
              <a:t>int</a:t>
            </a:r>
            <a:endParaRPr sz="2000"/>
          </a:p>
          <a:p>
            <a:pPr marL="317500">
              <a:lnSpc>
                <a:spcPct val="100000"/>
              </a:lnSpc>
            </a:pPr>
            <a:r>
              <a:rPr sz="2000" spc="-50" dirty="0"/>
              <a:t>}</a:t>
            </a:r>
            <a:endParaRPr sz="2000"/>
          </a:p>
          <a:p>
            <a:pPr marL="317500">
              <a:lnSpc>
                <a:spcPct val="100000"/>
              </a:lnSpc>
            </a:pPr>
            <a:r>
              <a:rPr sz="2000" dirty="0"/>
              <a:t>public</a:t>
            </a:r>
            <a:r>
              <a:rPr sz="2000" spc="-85" dirty="0"/>
              <a:t> </a:t>
            </a:r>
            <a:r>
              <a:rPr sz="2000" dirty="0"/>
              <a:t>static</a:t>
            </a:r>
            <a:r>
              <a:rPr sz="2000" spc="-50" dirty="0"/>
              <a:t> </a:t>
            </a:r>
            <a:r>
              <a:rPr sz="2000" dirty="0"/>
              <a:t>void</a:t>
            </a:r>
            <a:r>
              <a:rPr sz="2000" spc="-80" dirty="0"/>
              <a:t> </a:t>
            </a:r>
            <a:r>
              <a:rPr sz="2000" dirty="0"/>
              <a:t>main(String</a:t>
            </a:r>
            <a:r>
              <a:rPr sz="2000" spc="-60" dirty="0"/>
              <a:t> </a:t>
            </a:r>
            <a:r>
              <a:rPr sz="2000" dirty="0"/>
              <a:t>args[])</a:t>
            </a:r>
            <a:r>
              <a:rPr sz="2000" spc="-65" dirty="0"/>
              <a:t> </a:t>
            </a:r>
            <a:r>
              <a:rPr sz="2000" spc="-50" dirty="0"/>
              <a:t>{</a:t>
            </a:r>
            <a:endParaRPr sz="2000"/>
          </a:p>
          <a:p>
            <a:pPr marL="317500">
              <a:lnSpc>
                <a:spcPts val="2160"/>
              </a:lnSpc>
            </a:pPr>
            <a:r>
              <a:rPr sz="2000" dirty="0"/>
              <a:t>//</a:t>
            </a:r>
            <a:r>
              <a:rPr sz="2000" spc="-45" dirty="0"/>
              <a:t> </a:t>
            </a:r>
            <a:r>
              <a:rPr sz="2000" dirty="0"/>
              <a:t>Pass</a:t>
            </a:r>
            <a:r>
              <a:rPr sz="2000" spc="-40" dirty="0"/>
              <a:t> </a:t>
            </a:r>
            <a:r>
              <a:rPr sz="2000" dirty="0"/>
              <a:t>an</a:t>
            </a:r>
            <a:r>
              <a:rPr sz="2000" spc="-35" dirty="0"/>
              <a:t> </a:t>
            </a:r>
            <a:r>
              <a:rPr sz="2000" dirty="0"/>
              <a:t>int</a:t>
            </a:r>
            <a:r>
              <a:rPr sz="2000" spc="-40" dirty="0"/>
              <a:t> </a:t>
            </a:r>
            <a:r>
              <a:rPr sz="2000" dirty="0"/>
              <a:t>to</a:t>
            </a:r>
            <a:r>
              <a:rPr sz="2000" spc="-40" dirty="0"/>
              <a:t> </a:t>
            </a:r>
            <a:r>
              <a:rPr sz="2000" dirty="0"/>
              <a:t>m()</a:t>
            </a:r>
            <a:r>
              <a:rPr sz="2000" spc="-35" dirty="0"/>
              <a:t> </a:t>
            </a:r>
            <a:r>
              <a:rPr sz="2000" dirty="0"/>
              <a:t>and</a:t>
            </a:r>
            <a:r>
              <a:rPr sz="2000" spc="-55" dirty="0"/>
              <a:t> </a:t>
            </a:r>
            <a:r>
              <a:rPr sz="2000" dirty="0"/>
              <a:t>assign</a:t>
            </a:r>
            <a:r>
              <a:rPr sz="2000" spc="-40" dirty="0"/>
              <a:t> </a:t>
            </a:r>
            <a:r>
              <a:rPr sz="2000" dirty="0"/>
              <a:t>the</a:t>
            </a:r>
            <a:r>
              <a:rPr sz="2000" spc="-40" dirty="0"/>
              <a:t> </a:t>
            </a:r>
            <a:r>
              <a:rPr sz="2000" dirty="0"/>
              <a:t>return</a:t>
            </a:r>
            <a:r>
              <a:rPr sz="2000" spc="-30" dirty="0"/>
              <a:t> </a:t>
            </a:r>
            <a:r>
              <a:rPr sz="2000" dirty="0"/>
              <a:t>value</a:t>
            </a:r>
            <a:r>
              <a:rPr sz="2000" spc="-50" dirty="0"/>
              <a:t> </a:t>
            </a:r>
            <a:r>
              <a:rPr sz="2000" dirty="0"/>
              <a:t>to</a:t>
            </a:r>
            <a:r>
              <a:rPr sz="2000" spc="-40" dirty="0"/>
              <a:t> </a:t>
            </a:r>
            <a:r>
              <a:rPr sz="2000" dirty="0"/>
              <a:t>an</a:t>
            </a:r>
            <a:r>
              <a:rPr sz="2000" spc="-50" dirty="0"/>
              <a:t> </a:t>
            </a:r>
            <a:r>
              <a:rPr sz="2000" spc="-35" dirty="0"/>
              <a:t>Integer.</a:t>
            </a:r>
            <a:r>
              <a:rPr sz="2000" spc="-55" dirty="0"/>
              <a:t> </a:t>
            </a:r>
            <a:r>
              <a:rPr sz="2000" dirty="0"/>
              <a:t>Here,</a:t>
            </a:r>
            <a:r>
              <a:rPr sz="2000" spc="-40" dirty="0"/>
              <a:t> </a:t>
            </a:r>
            <a:r>
              <a:rPr sz="2000" spc="-25" dirty="0"/>
              <a:t>the</a:t>
            </a:r>
            <a:endParaRPr sz="2000"/>
          </a:p>
          <a:p>
            <a:pPr marL="317500">
              <a:lnSpc>
                <a:spcPts val="1920"/>
              </a:lnSpc>
            </a:pPr>
            <a:r>
              <a:rPr sz="2000" spc="-10" dirty="0"/>
              <a:t>//argument</a:t>
            </a:r>
            <a:r>
              <a:rPr sz="2000" spc="-60" dirty="0"/>
              <a:t> </a:t>
            </a:r>
            <a:r>
              <a:rPr sz="2000" dirty="0"/>
              <a:t>100</a:t>
            </a:r>
            <a:r>
              <a:rPr sz="2000" spc="-45" dirty="0"/>
              <a:t> </a:t>
            </a:r>
            <a:r>
              <a:rPr sz="2000" dirty="0"/>
              <a:t>is</a:t>
            </a:r>
            <a:r>
              <a:rPr sz="2000" spc="-35" dirty="0"/>
              <a:t> </a:t>
            </a:r>
            <a:r>
              <a:rPr sz="2000" spc="-10" dirty="0"/>
              <a:t>autoboxed</a:t>
            </a:r>
            <a:r>
              <a:rPr sz="2000" spc="-65" dirty="0"/>
              <a:t> </a:t>
            </a:r>
            <a:r>
              <a:rPr sz="2000" dirty="0"/>
              <a:t>into</a:t>
            </a:r>
            <a:r>
              <a:rPr sz="2000" spc="-35" dirty="0"/>
              <a:t> </a:t>
            </a:r>
            <a:r>
              <a:rPr sz="2000" dirty="0"/>
              <a:t>an</a:t>
            </a:r>
            <a:r>
              <a:rPr sz="2000" spc="-40" dirty="0"/>
              <a:t> </a:t>
            </a:r>
            <a:r>
              <a:rPr sz="2000" spc="-30" dirty="0"/>
              <a:t>Integer.</a:t>
            </a:r>
            <a:r>
              <a:rPr sz="2000" spc="-40" dirty="0"/>
              <a:t> </a:t>
            </a:r>
            <a:r>
              <a:rPr sz="2000" dirty="0"/>
              <a:t>The</a:t>
            </a:r>
            <a:r>
              <a:rPr sz="2000" spc="-50" dirty="0"/>
              <a:t> </a:t>
            </a:r>
            <a:r>
              <a:rPr sz="2000" dirty="0"/>
              <a:t>return</a:t>
            </a:r>
            <a:r>
              <a:rPr sz="2000" spc="-35" dirty="0"/>
              <a:t> </a:t>
            </a:r>
            <a:r>
              <a:rPr sz="2000" dirty="0"/>
              <a:t>value</a:t>
            </a:r>
            <a:r>
              <a:rPr sz="2000" spc="-40" dirty="0"/>
              <a:t> </a:t>
            </a:r>
            <a:r>
              <a:rPr sz="2000" dirty="0"/>
              <a:t>is</a:t>
            </a:r>
            <a:r>
              <a:rPr sz="2000" spc="-45" dirty="0"/>
              <a:t> </a:t>
            </a:r>
            <a:r>
              <a:rPr sz="2000" spc="-20" dirty="0"/>
              <a:t>also</a:t>
            </a:r>
            <a:endParaRPr sz="2000"/>
          </a:p>
          <a:p>
            <a:pPr marL="317500">
              <a:lnSpc>
                <a:spcPts val="2160"/>
              </a:lnSpc>
            </a:pPr>
            <a:r>
              <a:rPr sz="2000" spc="-20" dirty="0"/>
              <a:t>//autoboxed</a:t>
            </a:r>
            <a:r>
              <a:rPr sz="2000" spc="-45" dirty="0"/>
              <a:t> </a:t>
            </a:r>
            <a:r>
              <a:rPr sz="2000" dirty="0"/>
              <a:t>into</a:t>
            </a:r>
            <a:r>
              <a:rPr sz="2000" spc="-10" dirty="0"/>
              <a:t> </a:t>
            </a:r>
            <a:r>
              <a:rPr sz="2000" dirty="0"/>
              <a:t>an</a:t>
            </a:r>
            <a:r>
              <a:rPr sz="2000" spc="-10" dirty="0"/>
              <a:t> Integer.</a:t>
            </a:r>
            <a:endParaRPr sz="2000"/>
          </a:p>
          <a:p>
            <a:pPr marL="317500">
              <a:lnSpc>
                <a:spcPct val="100000"/>
              </a:lnSpc>
              <a:spcBef>
                <a:spcPts val="2400"/>
              </a:spcBef>
            </a:pPr>
            <a:r>
              <a:rPr sz="2000" dirty="0"/>
              <a:t>Integer</a:t>
            </a:r>
            <a:r>
              <a:rPr sz="2000" spc="-55" dirty="0"/>
              <a:t> </a:t>
            </a:r>
            <a:r>
              <a:rPr sz="2000" dirty="0"/>
              <a:t>iOb</a:t>
            </a:r>
            <a:r>
              <a:rPr sz="2000" spc="-50" dirty="0"/>
              <a:t> </a:t>
            </a:r>
            <a:r>
              <a:rPr sz="2000" dirty="0"/>
              <a:t>=</a:t>
            </a:r>
            <a:r>
              <a:rPr sz="2000" spc="-35" dirty="0"/>
              <a:t> </a:t>
            </a:r>
            <a:r>
              <a:rPr sz="2000" spc="-10" dirty="0"/>
              <a:t>m(100);</a:t>
            </a:r>
            <a:endParaRPr sz="2000"/>
          </a:p>
          <a:p>
            <a:pPr marL="317500">
              <a:lnSpc>
                <a:spcPct val="100000"/>
              </a:lnSpc>
              <a:spcBef>
                <a:spcPts val="5"/>
              </a:spcBef>
            </a:pPr>
            <a:r>
              <a:rPr sz="2000" spc="-10" dirty="0"/>
              <a:t>System.out.println(iOb);</a:t>
            </a:r>
            <a:endParaRPr sz="2000"/>
          </a:p>
          <a:p>
            <a:pPr marL="317500">
              <a:lnSpc>
                <a:spcPct val="100000"/>
              </a:lnSpc>
            </a:pPr>
            <a:r>
              <a:rPr sz="2000" spc="-50" dirty="0"/>
              <a:t>}</a:t>
            </a:r>
            <a:endParaRPr sz="2000"/>
          </a:p>
          <a:p>
            <a:pPr marL="317500">
              <a:lnSpc>
                <a:spcPct val="100000"/>
              </a:lnSpc>
            </a:pPr>
            <a:r>
              <a:rPr sz="2000" spc="-50" dirty="0"/>
              <a:t>}</a:t>
            </a:r>
            <a:endParaRPr sz="20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58724" rIns="0" bIns="0" rtlCol="0">
            <a:spAutoFit/>
          </a:bodyPr>
          <a:lstStyle/>
          <a:p>
            <a:pPr marL="546100">
              <a:lnSpc>
                <a:spcPct val="100000"/>
              </a:lnSpc>
              <a:spcBef>
                <a:spcPts val="105"/>
              </a:spcBef>
            </a:pPr>
            <a:r>
              <a:rPr sz="4400" b="0" dirty="0">
                <a:latin typeface="Carlito"/>
                <a:cs typeface="Carlito"/>
              </a:rPr>
              <a:t>Annotations</a:t>
            </a:r>
            <a:r>
              <a:rPr sz="4400" b="0" spc="-225" dirty="0">
                <a:latin typeface="Carlito"/>
                <a:cs typeface="Carlito"/>
              </a:rPr>
              <a:t> </a:t>
            </a:r>
            <a:r>
              <a:rPr sz="4400" b="0" spc="-10" dirty="0">
                <a:latin typeface="Carlito"/>
                <a:cs typeface="Carlito"/>
              </a:rPr>
              <a:t>(Metadata)</a:t>
            </a:r>
            <a:endParaRPr sz="4400">
              <a:latin typeface="Carlito"/>
              <a:cs typeface="Carlito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41044" y="1614678"/>
            <a:ext cx="7919720" cy="150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6350" indent="-342900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355600" algn="l"/>
                <a:tab pos="993775" algn="l"/>
                <a:tab pos="1478280" algn="l"/>
                <a:tab pos="1803400" algn="l"/>
                <a:tab pos="2345690" algn="l"/>
                <a:tab pos="2815590" algn="l"/>
                <a:tab pos="3924935" algn="l"/>
                <a:tab pos="4185920" algn="l"/>
                <a:tab pos="5012055" algn="l"/>
                <a:tab pos="5544185" algn="l"/>
                <a:tab pos="6415405" algn="l"/>
                <a:tab pos="6908165" algn="l"/>
                <a:tab pos="7254240" algn="l"/>
              </a:tabLst>
            </a:pPr>
            <a:r>
              <a:rPr spc="-10" dirty="0">
                <a:latin typeface="Carlito"/>
                <a:cs typeface="Carlito"/>
              </a:rPr>
              <a:t>Since</a:t>
            </a:r>
            <a:r>
              <a:rPr dirty="0">
                <a:latin typeface="Carlito"/>
                <a:cs typeface="Carlito"/>
              </a:rPr>
              <a:t>	</a:t>
            </a:r>
            <a:r>
              <a:rPr spc="-25" dirty="0">
                <a:latin typeface="Carlito"/>
                <a:cs typeface="Carlito"/>
              </a:rPr>
              <a:t>JDK</a:t>
            </a:r>
            <a:r>
              <a:rPr dirty="0">
                <a:latin typeface="Carlito"/>
                <a:cs typeface="Carlito"/>
              </a:rPr>
              <a:t>	</a:t>
            </a:r>
            <a:r>
              <a:rPr spc="-25" dirty="0">
                <a:latin typeface="Carlito"/>
                <a:cs typeface="Carlito"/>
              </a:rPr>
              <a:t>5,</a:t>
            </a:r>
            <a:r>
              <a:rPr dirty="0">
                <a:latin typeface="Carlito"/>
                <a:cs typeface="Carlito"/>
              </a:rPr>
              <a:t>	</a:t>
            </a:r>
            <a:r>
              <a:rPr spc="-20" dirty="0">
                <a:latin typeface="Carlito"/>
                <a:cs typeface="Carlito"/>
              </a:rPr>
              <a:t>Java</a:t>
            </a:r>
            <a:r>
              <a:rPr dirty="0">
                <a:latin typeface="Carlito"/>
                <a:cs typeface="Carlito"/>
              </a:rPr>
              <a:t>	</a:t>
            </a:r>
            <a:r>
              <a:rPr spc="-25" dirty="0">
                <a:latin typeface="Carlito"/>
                <a:cs typeface="Carlito"/>
              </a:rPr>
              <a:t>has</a:t>
            </a:r>
            <a:r>
              <a:rPr dirty="0">
                <a:latin typeface="Carlito"/>
                <a:cs typeface="Carlito"/>
              </a:rPr>
              <a:t>	</a:t>
            </a:r>
            <a:r>
              <a:rPr spc="-10" dirty="0">
                <a:latin typeface="Carlito"/>
                <a:cs typeface="Carlito"/>
              </a:rPr>
              <a:t>supported</a:t>
            </a:r>
            <a:r>
              <a:rPr dirty="0">
                <a:latin typeface="Carlito"/>
                <a:cs typeface="Carlito"/>
              </a:rPr>
              <a:t>	</a:t>
            </a:r>
            <a:r>
              <a:rPr spc="-50" dirty="0">
                <a:latin typeface="Carlito"/>
                <a:cs typeface="Carlito"/>
              </a:rPr>
              <a:t>a</a:t>
            </a:r>
            <a:r>
              <a:rPr dirty="0">
                <a:latin typeface="Carlito"/>
                <a:cs typeface="Carlito"/>
              </a:rPr>
              <a:t>	</a:t>
            </a:r>
            <a:r>
              <a:rPr spc="-10" dirty="0">
                <a:latin typeface="Carlito"/>
                <a:cs typeface="Carlito"/>
              </a:rPr>
              <a:t>feature</a:t>
            </a:r>
            <a:r>
              <a:rPr dirty="0">
                <a:latin typeface="Carlito"/>
                <a:cs typeface="Carlito"/>
              </a:rPr>
              <a:t>	</a:t>
            </a:r>
            <a:r>
              <a:rPr spc="-20" dirty="0">
                <a:latin typeface="Carlito"/>
                <a:cs typeface="Carlito"/>
              </a:rPr>
              <a:t>that</a:t>
            </a:r>
            <a:r>
              <a:rPr dirty="0">
                <a:latin typeface="Carlito"/>
                <a:cs typeface="Carlito"/>
              </a:rPr>
              <a:t>	</a:t>
            </a:r>
            <a:r>
              <a:rPr spc="-10" dirty="0">
                <a:latin typeface="Carlito"/>
                <a:cs typeface="Carlito"/>
              </a:rPr>
              <a:t>enables</a:t>
            </a:r>
            <a:r>
              <a:rPr dirty="0">
                <a:latin typeface="Carlito"/>
                <a:cs typeface="Carlito"/>
              </a:rPr>
              <a:t>	</a:t>
            </a:r>
            <a:r>
              <a:rPr spc="-25" dirty="0">
                <a:latin typeface="Carlito"/>
                <a:cs typeface="Carlito"/>
              </a:rPr>
              <a:t>you</a:t>
            </a:r>
            <a:r>
              <a:rPr dirty="0">
                <a:latin typeface="Carlito"/>
                <a:cs typeface="Carlito"/>
              </a:rPr>
              <a:t>	</a:t>
            </a:r>
            <a:r>
              <a:rPr spc="-25" dirty="0">
                <a:latin typeface="Carlito"/>
                <a:cs typeface="Carlito"/>
              </a:rPr>
              <a:t>to</a:t>
            </a:r>
            <a:r>
              <a:rPr dirty="0">
                <a:latin typeface="Carlito"/>
                <a:cs typeface="Carlito"/>
              </a:rPr>
              <a:t>	</a:t>
            </a:r>
            <a:r>
              <a:rPr spc="-10" dirty="0">
                <a:latin typeface="Carlito"/>
                <a:cs typeface="Carlito"/>
              </a:rPr>
              <a:t>embed supplemental</a:t>
            </a:r>
            <a:r>
              <a:rPr spc="-20" dirty="0">
                <a:latin typeface="Carlito"/>
                <a:cs typeface="Carlito"/>
              </a:rPr>
              <a:t> </a:t>
            </a:r>
            <a:r>
              <a:rPr spc="-10" dirty="0">
                <a:latin typeface="Carlito"/>
                <a:cs typeface="Carlito"/>
              </a:rPr>
              <a:t>information</a:t>
            </a:r>
            <a:r>
              <a:rPr spc="-25" dirty="0">
                <a:latin typeface="Carlito"/>
                <a:cs typeface="Carlito"/>
              </a:rPr>
              <a:t> </a:t>
            </a:r>
            <a:r>
              <a:rPr dirty="0">
                <a:latin typeface="Carlito"/>
                <a:cs typeface="Carlito"/>
              </a:rPr>
              <a:t>into</a:t>
            </a:r>
            <a:r>
              <a:rPr spc="-30" dirty="0">
                <a:latin typeface="Carlito"/>
                <a:cs typeface="Carlito"/>
              </a:rPr>
              <a:t> </a:t>
            </a:r>
            <a:r>
              <a:rPr dirty="0">
                <a:latin typeface="Carlito"/>
                <a:cs typeface="Carlito"/>
              </a:rPr>
              <a:t>a</a:t>
            </a:r>
            <a:r>
              <a:rPr spc="-30" dirty="0">
                <a:latin typeface="Carlito"/>
                <a:cs typeface="Carlito"/>
              </a:rPr>
              <a:t> </a:t>
            </a:r>
            <a:r>
              <a:rPr dirty="0">
                <a:latin typeface="Carlito"/>
                <a:cs typeface="Carlito"/>
              </a:rPr>
              <a:t>source</a:t>
            </a:r>
            <a:r>
              <a:rPr spc="-20" dirty="0">
                <a:latin typeface="Carlito"/>
                <a:cs typeface="Carlito"/>
              </a:rPr>
              <a:t> </a:t>
            </a:r>
            <a:r>
              <a:rPr spc="-10" dirty="0">
                <a:latin typeface="Carlito"/>
                <a:cs typeface="Carlito"/>
              </a:rPr>
              <a:t>file.</a:t>
            </a:r>
            <a:endParaRPr dirty="0">
              <a:latin typeface="Carlito"/>
              <a:cs typeface="Carlito"/>
            </a:endParaRPr>
          </a:p>
          <a:p>
            <a:pPr marL="355600" marR="5080" indent="-342900">
              <a:lnSpc>
                <a:spcPct val="100000"/>
              </a:lnSpc>
              <a:spcBef>
                <a:spcPts val="430"/>
              </a:spcBef>
              <a:buFont typeface="Arial"/>
              <a:buChar char="•"/>
              <a:tabLst>
                <a:tab pos="355600" algn="l"/>
                <a:tab pos="861060" algn="l"/>
                <a:tab pos="2146300" algn="l"/>
                <a:tab pos="2823210" algn="l"/>
                <a:tab pos="3187065" algn="l"/>
                <a:tab pos="4400550" algn="l"/>
                <a:tab pos="4978400" algn="l"/>
                <a:tab pos="5427980" algn="l"/>
                <a:tab pos="6229985" algn="l"/>
                <a:tab pos="6675120" algn="l"/>
                <a:tab pos="7473315" algn="l"/>
                <a:tab pos="7796530" algn="l"/>
              </a:tabLst>
            </a:pPr>
            <a:r>
              <a:rPr spc="-20" dirty="0">
                <a:latin typeface="Carlito"/>
                <a:cs typeface="Carlito"/>
              </a:rPr>
              <a:t>This</a:t>
            </a:r>
            <a:r>
              <a:rPr dirty="0">
                <a:latin typeface="Carlito"/>
                <a:cs typeface="Carlito"/>
              </a:rPr>
              <a:t>	</a:t>
            </a:r>
            <a:r>
              <a:rPr spc="-10" dirty="0">
                <a:latin typeface="Carlito"/>
                <a:cs typeface="Carlito"/>
              </a:rPr>
              <a:t>information,</a:t>
            </a:r>
            <a:r>
              <a:rPr dirty="0">
                <a:latin typeface="Carlito"/>
                <a:cs typeface="Carlito"/>
              </a:rPr>
              <a:t>	</a:t>
            </a:r>
            <a:r>
              <a:rPr spc="-10" dirty="0">
                <a:latin typeface="Carlito"/>
                <a:cs typeface="Carlito"/>
              </a:rPr>
              <a:t>called</a:t>
            </a:r>
            <a:r>
              <a:rPr dirty="0">
                <a:latin typeface="Carlito"/>
                <a:cs typeface="Carlito"/>
              </a:rPr>
              <a:t>	</a:t>
            </a:r>
            <a:r>
              <a:rPr spc="-25" dirty="0">
                <a:latin typeface="Carlito"/>
                <a:cs typeface="Carlito"/>
              </a:rPr>
              <a:t>an</a:t>
            </a:r>
            <a:r>
              <a:rPr dirty="0">
                <a:latin typeface="Carlito"/>
                <a:cs typeface="Carlito"/>
              </a:rPr>
              <a:t>	</a:t>
            </a:r>
            <a:r>
              <a:rPr spc="-10" dirty="0">
                <a:latin typeface="Carlito"/>
                <a:cs typeface="Carlito"/>
              </a:rPr>
              <a:t>annotation,</a:t>
            </a:r>
            <a:r>
              <a:rPr dirty="0">
                <a:latin typeface="Carlito"/>
                <a:cs typeface="Carlito"/>
              </a:rPr>
              <a:t>	</a:t>
            </a:r>
            <a:r>
              <a:rPr spc="-20" dirty="0">
                <a:latin typeface="Carlito"/>
                <a:cs typeface="Carlito"/>
              </a:rPr>
              <a:t>does</a:t>
            </a:r>
            <a:r>
              <a:rPr dirty="0">
                <a:latin typeface="Carlito"/>
                <a:cs typeface="Carlito"/>
              </a:rPr>
              <a:t>	</a:t>
            </a:r>
            <a:r>
              <a:rPr spc="-25" dirty="0">
                <a:latin typeface="Carlito"/>
                <a:cs typeface="Carlito"/>
              </a:rPr>
              <a:t>not</a:t>
            </a:r>
            <a:r>
              <a:rPr dirty="0">
                <a:latin typeface="Carlito"/>
                <a:cs typeface="Carlito"/>
              </a:rPr>
              <a:t>	</a:t>
            </a:r>
            <a:r>
              <a:rPr spc="-10" dirty="0">
                <a:latin typeface="Carlito"/>
                <a:cs typeface="Carlito"/>
              </a:rPr>
              <a:t>change</a:t>
            </a:r>
            <a:r>
              <a:rPr dirty="0">
                <a:latin typeface="Carlito"/>
                <a:cs typeface="Carlito"/>
              </a:rPr>
              <a:t>	</a:t>
            </a:r>
            <a:r>
              <a:rPr spc="-25" dirty="0">
                <a:latin typeface="Carlito"/>
                <a:cs typeface="Carlito"/>
              </a:rPr>
              <a:t>the</a:t>
            </a:r>
            <a:r>
              <a:rPr dirty="0">
                <a:latin typeface="Carlito"/>
                <a:cs typeface="Carlito"/>
              </a:rPr>
              <a:t>	</a:t>
            </a:r>
            <a:r>
              <a:rPr spc="-10" dirty="0">
                <a:latin typeface="Carlito"/>
                <a:cs typeface="Carlito"/>
              </a:rPr>
              <a:t>actions</a:t>
            </a:r>
            <a:r>
              <a:rPr dirty="0">
                <a:latin typeface="Carlito"/>
                <a:cs typeface="Carlito"/>
              </a:rPr>
              <a:t>	</a:t>
            </a:r>
            <a:r>
              <a:rPr spc="-25" dirty="0">
                <a:latin typeface="Carlito"/>
                <a:cs typeface="Carlito"/>
              </a:rPr>
              <a:t>of</a:t>
            </a:r>
            <a:r>
              <a:rPr dirty="0">
                <a:latin typeface="Carlito"/>
                <a:cs typeface="Carlito"/>
              </a:rPr>
              <a:t>	</a:t>
            </a:r>
            <a:r>
              <a:rPr spc="-50" dirty="0">
                <a:latin typeface="Carlito"/>
                <a:cs typeface="Carlito"/>
              </a:rPr>
              <a:t>a </a:t>
            </a:r>
            <a:r>
              <a:rPr spc="-10" dirty="0">
                <a:latin typeface="Carlito"/>
                <a:cs typeface="Carlito"/>
              </a:rPr>
              <a:t>program.</a:t>
            </a:r>
            <a:endParaRPr dirty="0">
              <a:latin typeface="Carlito"/>
              <a:cs typeface="Carlito"/>
            </a:endParaRPr>
          </a:p>
          <a:p>
            <a:pPr marL="354965" indent="-342265">
              <a:lnSpc>
                <a:spcPct val="100000"/>
              </a:lnSpc>
              <a:spcBef>
                <a:spcPts val="434"/>
              </a:spcBef>
              <a:buFont typeface="Arial"/>
              <a:buChar char="•"/>
              <a:tabLst>
                <a:tab pos="354965" algn="l"/>
              </a:tabLst>
            </a:pPr>
            <a:r>
              <a:rPr dirty="0">
                <a:latin typeface="Carlito"/>
                <a:cs typeface="Carlito"/>
              </a:rPr>
              <a:t>An</a:t>
            </a:r>
            <a:r>
              <a:rPr spc="-40" dirty="0">
                <a:latin typeface="Carlito"/>
                <a:cs typeface="Carlito"/>
              </a:rPr>
              <a:t> </a:t>
            </a:r>
            <a:r>
              <a:rPr spc="-10" dirty="0">
                <a:latin typeface="Carlito"/>
                <a:cs typeface="Carlito"/>
              </a:rPr>
              <a:t>annotation</a:t>
            </a:r>
            <a:r>
              <a:rPr spc="-25" dirty="0">
                <a:latin typeface="Carlito"/>
                <a:cs typeface="Carlito"/>
              </a:rPr>
              <a:t> </a:t>
            </a:r>
            <a:r>
              <a:rPr dirty="0">
                <a:latin typeface="Carlito"/>
                <a:cs typeface="Carlito"/>
              </a:rPr>
              <a:t>leaves</a:t>
            </a:r>
            <a:r>
              <a:rPr spc="-40" dirty="0">
                <a:latin typeface="Carlito"/>
                <a:cs typeface="Carlito"/>
              </a:rPr>
              <a:t> </a:t>
            </a:r>
            <a:r>
              <a:rPr dirty="0">
                <a:latin typeface="Carlito"/>
                <a:cs typeface="Carlito"/>
              </a:rPr>
              <a:t>the</a:t>
            </a:r>
            <a:r>
              <a:rPr spc="-35" dirty="0">
                <a:latin typeface="Carlito"/>
                <a:cs typeface="Carlito"/>
              </a:rPr>
              <a:t> </a:t>
            </a:r>
            <a:r>
              <a:rPr dirty="0">
                <a:latin typeface="Carlito"/>
                <a:cs typeface="Carlito"/>
              </a:rPr>
              <a:t>semantics</a:t>
            </a:r>
            <a:r>
              <a:rPr spc="-35" dirty="0">
                <a:latin typeface="Carlito"/>
                <a:cs typeface="Carlito"/>
              </a:rPr>
              <a:t> </a:t>
            </a:r>
            <a:r>
              <a:rPr dirty="0">
                <a:latin typeface="Carlito"/>
                <a:cs typeface="Carlito"/>
              </a:rPr>
              <a:t>of</a:t>
            </a:r>
            <a:r>
              <a:rPr spc="-35" dirty="0">
                <a:latin typeface="Carlito"/>
                <a:cs typeface="Carlito"/>
              </a:rPr>
              <a:t> </a:t>
            </a:r>
            <a:r>
              <a:rPr dirty="0">
                <a:latin typeface="Carlito"/>
                <a:cs typeface="Carlito"/>
              </a:rPr>
              <a:t>a</a:t>
            </a:r>
            <a:r>
              <a:rPr spc="-40" dirty="0">
                <a:latin typeface="Carlito"/>
                <a:cs typeface="Carlito"/>
              </a:rPr>
              <a:t> </a:t>
            </a:r>
            <a:r>
              <a:rPr spc="-10" dirty="0">
                <a:latin typeface="Carlito"/>
                <a:cs typeface="Carlito"/>
              </a:rPr>
              <a:t>program</a:t>
            </a:r>
            <a:r>
              <a:rPr spc="-35" dirty="0">
                <a:latin typeface="Carlito"/>
                <a:cs typeface="Carlito"/>
              </a:rPr>
              <a:t> </a:t>
            </a:r>
            <a:r>
              <a:rPr spc="-10" dirty="0">
                <a:latin typeface="Carlito"/>
                <a:cs typeface="Carlito"/>
              </a:rPr>
              <a:t>unchanged</a:t>
            </a:r>
            <a:endParaRPr dirty="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58724" rIns="0" bIns="0" rtlCol="0">
            <a:spAutoFit/>
          </a:bodyPr>
          <a:lstStyle/>
          <a:p>
            <a:pPr marL="546100">
              <a:lnSpc>
                <a:spcPct val="100000"/>
              </a:lnSpc>
              <a:spcBef>
                <a:spcPts val="105"/>
              </a:spcBef>
            </a:pPr>
            <a:r>
              <a:rPr sz="4400" b="0" dirty="0">
                <a:latin typeface="Carlito"/>
                <a:cs typeface="Carlito"/>
              </a:rPr>
              <a:t>Annotation</a:t>
            </a:r>
            <a:r>
              <a:rPr sz="4400" b="0" spc="-130" dirty="0">
                <a:latin typeface="Carlito"/>
                <a:cs typeface="Carlito"/>
              </a:rPr>
              <a:t> </a:t>
            </a:r>
            <a:r>
              <a:rPr sz="4400" b="0" spc="-10" dirty="0">
                <a:latin typeface="Carlito"/>
                <a:cs typeface="Carlito"/>
              </a:rPr>
              <a:t>Basics</a:t>
            </a:r>
            <a:endParaRPr sz="4400">
              <a:latin typeface="Carlito"/>
              <a:cs typeface="Carlito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41044" y="1560191"/>
            <a:ext cx="7917180" cy="4854575"/>
          </a:xfrm>
          <a:prstGeom prst="rect">
            <a:avLst/>
          </a:prstGeom>
        </p:spPr>
        <p:txBody>
          <a:bodyPr vert="horz" wrap="square" lIns="0" tIns="6731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530"/>
              </a:spcBef>
              <a:buFont typeface="Arial"/>
              <a:buChar char="•"/>
              <a:tabLst>
                <a:tab pos="354965" algn="l"/>
              </a:tabLst>
            </a:pPr>
            <a:r>
              <a:rPr sz="1800" dirty="0">
                <a:latin typeface="Carlito"/>
                <a:cs typeface="Carlito"/>
              </a:rPr>
              <a:t>An</a:t>
            </a:r>
            <a:r>
              <a:rPr sz="1800" spc="-35" dirty="0">
                <a:latin typeface="Carlito"/>
                <a:cs typeface="Carlito"/>
              </a:rPr>
              <a:t> </a:t>
            </a:r>
            <a:r>
              <a:rPr sz="1800" spc="-10" dirty="0">
                <a:latin typeface="Carlito"/>
                <a:cs typeface="Carlito"/>
              </a:rPr>
              <a:t>annotation</a:t>
            </a:r>
            <a:r>
              <a:rPr sz="1800" spc="-20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is</a:t>
            </a:r>
            <a:r>
              <a:rPr sz="1800" spc="-30" dirty="0">
                <a:latin typeface="Carlito"/>
                <a:cs typeface="Carlito"/>
              </a:rPr>
              <a:t> </a:t>
            </a:r>
            <a:r>
              <a:rPr sz="1800" spc="-10" dirty="0">
                <a:latin typeface="Carlito"/>
                <a:cs typeface="Carlito"/>
              </a:rPr>
              <a:t>created</a:t>
            </a:r>
            <a:r>
              <a:rPr sz="1800" spc="-20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through</a:t>
            </a:r>
            <a:r>
              <a:rPr sz="1800" spc="-25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a</a:t>
            </a:r>
            <a:r>
              <a:rPr sz="1800" spc="-30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mechanism</a:t>
            </a:r>
            <a:r>
              <a:rPr sz="1800" spc="-20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based</a:t>
            </a:r>
            <a:r>
              <a:rPr sz="1800" spc="-40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on</a:t>
            </a:r>
            <a:r>
              <a:rPr sz="1800" spc="-20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the</a:t>
            </a:r>
            <a:r>
              <a:rPr sz="1800" spc="-20" dirty="0">
                <a:latin typeface="Carlito"/>
                <a:cs typeface="Carlito"/>
              </a:rPr>
              <a:t> </a:t>
            </a:r>
            <a:r>
              <a:rPr sz="1800" spc="-10" dirty="0">
                <a:latin typeface="Carlito"/>
                <a:cs typeface="Carlito"/>
              </a:rPr>
              <a:t>interface.</a:t>
            </a:r>
            <a:endParaRPr sz="1800">
              <a:latin typeface="Carlito"/>
              <a:cs typeface="Carlito"/>
            </a:endParaRPr>
          </a:p>
          <a:p>
            <a:pPr marL="354965" indent="-342265">
              <a:lnSpc>
                <a:spcPct val="100000"/>
              </a:lnSpc>
              <a:spcBef>
                <a:spcPts val="430"/>
              </a:spcBef>
              <a:buFont typeface="Arial"/>
              <a:buChar char="•"/>
              <a:tabLst>
                <a:tab pos="354965" algn="l"/>
              </a:tabLst>
            </a:pPr>
            <a:r>
              <a:rPr sz="1800" dirty="0">
                <a:latin typeface="Carlito"/>
                <a:cs typeface="Carlito"/>
              </a:rPr>
              <a:t>Let’s</a:t>
            </a:r>
            <a:r>
              <a:rPr sz="1800" spc="270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begin</a:t>
            </a:r>
            <a:r>
              <a:rPr sz="1800" spc="270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with</a:t>
            </a:r>
            <a:r>
              <a:rPr sz="1800" spc="285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an</a:t>
            </a:r>
            <a:r>
              <a:rPr sz="1800" spc="265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example.</a:t>
            </a:r>
            <a:r>
              <a:rPr sz="1800" spc="270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Here</a:t>
            </a:r>
            <a:r>
              <a:rPr sz="1800" spc="275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is</a:t>
            </a:r>
            <a:r>
              <a:rPr sz="1800" spc="270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the</a:t>
            </a:r>
            <a:r>
              <a:rPr sz="1800" spc="270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declaration</a:t>
            </a:r>
            <a:r>
              <a:rPr sz="1800" spc="265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for</a:t>
            </a:r>
            <a:r>
              <a:rPr sz="1800" spc="265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an</a:t>
            </a:r>
            <a:r>
              <a:rPr sz="1800" spc="265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annotation</a:t>
            </a:r>
            <a:r>
              <a:rPr sz="1800" spc="270" dirty="0">
                <a:latin typeface="Carlito"/>
                <a:cs typeface="Carlito"/>
              </a:rPr>
              <a:t> </a:t>
            </a:r>
            <a:r>
              <a:rPr sz="1800" spc="-10" dirty="0">
                <a:latin typeface="Carlito"/>
                <a:cs typeface="Carlito"/>
              </a:rPr>
              <a:t>called</a:t>
            </a:r>
            <a:endParaRPr sz="1800">
              <a:latin typeface="Carlito"/>
              <a:cs typeface="Carlito"/>
            </a:endParaRPr>
          </a:p>
          <a:p>
            <a:pPr marL="355600">
              <a:lnSpc>
                <a:spcPct val="100000"/>
              </a:lnSpc>
            </a:pPr>
            <a:r>
              <a:rPr sz="1800" spc="-10" dirty="0">
                <a:latin typeface="Carlito"/>
                <a:cs typeface="Carlito"/>
              </a:rPr>
              <a:t>MyAnno:</a:t>
            </a:r>
            <a:endParaRPr sz="1800">
              <a:latin typeface="Carlito"/>
              <a:cs typeface="Carlito"/>
            </a:endParaRPr>
          </a:p>
          <a:p>
            <a:pPr marL="413384" marR="4871085">
              <a:lnSpc>
                <a:spcPct val="120000"/>
              </a:lnSpc>
            </a:pPr>
            <a:r>
              <a:rPr sz="1800" dirty="0">
                <a:solidFill>
                  <a:srgbClr val="FF0000"/>
                </a:solidFill>
                <a:latin typeface="Carlito"/>
                <a:cs typeface="Carlito"/>
              </a:rPr>
              <a:t>//</a:t>
            </a:r>
            <a:r>
              <a:rPr sz="1800" spc="-10" dirty="0">
                <a:solidFill>
                  <a:srgbClr val="FF0000"/>
                </a:solidFill>
                <a:latin typeface="Carlito"/>
                <a:cs typeface="Carlito"/>
              </a:rPr>
              <a:t> </a:t>
            </a:r>
            <a:r>
              <a:rPr sz="1800" dirty="0">
                <a:solidFill>
                  <a:srgbClr val="FF0000"/>
                </a:solidFill>
                <a:latin typeface="Carlito"/>
                <a:cs typeface="Carlito"/>
              </a:rPr>
              <a:t>A</a:t>
            </a:r>
            <a:r>
              <a:rPr sz="1800" spc="-20" dirty="0">
                <a:solidFill>
                  <a:srgbClr val="FF0000"/>
                </a:solidFill>
                <a:latin typeface="Carlito"/>
                <a:cs typeface="Carlito"/>
              </a:rPr>
              <a:t> </a:t>
            </a:r>
            <a:r>
              <a:rPr sz="1800" dirty="0">
                <a:solidFill>
                  <a:srgbClr val="FF0000"/>
                </a:solidFill>
                <a:latin typeface="Carlito"/>
                <a:cs typeface="Carlito"/>
              </a:rPr>
              <a:t>simple</a:t>
            </a:r>
            <a:r>
              <a:rPr sz="1800" spc="-25" dirty="0">
                <a:solidFill>
                  <a:srgbClr val="FF0000"/>
                </a:solidFill>
                <a:latin typeface="Carlito"/>
                <a:cs typeface="Carlito"/>
              </a:rPr>
              <a:t> </a:t>
            </a:r>
            <a:r>
              <a:rPr sz="1800" spc="-10" dirty="0">
                <a:solidFill>
                  <a:srgbClr val="FF0000"/>
                </a:solidFill>
                <a:latin typeface="Carlito"/>
                <a:cs typeface="Carlito"/>
              </a:rPr>
              <a:t>annotation</a:t>
            </a:r>
            <a:r>
              <a:rPr sz="1800" spc="-20" dirty="0">
                <a:solidFill>
                  <a:srgbClr val="FF0000"/>
                </a:solidFill>
                <a:latin typeface="Carlito"/>
                <a:cs typeface="Carlito"/>
              </a:rPr>
              <a:t> </a:t>
            </a:r>
            <a:r>
              <a:rPr sz="1800" spc="-10" dirty="0">
                <a:solidFill>
                  <a:srgbClr val="FF0000"/>
                </a:solidFill>
                <a:latin typeface="Carlito"/>
                <a:cs typeface="Carlito"/>
              </a:rPr>
              <a:t>type. @interface</a:t>
            </a:r>
            <a:r>
              <a:rPr sz="1800" spc="-25" dirty="0">
                <a:solidFill>
                  <a:srgbClr val="FF0000"/>
                </a:solidFill>
                <a:latin typeface="Carlito"/>
                <a:cs typeface="Carlito"/>
              </a:rPr>
              <a:t> </a:t>
            </a:r>
            <a:r>
              <a:rPr sz="1800" dirty="0">
                <a:solidFill>
                  <a:srgbClr val="FF0000"/>
                </a:solidFill>
                <a:latin typeface="Carlito"/>
                <a:cs typeface="Carlito"/>
              </a:rPr>
              <a:t>MyAnno</a:t>
            </a:r>
            <a:r>
              <a:rPr sz="1800" spc="-55" dirty="0">
                <a:solidFill>
                  <a:srgbClr val="FF0000"/>
                </a:solidFill>
                <a:latin typeface="Carlito"/>
                <a:cs typeface="Carlito"/>
              </a:rPr>
              <a:t> </a:t>
            </a:r>
            <a:r>
              <a:rPr sz="1800" spc="-50" dirty="0">
                <a:solidFill>
                  <a:srgbClr val="FF0000"/>
                </a:solidFill>
                <a:latin typeface="Carlito"/>
                <a:cs typeface="Carlito"/>
              </a:rPr>
              <a:t>{</a:t>
            </a:r>
            <a:endParaRPr sz="1800">
              <a:latin typeface="Carlito"/>
              <a:cs typeface="Carlito"/>
            </a:endParaRPr>
          </a:p>
          <a:p>
            <a:pPr marL="413384" marR="6460490">
              <a:lnSpc>
                <a:spcPts val="2590"/>
              </a:lnSpc>
              <a:spcBef>
                <a:spcPts val="160"/>
              </a:spcBef>
            </a:pPr>
            <a:r>
              <a:rPr sz="1800" dirty="0">
                <a:solidFill>
                  <a:srgbClr val="FF0000"/>
                </a:solidFill>
                <a:latin typeface="Carlito"/>
                <a:cs typeface="Carlito"/>
              </a:rPr>
              <a:t>String</a:t>
            </a:r>
            <a:r>
              <a:rPr sz="1800" spc="-15" dirty="0">
                <a:solidFill>
                  <a:srgbClr val="FF0000"/>
                </a:solidFill>
                <a:latin typeface="Carlito"/>
                <a:cs typeface="Carlito"/>
              </a:rPr>
              <a:t> </a:t>
            </a:r>
            <a:r>
              <a:rPr sz="1800" spc="-10" dirty="0">
                <a:solidFill>
                  <a:srgbClr val="FF0000"/>
                </a:solidFill>
                <a:latin typeface="Carlito"/>
                <a:cs typeface="Carlito"/>
              </a:rPr>
              <a:t>str(); </a:t>
            </a:r>
            <a:r>
              <a:rPr sz="1800" dirty="0">
                <a:solidFill>
                  <a:srgbClr val="FF0000"/>
                </a:solidFill>
                <a:latin typeface="Carlito"/>
                <a:cs typeface="Carlito"/>
              </a:rPr>
              <a:t>int</a:t>
            </a:r>
            <a:r>
              <a:rPr sz="1800" spc="-20" dirty="0">
                <a:solidFill>
                  <a:srgbClr val="FF0000"/>
                </a:solidFill>
                <a:latin typeface="Carlito"/>
                <a:cs typeface="Carlito"/>
              </a:rPr>
              <a:t> </a:t>
            </a:r>
            <a:r>
              <a:rPr sz="1800" spc="-10" dirty="0">
                <a:solidFill>
                  <a:srgbClr val="FF0000"/>
                </a:solidFill>
                <a:latin typeface="Carlito"/>
                <a:cs typeface="Carlito"/>
              </a:rPr>
              <a:t>val();</a:t>
            </a:r>
            <a:endParaRPr sz="1800">
              <a:latin typeface="Carlito"/>
              <a:cs typeface="Carlito"/>
            </a:endParaRPr>
          </a:p>
          <a:p>
            <a:pPr marL="413384">
              <a:lnSpc>
                <a:spcPct val="100000"/>
              </a:lnSpc>
              <a:spcBef>
                <a:spcPts val="280"/>
              </a:spcBef>
            </a:pPr>
            <a:r>
              <a:rPr sz="1800" spc="-50" dirty="0">
                <a:solidFill>
                  <a:srgbClr val="FF0000"/>
                </a:solidFill>
                <a:latin typeface="Carlito"/>
                <a:cs typeface="Carlito"/>
              </a:rPr>
              <a:t>}</a:t>
            </a:r>
            <a:endParaRPr sz="1800">
              <a:latin typeface="Carlito"/>
              <a:cs typeface="Carlito"/>
            </a:endParaRPr>
          </a:p>
          <a:p>
            <a:pPr marL="354965" indent="-342265">
              <a:lnSpc>
                <a:spcPct val="100000"/>
              </a:lnSpc>
              <a:spcBef>
                <a:spcPts val="430"/>
              </a:spcBef>
              <a:buFont typeface="Arial"/>
              <a:buChar char="•"/>
              <a:tabLst>
                <a:tab pos="354965" algn="l"/>
              </a:tabLst>
            </a:pPr>
            <a:r>
              <a:rPr sz="1800" dirty="0">
                <a:latin typeface="Carlito"/>
                <a:cs typeface="Carlito"/>
              </a:rPr>
              <a:t>First,</a:t>
            </a:r>
            <a:r>
              <a:rPr sz="1800" spc="-50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notice</a:t>
            </a:r>
            <a:r>
              <a:rPr sz="1800" spc="-25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the</a:t>
            </a:r>
            <a:r>
              <a:rPr sz="1800" spc="-45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@</a:t>
            </a:r>
            <a:r>
              <a:rPr sz="1800" spc="-35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that</a:t>
            </a:r>
            <a:r>
              <a:rPr sz="1800" spc="-55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precedes</a:t>
            </a:r>
            <a:r>
              <a:rPr sz="1800" spc="-35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the</a:t>
            </a:r>
            <a:r>
              <a:rPr sz="1800" spc="-45" dirty="0">
                <a:latin typeface="Carlito"/>
                <a:cs typeface="Carlito"/>
              </a:rPr>
              <a:t> </a:t>
            </a:r>
            <a:r>
              <a:rPr sz="1800" spc="-10" dirty="0">
                <a:latin typeface="Carlito"/>
                <a:cs typeface="Carlito"/>
              </a:rPr>
              <a:t>keyword</a:t>
            </a:r>
            <a:r>
              <a:rPr sz="1800" spc="-50" dirty="0">
                <a:latin typeface="Carlito"/>
                <a:cs typeface="Carlito"/>
              </a:rPr>
              <a:t> </a:t>
            </a:r>
            <a:r>
              <a:rPr sz="1800" spc="-10" dirty="0">
                <a:latin typeface="Carlito"/>
                <a:cs typeface="Carlito"/>
              </a:rPr>
              <a:t>interface.</a:t>
            </a:r>
            <a:endParaRPr sz="1800">
              <a:latin typeface="Carlito"/>
              <a:cs typeface="Carlito"/>
            </a:endParaRPr>
          </a:p>
          <a:p>
            <a:pPr marL="354965" indent="-342265">
              <a:lnSpc>
                <a:spcPct val="100000"/>
              </a:lnSpc>
              <a:spcBef>
                <a:spcPts val="434"/>
              </a:spcBef>
              <a:buFont typeface="Arial"/>
              <a:buChar char="•"/>
              <a:tabLst>
                <a:tab pos="354965" algn="l"/>
              </a:tabLst>
            </a:pPr>
            <a:r>
              <a:rPr sz="1800" dirty="0">
                <a:latin typeface="Carlito"/>
                <a:cs typeface="Carlito"/>
              </a:rPr>
              <a:t>This</a:t>
            </a:r>
            <a:r>
              <a:rPr sz="1800" spc="-35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tells</a:t>
            </a:r>
            <a:r>
              <a:rPr sz="1800" spc="-15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the</a:t>
            </a:r>
            <a:r>
              <a:rPr sz="1800" spc="-20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compiler</a:t>
            </a:r>
            <a:r>
              <a:rPr sz="1800" spc="-25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that</a:t>
            </a:r>
            <a:r>
              <a:rPr sz="1800" spc="-35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an</a:t>
            </a:r>
            <a:r>
              <a:rPr sz="1800" spc="-25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annotation</a:t>
            </a:r>
            <a:r>
              <a:rPr sz="1800" spc="-35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type</a:t>
            </a:r>
            <a:r>
              <a:rPr sz="1800" spc="-35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is</a:t>
            </a:r>
            <a:r>
              <a:rPr sz="1800" spc="-25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being</a:t>
            </a:r>
            <a:r>
              <a:rPr sz="1800" spc="-25" dirty="0">
                <a:latin typeface="Carlito"/>
                <a:cs typeface="Carlito"/>
              </a:rPr>
              <a:t> </a:t>
            </a:r>
            <a:r>
              <a:rPr sz="1800" spc="-10" dirty="0">
                <a:latin typeface="Carlito"/>
                <a:cs typeface="Carlito"/>
              </a:rPr>
              <a:t>declared.</a:t>
            </a:r>
            <a:endParaRPr sz="1800">
              <a:latin typeface="Carlito"/>
              <a:cs typeface="Carlito"/>
            </a:endParaRPr>
          </a:p>
          <a:p>
            <a:pPr marL="354965" indent="-342265">
              <a:lnSpc>
                <a:spcPct val="100000"/>
              </a:lnSpc>
              <a:spcBef>
                <a:spcPts val="434"/>
              </a:spcBef>
              <a:buFont typeface="Arial"/>
              <a:buChar char="•"/>
              <a:tabLst>
                <a:tab pos="354965" algn="l"/>
              </a:tabLst>
            </a:pPr>
            <a:r>
              <a:rPr sz="1800" dirty="0">
                <a:latin typeface="Carlito"/>
                <a:cs typeface="Carlito"/>
              </a:rPr>
              <a:t>Next,</a:t>
            </a:r>
            <a:r>
              <a:rPr sz="1800" spc="-40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notice</a:t>
            </a:r>
            <a:r>
              <a:rPr sz="1800" spc="-30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the</a:t>
            </a:r>
            <a:r>
              <a:rPr sz="1800" spc="-25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two</a:t>
            </a:r>
            <a:r>
              <a:rPr sz="1800" spc="-45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members</a:t>
            </a:r>
            <a:r>
              <a:rPr sz="1800" spc="-40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str(</a:t>
            </a:r>
            <a:r>
              <a:rPr sz="1800" spc="-35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)</a:t>
            </a:r>
            <a:r>
              <a:rPr sz="1800" spc="-35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and</a:t>
            </a:r>
            <a:r>
              <a:rPr sz="1800" spc="-20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val(</a:t>
            </a:r>
            <a:r>
              <a:rPr sz="1800" spc="-40" dirty="0">
                <a:latin typeface="Carlito"/>
                <a:cs typeface="Carlito"/>
              </a:rPr>
              <a:t> </a:t>
            </a:r>
            <a:r>
              <a:rPr sz="1800" spc="-25" dirty="0">
                <a:latin typeface="Carlito"/>
                <a:cs typeface="Carlito"/>
              </a:rPr>
              <a:t>).</a:t>
            </a:r>
            <a:endParaRPr sz="1800">
              <a:latin typeface="Carlito"/>
              <a:cs typeface="Carlito"/>
            </a:endParaRPr>
          </a:p>
          <a:p>
            <a:pPr marL="354965" indent="-342265">
              <a:lnSpc>
                <a:spcPct val="100000"/>
              </a:lnSpc>
              <a:spcBef>
                <a:spcPts val="430"/>
              </a:spcBef>
              <a:buFont typeface="Arial"/>
              <a:buChar char="•"/>
              <a:tabLst>
                <a:tab pos="354965" algn="l"/>
              </a:tabLst>
            </a:pPr>
            <a:r>
              <a:rPr sz="1800" dirty="0">
                <a:latin typeface="Carlito"/>
                <a:cs typeface="Carlito"/>
              </a:rPr>
              <a:t>All</a:t>
            </a:r>
            <a:r>
              <a:rPr sz="1800" spc="-40" dirty="0">
                <a:latin typeface="Carlito"/>
                <a:cs typeface="Carlito"/>
              </a:rPr>
              <a:t> </a:t>
            </a:r>
            <a:r>
              <a:rPr sz="1800" spc="-10" dirty="0">
                <a:latin typeface="Carlito"/>
                <a:cs typeface="Carlito"/>
              </a:rPr>
              <a:t>annotations</a:t>
            </a:r>
            <a:r>
              <a:rPr sz="1800" spc="-25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consist</a:t>
            </a:r>
            <a:r>
              <a:rPr sz="1800" spc="-40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solely</a:t>
            </a:r>
            <a:r>
              <a:rPr sz="1800" spc="-30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of</a:t>
            </a:r>
            <a:r>
              <a:rPr sz="1800" spc="-30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method</a:t>
            </a:r>
            <a:r>
              <a:rPr sz="1800" spc="-20" dirty="0">
                <a:latin typeface="Carlito"/>
                <a:cs typeface="Carlito"/>
              </a:rPr>
              <a:t> </a:t>
            </a:r>
            <a:r>
              <a:rPr sz="1800" spc="-10" dirty="0">
                <a:latin typeface="Carlito"/>
                <a:cs typeface="Carlito"/>
              </a:rPr>
              <a:t>declarations</a:t>
            </a:r>
            <a:endParaRPr sz="1800">
              <a:latin typeface="Carlito"/>
              <a:cs typeface="Carlito"/>
            </a:endParaRPr>
          </a:p>
          <a:p>
            <a:pPr marL="354965" indent="-342265">
              <a:lnSpc>
                <a:spcPct val="100000"/>
              </a:lnSpc>
              <a:spcBef>
                <a:spcPts val="430"/>
              </a:spcBef>
              <a:buFont typeface="Arial"/>
              <a:buChar char="•"/>
              <a:tabLst>
                <a:tab pos="354965" algn="l"/>
              </a:tabLst>
            </a:pPr>
            <a:r>
              <a:rPr sz="1800" dirty="0">
                <a:latin typeface="Carlito"/>
                <a:cs typeface="Carlito"/>
              </a:rPr>
              <a:t>All</a:t>
            </a:r>
            <a:r>
              <a:rPr sz="1800" spc="-30" dirty="0">
                <a:latin typeface="Carlito"/>
                <a:cs typeface="Carlito"/>
              </a:rPr>
              <a:t> </a:t>
            </a:r>
            <a:r>
              <a:rPr sz="1800" spc="-10" dirty="0">
                <a:latin typeface="Carlito"/>
                <a:cs typeface="Carlito"/>
              </a:rPr>
              <a:t>annotation </a:t>
            </a:r>
            <a:r>
              <a:rPr sz="1800" dirty="0">
                <a:latin typeface="Carlito"/>
                <a:cs typeface="Carlito"/>
              </a:rPr>
              <a:t>types</a:t>
            </a:r>
            <a:r>
              <a:rPr sz="1800" spc="-30" dirty="0">
                <a:latin typeface="Carlito"/>
                <a:cs typeface="Carlito"/>
              </a:rPr>
              <a:t> </a:t>
            </a:r>
            <a:r>
              <a:rPr sz="1800" spc="-10" dirty="0">
                <a:latin typeface="Carlito"/>
                <a:cs typeface="Carlito"/>
              </a:rPr>
              <a:t>automatically</a:t>
            </a:r>
            <a:r>
              <a:rPr sz="1800" spc="-15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extend</a:t>
            </a:r>
            <a:r>
              <a:rPr sz="1800" spc="-10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the</a:t>
            </a:r>
            <a:r>
              <a:rPr sz="1800" spc="-30" dirty="0">
                <a:latin typeface="Carlito"/>
                <a:cs typeface="Carlito"/>
              </a:rPr>
              <a:t> </a:t>
            </a:r>
            <a:r>
              <a:rPr sz="1800" spc="-10" dirty="0">
                <a:latin typeface="Carlito"/>
                <a:cs typeface="Carlito"/>
              </a:rPr>
              <a:t>Annotation</a:t>
            </a:r>
            <a:r>
              <a:rPr sz="1800" spc="-5" dirty="0">
                <a:latin typeface="Carlito"/>
                <a:cs typeface="Carlito"/>
              </a:rPr>
              <a:t> </a:t>
            </a:r>
            <a:r>
              <a:rPr sz="1800" spc="-10" dirty="0">
                <a:latin typeface="Carlito"/>
                <a:cs typeface="Carlito"/>
              </a:rPr>
              <a:t>interface.</a:t>
            </a:r>
            <a:endParaRPr sz="1800">
              <a:latin typeface="Carlito"/>
              <a:cs typeface="Carlito"/>
            </a:endParaRPr>
          </a:p>
          <a:p>
            <a:pPr marL="354965" indent="-342265">
              <a:lnSpc>
                <a:spcPct val="100000"/>
              </a:lnSpc>
              <a:spcBef>
                <a:spcPts val="434"/>
              </a:spcBef>
              <a:buFont typeface="Arial"/>
              <a:buChar char="•"/>
              <a:tabLst>
                <a:tab pos="354965" algn="l"/>
              </a:tabLst>
            </a:pPr>
            <a:r>
              <a:rPr sz="1800" dirty="0">
                <a:latin typeface="Carlito"/>
                <a:cs typeface="Carlito"/>
              </a:rPr>
              <a:t>Annotation</a:t>
            </a:r>
            <a:r>
              <a:rPr sz="1800" spc="459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is</a:t>
            </a:r>
            <a:r>
              <a:rPr sz="1800" spc="484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a</a:t>
            </a:r>
            <a:r>
              <a:rPr sz="1800" spc="465" dirty="0">
                <a:latin typeface="Carlito"/>
                <a:cs typeface="Carlito"/>
              </a:rPr>
              <a:t> </a:t>
            </a:r>
            <a:r>
              <a:rPr sz="1800" spc="-10" dirty="0">
                <a:latin typeface="Carlito"/>
                <a:cs typeface="Carlito"/>
              </a:rPr>
              <a:t>super-</a:t>
            </a:r>
            <a:r>
              <a:rPr sz="1800" dirty="0">
                <a:latin typeface="Carlito"/>
                <a:cs typeface="Carlito"/>
              </a:rPr>
              <a:t>interface</a:t>
            </a:r>
            <a:r>
              <a:rPr sz="1800" spc="490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of</a:t>
            </a:r>
            <a:r>
              <a:rPr sz="1800" spc="480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all</a:t>
            </a:r>
            <a:r>
              <a:rPr sz="1800" spc="475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annotations.</a:t>
            </a:r>
            <a:r>
              <a:rPr sz="1800" spc="465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It</a:t>
            </a:r>
            <a:r>
              <a:rPr sz="1800" spc="465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is</a:t>
            </a:r>
            <a:r>
              <a:rPr sz="1800" spc="470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declared</a:t>
            </a:r>
            <a:r>
              <a:rPr sz="1800" spc="480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within</a:t>
            </a:r>
            <a:r>
              <a:rPr sz="1800" spc="480" dirty="0">
                <a:latin typeface="Carlito"/>
                <a:cs typeface="Carlito"/>
              </a:rPr>
              <a:t> </a:t>
            </a:r>
            <a:r>
              <a:rPr sz="1800" spc="-25" dirty="0">
                <a:latin typeface="Carlito"/>
                <a:cs typeface="Carlito"/>
              </a:rPr>
              <a:t>the</a:t>
            </a:r>
            <a:endParaRPr sz="1800">
              <a:latin typeface="Carlito"/>
              <a:cs typeface="Carlito"/>
            </a:endParaRPr>
          </a:p>
          <a:p>
            <a:pPr marL="355600">
              <a:lnSpc>
                <a:spcPct val="100000"/>
              </a:lnSpc>
            </a:pPr>
            <a:r>
              <a:rPr sz="1800" spc="-10" dirty="0">
                <a:latin typeface="Carlito"/>
                <a:cs typeface="Carlito"/>
              </a:rPr>
              <a:t>java.lang.annotation</a:t>
            </a:r>
            <a:r>
              <a:rPr sz="1800" spc="-15" dirty="0">
                <a:latin typeface="Carlito"/>
                <a:cs typeface="Carlito"/>
              </a:rPr>
              <a:t> </a:t>
            </a:r>
            <a:r>
              <a:rPr sz="1800" spc="-10" dirty="0">
                <a:latin typeface="Carlito"/>
                <a:cs typeface="Carlito"/>
              </a:rPr>
              <a:t>package.</a:t>
            </a:r>
            <a:endParaRPr sz="18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58724" rIns="0" bIns="0" rtlCol="0">
            <a:spAutoFit/>
          </a:bodyPr>
          <a:lstStyle/>
          <a:p>
            <a:pPr marL="546100">
              <a:lnSpc>
                <a:spcPct val="100000"/>
              </a:lnSpc>
              <a:spcBef>
                <a:spcPts val="105"/>
              </a:spcBef>
            </a:pPr>
            <a:r>
              <a:rPr sz="4400" b="0" dirty="0">
                <a:latin typeface="Carlito"/>
                <a:cs typeface="Carlito"/>
              </a:rPr>
              <a:t>The</a:t>
            </a:r>
            <a:r>
              <a:rPr sz="4400" b="0" spc="10" dirty="0">
                <a:latin typeface="Carlito"/>
                <a:cs typeface="Carlito"/>
              </a:rPr>
              <a:t> </a:t>
            </a:r>
            <a:r>
              <a:rPr sz="4400" b="0" spc="-10" dirty="0">
                <a:latin typeface="Carlito"/>
                <a:cs typeface="Carlito"/>
              </a:rPr>
              <a:t>Built-</a:t>
            </a:r>
            <a:r>
              <a:rPr sz="4400" b="0" dirty="0">
                <a:latin typeface="Carlito"/>
                <a:cs typeface="Carlito"/>
              </a:rPr>
              <a:t>In</a:t>
            </a:r>
            <a:r>
              <a:rPr sz="4400" b="0" spc="5" dirty="0">
                <a:latin typeface="Carlito"/>
                <a:cs typeface="Carlito"/>
              </a:rPr>
              <a:t> </a:t>
            </a:r>
            <a:r>
              <a:rPr sz="4400" b="0" spc="-10" dirty="0">
                <a:latin typeface="Carlito"/>
                <a:cs typeface="Carlito"/>
              </a:rPr>
              <a:t>Annotations</a:t>
            </a:r>
            <a:endParaRPr sz="4400">
              <a:latin typeface="Carlito"/>
              <a:cs typeface="Carlito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41044" y="1613153"/>
            <a:ext cx="7920355" cy="2038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5"/>
              </a:spcBef>
              <a:buFont typeface="Arial"/>
              <a:buChar char="•"/>
              <a:tabLst>
                <a:tab pos="354965" algn="l"/>
              </a:tabLst>
            </a:pPr>
            <a:r>
              <a:rPr sz="2000" dirty="0">
                <a:latin typeface="Carlito"/>
                <a:cs typeface="Carlito"/>
              </a:rPr>
              <a:t>Java</a:t>
            </a:r>
            <a:r>
              <a:rPr sz="2000" spc="270" dirty="0">
                <a:latin typeface="Carlito"/>
                <a:cs typeface="Carlito"/>
              </a:rPr>
              <a:t> </a:t>
            </a:r>
            <a:r>
              <a:rPr sz="2000" dirty="0">
                <a:latin typeface="Carlito"/>
                <a:cs typeface="Carlito"/>
              </a:rPr>
              <a:t>defines</a:t>
            </a:r>
            <a:r>
              <a:rPr sz="2000" spc="270" dirty="0">
                <a:latin typeface="Carlito"/>
                <a:cs typeface="Carlito"/>
              </a:rPr>
              <a:t> </a:t>
            </a:r>
            <a:r>
              <a:rPr sz="2000" dirty="0">
                <a:latin typeface="Carlito"/>
                <a:cs typeface="Carlito"/>
              </a:rPr>
              <a:t>many</a:t>
            </a:r>
            <a:r>
              <a:rPr sz="2000" spc="265" dirty="0">
                <a:latin typeface="Carlito"/>
                <a:cs typeface="Carlito"/>
              </a:rPr>
              <a:t> </a:t>
            </a:r>
            <a:r>
              <a:rPr sz="2000" spc="-10" dirty="0">
                <a:latin typeface="Carlito"/>
                <a:cs typeface="Carlito"/>
              </a:rPr>
              <a:t>built-</a:t>
            </a:r>
            <a:r>
              <a:rPr sz="2000" dirty="0">
                <a:latin typeface="Carlito"/>
                <a:cs typeface="Carlito"/>
              </a:rPr>
              <a:t>in</a:t>
            </a:r>
            <a:r>
              <a:rPr sz="2000" spc="280" dirty="0">
                <a:latin typeface="Carlito"/>
                <a:cs typeface="Carlito"/>
              </a:rPr>
              <a:t> </a:t>
            </a:r>
            <a:r>
              <a:rPr sz="2000" dirty="0">
                <a:latin typeface="Carlito"/>
                <a:cs typeface="Carlito"/>
              </a:rPr>
              <a:t>annotations.</a:t>
            </a:r>
            <a:r>
              <a:rPr sz="2000" spc="260" dirty="0">
                <a:latin typeface="Carlito"/>
                <a:cs typeface="Carlito"/>
              </a:rPr>
              <a:t> </a:t>
            </a:r>
            <a:r>
              <a:rPr sz="2000" dirty="0">
                <a:latin typeface="Carlito"/>
                <a:cs typeface="Carlito"/>
              </a:rPr>
              <a:t>Most</a:t>
            </a:r>
            <a:r>
              <a:rPr sz="2000" spc="270" dirty="0">
                <a:latin typeface="Carlito"/>
                <a:cs typeface="Carlito"/>
              </a:rPr>
              <a:t> </a:t>
            </a:r>
            <a:r>
              <a:rPr sz="2000" dirty="0">
                <a:latin typeface="Carlito"/>
                <a:cs typeface="Carlito"/>
              </a:rPr>
              <a:t>are</a:t>
            </a:r>
            <a:r>
              <a:rPr sz="2000" spc="275" dirty="0">
                <a:latin typeface="Carlito"/>
                <a:cs typeface="Carlito"/>
              </a:rPr>
              <a:t> </a:t>
            </a:r>
            <a:r>
              <a:rPr sz="2000" dirty="0">
                <a:latin typeface="Carlito"/>
                <a:cs typeface="Carlito"/>
              </a:rPr>
              <a:t>specialized,</a:t>
            </a:r>
            <a:r>
              <a:rPr sz="2000" spc="280" dirty="0">
                <a:latin typeface="Carlito"/>
                <a:cs typeface="Carlito"/>
              </a:rPr>
              <a:t> </a:t>
            </a:r>
            <a:r>
              <a:rPr sz="2000" dirty="0">
                <a:latin typeface="Carlito"/>
                <a:cs typeface="Carlito"/>
              </a:rPr>
              <a:t>but</a:t>
            </a:r>
            <a:r>
              <a:rPr sz="2000" spc="260" dirty="0">
                <a:latin typeface="Carlito"/>
                <a:cs typeface="Carlito"/>
              </a:rPr>
              <a:t> </a:t>
            </a:r>
            <a:r>
              <a:rPr sz="2000" spc="-20" dirty="0">
                <a:latin typeface="Carlito"/>
                <a:cs typeface="Carlito"/>
              </a:rPr>
              <a:t>nine</a:t>
            </a:r>
            <a:endParaRPr sz="2000">
              <a:latin typeface="Carlito"/>
              <a:cs typeface="Carlito"/>
            </a:endParaRPr>
          </a:p>
          <a:p>
            <a:pPr marL="355600">
              <a:lnSpc>
                <a:spcPct val="100000"/>
              </a:lnSpc>
            </a:pPr>
            <a:r>
              <a:rPr sz="2000" dirty="0">
                <a:latin typeface="Carlito"/>
                <a:cs typeface="Carlito"/>
              </a:rPr>
              <a:t>are</a:t>
            </a:r>
            <a:r>
              <a:rPr sz="2000" spc="-65" dirty="0">
                <a:latin typeface="Carlito"/>
                <a:cs typeface="Carlito"/>
              </a:rPr>
              <a:t> </a:t>
            </a:r>
            <a:r>
              <a:rPr sz="2000" dirty="0">
                <a:latin typeface="Carlito"/>
                <a:cs typeface="Carlito"/>
              </a:rPr>
              <a:t>general</a:t>
            </a:r>
            <a:r>
              <a:rPr sz="2000" spc="-80" dirty="0">
                <a:latin typeface="Carlito"/>
                <a:cs typeface="Carlito"/>
              </a:rPr>
              <a:t> </a:t>
            </a:r>
            <a:r>
              <a:rPr sz="2000" spc="-10" dirty="0">
                <a:latin typeface="Carlito"/>
                <a:cs typeface="Carlito"/>
              </a:rPr>
              <a:t>purpose.</a:t>
            </a:r>
            <a:endParaRPr sz="2000">
              <a:latin typeface="Carlito"/>
              <a:cs typeface="Carlito"/>
            </a:endParaRPr>
          </a:p>
          <a:p>
            <a:pPr marL="354965" indent="-342265">
              <a:lnSpc>
                <a:spcPct val="100000"/>
              </a:lnSpc>
              <a:spcBef>
                <a:spcPts val="480"/>
              </a:spcBef>
              <a:buFont typeface="Arial"/>
              <a:buChar char="•"/>
              <a:tabLst>
                <a:tab pos="354965" algn="l"/>
              </a:tabLst>
            </a:pPr>
            <a:r>
              <a:rPr sz="2000" dirty="0">
                <a:latin typeface="Carlito"/>
                <a:cs typeface="Carlito"/>
              </a:rPr>
              <a:t>Of</a:t>
            </a:r>
            <a:r>
              <a:rPr sz="2000" spc="-55" dirty="0">
                <a:latin typeface="Carlito"/>
                <a:cs typeface="Carlito"/>
              </a:rPr>
              <a:t> </a:t>
            </a:r>
            <a:r>
              <a:rPr sz="2000" dirty="0">
                <a:latin typeface="Carlito"/>
                <a:cs typeface="Carlito"/>
              </a:rPr>
              <a:t>these,</a:t>
            </a:r>
            <a:r>
              <a:rPr sz="2000" spc="-45" dirty="0">
                <a:latin typeface="Carlito"/>
                <a:cs typeface="Carlito"/>
              </a:rPr>
              <a:t> </a:t>
            </a:r>
            <a:r>
              <a:rPr sz="2000" dirty="0">
                <a:latin typeface="Carlito"/>
                <a:cs typeface="Carlito"/>
              </a:rPr>
              <a:t>four</a:t>
            </a:r>
            <a:r>
              <a:rPr sz="2000" spc="-50" dirty="0">
                <a:latin typeface="Carlito"/>
                <a:cs typeface="Carlito"/>
              </a:rPr>
              <a:t> </a:t>
            </a:r>
            <a:r>
              <a:rPr sz="2000" dirty="0">
                <a:latin typeface="Carlito"/>
                <a:cs typeface="Carlito"/>
              </a:rPr>
              <a:t>are</a:t>
            </a:r>
            <a:r>
              <a:rPr sz="2000" spc="-45" dirty="0">
                <a:latin typeface="Carlito"/>
                <a:cs typeface="Carlito"/>
              </a:rPr>
              <a:t> </a:t>
            </a:r>
            <a:r>
              <a:rPr sz="2000" dirty="0">
                <a:latin typeface="Carlito"/>
                <a:cs typeface="Carlito"/>
              </a:rPr>
              <a:t>imported</a:t>
            </a:r>
            <a:r>
              <a:rPr sz="2000" spc="-40" dirty="0">
                <a:latin typeface="Carlito"/>
                <a:cs typeface="Carlito"/>
              </a:rPr>
              <a:t> </a:t>
            </a:r>
            <a:r>
              <a:rPr sz="2000" dirty="0">
                <a:latin typeface="Carlito"/>
                <a:cs typeface="Carlito"/>
              </a:rPr>
              <a:t>from</a:t>
            </a:r>
            <a:r>
              <a:rPr sz="2000" spc="-50" dirty="0">
                <a:latin typeface="Carlito"/>
                <a:cs typeface="Carlito"/>
              </a:rPr>
              <a:t> </a:t>
            </a:r>
            <a:r>
              <a:rPr sz="2000" spc="-10" dirty="0">
                <a:latin typeface="Carlito"/>
                <a:cs typeface="Carlito"/>
              </a:rPr>
              <a:t>java.lang.annotation:</a:t>
            </a:r>
            <a:endParaRPr sz="2000">
              <a:latin typeface="Carlito"/>
              <a:cs typeface="Carlito"/>
            </a:endParaRPr>
          </a:p>
          <a:p>
            <a:pPr marL="354965" indent="-342265">
              <a:lnSpc>
                <a:spcPct val="100000"/>
              </a:lnSpc>
              <a:spcBef>
                <a:spcPts val="480"/>
              </a:spcBef>
              <a:buFont typeface="Arial"/>
              <a:buChar char="•"/>
              <a:tabLst>
                <a:tab pos="354965" algn="l"/>
              </a:tabLst>
            </a:pPr>
            <a:r>
              <a:rPr sz="2000" spc="-10" dirty="0">
                <a:latin typeface="Carlito"/>
                <a:cs typeface="Carlito"/>
              </a:rPr>
              <a:t>@Retention,</a:t>
            </a:r>
            <a:r>
              <a:rPr sz="2000" spc="-15" dirty="0">
                <a:latin typeface="Carlito"/>
                <a:cs typeface="Carlito"/>
              </a:rPr>
              <a:t> </a:t>
            </a:r>
            <a:r>
              <a:rPr sz="2000" spc="-10" dirty="0">
                <a:latin typeface="Carlito"/>
                <a:cs typeface="Carlito"/>
              </a:rPr>
              <a:t>@Documented,</a:t>
            </a:r>
            <a:r>
              <a:rPr sz="2000" spc="-40" dirty="0">
                <a:latin typeface="Carlito"/>
                <a:cs typeface="Carlito"/>
              </a:rPr>
              <a:t> </a:t>
            </a:r>
            <a:r>
              <a:rPr sz="2000" spc="-25" dirty="0">
                <a:latin typeface="Carlito"/>
                <a:cs typeface="Carlito"/>
              </a:rPr>
              <a:t>@Target,</a:t>
            </a:r>
            <a:r>
              <a:rPr sz="2000" spc="-20" dirty="0">
                <a:latin typeface="Carlito"/>
                <a:cs typeface="Carlito"/>
              </a:rPr>
              <a:t> </a:t>
            </a:r>
            <a:r>
              <a:rPr sz="2000" dirty="0">
                <a:latin typeface="Carlito"/>
                <a:cs typeface="Carlito"/>
              </a:rPr>
              <a:t>and</a:t>
            </a:r>
            <a:r>
              <a:rPr sz="2000" spc="-25" dirty="0">
                <a:latin typeface="Carlito"/>
                <a:cs typeface="Carlito"/>
              </a:rPr>
              <a:t> </a:t>
            </a:r>
            <a:r>
              <a:rPr sz="2000" spc="-10" dirty="0">
                <a:latin typeface="Carlito"/>
                <a:cs typeface="Carlito"/>
              </a:rPr>
              <a:t>@Inherited.</a:t>
            </a:r>
            <a:endParaRPr sz="2000">
              <a:latin typeface="Carlito"/>
              <a:cs typeface="Carlito"/>
            </a:endParaRPr>
          </a:p>
          <a:p>
            <a:pPr marL="354965" indent="-342265">
              <a:lnSpc>
                <a:spcPct val="100000"/>
              </a:lnSpc>
              <a:spcBef>
                <a:spcPts val="480"/>
              </a:spcBef>
              <a:buFont typeface="Arial"/>
              <a:buChar char="•"/>
              <a:tabLst>
                <a:tab pos="354965" algn="l"/>
              </a:tabLst>
            </a:pPr>
            <a:r>
              <a:rPr sz="2000" dirty="0">
                <a:latin typeface="Carlito"/>
                <a:cs typeface="Carlito"/>
              </a:rPr>
              <a:t>Five</a:t>
            </a:r>
            <a:r>
              <a:rPr sz="2000" spc="370" dirty="0">
                <a:latin typeface="Carlito"/>
                <a:cs typeface="Carlito"/>
              </a:rPr>
              <a:t> </a:t>
            </a:r>
            <a:r>
              <a:rPr sz="2000" dirty="0">
                <a:latin typeface="Carlito"/>
                <a:cs typeface="Carlito"/>
              </a:rPr>
              <a:t>-</a:t>
            </a:r>
            <a:r>
              <a:rPr sz="2000" spc="375" dirty="0">
                <a:latin typeface="Carlito"/>
                <a:cs typeface="Carlito"/>
              </a:rPr>
              <a:t> </a:t>
            </a:r>
            <a:r>
              <a:rPr sz="2000" dirty="0">
                <a:latin typeface="Carlito"/>
                <a:cs typeface="Carlito"/>
              </a:rPr>
              <a:t>@Override,</a:t>
            </a:r>
            <a:r>
              <a:rPr sz="2000" spc="380" dirty="0">
                <a:latin typeface="Carlito"/>
                <a:cs typeface="Carlito"/>
              </a:rPr>
              <a:t> </a:t>
            </a:r>
            <a:r>
              <a:rPr sz="2000" dirty="0">
                <a:latin typeface="Carlito"/>
                <a:cs typeface="Carlito"/>
              </a:rPr>
              <a:t>@Deprecated,</a:t>
            </a:r>
            <a:r>
              <a:rPr sz="2000" spc="375" dirty="0">
                <a:latin typeface="Carlito"/>
                <a:cs typeface="Carlito"/>
              </a:rPr>
              <a:t> </a:t>
            </a:r>
            <a:r>
              <a:rPr sz="2000" dirty="0">
                <a:latin typeface="Carlito"/>
                <a:cs typeface="Carlito"/>
              </a:rPr>
              <a:t>@FunctionalInterface,</a:t>
            </a:r>
            <a:r>
              <a:rPr sz="2000" spc="380" dirty="0">
                <a:latin typeface="Carlito"/>
                <a:cs typeface="Carlito"/>
              </a:rPr>
              <a:t> </a:t>
            </a:r>
            <a:r>
              <a:rPr sz="2000" spc="-10" dirty="0">
                <a:latin typeface="Carlito"/>
                <a:cs typeface="Carlito"/>
              </a:rPr>
              <a:t>@SafeVarargs,</a:t>
            </a:r>
            <a:endParaRPr sz="2000">
              <a:latin typeface="Carlito"/>
              <a:cs typeface="Carlito"/>
            </a:endParaRPr>
          </a:p>
          <a:p>
            <a:pPr marL="355600">
              <a:lnSpc>
                <a:spcPct val="100000"/>
              </a:lnSpc>
            </a:pPr>
            <a:r>
              <a:rPr sz="2000" dirty="0">
                <a:latin typeface="Carlito"/>
                <a:cs typeface="Carlito"/>
              </a:rPr>
              <a:t>and</a:t>
            </a:r>
            <a:r>
              <a:rPr sz="2000" spc="-30" dirty="0">
                <a:latin typeface="Carlito"/>
                <a:cs typeface="Carlito"/>
              </a:rPr>
              <a:t> </a:t>
            </a:r>
            <a:r>
              <a:rPr sz="2000" spc="-10" dirty="0">
                <a:latin typeface="Carlito"/>
                <a:cs typeface="Carlito"/>
              </a:rPr>
              <a:t>@SuppressWarnings</a:t>
            </a:r>
            <a:r>
              <a:rPr sz="2000" spc="-40" dirty="0">
                <a:latin typeface="Carlito"/>
                <a:cs typeface="Carlito"/>
              </a:rPr>
              <a:t> </a:t>
            </a:r>
            <a:r>
              <a:rPr sz="2000" dirty="0">
                <a:latin typeface="Carlito"/>
                <a:cs typeface="Carlito"/>
              </a:rPr>
              <a:t>are</a:t>
            </a:r>
            <a:r>
              <a:rPr sz="2000" spc="-10" dirty="0">
                <a:latin typeface="Carlito"/>
                <a:cs typeface="Carlito"/>
              </a:rPr>
              <a:t> </a:t>
            </a:r>
            <a:r>
              <a:rPr sz="2000" dirty="0">
                <a:latin typeface="Carlito"/>
                <a:cs typeface="Carlito"/>
              </a:rPr>
              <a:t>included</a:t>
            </a:r>
            <a:r>
              <a:rPr sz="2000" spc="-40" dirty="0">
                <a:latin typeface="Carlito"/>
                <a:cs typeface="Carlito"/>
              </a:rPr>
              <a:t> </a:t>
            </a:r>
            <a:r>
              <a:rPr sz="2000" dirty="0">
                <a:latin typeface="Carlito"/>
                <a:cs typeface="Carlito"/>
              </a:rPr>
              <a:t>in</a:t>
            </a:r>
            <a:r>
              <a:rPr sz="2000" spc="-15" dirty="0">
                <a:latin typeface="Carlito"/>
                <a:cs typeface="Carlito"/>
              </a:rPr>
              <a:t> </a:t>
            </a:r>
            <a:r>
              <a:rPr sz="2000" b="1" spc="-10" dirty="0">
                <a:latin typeface="Carlito"/>
                <a:cs typeface="Carlito"/>
              </a:rPr>
              <a:t>java.lang</a:t>
            </a:r>
            <a:endParaRPr sz="20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41044" y="1565909"/>
            <a:ext cx="7719059" cy="38671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rlito"/>
                <a:cs typeface="Carlito"/>
              </a:rPr>
              <a:t>class</a:t>
            </a:r>
            <a:r>
              <a:rPr sz="1800" spc="-30" dirty="0">
                <a:latin typeface="Carlito"/>
                <a:cs typeface="Carlito"/>
              </a:rPr>
              <a:t> </a:t>
            </a:r>
            <a:r>
              <a:rPr sz="1800" spc="-10" dirty="0">
                <a:latin typeface="Carlito"/>
                <a:cs typeface="Carlito"/>
              </a:rPr>
              <a:t>Animal{</a:t>
            </a:r>
            <a:endParaRPr sz="180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latin typeface="Carlito"/>
                <a:cs typeface="Carlito"/>
              </a:rPr>
              <a:t>void</a:t>
            </a:r>
            <a:r>
              <a:rPr sz="1800" spc="5" dirty="0">
                <a:latin typeface="Carlito"/>
                <a:cs typeface="Carlito"/>
              </a:rPr>
              <a:t> </a:t>
            </a:r>
            <a:r>
              <a:rPr sz="1800" spc="-10" dirty="0">
                <a:latin typeface="Carlito"/>
                <a:cs typeface="Carlito"/>
              </a:rPr>
              <a:t>eatSomething(){System.out.println("eating</a:t>
            </a:r>
            <a:r>
              <a:rPr sz="1800" spc="50" dirty="0">
                <a:latin typeface="Carlito"/>
                <a:cs typeface="Carlito"/>
              </a:rPr>
              <a:t> </a:t>
            </a:r>
            <a:r>
              <a:rPr sz="1800" spc="-10" dirty="0">
                <a:latin typeface="Carlito"/>
                <a:cs typeface="Carlito"/>
              </a:rPr>
              <a:t>something");}</a:t>
            </a:r>
            <a:endParaRPr sz="180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</a:pPr>
            <a:r>
              <a:rPr sz="1800" spc="-50" dirty="0">
                <a:latin typeface="Carlito"/>
                <a:cs typeface="Carlito"/>
              </a:rPr>
              <a:t>}</a:t>
            </a:r>
            <a:endParaRPr sz="1800">
              <a:latin typeface="Carlito"/>
              <a:cs typeface="Carlito"/>
            </a:endParaRPr>
          </a:p>
          <a:p>
            <a:pPr marL="12700" marR="5287010">
              <a:lnSpc>
                <a:spcPct val="100000"/>
              </a:lnSpc>
              <a:spcBef>
                <a:spcPts val="2160"/>
              </a:spcBef>
            </a:pPr>
            <a:r>
              <a:rPr sz="1800" dirty="0">
                <a:latin typeface="Carlito"/>
                <a:cs typeface="Carlito"/>
              </a:rPr>
              <a:t>class</a:t>
            </a:r>
            <a:r>
              <a:rPr sz="1800" spc="-55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Dog</a:t>
            </a:r>
            <a:r>
              <a:rPr sz="1800" spc="-45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extends</a:t>
            </a:r>
            <a:r>
              <a:rPr sz="1800" spc="-50" dirty="0">
                <a:latin typeface="Carlito"/>
                <a:cs typeface="Carlito"/>
              </a:rPr>
              <a:t> </a:t>
            </a:r>
            <a:r>
              <a:rPr sz="1800" spc="-10" dirty="0">
                <a:latin typeface="Carlito"/>
                <a:cs typeface="Carlito"/>
              </a:rPr>
              <a:t>Animal{ @Override</a:t>
            </a:r>
            <a:endParaRPr sz="180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latin typeface="Carlito"/>
                <a:cs typeface="Carlito"/>
              </a:rPr>
              <a:t>void</a:t>
            </a:r>
            <a:r>
              <a:rPr sz="1800" spc="-25" dirty="0">
                <a:latin typeface="Carlito"/>
                <a:cs typeface="Carlito"/>
              </a:rPr>
              <a:t> </a:t>
            </a:r>
            <a:r>
              <a:rPr sz="1800" spc="-10" dirty="0">
                <a:latin typeface="Carlito"/>
                <a:cs typeface="Carlito"/>
              </a:rPr>
              <a:t>eatsomething(){System.out.println("eating</a:t>
            </a:r>
            <a:r>
              <a:rPr sz="1800" dirty="0">
                <a:latin typeface="Carlito"/>
                <a:cs typeface="Carlito"/>
              </a:rPr>
              <a:t> </a:t>
            </a:r>
            <a:r>
              <a:rPr sz="1800" spc="-10" dirty="0">
                <a:latin typeface="Carlito"/>
                <a:cs typeface="Carlito"/>
              </a:rPr>
              <a:t>foods");}//should</a:t>
            </a:r>
            <a:r>
              <a:rPr sz="1800" spc="10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be</a:t>
            </a:r>
            <a:r>
              <a:rPr sz="1800" spc="5" dirty="0">
                <a:latin typeface="Carlito"/>
                <a:cs typeface="Carlito"/>
              </a:rPr>
              <a:t> </a:t>
            </a:r>
            <a:r>
              <a:rPr sz="1800" spc="-10" dirty="0">
                <a:latin typeface="Carlito"/>
                <a:cs typeface="Carlito"/>
              </a:rPr>
              <a:t>eatSomething</a:t>
            </a:r>
            <a:endParaRPr sz="180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800" spc="-50" dirty="0">
                <a:latin typeface="Carlito"/>
                <a:cs typeface="Carlito"/>
              </a:rPr>
              <a:t>}</a:t>
            </a:r>
            <a:endParaRPr sz="180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  <a:spcBef>
                <a:spcPts val="2160"/>
              </a:spcBef>
            </a:pPr>
            <a:r>
              <a:rPr sz="1800" dirty="0">
                <a:latin typeface="Carlito"/>
                <a:cs typeface="Carlito"/>
              </a:rPr>
              <a:t>class</a:t>
            </a:r>
            <a:r>
              <a:rPr sz="1800" spc="-25" dirty="0">
                <a:latin typeface="Carlito"/>
                <a:cs typeface="Carlito"/>
              </a:rPr>
              <a:t> </a:t>
            </a:r>
            <a:r>
              <a:rPr sz="1800" spc="-10" dirty="0">
                <a:latin typeface="Carlito"/>
                <a:cs typeface="Carlito"/>
              </a:rPr>
              <a:t>TestAnnotation1{</a:t>
            </a:r>
            <a:endParaRPr sz="1800">
              <a:latin typeface="Carlito"/>
              <a:cs typeface="Carlito"/>
            </a:endParaRPr>
          </a:p>
          <a:p>
            <a:pPr marL="12700" marR="4295775">
              <a:lnSpc>
                <a:spcPct val="100000"/>
              </a:lnSpc>
            </a:pPr>
            <a:r>
              <a:rPr sz="1800" dirty="0">
                <a:latin typeface="Carlito"/>
                <a:cs typeface="Carlito"/>
              </a:rPr>
              <a:t>public</a:t>
            </a:r>
            <a:r>
              <a:rPr sz="1800" spc="-55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static</a:t>
            </a:r>
            <a:r>
              <a:rPr sz="1800" spc="-65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void</a:t>
            </a:r>
            <a:r>
              <a:rPr sz="1800" spc="-70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main(String</a:t>
            </a:r>
            <a:r>
              <a:rPr sz="1800" spc="-35" dirty="0">
                <a:latin typeface="Carlito"/>
                <a:cs typeface="Carlito"/>
              </a:rPr>
              <a:t> </a:t>
            </a:r>
            <a:r>
              <a:rPr sz="1800" spc="-10" dirty="0">
                <a:latin typeface="Carlito"/>
                <a:cs typeface="Carlito"/>
              </a:rPr>
              <a:t>args[]){ </a:t>
            </a:r>
            <a:r>
              <a:rPr sz="1800" dirty="0">
                <a:latin typeface="Carlito"/>
                <a:cs typeface="Carlito"/>
              </a:rPr>
              <a:t>Animal</a:t>
            </a:r>
            <a:r>
              <a:rPr sz="1800" spc="-40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a=new</a:t>
            </a:r>
            <a:r>
              <a:rPr sz="1800" spc="-25" dirty="0">
                <a:latin typeface="Carlito"/>
                <a:cs typeface="Carlito"/>
              </a:rPr>
              <a:t> </a:t>
            </a:r>
            <a:r>
              <a:rPr sz="1800" spc="-10" dirty="0">
                <a:latin typeface="Carlito"/>
                <a:cs typeface="Carlito"/>
              </a:rPr>
              <a:t>Dog(); a.eatSomething();</a:t>
            </a:r>
            <a:endParaRPr sz="180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</a:pPr>
            <a:r>
              <a:rPr sz="1800" spc="-25" dirty="0">
                <a:latin typeface="Carlito"/>
                <a:cs typeface="Carlito"/>
              </a:rPr>
              <a:t>}}</a:t>
            </a:r>
            <a:endParaRPr sz="1800">
              <a:latin typeface="Carlito"/>
              <a:cs typeface="Carlito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2000" y="5594603"/>
            <a:ext cx="8381999" cy="1263395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58724" rIns="0" bIns="0" rtlCol="0">
            <a:spAutoFit/>
          </a:bodyPr>
          <a:lstStyle/>
          <a:p>
            <a:pPr marL="546100">
              <a:lnSpc>
                <a:spcPct val="100000"/>
              </a:lnSpc>
              <a:spcBef>
                <a:spcPts val="105"/>
              </a:spcBef>
            </a:pPr>
            <a:r>
              <a:rPr sz="4400" b="0" dirty="0">
                <a:latin typeface="Carlito"/>
                <a:cs typeface="Carlito"/>
              </a:rPr>
              <a:t>I/O</a:t>
            </a:r>
            <a:r>
              <a:rPr sz="4400" b="0" spc="-10" dirty="0">
                <a:latin typeface="Carlito"/>
                <a:cs typeface="Carlito"/>
              </a:rPr>
              <a:t> Basics</a:t>
            </a:r>
            <a:endParaRPr sz="4400">
              <a:latin typeface="Carlito"/>
              <a:cs typeface="Carlito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41044" y="1614678"/>
            <a:ext cx="7922259" cy="4909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6350" indent="-342900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355600" algn="l"/>
              </a:tabLst>
            </a:pPr>
            <a:r>
              <a:rPr sz="1800" dirty="0">
                <a:latin typeface="Carlito"/>
                <a:cs typeface="Carlito"/>
              </a:rPr>
              <a:t>Java</a:t>
            </a:r>
            <a:r>
              <a:rPr sz="1800" spc="459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does</a:t>
            </a:r>
            <a:r>
              <a:rPr sz="1800" spc="475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provide</a:t>
            </a:r>
            <a:r>
              <a:rPr sz="1800" spc="475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strong,</a:t>
            </a:r>
            <a:r>
              <a:rPr sz="1800" spc="465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flexible</a:t>
            </a:r>
            <a:r>
              <a:rPr sz="1800" spc="470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support</a:t>
            </a:r>
            <a:r>
              <a:rPr sz="1800" spc="470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for</a:t>
            </a:r>
            <a:r>
              <a:rPr sz="1800" spc="480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I/O</a:t>
            </a:r>
            <a:r>
              <a:rPr sz="1800" spc="475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as</a:t>
            </a:r>
            <a:r>
              <a:rPr sz="1800" spc="470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it</a:t>
            </a:r>
            <a:r>
              <a:rPr sz="1800" spc="470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relates</a:t>
            </a:r>
            <a:r>
              <a:rPr sz="1800" spc="484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to</a:t>
            </a:r>
            <a:r>
              <a:rPr sz="1800" spc="470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files</a:t>
            </a:r>
            <a:r>
              <a:rPr sz="1800" spc="480" dirty="0">
                <a:latin typeface="Carlito"/>
                <a:cs typeface="Carlito"/>
              </a:rPr>
              <a:t> </a:t>
            </a:r>
            <a:r>
              <a:rPr sz="1800" spc="-25" dirty="0">
                <a:latin typeface="Carlito"/>
                <a:cs typeface="Carlito"/>
              </a:rPr>
              <a:t>and </a:t>
            </a:r>
            <a:r>
              <a:rPr sz="1800" dirty="0">
                <a:latin typeface="Carlito"/>
                <a:cs typeface="Carlito"/>
              </a:rPr>
              <a:t>networks.</a:t>
            </a:r>
            <a:r>
              <a:rPr sz="1800" spc="-55" dirty="0">
                <a:latin typeface="Carlito"/>
                <a:cs typeface="Carlito"/>
              </a:rPr>
              <a:t> </a:t>
            </a:r>
            <a:r>
              <a:rPr sz="1800" spc="-25" dirty="0">
                <a:latin typeface="Carlito"/>
                <a:cs typeface="Carlito"/>
              </a:rPr>
              <a:t>Java’s</a:t>
            </a:r>
            <a:r>
              <a:rPr sz="1800" spc="-50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I/O</a:t>
            </a:r>
            <a:r>
              <a:rPr sz="1800" spc="-45" dirty="0">
                <a:latin typeface="Carlito"/>
                <a:cs typeface="Carlito"/>
              </a:rPr>
              <a:t> </a:t>
            </a:r>
            <a:r>
              <a:rPr sz="1800" spc="-10" dirty="0">
                <a:latin typeface="Carlito"/>
                <a:cs typeface="Carlito"/>
              </a:rPr>
              <a:t>system</a:t>
            </a:r>
            <a:r>
              <a:rPr sz="1800" spc="-45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is</a:t>
            </a:r>
            <a:r>
              <a:rPr sz="1800" spc="-40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cohesive</a:t>
            </a:r>
            <a:r>
              <a:rPr sz="1800" spc="-45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and</a:t>
            </a:r>
            <a:r>
              <a:rPr sz="1800" spc="-25" dirty="0">
                <a:latin typeface="Carlito"/>
                <a:cs typeface="Carlito"/>
              </a:rPr>
              <a:t> </a:t>
            </a:r>
            <a:r>
              <a:rPr sz="1800" spc="-10" dirty="0">
                <a:latin typeface="Carlito"/>
                <a:cs typeface="Carlito"/>
              </a:rPr>
              <a:t>consistent.</a:t>
            </a:r>
            <a:endParaRPr sz="1800">
              <a:latin typeface="Carlito"/>
              <a:cs typeface="Carlito"/>
            </a:endParaRPr>
          </a:p>
          <a:p>
            <a:pPr marL="355600" marR="6350" indent="-342900">
              <a:lnSpc>
                <a:spcPct val="100000"/>
              </a:lnSpc>
              <a:spcBef>
                <a:spcPts val="430"/>
              </a:spcBef>
              <a:buFont typeface="Arial"/>
              <a:buChar char="•"/>
              <a:tabLst>
                <a:tab pos="355600" algn="l"/>
              </a:tabLst>
            </a:pPr>
            <a:r>
              <a:rPr sz="1800" dirty="0">
                <a:latin typeface="Carlito"/>
                <a:cs typeface="Carlito"/>
              </a:rPr>
              <a:t>In</a:t>
            </a:r>
            <a:r>
              <a:rPr sz="1800" spc="40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fact,</a:t>
            </a:r>
            <a:r>
              <a:rPr sz="1800" spc="40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once</a:t>
            </a:r>
            <a:r>
              <a:rPr sz="1800" spc="40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you</a:t>
            </a:r>
            <a:r>
              <a:rPr sz="1800" spc="50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understand</a:t>
            </a:r>
            <a:r>
              <a:rPr sz="1800" spc="60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its</a:t>
            </a:r>
            <a:r>
              <a:rPr sz="1800" spc="45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fundamentals,</a:t>
            </a:r>
            <a:r>
              <a:rPr sz="1800" spc="40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the</a:t>
            </a:r>
            <a:r>
              <a:rPr sz="1800" spc="50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rest</a:t>
            </a:r>
            <a:r>
              <a:rPr sz="1800" spc="40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of</a:t>
            </a:r>
            <a:r>
              <a:rPr sz="1800" spc="45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the</a:t>
            </a:r>
            <a:r>
              <a:rPr sz="1800" spc="40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I/O</a:t>
            </a:r>
            <a:r>
              <a:rPr sz="1800" spc="45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system</a:t>
            </a:r>
            <a:r>
              <a:rPr sz="1800" spc="50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is</a:t>
            </a:r>
            <a:r>
              <a:rPr sz="1800" spc="45" dirty="0">
                <a:latin typeface="Carlito"/>
                <a:cs typeface="Carlito"/>
              </a:rPr>
              <a:t> </a:t>
            </a:r>
            <a:r>
              <a:rPr sz="1800" spc="-20" dirty="0">
                <a:latin typeface="Carlito"/>
                <a:cs typeface="Carlito"/>
              </a:rPr>
              <a:t>easy </a:t>
            </a:r>
            <a:r>
              <a:rPr sz="1800" dirty="0">
                <a:latin typeface="Carlito"/>
                <a:cs typeface="Carlito"/>
              </a:rPr>
              <a:t>to</a:t>
            </a:r>
            <a:r>
              <a:rPr sz="1800" spc="-20" dirty="0">
                <a:latin typeface="Carlito"/>
                <a:cs typeface="Carlito"/>
              </a:rPr>
              <a:t> </a:t>
            </a:r>
            <a:r>
              <a:rPr sz="1800" spc="-10" dirty="0">
                <a:latin typeface="Carlito"/>
                <a:cs typeface="Carlito"/>
              </a:rPr>
              <a:t>master.</a:t>
            </a:r>
            <a:endParaRPr sz="1800">
              <a:latin typeface="Carlito"/>
              <a:cs typeface="Carlito"/>
            </a:endParaRPr>
          </a:p>
          <a:p>
            <a:pPr marL="12700" marR="3466465" indent="342265">
              <a:lnSpc>
                <a:spcPct val="120000"/>
              </a:lnSpc>
              <a:buFont typeface="Arial"/>
              <a:buChar char="•"/>
              <a:tabLst>
                <a:tab pos="354965" algn="l"/>
              </a:tabLst>
            </a:pPr>
            <a:r>
              <a:rPr sz="1800" dirty="0">
                <a:latin typeface="Carlito"/>
                <a:cs typeface="Carlito"/>
              </a:rPr>
              <a:t>A</a:t>
            </a:r>
            <a:r>
              <a:rPr sz="1800" spc="-45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general</a:t>
            </a:r>
            <a:r>
              <a:rPr sz="1800" spc="-40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overview</a:t>
            </a:r>
            <a:r>
              <a:rPr sz="1800" spc="-30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of</a:t>
            </a:r>
            <a:r>
              <a:rPr sz="1800" spc="-25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I/O</a:t>
            </a:r>
            <a:r>
              <a:rPr sz="1800" spc="-40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is</a:t>
            </a:r>
            <a:r>
              <a:rPr sz="1800" spc="-35" dirty="0">
                <a:latin typeface="Carlito"/>
                <a:cs typeface="Carlito"/>
              </a:rPr>
              <a:t> </a:t>
            </a:r>
            <a:r>
              <a:rPr sz="1800" spc="-10" dirty="0">
                <a:latin typeface="Carlito"/>
                <a:cs typeface="Carlito"/>
              </a:rPr>
              <a:t>presented</a:t>
            </a:r>
            <a:r>
              <a:rPr sz="1800" spc="-30" dirty="0">
                <a:latin typeface="Carlito"/>
                <a:cs typeface="Carlito"/>
              </a:rPr>
              <a:t> </a:t>
            </a:r>
            <a:r>
              <a:rPr sz="1800" spc="-10" dirty="0">
                <a:latin typeface="Carlito"/>
                <a:cs typeface="Carlito"/>
              </a:rPr>
              <a:t>here. Streams</a:t>
            </a:r>
            <a:endParaRPr sz="1800">
              <a:latin typeface="Carlito"/>
              <a:cs typeface="Carlito"/>
            </a:endParaRPr>
          </a:p>
          <a:p>
            <a:pPr marL="354965" indent="-342265">
              <a:lnSpc>
                <a:spcPct val="100000"/>
              </a:lnSpc>
              <a:spcBef>
                <a:spcPts val="434"/>
              </a:spcBef>
              <a:buFont typeface="Arial"/>
              <a:buChar char="•"/>
              <a:tabLst>
                <a:tab pos="354965" algn="l"/>
              </a:tabLst>
            </a:pPr>
            <a:r>
              <a:rPr sz="1800" dirty="0">
                <a:latin typeface="Carlito"/>
                <a:cs typeface="Carlito"/>
              </a:rPr>
              <a:t>Java</a:t>
            </a:r>
            <a:r>
              <a:rPr sz="1800" spc="-60" dirty="0">
                <a:latin typeface="Carlito"/>
                <a:cs typeface="Carlito"/>
              </a:rPr>
              <a:t> </a:t>
            </a:r>
            <a:r>
              <a:rPr sz="1800" spc="-10" dirty="0">
                <a:latin typeface="Carlito"/>
                <a:cs typeface="Carlito"/>
              </a:rPr>
              <a:t>programs</a:t>
            </a:r>
            <a:r>
              <a:rPr sz="1800" spc="-50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perform</a:t>
            </a:r>
            <a:r>
              <a:rPr sz="1800" spc="-35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I/O</a:t>
            </a:r>
            <a:r>
              <a:rPr sz="1800" spc="-50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through</a:t>
            </a:r>
            <a:r>
              <a:rPr sz="1800" spc="-45" dirty="0">
                <a:latin typeface="Carlito"/>
                <a:cs typeface="Carlito"/>
              </a:rPr>
              <a:t> </a:t>
            </a:r>
            <a:r>
              <a:rPr sz="1800" spc="-10" dirty="0">
                <a:latin typeface="Carlito"/>
                <a:cs typeface="Carlito"/>
              </a:rPr>
              <a:t>streams.</a:t>
            </a:r>
            <a:endParaRPr sz="1800">
              <a:latin typeface="Carlito"/>
              <a:cs typeface="Carlito"/>
            </a:endParaRPr>
          </a:p>
          <a:p>
            <a:pPr marL="354965" indent="-342265">
              <a:lnSpc>
                <a:spcPct val="100000"/>
              </a:lnSpc>
              <a:spcBef>
                <a:spcPts val="434"/>
              </a:spcBef>
              <a:buFont typeface="Arial"/>
              <a:buChar char="•"/>
              <a:tabLst>
                <a:tab pos="354965" algn="l"/>
              </a:tabLst>
            </a:pPr>
            <a:r>
              <a:rPr sz="1800" dirty="0">
                <a:latin typeface="Carlito"/>
                <a:cs typeface="Carlito"/>
              </a:rPr>
              <a:t>A</a:t>
            </a:r>
            <a:r>
              <a:rPr sz="1800" spc="-35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stream</a:t>
            </a:r>
            <a:r>
              <a:rPr sz="1800" spc="-30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is</a:t>
            </a:r>
            <a:r>
              <a:rPr sz="1800" spc="-30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an</a:t>
            </a:r>
            <a:r>
              <a:rPr sz="1800" spc="-30" dirty="0">
                <a:latin typeface="Carlito"/>
                <a:cs typeface="Carlito"/>
              </a:rPr>
              <a:t> </a:t>
            </a:r>
            <a:r>
              <a:rPr sz="1800" spc="-10" dirty="0">
                <a:latin typeface="Carlito"/>
                <a:cs typeface="Carlito"/>
              </a:rPr>
              <a:t>abstraction </a:t>
            </a:r>
            <a:r>
              <a:rPr sz="1800" dirty="0">
                <a:latin typeface="Carlito"/>
                <a:cs typeface="Carlito"/>
              </a:rPr>
              <a:t>that</a:t>
            </a:r>
            <a:r>
              <a:rPr sz="1800" spc="-35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either</a:t>
            </a:r>
            <a:r>
              <a:rPr sz="1800" spc="-30" dirty="0">
                <a:latin typeface="Carlito"/>
                <a:cs typeface="Carlito"/>
              </a:rPr>
              <a:t> </a:t>
            </a:r>
            <a:r>
              <a:rPr sz="1800" spc="-10" dirty="0">
                <a:latin typeface="Carlito"/>
                <a:cs typeface="Carlito"/>
              </a:rPr>
              <a:t>produces</a:t>
            </a:r>
            <a:r>
              <a:rPr sz="1800" spc="-30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or</a:t>
            </a:r>
            <a:r>
              <a:rPr sz="1800" spc="-30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consumes</a:t>
            </a:r>
            <a:r>
              <a:rPr sz="1800" spc="-25" dirty="0">
                <a:latin typeface="Carlito"/>
                <a:cs typeface="Carlito"/>
              </a:rPr>
              <a:t> </a:t>
            </a:r>
            <a:r>
              <a:rPr sz="1800" spc="-10" dirty="0">
                <a:latin typeface="Carlito"/>
                <a:cs typeface="Carlito"/>
              </a:rPr>
              <a:t>information.</a:t>
            </a:r>
            <a:endParaRPr sz="1800">
              <a:latin typeface="Carlito"/>
              <a:cs typeface="Carlito"/>
            </a:endParaRPr>
          </a:p>
          <a:p>
            <a:pPr marL="354965" indent="-342265">
              <a:lnSpc>
                <a:spcPct val="100000"/>
              </a:lnSpc>
              <a:spcBef>
                <a:spcPts val="430"/>
              </a:spcBef>
              <a:buFont typeface="Arial"/>
              <a:buChar char="•"/>
              <a:tabLst>
                <a:tab pos="354965" algn="l"/>
              </a:tabLst>
            </a:pPr>
            <a:r>
              <a:rPr sz="1800" dirty="0">
                <a:latin typeface="Carlito"/>
                <a:cs typeface="Carlito"/>
              </a:rPr>
              <a:t>A</a:t>
            </a:r>
            <a:r>
              <a:rPr sz="1800" spc="-45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stream</a:t>
            </a:r>
            <a:r>
              <a:rPr sz="1800" spc="-35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is</a:t>
            </a:r>
            <a:r>
              <a:rPr sz="1800" spc="-35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linked</a:t>
            </a:r>
            <a:r>
              <a:rPr sz="1800" spc="-25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to</a:t>
            </a:r>
            <a:r>
              <a:rPr sz="1800" spc="-40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a</a:t>
            </a:r>
            <a:r>
              <a:rPr sz="1800" spc="-45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physical</a:t>
            </a:r>
            <a:r>
              <a:rPr sz="1800" spc="-30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device</a:t>
            </a:r>
            <a:r>
              <a:rPr sz="1800" spc="-25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by</a:t>
            </a:r>
            <a:r>
              <a:rPr sz="1800" spc="-35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the</a:t>
            </a:r>
            <a:r>
              <a:rPr sz="1800" spc="-40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Java</a:t>
            </a:r>
            <a:r>
              <a:rPr sz="1800" spc="-50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I/O</a:t>
            </a:r>
            <a:r>
              <a:rPr sz="1800" spc="-35" dirty="0">
                <a:latin typeface="Carlito"/>
                <a:cs typeface="Carlito"/>
              </a:rPr>
              <a:t> </a:t>
            </a:r>
            <a:r>
              <a:rPr sz="1800" spc="-10" dirty="0">
                <a:latin typeface="Carlito"/>
                <a:cs typeface="Carlito"/>
              </a:rPr>
              <a:t>system.</a:t>
            </a:r>
            <a:endParaRPr sz="1800">
              <a:latin typeface="Carlito"/>
              <a:cs typeface="Carlito"/>
            </a:endParaRPr>
          </a:p>
          <a:p>
            <a:pPr marL="355600" marR="7620" indent="-342900" algn="just">
              <a:lnSpc>
                <a:spcPct val="100000"/>
              </a:lnSpc>
              <a:spcBef>
                <a:spcPts val="434"/>
              </a:spcBef>
              <a:buFont typeface="Arial"/>
              <a:buChar char="•"/>
              <a:tabLst>
                <a:tab pos="355600" algn="l"/>
              </a:tabLst>
            </a:pPr>
            <a:r>
              <a:rPr sz="1800" dirty="0">
                <a:latin typeface="Carlito"/>
                <a:cs typeface="Carlito"/>
              </a:rPr>
              <a:t>An</a:t>
            </a:r>
            <a:r>
              <a:rPr sz="1800" spc="195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input</a:t>
            </a:r>
            <a:r>
              <a:rPr sz="1800" spc="204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stream</a:t>
            </a:r>
            <a:r>
              <a:rPr sz="1800" spc="204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can</a:t>
            </a:r>
            <a:r>
              <a:rPr sz="1800" spc="195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abstract</a:t>
            </a:r>
            <a:r>
              <a:rPr sz="1800" spc="190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many</a:t>
            </a:r>
            <a:r>
              <a:rPr sz="1800" spc="200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different</a:t>
            </a:r>
            <a:r>
              <a:rPr sz="1800" spc="190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kinds</a:t>
            </a:r>
            <a:r>
              <a:rPr sz="1800" spc="210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of</a:t>
            </a:r>
            <a:r>
              <a:rPr sz="1800" spc="195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input:</a:t>
            </a:r>
            <a:r>
              <a:rPr sz="1800" spc="200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from</a:t>
            </a:r>
            <a:r>
              <a:rPr sz="1800" spc="200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a</a:t>
            </a:r>
            <a:r>
              <a:rPr sz="1800" spc="195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disk</a:t>
            </a:r>
            <a:r>
              <a:rPr sz="1800" spc="195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file,</a:t>
            </a:r>
            <a:r>
              <a:rPr sz="1800" spc="215" dirty="0">
                <a:latin typeface="Carlito"/>
                <a:cs typeface="Carlito"/>
              </a:rPr>
              <a:t> </a:t>
            </a:r>
            <a:r>
              <a:rPr sz="1800" spc="-50" dirty="0">
                <a:latin typeface="Carlito"/>
                <a:cs typeface="Carlito"/>
              </a:rPr>
              <a:t>a </a:t>
            </a:r>
            <a:r>
              <a:rPr sz="1800" spc="-10" dirty="0">
                <a:latin typeface="Carlito"/>
                <a:cs typeface="Carlito"/>
              </a:rPr>
              <a:t>keyboard,</a:t>
            </a:r>
            <a:r>
              <a:rPr sz="1800" spc="-30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or</a:t>
            </a:r>
            <a:r>
              <a:rPr sz="1800" spc="-20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a</a:t>
            </a:r>
            <a:r>
              <a:rPr sz="1800" spc="-35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network</a:t>
            </a:r>
            <a:r>
              <a:rPr sz="1800" spc="-40" dirty="0">
                <a:latin typeface="Carlito"/>
                <a:cs typeface="Carlito"/>
              </a:rPr>
              <a:t> </a:t>
            </a:r>
            <a:r>
              <a:rPr sz="1800" spc="-10" dirty="0">
                <a:latin typeface="Carlito"/>
                <a:cs typeface="Carlito"/>
              </a:rPr>
              <a:t>socket.</a:t>
            </a:r>
            <a:endParaRPr sz="1800">
              <a:latin typeface="Carlito"/>
              <a:cs typeface="Carlito"/>
            </a:endParaRPr>
          </a:p>
          <a:p>
            <a:pPr marL="355600" marR="5080" indent="-342900" algn="just">
              <a:lnSpc>
                <a:spcPct val="100000"/>
              </a:lnSpc>
              <a:spcBef>
                <a:spcPts val="434"/>
              </a:spcBef>
              <a:buFont typeface="Arial"/>
              <a:buChar char="•"/>
              <a:tabLst>
                <a:tab pos="355600" algn="l"/>
              </a:tabLst>
            </a:pPr>
            <a:r>
              <a:rPr sz="1800" dirty="0">
                <a:latin typeface="Carlito"/>
                <a:cs typeface="Carlito"/>
              </a:rPr>
              <a:t>An</a:t>
            </a:r>
            <a:r>
              <a:rPr sz="1800" spc="60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output</a:t>
            </a:r>
            <a:r>
              <a:rPr sz="1800" spc="60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stream</a:t>
            </a:r>
            <a:r>
              <a:rPr sz="1800" spc="65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may</a:t>
            </a:r>
            <a:r>
              <a:rPr sz="1800" spc="60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refer</a:t>
            </a:r>
            <a:r>
              <a:rPr sz="1800" spc="60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to</a:t>
            </a:r>
            <a:r>
              <a:rPr sz="1800" spc="60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the</a:t>
            </a:r>
            <a:r>
              <a:rPr sz="1800" spc="65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console,</a:t>
            </a:r>
            <a:r>
              <a:rPr sz="1800" spc="55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a</a:t>
            </a:r>
            <a:r>
              <a:rPr sz="1800" spc="60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disk</a:t>
            </a:r>
            <a:r>
              <a:rPr sz="1800" spc="70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file,</a:t>
            </a:r>
            <a:r>
              <a:rPr sz="1800" spc="55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or</a:t>
            </a:r>
            <a:r>
              <a:rPr sz="1800" spc="65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a</a:t>
            </a:r>
            <a:r>
              <a:rPr sz="1800" spc="60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network</a:t>
            </a:r>
            <a:r>
              <a:rPr sz="1800" spc="55" dirty="0">
                <a:latin typeface="Carlito"/>
                <a:cs typeface="Carlito"/>
              </a:rPr>
              <a:t> </a:t>
            </a:r>
            <a:r>
              <a:rPr sz="1800" spc="-10" dirty="0">
                <a:latin typeface="Carlito"/>
                <a:cs typeface="Carlito"/>
              </a:rPr>
              <a:t>connection. </a:t>
            </a:r>
            <a:r>
              <a:rPr sz="1800" dirty="0">
                <a:latin typeface="Carlito"/>
                <a:cs typeface="Carlito"/>
              </a:rPr>
              <a:t>Streams</a:t>
            </a:r>
            <a:r>
              <a:rPr sz="1800" spc="70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are</a:t>
            </a:r>
            <a:r>
              <a:rPr sz="1800" spc="80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a</a:t>
            </a:r>
            <a:r>
              <a:rPr sz="1800" spc="80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clean</a:t>
            </a:r>
            <a:r>
              <a:rPr sz="1800" spc="80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way</a:t>
            </a:r>
            <a:r>
              <a:rPr sz="1800" spc="75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to</a:t>
            </a:r>
            <a:r>
              <a:rPr sz="1800" spc="85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deal</a:t>
            </a:r>
            <a:r>
              <a:rPr sz="1800" spc="80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with</a:t>
            </a:r>
            <a:r>
              <a:rPr sz="1800" spc="85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input/output</a:t>
            </a:r>
            <a:r>
              <a:rPr sz="1800" spc="75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without</a:t>
            </a:r>
            <a:r>
              <a:rPr sz="1800" spc="85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having</a:t>
            </a:r>
            <a:r>
              <a:rPr sz="1800" spc="80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every</a:t>
            </a:r>
            <a:r>
              <a:rPr sz="1800" spc="70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part</a:t>
            </a:r>
            <a:r>
              <a:rPr sz="1800" spc="70" dirty="0">
                <a:latin typeface="Carlito"/>
                <a:cs typeface="Carlito"/>
              </a:rPr>
              <a:t> </a:t>
            </a:r>
            <a:r>
              <a:rPr sz="1800" spc="-25" dirty="0">
                <a:latin typeface="Carlito"/>
                <a:cs typeface="Carlito"/>
              </a:rPr>
              <a:t>of </a:t>
            </a:r>
            <a:r>
              <a:rPr sz="1800" dirty="0">
                <a:latin typeface="Carlito"/>
                <a:cs typeface="Carlito"/>
              </a:rPr>
              <a:t>your</a:t>
            </a:r>
            <a:r>
              <a:rPr sz="1800" spc="240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code</a:t>
            </a:r>
            <a:r>
              <a:rPr sz="1800" spc="254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understand</a:t>
            </a:r>
            <a:r>
              <a:rPr sz="1800" spc="254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the</a:t>
            </a:r>
            <a:r>
              <a:rPr sz="1800" spc="260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difference</a:t>
            </a:r>
            <a:r>
              <a:rPr sz="1800" spc="270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between</a:t>
            </a:r>
            <a:r>
              <a:rPr sz="1800" spc="270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a</a:t>
            </a:r>
            <a:r>
              <a:rPr sz="1800" spc="245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keyboard</a:t>
            </a:r>
            <a:r>
              <a:rPr sz="1800" spc="245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and</a:t>
            </a:r>
            <a:r>
              <a:rPr sz="1800" spc="265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a</a:t>
            </a:r>
            <a:r>
              <a:rPr sz="1800" spc="245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network,</a:t>
            </a:r>
            <a:r>
              <a:rPr sz="1800" spc="250" dirty="0">
                <a:latin typeface="Carlito"/>
                <a:cs typeface="Carlito"/>
              </a:rPr>
              <a:t> </a:t>
            </a:r>
            <a:r>
              <a:rPr sz="1800" spc="-25" dirty="0">
                <a:latin typeface="Carlito"/>
                <a:cs typeface="Carlito"/>
              </a:rPr>
              <a:t>for </a:t>
            </a:r>
            <a:r>
              <a:rPr sz="1800" spc="-10" dirty="0">
                <a:latin typeface="Carlito"/>
                <a:cs typeface="Carlito"/>
              </a:rPr>
              <a:t>example.</a:t>
            </a:r>
            <a:endParaRPr sz="1800">
              <a:latin typeface="Carlito"/>
              <a:cs typeface="Carlito"/>
            </a:endParaRPr>
          </a:p>
          <a:p>
            <a:pPr marL="354965" indent="-342265" algn="just">
              <a:lnSpc>
                <a:spcPct val="100000"/>
              </a:lnSpc>
              <a:spcBef>
                <a:spcPts val="430"/>
              </a:spcBef>
              <a:buFont typeface="Arial"/>
              <a:buChar char="•"/>
              <a:tabLst>
                <a:tab pos="354965" algn="l"/>
              </a:tabLst>
            </a:pPr>
            <a:r>
              <a:rPr sz="1800" dirty="0">
                <a:latin typeface="Carlito"/>
                <a:cs typeface="Carlito"/>
              </a:rPr>
              <a:t>Java</a:t>
            </a:r>
            <a:r>
              <a:rPr sz="1800" spc="-70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implements</a:t>
            </a:r>
            <a:r>
              <a:rPr sz="1800" spc="-55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streams</a:t>
            </a:r>
            <a:r>
              <a:rPr sz="1800" spc="-65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within</a:t>
            </a:r>
            <a:r>
              <a:rPr sz="1800" spc="-35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class</a:t>
            </a:r>
            <a:r>
              <a:rPr sz="1800" spc="-55" dirty="0">
                <a:latin typeface="Carlito"/>
                <a:cs typeface="Carlito"/>
              </a:rPr>
              <a:t> </a:t>
            </a:r>
            <a:r>
              <a:rPr sz="1800" spc="-10" dirty="0">
                <a:latin typeface="Carlito"/>
                <a:cs typeface="Carlito"/>
              </a:rPr>
              <a:t>hierarchies</a:t>
            </a:r>
            <a:r>
              <a:rPr sz="1800" spc="-40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defined</a:t>
            </a:r>
            <a:r>
              <a:rPr sz="1800" spc="-40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in</a:t>
            </a:r>
            <a:r>
              <a:rPr sz="1800" spc="-40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the</a:t>
            </a:r>
            <a:r>
              <a:rPr sz="1800" spc="-60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java.io</a:t>
            </a:r>
            <a:r>
              <a:rPr sz="1800" spc="-70" dirty="0">
                <a:latin typeface="Carlito"/>
                <a:cs typeface="Carlito"/>
              </a:rPr>
              <a:t> </a:t>
            </a:r>
            <a:r>
              <a:rPr sz="1800" spc="-10" dirty="0">
                <a:latin typeface="Carlito"/>
                <a:cs typeface="Carlito"/>
              </a:rPr>
              <a:t>package.</a:t>
            </a:r>
            <a:endParaRPr sz="18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58724" rIns="0" bIns="0" rtlCol="0">
            <a:spAutoFit/>
          </a:bodyPr>
          <a:lstStyle/>
          <a:p>
            <a:pPr marL="546100">
              <a:lnSpc>
                <a:spcPct val="100000"/>
              </a:lnSpc>
              <a:spcBef>
                <a:spcPts val="105"/>
              </a:spcBef>
            </a:pPr>
            <a:r>
              <a:rPr sz="4400" b="0" dirty="0">
                <a:latin typeface="Carlito"/>
                <a:cs typeface="Carlito"/>
              </a:rPr>
              <a:t>The</a:t>
            </a:r>
            <a:r>
              <a:rPr sz="4400" b="0" spc="-70" dirty="0">
                <a:latin typeface="Carlito"/>
                <a:cs typeface="Carlito"/>
              </a:rPr>
              <a:t> </a:t>
            </a:r>
            <a:r>
              <a:rPr sz="4400" b="0" dirty="0">
                <a:latin typeface="Carlito"/>
                <a:cs typeface="Carlito"/>
              </a:rPr>
              <a:t>Predefined</a:t>
            </a:r>
            <a:r>
              <a:rPr sz="4400" b="0" spc="-95" dirty="0">
                <a:latin typeface="Carlito"/>
                <a:cs typeface="Carlito"/>
              </a:rPr>
              <a:t> </a:t>
            </a:r>
            <a:r>
              <a:rPr sz="4400" b="0" spc="-10" dirty="0">
                <a:latin typeface="Carlito"/>
                <a:cs typeface="Carlito"/>
              </a:rPr>
              <a:t>Streams</a:t>
            </a:r>
            <a:endParaRPr sz="4400">
              <a:latin typeface="Carlito"/>
              <a:cs typeface="Carlito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41044" y="1560191"/>
            <a:ext cx="7918450" cy="2549525"/>
          </a:xfrm>
          <a:prstGeom prst="rect">
            <a:avLst/>
          </a:prstGeom>
        </p:spPr>
        <p:txBody>
          <a:bodyPr vert="horz" wrap="square" lIns="0" tIns="6731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530"/>
              </a:spcBef>
              <a:buFont typeface="Arial"/>
              <a:buChar char="•"/>
              <a:tabLst>
                <a:tab pos="354965" algn="l"/>
              </a:tabLst>
            </a:pPr>
            <a:r>
              <a:rPr sz="1800" spc="-10" dirty="0">
                <a:latin typeface="Carlito"/>
                <a:cs typeface="Carlito"/>
              </a:rPr>
              <a:t>System</a:t>
            </a:r>
            <a:r>
              <a:rPr sz="1800" spc="-55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also</a:t>
            </a:r>
            <a:r>
              <a:rPr sz="1800" spc="-35" dirty="0">
                <a:latin typeface="Carlito"/>
                <a:cs typeface="Carlito"/>
              </a:rPr>
              <a:t> </a:t>
            </a:r>
            <a:r>
              <a:rPr sz="1800" spc="-10" dirty="0">
                <a:latin typeface="Carlito"/>
                <a:cs typeface="Carlito"/>
              </a:rPr>
              <a:t>contains</a:t>
            </a:r>
            <a:r>
              <a:rPr sz="1800" spc="-55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three</a:t>
            </a:r>
            <a:r>
              <a:rPr sz="1800" spc="-30" dirty="0">
                <a:latin typeface="Carlito"/>
                <a:cs typeface="Carlito"/>
              </a:rPr>
              <a:t> </a:t>
            </a:r>
            <a:r>
              <a:rPr sz="1800" spc="-10" dirty="0">
                <a:latin typeface="Carlito"/>
                <a:cs typeface="Carlito"/>
              </a:rPr>
              <a:t>predefined</a:t>
            </a:r>
            <a:r>
              <a:rPr sz="1800" spc="-20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stream</a:t>
            </a:r>
            <a:r>
              <a:rPr sz="1800" spc="-40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variables:</a:t>
            </a:r>
            <a:r>
              <a:rPr sz="1800" spc="-50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in,</a:t>
            </a:r>
            <a:r>
              <a:rPr sz="1800" spc="-25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out,</a:t>
            </a:r>
            <a:r>
              <a:rPr sz="1800" spc="-45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and</a:t>
            </a:r>
            <a:r>
              <a:rPr sz="1800" spc="-35" dirty="0">
                <a:latin typeface="Carlito"/>
                <a:cs typeface="Carlito"/>
              </a:rPr>
              <a:t> </a:t>
            </a:r>
            <a:r>
              <a:rPr sz="1800" spc="-20" dirty="0">
                <a:latin typeface="Carlito"/>
                <a:cs typeface="Carlito"/>
              </a:rPr>
              <a:t>err.</a:t>
            </a:r>
            <a:endParaRPr sz="1800">
              <a:latin typeface="Carlito"/>
              <a:cs typeface="Carlito"/>
            </a:endParaRPr>
          </a:p>
          <a:p>
            <a:pPr marL="354965" indent="-342265">
              <a:lnSpc>
                <a:spcPct val="100000"/>
              </a:lnSpc>
              <a:spcBef>
                <a:spcPts val="430"/>
              </a:spcBef>
              <a:buFont typeface="Arial"/>
              <a:buChar char="•"/>
              <a:tabLst>
                <a:tab pos="354965" algn="l"/>
              </a:tabLst>
            </a:pPr>
            <a:r>
              <a:rPr sz="1800" dirty="0">
                <a:latin typeface="Carlito"/>
                <a:cs typeface="Carlito"/>
              </a:rPr>
              <a:t>These</a:t>
            </a:r>
            <a:r>
              <a:rPr sz="1800" spc="-40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fields</a:t>
            </a:r>
            <a:r>
              <a:rPr sz="1800" spc="-40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are</a:t>
            </a:r>
            <a:r>
              <a:rPr sz="1800" spc="-35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declared</a:t>
            </a:r>
            <a:r>
              <a:rPr sz="1800" spc="-30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as</a:t>
            </a:r>
            <a:r>
              <a:rPr sz="1800" spc="-40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public,</a:t>
            </a:r>
            <a:r>
              <a:rPr sz="1800" spc="-20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static,</a:t>
            </a:r>
            <a:r>
              <a:rPr sz="1800" spc="-35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and</a:t>
            </a:r>
            <a:r>
              <a:rPr sz="1800" spc="-40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final</a:t>
            </a:r>
            <a:r>
              <a:rPr sz="1800" spc="-40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within</a:t>
            </a:r>
            <a:r>
              <a:rPr sz="1800" spc="-25" dirty="0">
                <a:latin typeface="Carlito"/>
                <a:cs typeface="Carlito"/>
              </a:rPr>
              <a:t> </a:t>
            </a:r>
            <a:r>
              <a:rPr sz="1800" spc="-10" dirty="0">
                <a:latin typeface="Carlito"/>
                <a:cs typeface="Carlito"/>
              </a:rPr>
              <a:t>System.</a:t>
            </a:r>
            <a:endParaRPr sz="1800">
              <a:latin typeface="Carlito"/>
              <a:cs typeface="Carlito"/>
            </a:endParaRPr>
          </a:p>
          <a:p>
            <a:pPr marL="355600" marR="5080" indent="-342900">
              <a:lnSpc>
                <a:spcPct val="100000"/>
              </a:lnSpc>
              <a:spcBef>
                <a:spcPts val="434"/>
              </a:spcBef>
              <a:buFont typeface="Arial"/>
              <a:buChar char="•"/>
              <a:tabLst>
                <a:tab pos="355600" algn="l"/>
              </a:tabLst>
            </a:pPr>
            <a:r>
              <a:rPr sz="1800" dirty="0">
                <a:latin typeface="Carlito"/>
                <a:cs typeface="Carlito"/>
              </a:rPr>
              <a:t>This</a:t>
            </a:r>
            <a:r>
              <a:rPr sz="1800" spc="-15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means</a:t>
            </a:r>
            <a:r>
              <a:rPr sz="1800" spc="-5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that</a:t>
            </a:r>
            <a:r>
              <a:rPr sz="1800" spc="-25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they</a:t>
            </a:r>
            <a:r>
              <a:rPr sz="1800" spc="-10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can</a:t>
            </a:r>
            <a:r>
              <a:rPr sz="1800" spc="-10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be</a:t>
            </a:r>
            <a:r>
              <a:rPr sz="1800" spc="-10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used</a:t>
            </a:r>
            <a:r>
              <a:rPr sz="1800" spc="-5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by</a:t>
            </a:r>
            <a:r>
              <a:rPr sz="1800" spc="-10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any</a:t>
            </a:r>
            <a:r>
              <a:rPr sz="1800" spc="-10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other</a:t>
            </a:r>
            <a:r>
              <a:rPr sz="1800" spc="-15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part</a:t>
            </a:r>
            <a:r>
              <a:rPr sz="1800" spc="-15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of</a:t>
            </a:r>
            <a:r>
              <a:rPr sz="1800" spc="-10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your</a:t>
            </a:r>
            <a:r>
              <a:rPr sz="1800" spc="-15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program</a:t>
            </a:r>
            <a:r>
              <a:rPr sz="1800" spc="-10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and</a:t>
            </a:r>
            <a:r>
              <a:rPr sz="1800" spc="-5" dirty="0">
                <a:latin typeface="Carlito"/>
                <a:cs typeface="Carlito"/>
              </a:rPr>
              <a:t> </a:t>
            </a:r>
            <a:r>
              <a:rPr sz="1800" spc="-10" dirty="0">
                <a:latin typeface="Carlito"/>
                <a:cs typeface="Carlito"/>
              </a:rPr>
              <a:t>without reference</a:t>
            </a:r>
            <a:r>
              <a:rPr sz="1800" spc="-35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to</a:t>
            </a:r>
            <a:r>
              <a:rPr sz="1800" spc="-50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a</a:t>
            </a:r>
            <a:r>
              <a:rPr sz="1800" spc="-45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specific</a:t>
            </a:r>
            <a:r>
              <a:rPr sz="1800" spc="-40" dirty="0">
                <a:latin typeface="Carlito"/>
                <a:cs typeface="Carlito"/>
              </a:rPr>
              <a:t> </a:t>
            </a:r>
            <a:r>
              <a:rPr sz="1800" spc="-10" dirty="0">
                <a:latin typeface="Carlito"/>
                <a:cs typeface="Carlito"/>
              </a:rPr>
              <a:t>System</a:t>
            </a:r>
            <a:r>
              <a:rPr sz="1800" spc="-60" dirty="0">
                <a:latin typeface="Carlito"/>
                <a:cs typeface="Carlito"/>
              </a:rPr>
              <a:t> </a:t>
            </a:r>
            <a:r>
              <a:rPr sz="1800" spc="-10" dirty="0">
                <a:latin typeface="Carlito"/>
                <a:cs typeface="Carlito"/>
              </a:rPr>
              <a:t>object.</a:t>
            </a:r>
            <a:endParaRPr sz="1800">
              <a:latin typeface="Carlito"/>
              <a:cs typeface="Carlito"/>
            </a:endParaRPr>
          </a:p>
          <a:p>
            <a:pPr marL="354965" indent="-342265">
              <a:lnSpc>
                <a:spcPct val="100000"/>
              </a:lnSpc>
              <a:spcBef>
                <a:spcPts val="430"/>
              </a:spcBef>
              <a:buFont typeface="Arial"/>
              <a:buChar char="•"/>
              <a:tabLst>
                <a:tab pos="354965" algn="l"/>
              </a:tabLst>
            </a:pPr>
            <a:r>
              <a:rPr sz="1800" spc="-10" dirty="0">
                <a:latin typeface="Carlito"/>
                <a:cs typeface="Carlito"/>
              </a:rPr>
              <a:t>System.out</a:t>
            </a:r>
            <a:r>
              <a:rPr sz="1800" spc="-55" dirty="0">
                <a:latin typeface="Carlito"/>
                <a:cs typeface="Carlito"/>
              </a:rPr>
              <a:t> </a:t>
            </a:r>
            <a:r>
              <a:rPr sz="1800" spc="-20" dirty="0">
                <a:latin typeface="Carlito"/>
                <a:cs typeface="Carlito"/>
              </a:rPr>
              <a:t>refers</a:t>
            </a:r>
            <a:r>
              <a:rPr sz="1800" spc="-35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to</a:t>
            </a:r>
            <a:r>
              <a:rPr sz="1800" spc="-35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the</a:t>
            </a:r>
            <a:r>
              <a:rPr sz="1800" spc="-25" dirty="0">
                <a:latin typeface="Carlito"/>
                <a:cs typeface="Carlito"/>
              </a:rPr>
              <a:t> </a:t>
            </a:r>
            <a:r>
              <a:rPr sz="1800" spc="-10" dirty="0">
                <a:latin typeface="Carlito"/>
                <a:cs typeface="Carlito"/>
              </a:rPr>
              <a:t>standard</a:t>
            </a:r>
            <a:r>
              <a:rPr sz="1800" spc="-20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output</a:t>
            </a:r>
            <a:r>
              <a:rPr sz="1800" spc="-30" dirty="0">
                <a:latin typeface="Carlito"/>
                <a:cs typeface="Carlito"/>
              </a:rPr>
              <a:t> </a:t>
            </a:r>
            <a:r>
              <a:rPr sz="1800" spc="-10" dirty="0">
                <a:latin typeface="Carlito"/>
                <a:cs typeface="Carlito"/>
              </a:rPr>
              <a:t>stream.</a:t>
            </a:r>
            <a:endParaRPr sz="1800">
              <a:latin typeface="Carlito"/>
              <a:cs typeface="Carlito"/>
            </a:endParaRPr>
          </a:p>
          <a:p>
            <a:pPr marL="354965" indent="-342265">
              <a:lnSpc>
                <a:spcPct val="100000"/>
              </a:lnSpc>
              <a:spcBef>
                <a:spcPts val="434"/>
              </a:spcBef>
              <a:buFont typeface="Arial"/>
              <a:buChar char="•"/>
              <a:tabLst>
                <a:tab pos="354965" algn="l"/>
              </a:tabLst>
            </a:pPr>
            <a:r>
              <a:rPr sz="1800" dirty="0">
                <a:latin typeface="Carlito"/>
                <a:cs typeface="Carlito"/>
              </a:rPr>
              <a:t>Console.</a:t>
            </a:r>
            <a:r>
              <a:rPr sz="1800" spc="-45" dirty="0">
                <a:latin typeface="Carlito"/>
                <a:cs typeface="Carlito"/>
              </a:rPr>
              <a:t> </a:t>
            </a:r>
            <a:r>
              <a:rPr sz="1800" spc="-10" dirty="0">
                <a:latin typeface="Carlito"/>
                <a:cs typeface="Carlito"/>
              </a:rPr>
              <a:t>System.in</a:t>
            </a:r>
            <a:r>
              <a:rPr sz="1800" spc="-40" dirty="0">
                <a:latin typeface="Carlito"/>
                <a:cs typeface="Carlito"/>
              </a:rPr>
              <a:t> </a:t>
            </a:r>
            <a:r>
              <a:rPr sz="1800" spc="-20" dirty="0">
                <a:latin typeface="Carlito"/>
                <a:cs typeface="Carlito"/>
              </a:rPr>
              <a:t>refers</a:t>
            </a:r>
            <a:r>
              <a:rPr sz="1800" spc="-35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to</a:t>
            </a:r>
            <a:r>
              <a:rPr sz="1800" spc="-45" dirty="0">
                <a:latin typeface="Carlito"/>
                <a:cs typeface="Carlito"/>
              </a:rPr>
              <a:t> </a:t>
            </a:r>
            <a:r>
              <a:rPr sz="1800" spc="-10" dirty="0">
                <a:latin typeface="Carlito"/>
                <a:cs typeface="Carlito"/>
              </a:rPr>
              <a:t>standard</a:t>
            </a:r>
            <a:r>
              <a:rPr sz="1800" spc="-35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input,</a:t>
            </a:r>
            <a:r>
              <a:rPr sz="1800" spc="-30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which</a:t>
            </a:r>
            <a:r>
              <a:rPr sz="1800" spc="-20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is</a:t>
            </a:r>
            <a:r>
              <a:rPr sz="1800" spc="-40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the</a:t>
            </a:r>
            <a:r>
              <a:rPr sz="1800" spc="-30" dirty="0">
                <a:latin typeface="Carlito"/>
                <a:cs typeface="Carlito"/>
              </a:rPr>
              <a:t> </a:t>
            </a:r>
            <a:r>
              <a:rPr sz="1800" spc="-10" dirty="0">
                <a:latin typeface="Carlito"/>
                <a:cs typeface="Carlito"/>
              </a:rPr>
              <a:t>keyboard</a:t>
            </a:r>
            <a:r>
              <a:rPr sz="1800" spc="-40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by</a:t>
            </a:r>
            <a:r>
              <a:rPr sz="1800" spc="-35" dirty="0">
                <a:latin typeface="Carlito"/>
                <a:cs typeface="Carlito"/>
              </a:rPr>
              <a:t> </a:t>
            </a:r>
            <a:r>
              <a:rPr sz="1800" spc="-10" dirty="0">
                <a:latin typeface="Carlito"/>
                <a:cs typeface="Carlito"/>
              </a:rPr>
              <a:t>default.</a:t>
            </a:r>
            <a:endParaRPr sz="1800">
              <a:latin typeface="Carlito"/>
              <a:cs typeface="Carlito"/>
            </a:endParaRPr>
          </a:p>
          <a:p>
            <a:pPr marL="355600" marR="5715" indent="-342900">
              <a:lnSpc>
                <a:spcPct val="100000"/>
              </a:lnSpc>
              <a:spcBef>
                <a:spcPts val="430"/>
              </a:spcBef>
              <a:buFont typeface="Arial"/>
              <a:buChar char="•"/>
              <a:tabLst>
                <a:tab pos="355600" algn="l"/>
              </a:tabLst>
            </a:pPr>
            <a:r>
              <a:rPr sz="1800" dirty="0">
                <a:latin typeface="Carlito"/>
                <a:cs typeface="Carlito"/>
              </a:rPr>
              <a:t>System.err</a:t>
            </a:r>
            <a:r>
              <a:rPr sz="1800" spc="315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refers</a:t>
            </a:r>
            <a:r>
              <a:rPr sz="1800" spc="335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to</a:t>
            </a:r>
            <a:r>
              <a:rPr sz="1800" spc="325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the</a:t>
            </a:r>
            <a:r>
              <a:rPr sz="1800" spc="330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standard</a:t>
            </a:r>
            <a:r>
              <a:rPr sz="1800" spc="330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error</a:t>
            </a:r>
            <a:r>
              <a:rPr sz="1800" spc="330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stream,</a:t>
            </a:r>
            <a:r>
              <a:rPr sz="1800" spc="335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which</a:t>
            </a:r>
            <a:r>
              <a:rPr sz="1800" spc="335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also</a:t>
            </a:r>
            <a:r>
              <a:rPr sz="1800" spc="325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is</a:t>
            </a:r>
            <a:r>
              <a:rPr sz="1800" spc="340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the</a:t>
            </a:r>
            <a:r>
              <a:rPr sz="1800" spc="330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console</a:t>
            </a:r>
            <a:r>
              <a:rPr sz="1800" spc="345" dirty="0">
                <a:latin typeface="Carlito"/>
                <a:cs typeface="Carlito"/>
              </a:rPr>
              <a:t> </a:t>
            </a:r>
            <a:r>
              <a:rPr sz="1800" spc="-25" dirty="0">
                <a:latin typeface="Carlito"/>
                <a:cs typeface="Carlito"/>
              </a:rPr>
              <a:t>by </a:t>
            </a:r>
            <a:r>
              <a:rPr sz="1800" spc="-10" dirty="0">
                <a:latin typeface="Carlito"/>
                <a:cs typeface="Carlito"/>
              </a:rPr>
              <a:t>default</a:t>
            </a:r>
            <a:endParaRPr sz="18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41044" y="121107"/>
            <a:ext cx="7825105" cy="13677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4400" b="0" spc="-10" dirty="0">
                <a:latin typeface="Carlito"/>
                <a:cs typeface="Carlito"/>
              </a:rPr>
              <a:t>BufferedReader</a:t>
            </a:r>
            <a:r>
              <a:rPr sz="4400" b="0" spc="-150" dirty="0">
                <a:latin typeface="Carlito"/>
                <a:cs typeface="Carlito"/>
              </a:rPr>
              <a:t> </a:t>
            </a:r>
            <a:r>
              <a:rPr sz="4400" b="0" dirty="0">
                <a:latin typeface="Carlito"/>
                <a:cs typeface="Carlito"/>
              </a:rPr>
              <a:t>to</a:t>
            </a:r>
            <a:r>
              <a:rPr sz="4400" b="0" spc="-130" dirty="0">
                <a:latin typeface="Carlito"/>
                <a:cs typeface="Carlito"/>
              </a:rPr>
              <a:t> </a:t>
            </a:r>
            <a:r>
              <a:rPr sz="4400" b="0" dirty="0">
                <a:latin typeface="Carlito"/>
                <a:cs typeface="Carlito"/>
              </a:rPr>
              <a:t>read</a:t>
            </a:r>
            <a:r>
              <a:rPr sz="4400" b="0" spc="-125" dirty="0">
                <a:latin typeface="Carlito"/>
                <a:cs typeface="Carlito"/>
              </a:rPr>
              <a:t> </a:t>
            </a:r>
            <a:r>
              <a:rPr sz="4400" b="0" spc="-10" dirty="0">
                <a:latin typeface="Carlito"/>
                <a:cs typeface="Carlito"/>
              </a:rPr>
              <a:t>characters </a:t>
            </a:r>
            <a:r>
              <a:rPr sz="4400" b="0" dirty="0">
                <a:latin typeface="Carlito"/>
                <a:cs typeface="Carlito"/>
              </a:rPr>
              <a:t>from</a:t>
            </a:r>
            <a:r>
              <a:rPr sz="4400" b="0" spc="-35" dirty="0">
                <a:latin typeface="Carlito"/>
                <a:cs typeface="Carlito"/>
              </a:rPr>
              <a:t> </a:t>
            </a:r>
            <a:r>
              <a:rPr sz="4400" b="0" dirty="0">
                <a:latin typeface="Carlito"/>
                <a:cs typeface="Carlito"/>
              </a:rPr>
              <a:t>the</a:t>
            </a:r>
            <a:r>
              <a:rPr sz="4400" b="0" spc="-35" dirty="0">
                <a:latin typeface="Carlito"/>
                <a:cs typeface="Carlito"/>
              </a:rPr>
              <a:t> </a:t>
            </a:r>
            <a:r>
              <a:rPr sz="4400" b="0" spc="-10" dirty="0">
                <a:latin typeface="Carlito"/>
                <a:cs typeface="Carlito"/>
              </a:rPr>
              <a:t>console</a:t>
            </a:r>
            <a:endParaRPr sz="4400">
              <a:latin typeface="Carlito"/>
              <a:cs typeface="Carlito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41044" y="1565909"/>
            <a:ext cx="5215255" cy="41414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367411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rlito"/>
                <a:cs typeface="Carlito"/>
              </a:rPr>
              <a:t>import </a:t>
            </a:r>
            <a:r>
              <a:rPr sz="1800" spc="-10" dirty="0">
                <a:latin typeface="Carlito"/>
                <a:cs typeface="Carlito"/>
              </a:rPr>
              <a:t>java.io.*; </a:t>
            </a:r>
            <a:r>
              <a:rPr sz="1800" dirty="0">
                <a:latin typeface="Carlito"/>
                <a:cs typeface="Carlito"/>
              </a:rPr>
              <a:t>class</a:t>
            </a:r>
            <a:r>
              <a:rPr sz="1800" spc="-50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BRRead</a:t>
            </a:r>
            <a:r>
              <a:rPr sz="1800" spc="-45" dirty="0">
                <a:latin typeface="Carlito"/>
                <a:cs typeface="Carlito"/>
              </a:rPr>
              <a:t> </a:t>
            </a:r>
            <a:r>
              <a:rPr sz="1800" spc="-50" dirty="0">
                <a:latin typeface="Carlito"/>
                <a:cs typeface="Carlito"/>
              </a:rPr>
              <a:t>{</a:t>
            </a:r>
            <a:endParaRPr sz="180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latin typeface="Carlito"/>
                <a:cs typeface="Carlito"/>
              </a:rPr>
              <a:t>public</a:t>
            </a:r>
            <a:r>
              <a:rPr sz="1800" spc="-55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static</a:t>
            </a:r>
            <a:r>
              <a:rPr sz="1800" spc="-60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void</a:t>
            </a:r>
            <a:r>
              <a:rPr sz="1800" spc="-70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main(String</a:t>
            </a:r>
            <a:r>
              <a:rPr sz="1800" spc="-35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args[])</a:t>
            </a:r>
            <a:r>
              <a:rPr sz="1800" spc="-65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throws</a:t>
            </a:r>
            <a:r>
              <a:rPr sz="1800" spc="-80" dirty="0">
                <a:latin typeface="Carlito"/>
                <a:cs typeface="Carlito"/>
              </a:rPr>
              <a:t> </a:t>
            </a:r>
            <a:r>
              <a:rPr sz="1800" spc="-10" dirty="0">
                <a:latin typeface="Carlito"/>
                <a:cs typeface="Carlito"/>
              </a:rPr>
              <a:t>IOException</a:t>
            </a:r>
            <a:endParaRPr sz="180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</a:pPr>
            <a:r>
              <a:rPr sz="1800" spc="-50" dirty="0">
                <a:latin typeface="Carlito"/>
                <a:cs typeface="Carlito"/>
              </a:rPr>
              <a:t>{</a:t>
            </a:r>
            <a:endParaRPr sz="180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latin typeface="Carlito"/>
                <a:cs typeface="Carlito"/>
              </a:rPr>
              <a:t>char</a:t>
            </a:r>
            <a:r>
              <a:rPr sz="1800" spc="-35" dirty="0">
                <a:latin typeface="Carlito"/>
                <a:cs typeface="Carlito"/>
              </a:rPr>
              <a:t> </a:t>
            </a:r>
            <a:r>
              <a:rPr sz="1800" spc="-25" dirty="0">
                <a:latin typeface="Carlito"/>
                <a:cs typeface="Carlito"/>
              </a:rPr>
              <a:t>c;</a:t>
            </a:r>
            <a:endParaRPr sz="180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</a:pPr>
            <a:r>
              <a:rPr sz="1800" spc="-20" dirty="0">
                <a:latin typeface="Carlito"/>
                <a:cs typeface="Carlito"/>
              </a:rPr>
              <a:t>BufferedReader</a:t>
            </a:r>
            <a:r>
              <a:rPr sz="1800" spc="10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br</a:t>
            </a:r>
            <a:r>
              <a:rPr sz="1800" spc="10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=</a:t>
            </a:r>
            <a:r>
              <a:rPr sz="1800" spc="-5" dirty="0">
                <a:latin typeface="Carlito"/>
                <a:cs typeface="Carlito"/>
              </a:rPr>
              <a:t> </a:t>
            </a:r>
            <a:r>
              <a:rPr sz="1800" spc="-25" dirty="0">
                <a:latin typeface="Carlito"/>
                <a:cs typeface="Carlito"/>
              </a:rPr>
              <a:t>new</a:t>
            </a:r>
            <a:endParaRPr sz="1800">
              <a:latin typeface="Carlito"/>
              <a:cs typeface="Carlito"/>
            </a:endParaRPr>
          </a:p>
          <a:p>
            <a:pPr marL="12700" marR="239395">
              <a:lnSpc>
                <a:spcPct val="100000"/>
              </a:lnSpc>
            </a:pPr>
            <a:r>
              <a:rPr sz="1800" spc="-20" dirty="0">
                <a:latin typeface="Carlito"/>
                <a:cs typeface="Carlito"/>
              </a:rPr>
              <a:t>BufferedReader(new</a:t>
            </a:r>
            <a:r>
              <a:rPr sz="1800" spc="85" dirty="0">
                <a:latin typeface="Carlito"/>
                <a:cs typeface="Carlito"/>
              </a:rPr>
              <a:t> </a:t>
            </a:r>
            <a:r>
              <a:rPr sz="1800" spc="-10" dirty="0">
                <a:latin typeface="Carlito"/>
                <a:cs typeface="Carlito"/>
              </a:rPr>
              <a:t>InputStreamReader(System.in)); System.out.println("Enter</a:t>
            </a:r>
            <a:r>
              <a:rPr sz="1800" spc="-20" dirty="0">
                <a:latin typeface="Carlito"/>
                <a:cs typeface="Carlito"/>
              </a:rPr>
              <a:t> </a:t>
            </a:r>
            <a:r>
              <a:rPr sz="1800" spc="-10" dirty="0">
                <a:latin typeface="Carlito"/>
                <a:cs typeface="Carlito"/>
              </a:rPr>
              <a:t>characters,</a:t>
            </a:r>
            <a:r>
              <a:rPr sz="1800" spc="-5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'q'</a:t>
            </a:r>
            <a:r>
              <a:rPr sz="1800" spc="-15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to</a:t>
            </a:r>
            <a:r>
              <a:rPr sz="1800" spc="-15" dirty="0">
                <a:latin typeface="Carlito"/>
                <a:cs typeface="Carlito"/>
              </a:rPr>
              <a:t> </a:t>
            </a:r>
            <a:r>
              <a:rPr sz="1800" spc="-10" dirty="0">
                <a:latin typeface="Carlito"/>
                <a:cs typeface="Carlito"/>
              </a:rPr>
              <a:t>quit.");</a:t>
            </a:r>
            <a:endParaRPr sz="1800">
              <a:latin typeface="Carlito"/>
              <a:cs typeface="Carlito"/>
            </a:endParaRPr>
          </a:p>
          <a:p>
            <a:pPr marL="12700" marR="3533140">
              <a:lnSpc>
                <a:spcPct val="100000"/>
              </a:lnSpc>
              <a:spcBef>
                <a:spcPts val="5"/>
              </a:spcBef>
            </a:pPr>
            <a:r>
              <a:rPr sz="1800" dirty="0">
                <a:latin typeface="Carlito"/>
                <a:cs typeface="Carlito"/>
              </a:rPr>
              <a:t>//</a:t>
            </a:r>
            <a:r>
              <a:rPr sz="1800" spc="-35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read</a:t>
            </a:r>
            <a:r>
              <a:rPr sz="1800" spc="-30" dirty="0">
                <a:latin typeface="Carlito"/>
                <a:cs typeface="Carlito"/>
              </a:rPr>
              <a:t> </a:t>
            </a:r>
            <a:r>
              <a:rPr sz="1800" spc="-20" dirty="0">
                <a:latin typeface="Carlito"/>
                <a:cs typeface="Carlito"/>
              </a:rPr>
              <a:t>characters </a:t>
            </a:r>
            <a:r>
              <a:rPr sz="1800" dirty="0">
                <a:latin typeface="Carlito"/>
                <a:cs typeface="Carlito"/>
              </a:rPr>
              <a:t>do</a:t>
            </a:r>
            <a:r>
              <a:rPr sz="1800" spc="-15" dirty="0">
                <a:latin typeface="Carlito"/>
                <a:cs typeface="Carlito"/>
              </a:rPr>
              <a:t> </a:t>
            </a:r>
            <a:r>
              <a:rPr sz="1800" spc="-50" dirty="0">
                <a:latin typeface="Carlito"/>
                <a:cs typeface="Carlito"/>
              </a:rPr>
              <a:t>{</a:t>
            </a:r>
            <a:endParaRPr sz="180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latin typeface="Carlito"/>
                <a:cs typeface="Carlito"/>
              </a:rPr>
              <a:t>c</a:t>
            </a:r>
            <a:r>
              <a:rPr sz="1800" spc="-25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=</a:t>
            </a:r>
            <a:r>
              <a:rPr sz="1800" spc="-35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(char)</a:t>
            </a:r>
            <a:r>
              <a:rPr sz="1800" spc="5" dirty="0">
                <a:latin typeface="Carlito"/>
                <a:cs typeface="Carlito"/>
              </a:rPr>
              <a:t> </a:t>
            </a:r>
            <a:r>
              <a:rPr sz="1800" spc="-10" dirty="0">
                <a:latin typeface="Carlito"/>
                <a:cs typeface="Carlito"/>
              </a:rPr>
              <a:t>br.read();</a:t>
            </a:r>
            <a:endParaRPr sz="180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</a:pPr>
            <a:r>
              <a:rPr sz="1800" spc="-10" dirty="0">
                <a:latin typeface="Carlito"/>
                <a:cs typeface="Carlito"/>
              </a:rPr>
              <a:t>System.out.println(c);</a:t>
            </a:r>
            <a:endParaRPr sz="180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latin typeface="Carlito"/>
                <a:cs typeface="Carlito"/>
              </a:rPr>
              <a:t>}</a:t>
            </a:r>
            <a:r>
              <a:rPr sz="1800" spc="-35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while(c !=</a:t>
            </a:r>
            <a:r>
              <a:rPr sz="1800" spc="-10" dirty="0">
                <a:latin typeface="Carlito"/>
                <a:cs typeface="Carlito"/>
              </a:rPr>
              <a:t> </a:t>
            </a:r>
            <a:r>
              <a:rPr sz="1800" spc="-20" dirty="0">
                <a:latin typeface="Carlito"/>
                <a:cs typeface="Carlito"/>
              </a:rPr>
              <a:t>'q');</a:t>
            </a:r>
            <a:endParaRPr sz="180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</a:pPr>
            <a:r>
              <a:rPr sz="1800" spc="-50" dirty="0">
                <a:latin typeface="Carlito"/>
                <a:cs typeface="Carlito"/>
              </a:rPr>
              <a:t>}</a:t>
            </a:r>
            <a:endParaRPr sz="180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</a:pPr>
            <a:r>
              <a:rPr sz="1800" spc="-50" dirty="0">
                <a:latin typeface="Carlito"/>
                <a:cs typeface="Carlito"/>
              </a:rPr>
              <a:t>}</a:t>
            </a:r>
            <a:endParaRPr sz="1800">
              <a:latin typeface="Carlito"/>
              <a:cs typeface="Carlito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486400" y="1946146"/>
            <a:ext cx="3552444" cy="4885944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64844" y="38862"/>
            <a:ext cx="5215255" cy="661098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3674110">
              <a:lnSpc>
                <a:spcPct val="120000"/>
              </a:lnSpc>
              <a:spcBef>
                <a:spcPts val="100"/>
              </a:spcBef>
            </a:pPr>
            <a:r>
              <a:rPr sz="1800" dirty="0">
                <a:latin typeface="Carlito"/>
                <a:cs typeface="Carlito"/>
              </a:rPr>
              <a:t>//</a:t>
            </a:r>
            <a:r>
              <a:rPr sz="1800" spc="-15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A</a:t>
            </a:r>
            <a:r>
              <a:rPr sz="1800" spc="-25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tiny</a:t>
            </a:r>
            <a:r>
              <a:rPr sz="1800" spc="-10" dirty="0">
                <a:latin typeface="Carlito"/>
                <a:cs typeface="Carlito"/>
              </a:rPr>
              <a:t> editor. </a:t>
            </a:r>
            <a:r>
              <a:rPr sz="1800" dirty="0">
                <a:latin typeface="Carlito"/>
                <a:cs typeface="Carlito"/>
              </a:rPr>
              <a:t>import </a:t>
            </a:r>
            <a:r>
              <a:rPr sz="1800" spc="-10" dirty="0">
                <a:latin typeface="Carlito"/>
                <a:cs typeface="Carlito"/>
              </a:rPr>
              <a:t>java.io.*; </a:t>
            </a:r>
            <a:r>
              <a:rPr sz="1800" dirty="0">
                <a:latin typeface="Carlito"/>
                <a:cs typeface="Carlito"/>
              </a:rPr>
              <a:t>class</a:t>
            </a:r>
            <a:r>
              <a:rPr sz="1800" spc="-25" dirty="0">
                <a:latin typeface="Carlito"/>
                <a:cs typeface="Carlito"/>
              </a:rPr>
              <a:t> </a:t>
            </a:r>
            <a:r>
              <a:rPr sz="1800" spc="-10" dirty="0">
                <a:latin typeface="Carlito"/>
                <a:cs typeface="Carlito"/>
              </a:rPr>
              <a:t>TinyEdit</a:t>
            </a:r>
            <a:r>
              <a:rPr sz="1800" spc="-25" dirty="0">
                <a:latin typeface="Carlito"/>
                <a:cs typeface="Carlito"/>
              </a:rPr>
              <a:t> </a:t>
            </a:r>
            <a:r>
              <a:rPr sz="1800" spc="-50" dirty="0">
                <a:latin typeface="Carlito"/>
                <a:cs typeface="Carlito"/>
              </a:rPr>
              <a:t>{</a:t>
            </a:r>
            <a:endParaRPr sz="180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  <a:spcBef>
                <a:spcPts val="430"/>
              </a:spcBef>
            </a:pPr>
            <a:r>
              <a:rPr sz="1800" dirty="0">
                <a:latin typeface="Carlito"/>
                <a:cs typeface="Carlito"/>
              </a:rPr>
              <a:t>public</a:t>
            </a:r>
            <a:r>
              <a:rPr sz="1800" spc="-60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static</a:t>
            </a:r>
            <a:r>
              <a:rPr sz="1800" spc="-60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void</a:t>
            </a:r>
            <a:r>
              <a:rPr sz="1800" spc="-75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main(String</a:t>
            </a:r>
            <a:r>
              <a:rPr sz="1800" spc="-35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args[])</a:t>
            </a:r>
            <a:r>
              <a:rPr sz="1800" spc="-75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throws</a:t>
            </a:r>
            <a:r>
              <a:rPr sz="1800" spc="-65" dirty="0">
                <a:latin typeface="Carlito"/>
                <a:cs typeface="Carlito"/>
              </a:rPr>
              <a:t> </a:t>
            </a:r>
            <a:r>
              <a:rPr sz="1800" spc="-10" dirty="0">
                <a:latin typeface="Carlito"/>
                <a:cs typeface="Carlito"/>
              </a:rPr>
              <a:t>IOException</a:t>
            </a:r>
            <a:endParaRPr sz="180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  <a:spcBef>
                <a:spcPts val="434"/>
              </a:spcBef>
            </a:pPr>
            <a:r>
              <a:rPr sz="1800" spc="-50" dirty="0">
                <a:latin typeface="Carlito"/>
                <a:cs typeface="Carlito"/>
              </a:rPr>
              <a:t>{</a:t>
            </a:r>
            <a:endParaRPr sz="1800">
              <a:latin typeface="Carlito"/>
              <a:cs typeface="Carlito"/>
            </a:endParaRPr>
          </a:p>
          <a:p>
            <a:pPr marL="12700" marR="887730">
              <a:lnSpc>
                <a:spcPct val="120000"/>
              </a:lnSpc>
            </a:pPr>
            <a:r>
              <a:rPr sz="1800" dirty="0">
                <a:latin typeface="Carlito"/>
                <a:cs typeface="Carlito"/>
              </a:rPr>
              <a:t>//</a:t>
            </a:r>
            <a:r>
              <a:rPr sz="1800" spc="-50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create</a:t>
            </a:r>
            <a:r>
              <a:rPr sz="1800" spc="-45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a</a:t>
            </a:r>
            <a:r>
              <a:rPr sz="1800" spc="-50" dirty="0">
                <a:latin typeface="Carlito"/>
                <a:cs typeface="Carlito"/>
              </a:rPr>
              <a:t> </a:t>
            </a:r>
            <a:r>
              <a:rPr sz="1800" spc="-10" dirty="0">
                <a:latin typeface="Carlito"/>
                <a:cs typeface="Carlito"/>
              </a:rPr>
              <a:t>BufferedReader</a:t>
            </a:r>
            <a:r>
              <a:rPr sz="1800" spc="-40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using</a:t>
            </a:r>
            <a:r>
              <a:rPr sz="1800" spc="-50" dirty="0">
                <a:latin typeface="Carlito"/>
                <a:cs typeface="Carlito"/>
              </a:rPr>
              <a:t> </a:t>
            </a:r>
            <a:r>
              <a:rPr sz="1800" spc="-10" dirty="0">
                <a:latin typeface="Carlito"/>
                <a:cs typeface="Carlito"/>
              </a:rPr>
              <a:t>System.in </a:t>
            </a:r>
            <a:r>
              <a:rPr sz="1800" spc="-20" dirty="0">
                <a:latin typeface="Carlito"/>
                <a:cs typeface="Carlito"/>
              </a:rPr>
              <a:t>BufferedReader</a:t>
            </a:r>
            <a:r>
              <a:rPr sz="1800" dirty="0">
                <a:latin typeface="Carlito"/>
                <a:cs typeface="Carlito"/>
              </a:rPr>
              <a:t> br =</a:t>
            </a:r>
            <a:r>
              <a:rPr sz="1800" spc="-15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new </a:t>
            </a:r>
            <a:r>
              <a:rPr sz="1800" spc="-10" dirty="0">
                <a:latin typeface="Carlito"/>
                <a:cs typeface="Carlito"/>
              </a:rPr>
              <a:t>BufferedReader(new InputStreamReader(System.in));</a:t>
            </a:r>
            <a:endParaRPr sz="1800">
              <a:latin typeface="Carlito"/>
              <a:cs typeface="Carlito"/>
            </a:endParaRPr>
          </a:p>
          <a:p>
            <a:pPr marL="12700" marR="1319530">
              <a:lnSpc>
                <a:spcPct val="120000"/>
              </a:lnSpc>
            </a:pPr>
            <a:r>
              <a:rPr sz="1800" dirty="0">
                <a:latin typeface="Carlito"/>
                <a:cs typeface="Carlito"/>
              </a:rPr>
              <a:t>String</a:t>
            </a:r>
            <a:r>
              <a:rPr sz="1800" spc="-15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str[]</a:t>
            </a:r>
            <a:r>
              <a:rPr sz="1800" spc="-40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=</a:t>
            </a:r>
            <a:r>
              <a:rPr sz="1800" spc="-20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new</a:t>
            </a:r>
            <a:r>
              <a:rPr sz="1800" spc="-25" dirty="0">
                <a:latin typeface="Carlito"/>
                <a:cs typeface="Carlito"/>
              </a:rPr>
              <a:t> </a:t>
            </a:r>
            <a:r>
              <a:rPr sz="1800" spc="-10" dirty="0">
                <a:latin typeface="Carlito"/>
                <a:cs typeface="Carlito"/>
              </a:rPr>
              <a:t>String[100]; System.out.println("Enter</a:t>
            </a:r>
            <a:r>
              <a:rPr sz="1800" spc="-5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lines of</a:t>
            </a:r>
            <a:r>
              <a:rPr sz="1800" spc="-20" dirty="0">
                <a:latin typeface="Carlito"/>
                <a:cs typeface="Carlito"/>
              </a:rPr>
              <a:t> </a:t>
            </a:r>
            <a:r>
              <a:rPr sz="1800" spc="-10" dirty="0">
                <a:latin typeface="Carlito"/>
                <a:cs typeface="Carlito"/>
              </a:rPr>
              <a:t>text."); System.out.println("Enter</a:t>
            </a:r>
            <a:r>
              <a:rPr sz="1800" spc="-25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'stop'</a:t>
            </a:r>
            <a:r>
              <a:rPr sz="1800" spc="-20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to</a:t>
            </a:r>
            <a:r>
              <a:rPr sz="1800" spc="-35" dirty="0">
                <a:latin typeface="Carlito"/>
                <a:cs typeface="Carlito"/>
              </a:rPr>
              <a:t> </a:t>
            </a:r>
            <a:r>
              <a:rPr sz="1800" spc="-10" dirty="0">
                <a:latin typeface="Carlito"/>
                <a:cs typeface="Carlito"/>
              </a:rPr>
              <a:t>quit."); for(int</a:t>
            </a:r>
            <a:r>
              <a:rPr sz="1800" spc="-35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i=0;</a:t>
            </a:r>
            <a:r>
              <a:rPr sz="1800" spc="-15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i&lt;100;</a:t>
            </a:r>
            <a:r>
              <a:rPr sz="1800" spc="-25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i++)</a:t>
            </a:r>
            <a:r>
              <a:rPr sz="1800" spc="-20" dirty="0">
                <a:latin typeface="Carlito"/>
                <a:cs typeface="Carlito"/>
              </a:rPr>
              <a:t> </a:t>
            </a:r>
            <a:r>
              <a:rPr sz="1800" spc="-50" dirty="0">
                <a:latin typeface="Carlito"/>
                <a:cs typeface="Carlito"/>
              </a:rPr>
              <a:t>{</a:t>
            </a:r>
            <a:endParaRPr sz="180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  <a:spcBef>
                <a:spcPts val="434"/>
              </a:spcBef>
            </a:pPr>
            <a:r>
              <a:rPr sz="1800" dirty="0">
                <a:latin typeface="Carlito"/>
                <a:cs typeface="Carlito"/>
              </a:rPr>
              <a:t>str[i]</a:t>
            </a:r>
            <a:r>
              <a:rPr sz="1800" spc="-30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=</a:t>
            </a:r>
            <a:r>
              <a:rPr sz="1800" spc="-20" dirty="0">
                <a:latin typeface="Carlito"/>
                <a:cs typeface="Carlito"/>
              </a:rPr>
              <a:t> </a:t>
            </a:r>
            <a:r>
              <a:rPr sz="1800" spc="-10" dirty="0">
                <a:latin typeface="Carlito"/>
                <a:cs typeface="Carlito"/>
              </a:rPr>
              <a:t>br.readLine();</a:t>
            </a:r>
            <a:endParaRPr sz="180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  <a:spcBef>
                <a:spcPts val="434"/>
              </a:spcBef>
            </a:pPr>
            <a:r>
              <a:rPr sz="1800" spc="-10" dirty="0">
                <a:latin typeface="Carlito"/>
                <a:cs typeface="Carlito"/>
              </a:rPr>
              <a:t>if(str[i].equals("stop"))</a:t>
            </a:r>
            <a:r>
              <a:rPr sz="1800" spc="-5" dirty="0">
                <a:latin typeface="Carlito"/>
                <a:cs typeface="Carlito"/>
              </a:rPr>
              <a:t> </a:t>
            </a:r>
            <a:r>
              <a:rPr sz="1800" spc="-10" dirty="0">
                <a:latin typeface="Carlito"/>
                <a:cs typeface="Carlito"/>
              </a:rPr>
              <a:t>break;</a:t>
            </a:r>
            <a:endParaRPr sz="180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  <a:spcBef>
                <a:spcPts val="430"/>
              </a:spcBef>
            </a:pPr>
            <a:r>
              <a:rPr sz="1800" spc="-50" dirty="0">
                <a:latin typeface="Carlito"/>
                <a:cs typeface="Carlito"/>
              </a:rPr>
              <a:t>}</a:t>
            </a:r>
            <a:endParaRPr sz="180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  <a:spcBef>
                <a:spcPts val="434"/>
              </a:spcBef>
            </a:pPr>
            <a:r>
              <a:rPr sz="1800" spc="-10" dirty="0">
                <a:latin typeface="Carlito"/>
                <a:cs typeface="Carlito"/>
              </a:rPr>
              <a:t>System.out.println("\nHere</a:t>
            </a:r>
            <a:r>
              <a:rPr sz="1800" spc="5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is</a:t>
            </a:r>
            <a:r>
              <a:rPr sz="1800" spc="-15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your</a:t>
            </a:r>
            <a:r>
              <a:rPr sz="1800" spc="-10" dirty="0">
                <a:latin typeface="Carlito"/>
                <a:cs typeface="Carlito"/>
              </a:rPr>
              <a:t> file:");</a:t>
            </a:r>
            <a:endParaRPr sz="180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  <a:spcBef>
                <a:spcPts val="430"/>
              </a:spcBef>
            </a:pPr>
            <a:r>
              <a:rPr sz="1800" dirty="0">
                <a:latin typeface="Carlito"/>
                <a:cs typeface="Carlito"/>
              </a:rPr>
              <a:t>//</a:t>
            </a:r>
            <a:r>
              <a:rPr sz="1800" spc="-25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display</a:t>
            </a:r>
            <a:r>
              <a:rPr sz="1800" spc="-20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the</a:t>
            </a:r>
            <a:r>
              <a:rPr sz="1800" spc="-30" dirty="0">
                <a:latin typeface="Carlito"/>
                <a:cs typeface="Carlito"/>
              </a:rPr>
              <a:t> </a:t>
            </a:r>
            <a:r>
              <a:rPr sz="1800" spc="-10" dirty="0">
                <a:latin typeface="Carlito"/>
                <a:cs typeface="Carlito"/>
              </a:rPr>
              <a:t>lines</a:t>
            </a:r>
            <a:endParaRPr sz="1800">
              <a:latin typeface="Carlito"/>
              <a:cs typeface="Carlito"/>
            </a:endParaRPr>
          </a:p>
          <a:p>
            <a:pPr marL="12700" marR="2471420">
              <a:lnSpc>
                <a:spcPct val="120000"/>
              </a:lnSpc>
            </a:pPr>
            <a:r>
              <a:rPr sz="1800" spc="-10" dirty="0">
                <a:latin typeface="Carlito"/>
                <a:cs typeface="Carlito"/>
              </a:rPr>
              <a:t>for(int</a:t>
            </a:r>
            <a:r>
              <a:rPr sz="1800" spc="-35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i=0;</a:t>
            </a:r>
            <a:r>
              <a:rPr sz="1800" spc="-15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i&lt;100;</a:t>
            </a:r>
            <a:r>
              <a:rPr sz="1800" spc="-25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i++)</a:t>
            </a:r>
            <a:r>
              <a:rPr sz="1800" spc="-20" dirty="0">
                <a:latin typeface="Carlito"/>
                <a:cs typeface="Carlito"/>
              </a:rPr>
              <a:t> </a:t>
            </a:r>
            <a:r>
              <a:rPr sz="1800" spc="-50" dirty="0">
                <a:latin typeface="Carlito"/>
                <a:cs typeface="Carlito"/>
              </a:rPr>
              <a:t>{ </a:t>
            </a:r>
            <a:r>
              <a:rPr sz="1800" spc="-10" dirty="0">
                <a:latin typeface="Carlito"/>
                <a:cs typeface="Carlito"/>
              </a:rPr>
              <a:t>if(str[i].equals("stop"))</a:t>
            </a:r>
            <a:r>
              <a:rPr sz="1800" spc="-5" dirty="0">
                <a:latin typeface="Carlito"/>
                <a:cs typeface="Carlito"/>
              </a:rPr>
              <a:t> </a:t>
            </a:r>
            <a:r>
              <a:rPr sz="1800" spc="-10" dirty="0">
                <a:latin typeface="Carlito"/>
                <a:cs typeface="Carlito"/>
              </a:rPr>
              <a:t>break; System.out.println(str[i]);</a:t>
            </a:r>
            <a:endParaRPr sz="1800">
              <a:latin typeface="Carlito"/>
              <a:cs typeface="Carlito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698235" y="2743200"/>
            <a:ext cx="3066288" cy="2485644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58724" rIns="0" bIns="0" rtlCol="0">
            <a:spAutoFit/>
          </a:bodyPr>
          <a:lstStyle/>
          <a:p>
            <a:pPr marL="546100">
              <a:lnSpc>
                <a:spcPct val="100000"/>
              </a:lnSpc>
              <a:spcBef>
                <a:spcPts val="105"/>
              </a:spcBef>
            </a:pPr>
            <a:r>
              <a:rPr sz="4400" b="0" dirty="0">
                <a:latin typeface="Carlito"/>
                <a:cs typeface="Carlito"/>
              </a:rPr>
              <a:t>Writing</a:t>
            </a:r>
            <a:r>
              <a:rPr sz="4400" b="0" spc="-180" dirty="0">
                <a:latin typeface="Carlito"/>
                <a:cs typeface="Carlito"/>
              </a:rPr>
              <a:t> </a:t>
            </a:r>
            <a:r>
              <a:rPr sz="4400" b="0" dirty="0">
                <a:latin typeface="Carlito"/>
                <a:cs typeface="Carlito"/>
              </a:rPr>
              <a:t>Console</a:t>
            </a:r>
            <a:r>
              <a:rPr sz="4400" b="0" spc="-185" dirty="0">
                <a:latin typeface="Carlito"/>
                <a:cs typeface="Carlito"/>
              </a:rPr>
              <a:t> </a:t>
            </a:r>
            <a:r>
              <a:rPr sz="4400" b="0" spc="-10" dirty="0">
                <a:latin typeface="Carlito"/>
                <a:cs typeface="Carlito"/>
              </a:rPr>
              <a:t>Output</a:t>
            </a:r>
            <a:endParaRPr sz="4400">
              <a:latin typeface="Carlito"/>
              <a:cs typeface="Carlito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41044" y="1553180"/>
            <a:ext cx="3865879" cy="2952115"/>
          </a:xfrm>
          <a:prstGeom prst="rect">
            <a:avLst/>
          </a:prstGeom>
        </p:spPr>
        <p:txBody>
          <a:bodyPr vert="horz" wrap="square" lIns="0" tIns="730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75"/>
              </a:spcBef>
            </a:pPr>
            <a:r>
              <a:rPr sz="2000" dirty="0">
                <a:latin typeface="Carlito"/>
                <a:cs typeface="Carlito"/>
              </a:rPr>
              <a:t>class</a:t>
            </a:r>
            <a:r>
              <a:rPr sz="2000" spc="-50" dirty="0">
                <a:latin typeface="Carlito"/>
                <a:cs typeface="Carlito"/>
              </a:rPr>
              <a:t> </a:t>
            </a:r>
            <a:r>
              <a:rPr sz="2000" spc="-10" dirty="0">
                <a:latin typeface="Carlito"/>
                <a:cs typeface="Carlito"/>
              </a:rPr>
              <a:t>WriteDemo</a:t>
            </a:r>
            <a:r>
              <a:rPr sz="2000" spc="-45" dirty="0">
                <a:latin typeface="Carlito"/>
                <a:cs typeface="Carlito"/>
              </a:rPr>
              <a:t> </a:t>
            </a:r>
            <a:r>
              <a:rPr sz="2000" spc="-50" dirty="0">
                <a:latin typeface="Carlito"/>
                <a:cs typeface="Carlito"/>
              </a:rPr>
              <a:t>{</a:t>
            </a:r>
            <a:endParaRPr sz="200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sz="2000" dirty="0">
                <a:latin typeface="Carlito"/>
                <a:cs typeface="Carlito"/>
              </a:rPr>
              <a:t>public</a:t>
            </a:r>
            <a:r>
              <a:rPr sz="2000" spc="-70" dirty="0">
                <a:latin typeface="Carlito"/>
                <a:cs typeface="Carlito"/>
              </a:rPr>
              <a:t> </a:t>
            </a:r>
            <a:r>
              <a:rPr sz="2000" dirty="0">
                <a:latin typeface="Carlito"/>
                <a:cs typeface="Carlito"/>
              </a:rPr>
              <a:t>static</a:t>
            </a:r>
            <a:r>
              <a:rPr sz="2000" spc="-50" dirty="0">
                <a:latin typeface="Carlito"/>
                <a:cs typeface="Carlito"/>
              </a:rPr>
              <a:t> </a:t>
            </a:r>
            <a:r>
              <a:rPr sz="2000" dirty="0">
                <a:latin typeface="Carlito"/>
                <a:cs typeface="Carlito"/>
              </a:rPr>
              <a:t>void</a:t>
            </a:r>
            <a:r>
              <a:rPr sz="2000" spc="-75" dirty="0">
                <a:latin typeface="Carlito"/>
                <a:cs typeface="Carlito"/>
              </a:rPr>
              <a:t> </a:t>
            </a:r>
            <a:r>
              <a:rPr sz="2000" dirty="0">
                <a:latin typeface="Carlito"/>
                <a:cs typeface="Carlito"/>
              </a:rPr>
              <a:t>main(String</a:t>
            </a:r>
            <a:r>
              <a:rPr sz="2000" spc="-60" dirty="0">
                <a:latin typeface="Carlito"/>
                <a:cs typeface="Carlito"/>
              </a:rPr>
              <a:t> </a:t>
            </a:r>
            <a:r>
              <a:rPr sz="2000" dirty="0">
                <a:latin typeface="Carlito"/>
                <a:cs typeface="Carlito"/>
              </a:rPr>
              <a:t>args[])</a:t>
            </a:r>
            <a:r>
              <a:rPr sz="2000" spc="-65" dirty="0">
                <a:latin typeface="Carlito"/>
                <a:cs typeface="Carlito"/>
              </a:rPr>
              <a:t> </a:t>
            </a:r>
            <a:r>
              <a:rPr sz="2000" spc="-50" dirty="0">
                <a:latin typeface="Carlito"/>
                <a:cs typeface="Carlito"/>
              </a:rPr>
              <a:t>{</a:t>
            </a:r>
            <a:endParaRPr sz="2000">
              <a:latin typeface="Carlito"/>
              <a:cs typeface="Carlito"/>
            </a:endParaRPr>
          </a:p>
          <a:p>
            <a:pPr marL="12700" marR="3141345">
              <a:lnSpc>
                <a:spcPct val="120000"/>
              </a:lnSpc>
            </a:pPr>
            <a:r>
              <a:rPr sz="2000" dirty="0">
                <a:latin typeface="Carlito"/>
                <a:cs typeface="Carlito"/>
              </a:rPr>
              <a:t>int</a:t>
            </a:r>
            <a:r>
              <a:rPr sz="2000" spc="-35" dirty="0">
                <a:latin typeface="Carlito"/>
                <a:cs typeface="Carlito"/>
              </a:rPr>
              <a:t> </a:t>
            </a:r>
            <a:r>
              <a:rPr sz="2000" spc="-25" dirty="0">
                <a:latin typeface="Carlito"/>
                <a:cs typeface="Carlito"/>
              </a:rPr>
              <a:t>b;</a:t>
            </a:r>
            <a:r>
              <a:rPr sz="2000" spc="500" dirty="0">
                <a:latin typeface="Carlito"/>
                <a:cs typeface="Carlito"/>
              </a:rPr>
              <a:t> </a:t>
            </a:r>
            <a:r>
              <a:rPr sz="2000" dirty="0">
                <a:latin typeface="Carlito"/>
                <a:cs typeface="Carlito"/>
              </a:rPr>
              <a:t>b</a:t>
            </a:r>
            <a:r>
              <a:rPr sz="2000" spc="-20" dirty="0">
                <a:latin typeface="Carlito"/>
                <a:cs typeface="Carlito"/>
              </a:rPr>
              <a:t> </a:t>
            </a:r>
            <a:r>
              <a:rPr sz="2000" dirty="0">
                <a:latin typeface="Carlito"/>
                <a:cs typeface="Carlito"/>
              </a:rPr>
              <a:t>=</a:t>
            </a:r>
            <a:r>
              <a:rPr sz="2000" spc="-10" dirty="0">
                <a:latin typeface="Carlito"/>
                <a:cs typeface="Carlito"/>
              </a:rPr>
              <a:t> </a:t>
            </a:r>
            <a:r>
              <a:rPr sz="2000" spc="-20" dirty="0">
                <a:latin typeface="Carlito"/>
                <a:cs typeface="Carlito"/>
              </a:rPr>
              <a:t>'A';</a:t>
            </a:r>
            <a:endParaRPr sz="2000">
              <a:latin typeface="Carlito"/>
              <a:cs typeface="Carlito"/>
            </a:endParaRPr>
          </a:p>
          <a:p>
            <a:pPr marL="12700" marR="1531620">
              <a:lnSpc>
                <a:spcPts val="2880"/>
              </a:lnSpc>
              <a:spcBef>
                <a:spcPts val="180"/>
              </a:spcBef>
            </a:pPr>
            <a:r>
              <a:rPr sz="2000" spc="-10" dirty="0">
                <a:latin typeface="Carlito"/>
                <a:cs typeface="Carlito"/>
              </a:rPr>
              <a:t>System.out.write(b); System.out.write('\n');</a:t>
            </a:r>
            <a:endParaRPr sz="200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  <a:spcBef>
                <a:spcPts val="305"/>
              </a:spcBef>
            </a:pPr>
            <a:r>
              <a:rPr sz="2000" spc="-50" dirty="0">
                <a:latin typeface="Carlito"/>
                <a:cs typeface="Carlito"/>
              </a:rPr>
              <a:t>}</a:t>
            </a:r>
            <a:endParaRPr sz="200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sz="2000" spc="-50" dirty="0">
                <a:latin typeface="Carlito"/>
                <a:cs typeface="Carlito"/>
              </a:rPr>
              <a:t>}</a:t>
            </a:r>
            <a:endParaRPr sz="20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28194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285745" y="2799664"/>
            <a:ext cx="3044190" cy="1031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600" u="sng" spc="-10" dirty="0">
                <a:solidFill>
                  <a:srgbClr val="1F487C"/>
                </a:solidFill>
                <a:uFill>
                  <a:solidFill>
                    <a:srgbClr val="1F487C"/>
                  </a:solidFill>
                </a:uFill>
              </a:rPr>
              <a:t>Generics</a:t>
            </a:r>
            <a:endParaRPr sz="660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83540" y="724633"/>
            <a:ext cx="7121525" cy="412305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marR="5080" indent="-342900" algn="just">
              <a:lnSpc>
                <a:spcPct val="120000"/>
              </a:lnSpc>
              <a:spcBef>
                <a:spcPts val="95"/>
              </a:spcBef>
              <a:buFont typeface="Arial"/>
              <a:buChar char="•"/>
              <a:tabLst>
                <a:tab pos="355600" algn="l"/>
              </a:tabLst>
            </a:pPr>
            <a:r>
              <a:rPr sz="3200" dirty="0">
                <a:latin typeface="Carlito"/>
                <a:cs typeface="Carlito"/>
              </a:rPr>
              <a:t>It</a:t>
            </a:r>
            <a:r>
              <a:rPr sz="3200" spc="-25" dirty="0">
                <a:latin typeface="Carlito"/>
                <a:cs typeface="Carlito"/>
              </a:rPr>
              <a:t> </a:t>
            </a:r>
            <a:r>
              <a:rPr sz="3200" dirty="0">
                <a:latin typeface="Carlito"/>
                <a:cs typeface="Carlito"/>
              </a:rPr>
              <a:t>is</a:t>
            </a:r>
            <a:r>
              <a:rPr sz="3200" spc="-35" dirty="0">
                <a:latin typeface="Carlito"/>
                <a:cs typeface="Carlito"/>
              </a:rPr>
              <a:t> </a:t>
            </a:r>
            <a:r>
              <a:rPr sz="3200" dirty="0">
                <a:latin typeface="Carlito"/>
                <a:cs typeface="Carlito"/>
              </a:rPr>
              <a:t>possible</a:t>
            </a:r>
            <a:r>
              <a:rPr sz="3200" spc="-25" dirty="0">
                <a:latin typeface="Carlito"/>
                <a:cs typeface="Carlito"/>
              </a:rPr>
              <a:t> </a:t>
            </a:r>
            <a:r>
              <a:rPr sz="3200" dirty="0">
                <a:latin typeface="Carlito"/>
                <a:cs typeface="Carlito"/>
              </a:rPr>
              <a:t>to</a:t>
            </a:r>
            <a:r>
              <a:rPr sz="3200" spc="-25" dirty="0">
                <a:latin typeface="Carlito"/>
                <a:cs typeface="Carlito"/>
              </a:rPr>
              <a:t> </a:t>
            </a:r>
            <a:r>
              <a:rPr sz="3200" dirty="0">
                <a:latin typeface="Carlito"/>
                <a:cs typeface="Carlito"/>
              </a:rPr>
              <a:t>create</a:t>
            </a:r>
            <a:r>
              <a:rPr sz="3200" spc="-60" dirty="0">
                <a:latin typeface="Carlito"/>
                <a:cs typeface="Carlito"/>
              </a:rPr>
              <a:t> </a:t>
            </a:r>
            <a:r>
              <a:rPr sz="3200" dirty="0">
                <a:latin typeface="Carlito"/>
                <a:cs typeface="Carlito"/>
              </a:rPr>
              <a:t>classes,</a:t>
            </a:r>
            <a:r>
              <a:rPr sz="3200" spc="-35" dirty="0">
                <a:latin typeface="Carlito"/>
                <a:cs typeface="Carlito"/>
              </a:rPr>
              <a:t> </a:t>
            </a:r>
            <a:r>
              <a:rPr sz="3200" spc="-10" dirty="0">
                <a:latin typeface="Carlito"/>
                <a:cs typeface="Carlito"/>
              </a:rPr>
              <a:t>interfaces, </a:t>
            </a:r>
            <a:r>
              <a:rPr sz="3200" dirty="0">
                <a:latin typeface="Carlito"/>
                <a:cs typeface="Carlito"/>
              </a:rPr>
              <a:t>and</a:t>
            </a:r>
            <a:r>
              <a:rPr sz="3200" spc="-30" dirty="0">
                <a:latin typeface="Carlito"/>
                <a:cs typeface="Carlito"/>
              </a:rPr>
              <a:t> </a:t>
            </a:r>
            <a:r>
              <a:rPr sz="3200" dirty="0">
                <a:latin typeface="Carlito"/>
                <a:cs typeface="Carlito"/>
              </a:rPr>
              <a:t>methods</a:t>
            </a:r>
            <a:r>
              <a:rPr sz="3200" spc="-45" dirty="0">
                <a:latin typeface="Carlito"/>
                <a:cs typeface="Carlito"/>
              </a:rPr>
              <a:t> </a:t>
            </a:r>
            <a:r>
              <a:rPr sz="3200" dirty="0">
                <a:latin typeface="Carlito"/>
                <a:cs typeface="Carlito"/>
              </a:rPr>
              <a:t>that</a:t>
            </a:r>
            <a:r>
              <a:rPr sz="3200" spc="-30" dirty="0">
                <a:latin typeface="Carlito"/>
                <a:cs typeface="Carlito"/>
              </a:rPr>
              <a:t> </a:t>
            </a:r>
            <a:r>
              <a:rPr sz="3200" dirty="0">
                <a:latin typeface="Carlito"/>
                <a:cs typeface="Carlito"/>
              </a:rPr>
              <a:t>will</a:t>
            </a:r>
            <a:r>
              <a:rPr sz="3200" spc="-35" dirty="0">
                <a:latin typeface="Carlito"/>
                <a:cs typeface="Carlito"/>
              </a:rPr>
              <a:t> </a:t>
            </a:r>
            <a:r>
              <a:rPr sz="3200" dirty="0">
                <a:latin typeface="Carlito"/>
                <a:cs typeface="Carlito"/>
              </a:rPr>
              <a:t>work</a:t>
            </a:r>
            <a:r>
              <a:rPr sz="3200" spc="-70" dirty="0">
                <a:latin typeface="Carlito"/>
                <a:cs typeface="Carlito"/>
              </a:rPr>
              <a:t> </a:t>
            </a:r>
            <a:r>
              <a:rPr sz="3200" dirty="0">
                <a:latin typeface="Carlito"/>
                <a:cs typeface="Carlito"/>
              </a:rPr>
              <a:t>with</a:t>
            </a:r>
            <a:r>
              <a:rPr sz="3200" spc="-35" dirty="0">
                <a:latin typeface="Carlito"/>
                <a:cs typeface="Carlito"/>
              </a:rPr>
              <a:t> </a:t>
            </a:r>
            <a:r>
              <a:rPr sz="3200" spc="-10" dirty="0">
                <a:latin typeface="Carlito"/>
                <a:cs typeface="Carlito"/>
              </a:rPr>
              <a:t>various </a:t>
            </a:r>
            <a:r>
              <a:rPr sz="3200" dirty="0">
                <a:latin typeface="Carlito"/>
                <a:cs typeface="Carlito"/>
              </a:rPr>
              <a:t>kinds</a:t>
            </a:r>
            <a:r>
              <a:rPr sz="3200" spc="-40" dirty="0">
                <a:latin typeface="Carlito"/>
                <a:cs typeface="Carlito"/>
              </a:rPr>
              <a:t> </a:t>
            </a:r>
            <a:r>
              <a:rPr sz="3200" dirty="0">
                <a:latin typeface="Carlito"/>
                <a:cs typeface="Carlito"/>
              </a:rPr>
              <a:t>of</a:t>
            </a:r>
            <a:r>
              <a:rPr sz="3200" spc="-45" dirty="0">
                <a:latin typeface="Carlito"/>
                <a:cs typeface="Carlito"/>
              </a:rPr>
              <a:t> </a:t>
            </a:r>
            <a:r>
              <a:rPr sz="3200" spc="-20" dirty="0">
                <a:latin typeface="Carlito"/>
                <a:cs typeface="Carlito"/>
              </a:rPr>
              <a:t>data.</a:t>
            </a:r>
            <a:endParaRPr sz="3200">
              <a:latin typeface="Carlito"/>
              <a:cs typeface="Carlito"/>
            </a:endParaRPr>
          </a:p>
          <a:p>
            <a:pPr>
              <a:lnSpc>
                <a:spcPct val="100000"/>
              </a:lnSpc>
              <a:spcBef>
                <a:spcPts val="1470"/>
              </a:spcBef>
              <a:buFont typeface="Arial"/>
              <a:buChar char="•"/>
            </a:pPr>
            <a:endParaRPr sz="3200">
              <a:latin typeface="Carlito"/>
              <a:cs typeface="Carlito"/>
            </a:endParaRPr>
          </a:p>
          <a:p>
            <a:pPr marL="355600">
              <a:lnSpc>
                <a:spcPct val="100000"/>
              </a:lnSpc>
            </a:pPr>
            <a:r>
              <a:rPr sz="3200" dirty="0">
                <a:latin typeface="Carlito"/>
                <a:cs typeface="Carlito"/>
              </a:rPr>
              <a:t>Eg:</a:t>
            </a:r>
            <a:r>
              <a:rPr sz="3200" spc="-30" dirty="0">
                <a:latin typeface="Carlito"/>
                <a:cs typeface="Carlito"/>
              </a:rPr>
              <a:t> </a:t>
            </a:r>
            <a:r>
              <a:rPr sz="3200" dirty="0">
                <a:latin typeface="Carlito"/>
                <a:cs typeface="Carlito"/>
              </a:rPr>
              <a:t>Collections</a:t>
            </a:r>
            <a:r>
              <a:rPr sz="3200" spc="-35" dirty="0">
                <a:latin typeface="Carlito"/>
                <a:cs typeface="Carlito"/>
              </a:rPr>
              <a:t> </a:t>
            </a:r>
            <a:r>
              <a:rPr sz="3200" spc="-10" dirty="0">
                <a:latin typeface="Carlito"/>
                <a:cs typeface="Carlito"/>
              </a:rPr>
              <a:t>Framework.</a:t>
            </a:r>
            <a:endParaRPr sz="3200">
              <a:latin typeface="Carlito"/>
              <a:cs typeface="Carlito"/>
            </a:endParaRPr>
          </a:p>
          <a:p>
            <a:pPr>
              <a:lnSpc>
                <a:spcPct val="100000"/>
              </a:lnSpc>
              <a:spcBef>
                <a:spcPts val="1475"/>
              </a:spcBef>
            </a:pPr>
            <a:endParaRPr sz="3200">
              <a:latin typeface="Carlito"/>
              <a:cs typeface="Carlito"/>
            </a:endParaRPr>
          </a:p>
          <a:p>
            <a:pPr marL="354965" indent="-342265">
              <a:lnSpc>
                <a:spcPct val="100000"/>
              </a:lnSpc>
              <a:buFont typeface="Arial"/>
              <a:buChar char="•"/>
              <a:tabLst>
                <a:tab pos="354965" algn="l"/>
              </a:tabLst>
            </a:pPr>
            <a:r>
              <a:rPr sz="3200" dirty="0">
                <a:latin typeface="Carlito"/>
                <a:cs typeface="Carlito"/>
              </a:rPr>
              <a:t>Generics</a:t>
            </a:r>
            <a:r>
              <a:rPr sz="3200" spc="-80" dirty="0">
                <a:latin typeface="Carlito"/>
                <a:cs typeface="Carlito"/>
              </a:rPr>
              <a:t> </a:t>
            </a:r>
            <a:r>
              <a:rPr sz="3200" dirty="0">
                <a:latin typeface="Carlito"/>
                <a:cs typeface="Carlito"/>
              </a:rPr>
              <a:t>means</a:t>
            </a:r>
            <a:r>
              <a:rPr sz="3200" spc="-70" dirty="0">
                <a:latin typeface="Carlito"/>
                <a:cs typeface="Carlito"/>
              </a:rPr>
              <a:t> </a:t>
            </a:r>
            <a:r>
              <a:rPr sz="3200" spc="-10" dirty="0">
                <a:latin typeface="Carlito"/>
                <a:cs typeface="Carlito"/>
              </a:rPr>
              <a:t>parameterized</a:t>
            </a:r>
            <a:r>
              <a:rPr sz="3200" spc="-75" dirty="0">
                <a:latin typeface="Carlito"/>
                <a:cs typeface="Carlito"/>
              </a:rPr>
              <a:t> </a:t>
            </a:r>
            <a:r>
              <a:rPr sz="3200" spc="-10" dirty="0">
                <a:latin typeface="Carlito"/>
                <a:cs typeface="Carlito"/>
              </a:rPr>
              <a:t>types.</a:t>
            </a:r>
            <a:endParaRPr sz="32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724633"/>
            <a:ext cx="7388225" cy="35375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marR="98425" indent="-343535">
              <a:lnSpc>
                <a:spcPct val="120000"/>
              </a:lnSpc>
              <a:spcBef>
                <a:spcPts val="95"/>
              </a:spcBef>
              <a:buFont typeface="Arial"/>
              <a:buChar char="•"/>
              <a:tabLst>
                <a:tab pos="355600" algn="l"/>
              </a:tabLst>
            </a:pPr>
            <a:r>
              <a:rPr sz="3200" dirty="0">
                <a:latin typeface="Carlito"/>
                <a:cs typeface="Carlito"/>
              </a:rPr>
              <a:t>Using</a:t>
            </a:r>
            <a:r>
              <a:rPr sz="3200" spc="-60" dirty="0">
                <a:latin typeface="Carlito"/>
                <a:cs typeface="Carlito"/>
              </a:rPr>
              <a:t> </a:t>
            </a:r>
            <a:r>
              <a:rPr sz="3200" dirty="0">
                <a:latin typeface="Carlito"/>
                <a:cs typeface="Carlito"/>
              </a:rPr>
              <a:t>generics,</a:t>
            </a:r>
            <a:r>
              <a:rPr sz="3200" spc="-75" dirty="0">
                <a:latin typeface="Carlito"/>
                <a:cs typeface="Carlito"/>
              </a:rPr>
              <a:t> </a:t>
            </a:r>
            <a:r>
              <a:rPr sz="3200" dirty="0">
                <a:latin typeface="Carlito"/>
                <a:cs typeface="Carlito"/>
              </a:rPr>
              <a:t>it</a:t>
            </a:r>
            <a:r>
              <a:rPr sz="3200" spc="-75" dirty="0">
                <a:latin typeface="Carlito"/>
                <a:cs typeface="Carlito"/>
              </a:rPr>
              <a:t> </a:t>
            </a:r>
            <a:r>
              <a:rPr sz="3200" dirty="0">
                <a:latin typeface="Carlito"/>
                <a:cs typeface="Carlito"/>
              </a:rPr>
              <a:t>is</a:t>
            </a:r>
            <a:r>
              <a:rPr sz="3200" spc="-65" dirty="0">
                <a:latin typeface="Carlito"/>
                <a:cs typeface="Carlito"/>
              </a:rPr>
              <a:t> </a:t>
            </a:r>
            <a:r>
              <a:rPr sz="3200" dirty="0">
                <a:latin typeface="Carlito"/>
                <a:cs typeface="Carlito"/>
              </a:rPr>
              <a:t>possible</a:t>
            </a:r>
            <a:r>
              <a:rPr sz="3200" spc="-50" dirty="0">
                <a:latin typeface="Carlito"/>
                <a:cs typeface="Carlito"/>
              </a:rPr>
              <a:t> </a:t>
            </a:r>
            <a:r>
              <a:rPr sz="3200" dirty="0">
                <a:latin typeface="Carlito"/>
                <a:cs typeface="Carlito"/>
              </a:rPr>
              <a:t>to</a:t>
            </a:r>
            <a:r>
              <a:rPr sz="3200" spc="-65" dirty="0">
                <a:latin typeface="Carlito"/>
                <a:cs typeface="Carlito"/>
              </a:rPr>
              <a:t> </a:t>
            </a:r>
            <a:r>
              <a:rPr sz="3200" dirty="0">
                <a:latin typeface="Carlito"/>
                <a:cs typeface="Carlito"/>
              </a:rPr>
              <a:t>create</a:t>
            </a:r>
            <a:r>
              <a:rPr sz="3200" spc="-90" dirty="0">
                <a:latin typeface="Carlito"/>
                <a:cs typeface="Carlito"/>
              </a:rPr>
              <a:t> </a:t>
            </a:r>
            <a:r>
              <a:rPr sz="3200" spc="-50" dirty="0">
                <a:latin typeface="Carlito"/>
                <a:cs typeface="Carlito"/>
              </a:rPr>
              <a:t>a </a:t>
            </a:r>
            <a:r>
              <a:rPr sz="3200" dirty="0">
                <a:latin typeface="Carlito"/>
                <a:cs typeface="Carlito"/>
              </a:rPr>
              <a:t>single</a:t>
            </a:r>
            <a:r>
              <a:rPr sz="3200" spc="-70" dirty="0">
                <a:latin typeface="Carlito"/>
                <a:cs typeface="Carlito"/>
              </a:rPr>
              <a:t> </a:t>
            </a:r>
            <a:r>
              <a:rPr sz="3200" dirty="0">
                <a:latin typeface="Carlito"/>
                <a:cs typeface="Carlito"/>
              </a:rPr>
              <a:t>class,</a:t>
            </a:r>
            <a:r>
              <a:rPr sz="3200" spc="-55" dirty="0">
                <a:latin typeface="Carlito"/>
                <a:cs typeface="Carlito"/>
              </a:rPr>
              <a:t> </a:t>
            </a:r>
            <a:r>
              <a:rPr sz="3200" dirty="0">
                <a:latin typeface="Carlito"/>
                <a:cs typeface="Carlito"/>
              </a:rPr>
              <a:t>that</a:t>
            </a:r>
            <a:r>
              <a:rPr sz="3200" spc="-45" dirty="0">
                <a:latin typeface="Carlito"/>
                <a:cs typeface="Carlito"/>
              </a:rPr>
              <a:t> </a:t>
            </a:r>
            <a:r>
              <a:rPr sz="3200" spc="-10" dirty="0">
                <a:latin typeface="Carlito"/>
                <a:cs typeface="Carlito"/>
              </a:rPr>
              <a:t>automatically</a:t>
            </a:r>
            <a:r>
              <a:rPr sz="3200" spc="-30" dirty="0">
                <a:latin typeface="Carlito"/>
                <a:cs typeface="Carlito"/>
              </a:rPr>
              <a:t> </a:t>
            </a:r>
            <a:r>
              <a:rPr sz="3200" dirty="0">
                <a:latin typeface="Carlito"/>
                <a:cs typeface="Carlito"/>
              </a:rPr>
              <a:t>works</a:t>
            </a:r>
            <a:r>
              <a:rPr sz="3200" spc="-85" dirty="0">
                <a:latin typeface="Carlito"/>
                <a:cs typeface="Carlito"/>
              </a:rPr>
              <a:t> </a:t>
            </a:r>
            <a:r>
              <a:rPr sz="3200" spc="-20" dirty="0">
                <a:latin typeface="Carlito"/>
                <a:cs typeface="Carlito"/>
              </a:rPr>
              <a:t>with different</a:t>
            </a:r>
            <a:r>
              <a:rPr sz="3200" spc="-40" dirty="0">
                <a:latin typeface="Carlito"/>
                <a:cs typeface="Carlito"/>
              </a:rPr>
              <a:t> </a:t>
            </a:r>
            <a:r>
              <a:rPr sz="3200" dirty="0">
                <a:latin typeface="Carlito"/>
                <a:cs typeface="Carlito"/>
              </a:rPr>
              <a:t>types</a:t>
            </a:r>
            <a:r>
              <a:rPr sz="3200" spc="-40" dirty="0">
                <a:latin typeface="Carlito"/>
                <a:cs typeface="Carlito"/>
              </a:rPr>
              <a:t> </a:t>
            </a:r>
            <a:r>
              <a:rPr sz="3200" dirty="0">
                <a:latin typeface="Carlito"/>
                <a:cs typeface="Carlito"/>
              </a:rPr>
              <a:t>of</a:t>
            </a:r>
            <a:r>
              <a:rPr sz="3200" spc="-40" dirty="0">
                <a:latin typeface="Carlito"/>
                <a:cs typeface="Carlito"/>
              </a:rPr>
              <a:t> </a:t>
            </a:r>
            <a:r>
              <a:rPr sz="3200" spc="-10" dirty="0">
                <a:latin typeface="Carlito"/>
                <a:cs typeface="Carlito"/>
              </a:rPr>
              <a:t>data.</a:t>
            </a:r>
            <a:endParaRPr sz="3200">
              <a:latin typeface="Carlito"/>
              <a:cs typeface="Carlito"/>
            </a:endParaRPr>
          </a:p>
          <a:p>
            <a:pPr>
              <a:lnSpc>
                <a:spcPct val="100000"/>
              </a:lnSpc>
              <a:spcBef>
                <a:spcPts val="705"/>
              </a:spcBef>
              <a:buFont typeface="Arial"/>
              <a:buChar char="•"/>
            </a:pPr>
            <a:endParaRPr sz="3200">
              <a:latin typeface="Carlito"/>
              <a:cs typeface="Carlito"/>
            </a:endParaRPr>
          </a:p>
          <a:p>
            <a:pPr marL="355600" marR="5080" indent="-343535">
              <a:lnSpc>
                <a:spcPct val="120000"/>
              </a:lnSpc>
              <a:buFont typeface="Arial"/>
              <a:buChar char="•"/>
              <a:tabLst>
                <a:tab pos="355600" algn="l"/>
              </a:tabLst>
            </a:pPr>
            <a:r>
              <a:rPr sz="3200" dirty="0">
                <a:latin typeface="Carlito"/>
                <a:cs typeface="Carlito"/>
              </a:rPr>
              <a:t>A</a:t>
            </a:r>
            <a:r>
              <a:rPr sz="3200" spc="-55" dirty="0">
                <a:latin typeface="Carlito"/>
                <a:cs typeface="Carlito"/>
              </a:rPr>
              <a:t> </a:t>
            </a:r>
            <a:r>
              <a:rPr sz="3200" dirty="0">
                <a:latin typeface="Carlito"/>
                <a:cs typeface="Carlito"/>
              </a:rPr>
              <a:t>class,</a:t>
            </a:r>
            <a:r>
              <a:rPr sz="3200" spc="-55" dirty="0">
                <a:latin typeface="Carlito"/>
                <a:cs typeface="Carlito"/>
              </a:rPr>
              <a:t> </a:t>
            </a:r>
            <a:r>
              <a:rPr sz="3200" spc="-10" dirty="0">
                <a:latin typeface="Carlito"/>
                <a:cs typeface="Carlito"/>
              </a:rPr>
              <a:t>interface,</a:t>
            </a:r>
            <a:r>
              <a:rPr sz="3200" spc="-65" dirty="0">
                <a:latin typeface="Carlito"/>
                <a:cs typeface="Carlito"/>
              </a:rPr>
              <a:t> </a:t>
            </a:r>
            <a:r>
              <a:rPr sz="3200" dirty="0">
                <a:latin typeface="Carlito"/>
                <a:cs typeface="Carlito"/>
              </a:rPr>
              <a:t>or</a:t>
            </a:r>
            <a:r>
              <a:rPr sz="3200" spc="-50" dirty="0">
                <a:latin typeface="Carlito"/>
                <a:cs typeface="Carlito"/>
              </a:rPr>
              <a:t> </a:t>
            </a:r>
            <a:r>
              <a:rPr sz="3200" dirty="0">
                <a:latin typeface="Carlito"/>
                <a:cs typeface="Carlito"/>
              </a:rPr>
              <a:t>method</a:t>
            </a:r>
            <a:r>
              <a:rPr sz="3200" spc="-50" dirty="0">
                <a:latin typeface="Carlito"/>
                <a:cs typeface="Carlito"/>
              </a:rPr>
              <a:t> </a:t>
            </a:r>
            <a:r>
              <a:rPr sz="3200" dirty="0">
                <a:latin typeface="Carlito"/>
                <a:cs typeface="Carlito"/>
              </a:rPr>
              <a:t>that</a:t>
            </a:r>
            <a:r>
              <a:rPr sz="3200" spc="-55" dirty="0">
                <a:latin typeface="Carlito"/>
                <a:cs typeface="Carlito"/>
              </a:rPr>
              <a:t> </a:t>
            </a:r>
            <a:r>
              <a:rPr sz="3200" spc="-10" dirty="0">
                <a:latin typeface="Carlito"/>
                <a:cs typeface="Carlito"/>
              </a:rPr>
              <a:t>operates </a:t>
            </a:r>
            <a:r>
              <a:rPr sz="3200" dirty="0">
                <a:latin typeface="Carlito"/>
                <a:cs typeface="Carlito"/>
              </a:rPr>
              <a:t>on</a:t>
            </a:r>
            <a:r>
              <a:rPr sz="3200" spc="-45" dirty="0">
                <a:latin typeface="Carlito"/>
                <a:cs typeface="Carlito"/>
              </a:rPr>
              <a:t> </a:t>
            </a:r>
            <a:r>
              <a:rPr sz="3200" dirty="0">
                <a:latin typeface="Carlito"/>
                <a:cs typeface="Carlito"/>
              </a:rPr>
              <a:t>a</a:t>
            </a:r>
            <a:r>
              <a:rPr sz="3200" spc="-40" dirty="0">
                <a:latin typeface="Carlito"/>
                <a:cs typeface="Carlito"/>
              </a:rPr>
              <a:t> </a:t>
            </a:r>
            <a:r>
              <a:rPr sz="3200" spc="-10" dirty="0">
                <a:latin typeface="Carlito"/>
                <a:cs typeface="Carlito"/>
              </a:rPr>
              <a:t>parameterized</a:t>
            </a:r>
            <a:r>
              <a:rPr sz="3200" spc="-45" dirty="0">
                <a:latin typeface="Carlito"/>
                <a:cs typeface="Carlito"/>
              </a:rPr>
              <a:t> </a:t>
            </a:r>
            <a:r>
              <a:rPr sz="3200" dirty="0">
                <a:latin typeface="Carlito"/>
                <a:cs typeface="Carlito"/>
              </a:rPr>
              <a:t>type</a:t>
            </a:r>
            <a:r>
              <a:rPr sz="3200" spc="-40" dirty="0">
                <a:latin typeface="Carlito"/>
                <a:cs typeface="Carlito"/>
              </a:rPr>
              <a:t> </a:t>
            </a:r>
            <a:r>
              <a:rPr sz="3200" dirty="0">
                <a:latin typeface="Carlito"/>
                <a:cs typeface="Carlito"/>
              </a:rPr>
              <a:t>is</a:t>
            </a:r>
            <a:r>
              <a:rPr sz="3200" spc="-40" dirty="0">
                <a:latin typeface="Carlito"/>
                <a:cs typeface="Carlito"/>
              </a:rPr>
              <a:t> </a:t>
            </a:r>
            <a:r>
              <a:rPr sz="3200" dirty="0">
                <a:latin typeface="Carlito"/>
                <a:cs typeface="Carlito"/>
              </a:rPr>
              <a:t>called</a:t>
            </a:r>
            <a:r>
              <a:rPr sz="3200" spc="-45" dirty="0">
                <a:latin typeface="Carlito"/>
                <a:cs typeface="Carlito"/>
              </a:rPr>
              <a:t> </a:t>
            </a:r>
            <a:r>
              <a:rPr sz="3200" spc="-10" dirty="0">
                <a:latin typeface="Carlito"/>
                <a:cs typeface="Carlito"/>
              </a:rPr>
              <a:t>generic.</a:t>
            </a:r>
            <a:endParaRPr sz="32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195783"/>
            <a:ext cx="5942965" cy="60864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dirty="0">
                <a:latin typeface="Carlito"/>
                <a:cs typeface="Carlito"/>
              </a:rPr>
              <a:t>A</a:t>
            </a:r>
            <a:r>
              <a:rPr sz="2800" spc="-35" dirty="0">
                <a:latin typeface="Carlito"/>
                <a:cs typeface="Carlito"/>
              </a:rPr>
              <a:t> </a:t>
            </a:r>
            <a:r>
              <a:rPr sz="2800" dirty="0">
                <a:latin typeface="Carlito"/>
                <a:cs typeface="Carlito"/>
              </a:rPr>
              <a:t>Simple</a:t>
            </a:r>
            <a:r>
              <a:rPr sz="2800" spc="-30" dirty="0">
                <a:latin typeface="Carlito"/>
                <a:cs typeface="Carlito"/>
              </a:rPr>
              <a:t> </a:t>
            </a:r>
            <a:r>
              <a:rPr sz="2800" dirty="0">
                <a:latin typeface="Carlito"/>
                <a:cs typeface="Carlito"/>
              </a:rPr>
              <a:t>Generics</a:t>
            </a:r>
            <a:r>
              <a:rPr sz="2800" spc="-35" dirty="0">
                <a:latin typeface="Carlito"/>
                <a:cs typeface="Carlito"/>
              </a:rPr>
              <a:t> </a:t>
            </a:r>
            <a:r>
              <a:rPr sz="2800" spc="-10" dirty="0">
                <a:latin typeface="Carlito"/>
                <a:cs typeface="Carlito"/>
              </a:rPr>
              <a:t>Example</a:t>
            </a:r>
            <a:endParaRPr sz="2800">
              <a:latin typeface="Carlito"/>
              <a:cs typeface="Carlito"/>
            </a:endParaRPr>
          </a:p>
          <a:p>
            <a:pPr>
              <a:lnSpc>
                <a:spcPct val="100000"/>
              </a:lnSpc>
              <a:spcBef>
                <a:spcPts val="615"/>
              </a:spcBef>
            </a:pPr>
            <a:endParaRPr sz="280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800" dirty="0">
                <a:latin typeface="Carlito"/>
                <a:cs typeface="Carlito"/>
              </a:rPr>
              <a:t>//</a:t>
            </a:r>
            <a:r>
              <a:rPr sz="2800" spc="-35" dirty="0">
                <a:latin typeface="Carlito"/>
                <a:cs typeface="Carlito"/>
              </a:rPr>
              <a:t> </a:t>
            </a:r>
            <a:r>
              <a:rPr sz="2800" dirty="0">
                <a:latin typeface="Carlito"/>
                <a:cs typeface="Carlito"/>
              </a:rPr>
              <a:t>A</a:t>
            </a:r>
            <a:r>
              <a:rPr sz="2800" spc="-35" dirty="0">
                <a:latin typeface="Carlito"/>
                <a:cs typeface="Carlito"/>
              </a:rPr>
              <a:t> </a:t>
            </a:r>
            <a:r>
              <a:rPr sz="2800" dirty="0">
                <a:latin typeface="Carlito"/>
                <a:cs typeface="Carlito"/>
              </a:rPr>
              <a:t>simple</a:t>
            </a:r>
            <a:r>
              <a:rPr sz="2800" spc="-30" dirty="0">
                <a:latin typeface="Carlito"/>
                <a:cs typeface="Carlito"/>
              </a:rPr>
              <a:t> </a:t>
            </a:r>
            <a:r>
              <a:rPr sz="2800" dirty="0">
                <a:latin typeface="Carlito"/>
                <a:cs typeface="Carlito"/>
              </a:rPr>
              <a:t>generic</a:t>
            </a:r>
            <a:r>
              <a:rPr sz="2800" spc="-50" dirty="0">
                <a:latin typeface="Carlito"/>
                <a:cs typeface="Carlito"/>
              </a:rPr>
              <a:t> </a:t>
            </a:r>
            <a:r>
              <a:rPr sz="2800" spc="-10" dirty="0">
                <a:latin typeface="Carlito"/>
                <a:cs typeface="Carlito"/>
              </a:rPr>
              <a:t>class.</a:t>
            </a:r>
            <a:endParaRPr sz="280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  <a:spcBef>
                <a:spcPts val="335"/>
              </a:spcBef>
            </a:pPr>
            <a:r>
              <a:rPr sz="2800" dirty="0">
                <a:latin typeface="Carlito"/>
                <a:cs typeface="Carlito"/>
              </a:rPr>
              <a:t>//</a:t>
            </a:r>
            <a:r>
              <a:rPr sz="2800" spc="-40" dirty="0">
                <a:latin typeface="Carlito"/>
                <a:cs typeface="Carlito"/>
              </a:rPr>
              <a:t> </a:t>
            </a:r>
            <a:r>
              <a:rPr sz="2800" dirty="0">
                <a:latin typeface="Carlito"/>
                <a:cs typeface="Carlito"/>
              </a:rPr>
              <a:t>Here,</a:t>
            </a:r>
            <a:r>
              <a:rPr sz="2800" spc="-40" dirty="0">
                <a:latin typeface="Carlito"/>
                <a:cs typeface="Carlito"/>
              </a:rPr>
              <a:t> </a:t>
            </a:r>
            <a:r>
              <a:rPr sz="2800" dirty="0">
                <a:latin typeface="Carlito"/>
                <a:cs typeface="Carlito"/>
              </a:rPr>
              <a:t>T</a:t>
            </a:r>
            <a:r>
              <a:rPr sz="2800" spc="-45" dirty="0">
                <a:latin typeface="Carlito"/>
                <a:cs typeface="Carlito"/>
              </a:rPr>
              <a:t> </a:t>
            </a:r>
            <a:r>
              <a:rPr sz="2800" dirty="0">
                <a:latin typeface="Carlito"/>
                <a:cs typeface="Carlito"/>
              </a:rPr>
              <a:t>is</a:t>
            </a:r>
            <a:r>
              <a:rPr sz="2800" spc="-50" dirty="0">
                <a:latin typeface="Carlito"/>
                <a:cs typeface="Carlito"/>
              </a:rPr>
              <a:t> </a:t>
            </a:r>
            <a:r>
              <a:rPr sz="2800" dirty="0">
                <a:latin typeface="Carlito"/>
                <a:cs typeface="Carlito"/>
              </a:rPr>
              <a:t>a</a:t>
            </a:r>
            <a:r>
              <a:rPr sz="2800" spc="-45" dirty="0">
                <a:latin typeface="Carlito"/>
                <a:cs typeface="Carlito"/>
              </a:rPr>
              <a:t> </a:t>
            </a:r>
            <a:r>
              <a:rPr sz="2800" dirty="0">
                <a:latin typeface="Carlito"/>
                <a:cs typeface="Carlito"/>
              </a:rPr>
              <a:t>type</a:t>
            </a:r>
            <a:r>
              <a:rPr sz="2800" spc="-40" dirty="0">
                <a:latin typeface="Carlito"/>
                <a:cs typeface="Carlito"/>
              </a:rPr>
              <a:t> </a:t>
            </a:r>
            <a:r>
              <a:rPr sz="2800" dirty="0">
                <a:latin typeface="Carlito"/>
                <a:cs typeface="Carlito"/>
              </a:rPr>
              <a:t>parameter</a:t>
            </a:r>
            <a:r>
              <a:rPr sz="2800" spc="-50" dirty="0">
                <a:latin typeface="Carlito"/>
                <a:cs typeface="Carlito"/>
              </a:rPr>
              <a:t> </a:t>
            </a:r>
            <a:r>
              <a:rPr sz="2800" spc="-20" dirty="0">
                <a:latin typeface="Carlito"/>
                <a:cs typeface="Carlito"/>
              </a:rPr>
              <a:t>that</a:t>
            </a:r>
            <a:endParaRPr sz="280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  <a:spcBef>
                <a:spcPts val="340"/>
              </a:spcBef>
            </a:pPr>
            <a:r>
              <a:rPr sz="2800" dirty="0">
                <a:latin typeface="Carlito"/>
                <a:cs typeface="Carlito"/>
              </a:rPr>
              <a:t>//</a:t>
            </a:r>
            <a:r>
              <a:rPr sz="2800" spc="-30" dirty="0">
                <a:latin typeface="Carlito"/>
                <a:cs typeface="Carlito"/>
              </a:rPr>
              <a:t> </a:t>
            </a:r>
            <a:r>
              <a:rPr sz="2800" dirty="0">
                <a:latin typeface="Carlito"/>
                <a:cs typeface="Carlito"/>
              </a:rPr>
              <a:t>will</a:t>
            </a:r>
            <a:r>
              <a:rPr sz="2800" spc="-35" dirty="0">
                <a:latin typeface="Carlito"/>
                <a:cs typeface="Carlito"/>
              </a:rPr>
              <a:t> </a:t>
            </a:r>
            <a:r>
              <a:rPr sz="2800" dirty="0">
                <a:latin typeface="Carlito"/>
                <a:cs typeface="Carlito"/>
              </a:rPr>
              <a:t>be</a:t>
            </a:r>
            <a:r>
              <a:rPr sz="2800" spc="-35" dirty="0">
                <a:latin typeface="Carlito"/>
                <a:cs typeface="Carlito"/>
              </a:rPr>
              <a:t> </a:t>
            </a:r>
            <a:r>
              <a:rPr sz="2800" dirty="0">
                <a:latin typeface="Carlito"/>
                <a:cs typeface="Carlito"/>
              </a:rPr>
              <a:t>replaced</a:t>
            </a:r>
            <a:r>
              <a:rPr sz="2800" spc="-35" dirty="0">
                <a:latin typeface="Carlito"/>
                <a:cs typeface="Carlito"/>
              </a:rPr>
              <a:t> </a:t>
            </a:r>
            <a:r>
              <a:rPr sz="2800" dirty="0">
                <a:latin typeface="Carlito"/>
                <a:cs typeface="Carlito"/>
              </a:rPr>
              <a:t>by</a:t>
            </a:r>
            <a:r>
              <a:rPr sz="2800" spc="-30" dirty="0">
                <a:latin typeface="Carlito"/>
                <a:cs typeface="Carlito"/>
              </a:rPr>
              <a:t> </a:t>
            </a:r>
            <a:r>
              <a:rPr sz="2800" dirty="0">
                <a:latin typeface="Carlito"/>
                <a:cs typeface="Carlito"/>
              </a:rPr>
              <a:t>a</a:t>
            </a:r>
            <a:r>
              <a:rPr sz="2800" spc="-40" dirty="0">
                <a:latin typeface="Carlito"/>
                <a:cs typeface="Carlito"/>
              </a:rPr>
              <a:t> </a:t>
            </a:r>
            <a:r>
              <a:rPr sz="2800" dirty="0">
                <a:latin typeface="Carlito"/>
                <a:cs typeface="Carlito"/>
              </a:rPr>
              <a:t>real</a:t>
            </a:r>
            <a:r>
              <a:rPr sz="2800" spc="-50" dirty="0">
                <a:latin typeface="Carlito"/>
                <a:cs typeface="Carlito"/>
              </a:rPr>
              <a:t> </a:t>
            </a:r>
            <a:r>
              <a:rPr sz="2800" spc="-20" dirty="0">
                <a:latin typeface="Carlito"/>
                <a:cs typeface="Carlito"/>
              </a:rPr>
              <a:t>type</a:t>
            </a:r>
            <a:endParaRPr sz="2800">
              <a:latin typeface="Carlito"/>
              <a:cs typeface="Carlito"/>
            </a:endParaRPr>
          </a:p>
          <a:p>
            <a:pPr marL="12700" marR="5080">
              <a:lnSpc>
                <a:spcPts val="3700"/>
              </a:lnSpc>
              <a:spcBef>
                <a:spcPts val="175"/>
              </a:spcBef>
            </a:pPr>
            <a:r>
              <a:rPr sz="2800" dirty="0">
                <a:latin typeface="Carlito"/>
                <a:cs typeface="Carlito"/>
              </a:rPr>
              <a:t>//</a:t>
            </a:r>
            <a:r>
              <a:rPr sz="2800" spc="-30" dirty="0">
                <a:latin typeface="Carlito"/>
                <a:cs typeface="Carlito"/>
              </a:rPr>
              <a:t> </a:t>
            </a:r>
            <a:r>
              <a:rPr sz="2800" dirty="0">
                <a:latin typeface="Carlito"/>
                <a:cs typeface="Carlito"/>
              </a:rPr>
              <a:t>when</a:t>
            </a:r>
            <a:r>
              <a:rPr sz="2800" spc="-25" dirty="0">
                <a:latin typeface="Carlito"/>
                <a:cs typeface="Carlito"/>
              </a:rPr>
              <a:t> </a:t>
            </a:r>
            <a:r>
              <a:rPr sz="2800" dirty="0">
                <a:latin typeface="Carlito"/>
                <a:cs typeface="Carlito"/>
              </a:rPr>
              <a:t>an</a:t>
            </a:r>
            <a:r>
              <a:rPr sz="2800" spc="-45" dirty="0">
                <a:latin typeface="Carlito"/>
                <a:cs typeface="Carlito"/>
              </a:rPr>
              <a:t> </a:t>
            </a:r>
            <a:r>
              <a:rPr sz="2800" dirty="0">
                <a:latin typeface="Carlito"/>
                <a:cs typeface="Carlito"/>
              </a:rPr>
              <a:t>object</a:t>
            </a:r>
            <a:r>
              <a:rPr sz="2800" spc="-30" dirty="0">
                <a:latin typeface="Carlito"/>
                <a:cs typeface="Carlito"/>
              </a:rPr>
              <a:t> </a:t>
            </a:r>
            <a:r>
              <a:rPr sz="2800" dirty="0">
                <a:latin typeface="Carlito"/>
                <a:cs typeface="Carlito"/>
              </a:rPr>
              <a:t>of</a:t>
            </a:r>
            <a:r>
              <a:rPr sz="2800" spc="-40" dirty="0">
                <a:latin typeface="Carlito"/>
                <a:cs typeface="Carlito"/>
              </a:rPr>
              <a:t> </a:t>
            </a:r>
            <a:r>
              <a:rPr sz="2800" dirty="0">
                <a:latin typeface="Carlito"/>
                <a:cs typeface="Carlito"/>
              </a:rPr>
              <a:t>type</a:t>
            </a:r>
            <a:r>
              <a:rPr sz="2800" spc="-30" dirty="0">
                <a:latin typeface="Carlito"/>
                <a:cs typeface="Carlito"/>
              </a:rPr>
              <a:t> </a:t>
            </a:r>
            <a:r>
              <a:rPr sz="2800" dirty="0">
                <a:latin typeface="Carlito"/>
                <a:cs typeface="Carlito"/>
              </a:rPr>
              <a:t>Gen</a:t>
            </a:r>
            <a:r>
              <a:rPr sz="2800" spc="-55" dirty="0">
                <a:latin typeface="Carlito"/>
                <a:cs typeface="Carlito"/>
              </a:rPr>
              <a:t> </a:t>
            </a:r>
            <a:r>
              <a:rPr sz="2800" dirty="0">
                <a:latin typeface="Carlito"/>
                <a:cs typeface="Carlito"/>
              </a:rPr>
              <a:t>is</a:t>
            </a:r>
            <a:r>
              <a:rPr sz="2800" spc="-35" dirty="0">
                <a:latin typeface="Carlito"/>
                <a:cs typeface="Carlito"/>
              </a:rPr>
              <a:t> </a:t>
            </a:r>
            <a:r>
              <a:rPr sz="2800" spc="-10" dirty="0">
                <a:latin typeface="Carlito"/>
                <a:cs typeface="Carlito"/>
              </a:rPr>
              <a:t>created. </a:t>
            </a:r>
            <a:r>
              <a:rPr sz="2800" dirty="0">
                <a:latin typeface="Carlito"/>
                <a:cs typeface="Carlito"/>
              </a:rPr>
              <a:t>class</a:t>
            </a:r>
            <a:r>
              <a:rPr sz="2800" spc="-85" dirty="0">
                <a:latin typeface="Carlito"/>
                <a:cs typeface="Carlito"/>
              </a:rPr>
              <a:t> </a:t>
            </a:r>
            <a:r>
              <a:rPr sz="2800" dirty="0">
                <a:latin typeface="Carlito"/>
                <a:cs typeface="Carlito"/>
              </a:rPr>
              <a:t>Gen&lt;T&gt;</a:t>
            </a:r>
            <a:r>
              <a:rPr sz="2800" spc="-85" dirty="0">
                <a:latin typeface="Carlito"/>
                <a:cs typeface="Carlito"/>
              </a:rPr>
              <a:t> </a:t>
            </a:r>
            <a:r>
              <a:rPr sz="2800" spc="-50" dirty="0">
                <a:latin typeface="Carlito"/>
                <a:cs typeface="Carlito"/>
              </a:rPr>
              <a:t>{</a:t>
            </a:r>
            <a:endParaRPr sz="2800">
              <a:latin typeface="Carlito"/>
              <a:cs typeface="Carlito"/>
            </a:endParaRPr>
          </a:p>
          <a:p>
            <a:pPr marL="355600">
              <a:lnSpc>
                <a:spcPct val="100000"/>
              </a:lnSpc>
              <a:spcBef>
                <a:spcPts val="155"/>
              </a:spcBef>
            </a:pPr>
            <a:r>
              <a:rPr sz="2800" dirty="0">
                <a:latin typeface="Carlito"/>
                <a:cs typeface="Carlito"/>
              </a:rPr>
              <a:t>T</a:t>
            </a:r>
            <a:r>
              <a:rPr sz="2800" spc="-35" dirty="0">
                <a:latin typeface="Carlito"/>
                <a:cs typeface="Carlito"/>
              </a:rPr>
              <a:t> </a:t>
            </a:r>
            <a:r>
              <a:rPr sz="2800" dirty="0">
                <a:latin typeface="Carlito"/>
                <a:cs typeface="Carlito"/>
              </a:rPr>
              <a:t>ob;</a:t>
            </a:r>
            <a:r>
              <a:rPr sz="2800" spc="-30" dirty="0">
                <a:latin typeface="Carlito"/>
                <a:cs typeface="Carlito"/>
              </a:rPr>
              <a:t> </a:t>
            </a:r>
            <a:r>
              <a:rPr sz="2800" dirty="0">
                <a:latin typeface="Carlito"/>
                <a:cs typeface="Carlito"/>
              </a:rPr>
              <a:t>//</a:t>
            </a:r>
            <a:r>
              <a:rPr sz="2800" spc="-25" dirty="0">
                <a:latin typeface="Carlito"/>
                <a:cs typeface="Carlito"/>
              </a:rPr>
              <a:t> </a:t>
            </a:r>
            <a:r>
              <a:rPr sz="2800" dirty="0">
                <a:latin typeface="Carlito"/>
                <a:cs typeface="Carlito"/>
              </a:rPr>
              <a:t>declare</a:t>
            </a:r>
            <a:r>
              <a:rPr sz="2800" spc="-25" dirty="0">
                <a:latin typeface="Carlito"/>
                <a:cs typeface="Carlito"/>
              </a:rPr>
              <a:t> </a:t>
            </a:r>
            <a:r>
              <a:rPr sz="2800" dirty="0">
                <a:latin typeface="Carlito"/>
                <a:cs typeface="Carlito"/>
              </a:rPr>
              <a:t>an</a:t>
            </a:r>
            <a:r>
              <a:rPr sz="2800" spc="-40" dirty="0">
                <a:latin typeface="Carlito"/>
                <a:cs typeface="Carlito"/>
              </a:rPr>
              <a:t> </a:t>
            </a:r>
            <a:r>
              <a:rPr sz="2800" dirty="0">
                <a:latin typeface="Carlito"/>
                <a:cs typeface="Carlito"/>
              </a:rPr>
              <a:t>object</a:t>
            </a:r>
            <a:r>
              <a:rPr sz="2800" spc="-25" dirty="0">
                <a:latin typeface="Carlito"/>
                <a:cs typeface="Carlito"/>
              </a:rPr>
              <a:t> </a:t>
            </a:r>
            <a:r>
              <a:rPr sz="2800" dirty="0">
                <a:latin typeface="Carlito"/>
                <a:cs typeface="Carlito"/>
              </a:rPr>
              <a:t>of</a:t>
            </a:r>
            <a:r>
              <a:rPr sz="2800" spc="-40" dirty="0">
                <a:latin typeface="Carlito"/>
                <a:cs typeface="Carlito"/>
              </a:rPr>
              <a:t> </a:t>
            </a:r>
            <a:r>
              <a:rPr sz="2800" dirty="0">
                <a:latin typeface="Carlito"/>
                <a:cs typeface="Carlito"/>
              </a:rPr>
              <a:t>type</a:t>
            </a:r>
            <a:r>
              <a:rPr sz="2800" spc="-30" dirty="0">
                <a:latin typeface="Carlito"/>
                <a:cs typeface="Carlito"/>
              </a:rPr>
              <a:t> </a:t>
            </a:r>
            <a:r>
              <a:rPr sz="2800" spc="-50" dirty="0">
                <a:latin typeface="Carlito"/>
                <a:cs typeface="Carlito"/>
              </a:rPr>
              <a:t>T</a:t>
            </a:r>
            <a:endParaRPr sz="2800">
              <a:latin typeface="Carlito"/>
              <a:cs typeface="Carlito"/>
            </a:endParaRPr>
          </a:p>
          <a:p>
            <a:pPr marL="355600">
              <a:lnSpc>
                <a:spcPct val="100000"/>
              </a:lnSpc>
              <a:spcBef>
                <a:spcPts val="335"/>
              </a:spcBef>
            </a:pPr>
            <a:r>
              <a:rPr sz="2800" dirty="0">
                <a:latin typeface="Carlito"/>
                <a:cs typeface="Carlito"/>
              </a:rPr>
              <a:t>//</a:t>
            </a:r>
            <a:r>
              <a:rPr sz="2800" spc="-55" dirty="0">
                <a:latin typeface="Carlito"/>
                <a:cs typeface="Carlito"/>
              </a:rPr>
              <a:t> </a:t>
            </a:r>
            <a:r>
              <a:rPr sz="2800" dirty="0">
                <a:latin typeface="Carlito"/>
                <a:cs typeface="Carlito"/>
              </a:rPr>
              <a:t>Pass</a:t>
            </a:r>
            <a:r>
              <a:rPr sz="2800" spc="-40" dirty="0">
                <a:latin typeface="Carlito"/>
                <a:cs typeface="Carlito"/>
              </a:rPr>
              <a:t> </a:t>
            </a:r>
            <a:r>
              <a:rPr sz="2800" dirty="0">
                <a:latin typeface="Carlito"/>
                <a:cs typeface="Carlito"/>
              </a:rPr>
              <a:t>the</a:t>
            </a:r>
            <a:r>
              <a:rPr sz="2800" spc="-60" dirty="0">
                <a:latin typeface="Carlito"/>
                <a:cs typeface="Carlito"/>
              </a:rPr>
              <a:t> </a:t>
            </a:r>
            <a:r>
              <a:rPr sz="2800" spc="-10" dirty="0">
                <a:latin typeface="Carlito"/>
                <a:cs typeface="Carlito"/>
              </a:rPr>
              <a:t>constructor</a:t>
            </a:r>
            <a:r>
              <a:rPr sz="2800" spc="-30" dirty="0">
                <a:latin typeface="Carlito"/>
                <a:cs typeface="Carlito"/>
              </a:rPr>
              <a:t> </a:t>
            </a:r>
            <a:r>
              <a:rPr sz="2800" dirty="0">
                <a:latin typeface="Carlito"/>
                <a:cs typeface="Carlito"/>
              </a:rPr>
              <a:t>a</a:t>
            </a:r>
            <a:r>
              <a:rPr sz="2800" spc="-65" dirty="0">
                <a:latin typeface="Carlito"/>
                <a:cs typeface="Carlito"/>
              </a:rPr>
              <a:t> </a:t>
            </a:r>
            <a:r>
              <a:rPr sz="2800" spc="-10" dirty="0">
                <a:latin typeface="Carlito"/>
                <a:cs typeface="Carlito"/>
              </a:rPr>
              <a:t>reference</a:t>
            </a:r>
            <a:r>
              <a:rPr sz="2800" spc="-60" dirty="0">
                <a:latin typeface="Carlito"/>
                <a:cs typeface="Carlito"/>
              </a:rPr>
              <a:t> </a:t>
            </a:r>
            <a:r>
              <a:rPr sz="2800" spc="-25" dirty="0">
                <a:latin typeface="Carlito"/>
                <a:cs typeface="Carlito"/>
              </a:rPr>
              <a:t>to</a:t>
            </a:r>
            <a:endParaRPr sz="2800">
              <a:latin typeface="Carlito"/>
              <a:cs typeface="Carlito"/>
            </a:endParaRPr>
          </a:p>
          <a:p>
            <a:pPr marL="355600" marR="2467610">
              <a:lnSpc>
                <a:spcPct val="110000"/>
              </a:lnSpc>
            </a:pPr>
            <a:r>
              <a:rPr sz="2800" dirty="0">
                <a:latin typeface="Carlito"/>
                <a:cs typeface="Carlito"/>
              </a:rPr>
              <a:t>//</a:t>
            </a:r>
            <a:r>
              <a:rPr sz="2800" spc="-20" dirty="0">
                <a:latin typeface="Carlito"/>
                <a:cs typeface="Carlito"/>
              </a:rPr>
              <a:t> </a:t>
            </a:r>
            <a:r>
              <a:rPr sz="2800" dirty="0">
                <a:latin typeface="Carlito"/>
                <a:cs typeface="Carlito"/>
              </a:rPr>
              <a:t>an</a:t>
            </a:r>
            <a:r>
              <a:rPr sz="2800" spc="-15" dirty="0">
                <a:latin typeface="Carlito"/>
                <a:cs typeface="Carlito"/>
              </a:rPr>
              <a:t> </a:t>
            </a:r>
            <a:r>
              <a:rPr sz="2800" dirty="0">
                <a:latin typeface="Carlito"/>
                <a:cs typeface="Carlito"/>
              </a:rPr>
              <a:t>object</a:t>
            </a:r>
            <a:r>
              <a:rPr sz="2800" spc="-15" dirty="0">
                <a:latin typeface="Carlito"/>
                <a:cs typeface="Carlito"/>
              </a:rPr>
              <a:t> </a:t>
            </a:r>
            <a:r>
              <a:rPr sz="2800" dirty="0">
                <a:latin typeface="Carlito"/>
                <a:cs typeface="Carlito"/>
              </a:rPr>
              <a:t>of</a:t>
            </a:r>
            <a:r>
              <a:rPr sz="2800" spc="-30" dirty="0">
                <a:latin typeface="Carlito"/>
                <a:cs typeface="Carlito"/>
              </a:rPr>
              <a:t> </a:t>
            </a:r>
            <a:r>
              <a:rPr sz="2800" dirty="0">
                <a:latin typeface="Carlito"/>
                <a:cs typeface="Carlito"/>
              </a:rPr>
              <a:t>type</a:t>
            </a:r>
            <a:r>
              <a:rPr sz="2800" spc="-25" dirty="0">
                <a:latin typeface="Carlito"/>
                <a:cs typeface="Carlito"/>
              </a:rPr>
              <a:t> </a:t>
            </a:r>
            <a:r>
              <a:rPr sz="2800" spc="-110" dirty="0">
                <a:latin typeface="Carlito"/>
                <a:cs typeface="Carlito"/>
              </a:rPr>
              <a:t>T. </a:t>
            </a:r>
            <a:r>
              <a:rPr sz="2800" dirty="0">
                <a:latin typeface="Carlito"/>
                <a:cs typeface="Carlito"/>
              </a:rPr>
              <a:t>Gen(T</a:t>
            </a:r>
            <a:r>
              <a:rPr sz="2800" spc="-55" dirty="0">
                <a:latin typeface="Carlito"/>
                <a:cs typeface="Carlito"/>
              </a:rPr>
              <a:t> </a:t>
            </a:r>
            <a:r>
              <a:rPr sz="2800" dirty="0">
                <a:latin typeface="Carlito"/>
                <a:cs typeface="Carlito"/>
              </a:rPr>
              <a:t>o)</a:t>
            </a:r>
            <a:r>
              <a:rPr sz="2800" spc="-55" dirty="0">
                <a:latin typeface="Carlito"/>
                <a:cs typeface="Carlito"/>
              </a:rPr>
              <a:t> </a:t>
            </a:r>
            <a:r>
              <a:rPr sz="2800" spc="-50" dirty="0">
                <a:latin typeface="Carlito"/>
                <a:cs typeface="Carlito"/>
              </a:rPr>
              <a:t>{</a:t>
            </a:r>
            <a:endParaRPr sz="2800">
              <a:latin typeface="Carlito"/>
              <a:cs typeface="Carlito"/>
            </a:endParaRPr>
          </a:p>
          <a:p>
            <a:pPr marL="927100">
              <a:lnSpc>
                <a:spcPct val="100000"/>
              </a:lnSpc>
              <a:spcBef>
                <a:spcPts val="340"/>
              </a:spcBef>
            </a:pPr>
            <a:r>
              <a:rPr sz="2800" dirty="0">
                <a:latin typeface="Carlito"/>
                <a:cs typeface="Carlito"/>
              </a:rPr>
              <a:t>ob</a:t>
            </a:r>
            <a:r>
              <a:rPr sz="2800" spc="-20" dirty="0">
                <a:latin typeface="Carlito"/>
                <a:cs typeface="Carlito"/>
              </a:rPr>
              <a:t> </a:t>
            </a:r>
            <a:r>
              <a:rPr sz="2800" dirty="0">
                <a:latin typeface="Carlito"/>
                <a:cs typeface="Carlito"/>
              </a:rPr>
              <a:t>=</a:t>
            </a:r>
            <a:r>
              <a:rPr sz="2800" spc="-15" dirty="0">
                <a:latin typeface="Carlito"/>
                <a:cs typeface="Carlito"/>
              </a:rPr>
              <a:t> </a:t>
            </a:r>
            <a:r>
              <a:rPr sz="2800" spc="-25" dirty="0">
                <a:latin typeface="Carlito"/>
                <a:cs typeface="Carlito"/>
              </a:rPr>
              <a:t>o;</a:t>
            </a:r>
            <a:endParaRPr sz="2800">
              <a:latin typeface="Carlito"/>
              <a:cs typeface="Carlito"/>
            </a:endParaRPr>
          </a:p>
          <a:p>
            <a:pPr marL="355600">
              <a:lnSpc>
                <a:spcPct val="100000"/>
              </a:lnSpc>
              <a:spcBef>
                <a:spcPts val="335"/>
              </a:spcBef>
            </a:pPr>
            <a:r>
              <a:rPr sz="2800" spc="-50" dirty="0">
                <a:latin typeface="Carlito"/>
                <a:cs typeface="Carlito"/>
              </a:rPr>
              <a:t>}</a:t>
            </a:r>
            <a:endParaRPr sz="28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139039"/>
            <a:ext cx="7456170" cy="58788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4943475">
              <a:lnSpc>
                <a:spcPct val="120000"/>
              </a:lnSpc>
              <a:spcBef>
                <a:spcPts val="100"/>
              </a:spcBef>
            </a:pPr>
            <a:r>
              <a:rPr sz="3200" dirty="0">
                <a:latin typeface="Carlito"/>
                <a:cs typeface="Carlito"/>
              </a:rPr>
              <a:t>//</a:t>
            </a:r>
            <a:r>
              <a:rPr sz="3200" spc="-95" dirty="0">
                <a:latin typeface="Carlito"/>
                <a:cs typeface="Carlito"/>
              </a:rPr>
              <a:t> </a:t>
            </a:r>
            <a:r>
              <a:rPr sz="3200" dirty="0">
                <a:latin typeface="Carlito"/>
                <a:cs typeface="Carlito"/>
              </a:rPr>
              <a:t>Return</a:t>
            </a:r>
            <a:r>
              <a:rPr sz="3200" spc="-85" dirty="0">
                <a:latin typeface="Carlito"/>
                <a:cs typeface="Carlito"/>
              </a:rPr>
              <a:t> </a:t>
            </a:r>
            <a:r>
              <a:rPr sz="3200" spc="-25" dirty="0">
                <a:latin typeface="Carlito"/>
                <a:cs typeface="Carlito"/>
              </a:rPr>
              <a:t>ob. </a:t>
            </a:r>
            <a:r>
              <a:rPr sz="3200" dirty="0">
                <a:latin typeface="Carlito"/>
                <a:cs typeface="Carlito"/>
              </a:rPr>
              <a:t>T</a:t>
            </a:r>
            <a:r>
              <a:rPr sz="3200" spc="-100" dirty="0">
                <a:latin typeface="Carlito"/>
                <a:cs typeface="Carlito"/>
              </a:rPr>
              <a:t> </a:t>
            </a:r>
            <a:r>
              <a:rPr sz="3200" dirty="0">
                <a:latin typeface="Carlito"/>
                <a:cs typeface="Carlito"/>
              </a:rPr>
              <a:t>getob()</a:t>
            </a:r>
            <a:r>
              <a:rPr sz="3200" spc="-90" dirty="0">
                <a:latin typeface="Carlito"/>
                <a:cs typeface="Carlito"/>
              </a:rPr>
              <a:t> </a:t>
            </a:r>
            <a:r>
              <a:rPr sz="3200" spc="-50" dirty="0">
                <a:latin typeface="Carlito"/>
                <a:cs typeface="Carlito"/>
              </a:rPr>
              <a:t>{</a:t>
            </a:r>
            <a:endParaRPr sz="3200">
              <a:latin typeface="Carlito"/>
              <a:cs typeface="Carlito"/>
            </a:endParaRPr>
          </a:p>
          <a:p>
            <a:pPr marL="927100">
              <a:lnSpc>
                <a:spcPct val="100000"/>
              </a:lnSpc>
              <a:spcBef>
                <a:spcPts val="765"/>
              </a:spcBef>
            </a:pPr>
            <a:r>
              <a:rPr sz="3200" dirty="0">
                <a:latin typeface="Carlito"/>
                <a:cs typeface="Carlito"/>
              </a:rPr>
              <a:t>return</a:t>
            </a:r>
            <a:r>
              <a:rPr sz="3200" spc="-90" dirty="0">
                <a:latin typeface="Carlito"/>
                <a:cs typeface="Carlito"/>
              </a:rPr>
              <a:t> </a:t>
            </a:r>
            <a:r>
              <a:rPr sz="3200" spc="-25" dirty="0">
                <a:latin typeface="Carlito"/>
                <a:cs typeface="Carlito"/>
              </a:rPr>
              <a:t>ob;</a:t>
            </a:r>
            <a:endParaRPr sz="3200">
              <a:latin typeface="Carlito"/>
              <a:cs typeface="Carlito"/>
            </a:endParaRPr>
          </a:p>
          <a:p>
            <a:pPr marL="355600">
              <a:lnSpc>
                <a:spcPct val="100000"/>
              </a:lnSpc>
              <a:spcBef>
                <a:spcPts val="770"/>
              </a:spcBef>
            </a:pPr>
            <a:r>
              <a:rPr sz="3200" spc="-50" dirty="0">
                <a:latin typeface="Carlito"/>
                <a:cs typeface="Carlito"/>
              </a:rPr>
              <a:t>}</a:t>
            </a:r>
            <a:endParaRPr sz="3200">
              <a:latin typeface="Carlito"/>
              <a:cs typeface="Carlito"/>
            </a:endParaRPr>
          </a:p>
          <a:p>
            <a:pPr marL="355600" marR="4167504">
              <a:lnSpc>
                <a:spcPts val="4610"/>
              </a:lnSpc>
              <a:spcBef>
                <a:spcPts val="280"/>
              </a:spcBef>
            </a:pPr>
            <a:r>
              <a:rPr sz="3200" dirty="0">
                <a:latin typeface="Carlito"/>
                <a:cs typeface="Carlito"/>
              </a:rPr>
              <a:t>//</a:t>
            </a:r>
            <a:r>
              <a:rPr sz="3200" spc="-20" dirty="0">
                <a:latin typeface="Carlito"/>
                <a:cs typeface="Carlito"/>
              </a:rPr>
              <a:t> </a:t>
            </a:r>
            <a:r>
              <a:rPr sz="3200" dirty="0">
                <a:latin typeface="Carlito"/>
                <a:cs typeface="Carlito"/>
              </a:rPr>
              <a:t>Show</a:t>
            </a:r>
            <a:r>
              <a:rPr sz="3200" spc="-30" dirty="0">
                <a:latin typeface="Carlito"/>
                <a:cs typeface="Carlito"/>
              </a:rPr>
              <a:t> </a:t>
            </a:r>
            <a:r>
              <a:rPr sz="3200" dirty="0">
                <a:latin typeface="Carlito"/>
                <a:cs typeface="Carlito"/>
              </a:rPr>
              <a:t>type</a:t>
            </a:r>
            <a:r>
              <a:rPr sz="3200" spc="-20" dirty="0">
                <a:latin typeface="Carlito"/>
                <a:cs typeface="Carlito"/>
              </a:rPr>
              <a:t> </a:t>
            </a:r>
            <a:r>
              <a:rPr sz="3200" dirty="0">
                <a:latin typeface="Carlito"/>
                <a:cs typeface="Carlito"/>
              </a:rPr>
              <a:t>of</a:t>
            </a:r>
            <a:r>
              <a:rPr sz="3200" spc="-20" dirty="0">
                <a:latin typeface="Carlito"/>
                <a:cs typeface="Carlito"/>
              </a:rPr>
              <a:t> </a:t>
            </a:r>
            <a:r>
              <a:rPr sz="3200" spc="-140" dirty="0">
                <a:latin typeface="Carlito"/>
                <a:cs typeface="Carlito"/>
              </a:rPr>
              <a:t>T. </a:t>
            </a:r>
            <a:r>
              <a:rPr sz="3200" dirty="0">
                <a:latin typeface="Carlito"/>
                <a:cs typeface="Carlito"/>
              </a:rPr>
              <a:t>void</a:t>
            </a:r>
            <a:r>
              <a:rPr sz="3200" spc="-114" dirty="0">
                <a:latin typeface="Carlito"/>
                <a:cs typeface="Carlito"/>
              </a:rPr>
              <a:t> </a:t>
            </a:r>
            <a:r>
              <a:rPr sz="3200" spc="-20" dirty="0">
                <a:latin typeface="Carlito"/>
                <a:cs typeface="Carlito"/>
              </a:rPr>
              <a:t>showType()</a:t>
            </a:r>
            <a:r>
              <a:rPr sz="3200" spc="-105" dirty="0">
                <a:latin typeface="Carlito"/>
                <a:cs typeface="Carlito"/>
              </a:rPr>
              <a:t> </a:t>
            </a:r>
            <a:r>
              <a:rPr sz="3200" spc="-50" dirty="0">
                <a:latin typeface="Carlito"/>
                <a:cs typeface="Carlito"/>
              </a:rPr>
              <a:t>{</a:t>
            </a:r>
            <a:endParaRPr sz="3200">
              <a:latin typeface="Carlito"/>
              <a:cs typeface="Carlito"/>
            </a:endParaRPr>
          </a:p>
          <a:p>
            <a:pPr marL="927100">
              <a:lnSpc>
                <a:spcPct val="100000"/>
              </a:lnSpc>
              <a:spcBef>
                <a:spcPts val="489"/>
              </a:spcBef>
            </a:pPr>
            <a:r>
              <a:rPr sz="3200" spc="-25" dirty="0">
                <a:latin typeface="Carlito"/>
                <a:cs typeface="Carlito"/>
              </a:rPr>
              <a:t>System.out.println("Type</a:t>
            </a:r>
            <a:r>
              <a:rPr sz="3200" spc="30" dirty="0">
                <a:latin typeface="Carlito"/>
                <a:cs typeface="Carlito"/>
              </a:rPr>
              <a:t> </a:t>
            </a:r>
            <a:r>
              <a:rPr sz="3200" dirty="0">
                <a:latin typeface="Carlito"/>
                <a:cs typeface="Carlito"/>
              </a:rPr>
              <a:t>of T is</a:t>
            </a:r>
            <a:r>
              <a:rPr sz="3200" spc="-15" dirty="0">
                <a:latin typeface="Carlito"/>
                <a:cs typeface="Carlito"/>
              </a:rPr>
              <a:t> </a:t>
            </a:r>
            <a:r>
              <a:rPr sz="3200" dirty="0">
                <a:latin typeface="Carlito"/>
                <a:cs typeface="Carlito"/>
              </a:rPr>
              <a:t>"</a:t>
            </a:r>
            <a:r>
              <a:rPr sz="3200" spc="5" dirty="0">
                <a:latin typeface="Carlito"/>
                <a:cs typeface="Carlito"/>
              </a:rPr>
              <a:t> </a:t>
            </a:r>
            <a:r>
              <a:rPr sz="3200" spc="-50" dirty="0">
                <a:latin typeface="Carlito"/>
                <a:cs typeface="Carlito"/>
              </a:rPr>
              <a:t>+</a:t>
            </a:r>
            <a:endParaRPr sz="3200">
              <a:latin typeface="Carlito"/>
              <a:cs typeface="Carlito"/>
            </a:endParaRPr>
          </a:p>
          <a:p>
            <a:pPr marL="3216275">
              <a:lnSpc>
                <a:spcPct val="100000"/>
              </a:lnSpc>
              <a:spcBef>
                <a:spcPts val="770"/>
              </a:spcBef>
            </a:pPr>
            <a:r>
              <a:rPr sz="3200" spc="-10" dirty="0">
                <a:latin typeface="Carlito"/>
                <a:cs typeface="Carlito"/>
              </a:rPr>
              <a:t>ob.getClass().getName());</a:t>
            </a:r>
            <a:endParaRPr sz="3200">
              <a:latin typeface="Carlito"/>
              <a:cs typeface="Carlito"/>
            </a:endParaRPr>
          </a:p>
          <a:p>
            <a:pPr marL="355600">
              <a:lnSpc>
                <a:spcPct val="100000"/>
              </a:lnSpc>
              <a:spcBef>
                <a:spcPts val="765"/>
              </a:spcBef>
            </a:pPr>
            <a:r>
              <a:rPr sz="3200" spc="-50" dirty="0">
                <a:latin typeface="Carlito"/>
                <a:cs typeface="Carlito"/>
              </a:rPr>
              <a:t>}</a:t>
            </a:r>
            <a:endParaRPr sz="320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  <a:spcBef>
                <a:spcPts val="770"/>
              </a:spcBef>
            </a:pPr>
            <a:r>
              <a:rPr sz="3200" spc="-50" dirty="0">
                <a:latin typeface="Carlito"/>
                <a:cs typeface="Carlito"/>
              </a:rPr>
              <a:t>}</a:t>
            </a:r>
            <a:endParaRPr sz="32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07340" y="195783"/>
            <a:ext cx="7977505" cy="60007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dirty="0">
                <a:latin typeface="Carlito"/>
                <a:cs typeface="Carlito"/>
              </a:rPr>
              <a:t>//</a:t>
            </a:r>
            <a:r>
              <a:rPr sz="2800" spc="-40" dirty="0">
                <a:latin typeface="Carlito"/>
                <a:cs typeface="Carlito"/>
              </a:rPr>
              <a:t> </a:t>
            </a:r>
            <a:r>
              <a:rPr sz="2800" spc="-10" dirty="0">
                <a:latin typeface="Carlito"/>
                <a:cs typeface="Carlito"/>
              </a:rPr>
              <a:t>Demonstrate</a:t>
            </a:r>
            <a:r>
              <a:rPr sz="2800" spc="-25" dirty="0">
                <a:latin typeface="Carlito"/>
                <a:cs typeface="Carlito"/>
              </a:rPr>
              <a:t> </a:t>
            </a:r>
            <a:r>
              <a:rPr sz="2800" dirty="0">
                <a:latin typeface="Carlito"/>
                <a:cs typeface="Carlito"/>
              </a:rPr>
              <a:t>the</a:t>
            </a:r>
            <a:r>
              <a:rPr sz="2800" spc="-50" dirty="0">
                <a:latin typeface="Carlito"/>
                <a:cs typeface="Carlito"/>
              </a:rPr>
              <a:t> </a:t>
            </a:r>
            <a:r>
              <a:rPr sz="2800" dirty="0">
                <a:latin typeface="Carlito"/>
                <a:cs typeface="Carlito"/>
              </a:rPr>
              <a:t>generic</a:t>
            </a:r>
            <a:r>
              <a:rPr sz="2800" spc="-50" dirty="0">
                <a:latin typeface="Carlito"/>
                <a:cs typeface="Carlito"/>
              </a:rPr>
              <a:t> </a:t>
            </a:r>
            <a:r>
              <a:rPr sz="2800" spc="-10" dirty="0">
                <a:latin typeface="Carlito"/>
                <a:cs typeface="Carlito"/>
              </a:rPr>
              <a:t>class.</a:t>
            </a:r>
            <a:endParaRPr sz="2800">
              <a:latin typeface="Carlito"/>
              <a:cs typeface="Carlito"/>
            </a:endParaRPr>
          </a:p>
          <a:p>
            <a:pPr>
              <a:lnSpc>
                <a:spcPct val="100000"/>
              </a:lnSpc>
              <a:spcBef>
                <a:spcPts val="615"/>
              </a:spcBef>
            </a:pPr>
            <a:endParaRPr sz="280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800" dirty="0">
                <a:latin typeface="Carlito"/>
                <a:cs typeface="Carlito"/>
              </a:rPr>
              <a:t>class</a:t>
            </a:r>
            <a:r>
              <a:rPr sz="2800" spc="-95" dirty="0">
                <a:latin typeface="Carlito"/>
                <a:cs typeface="Carlito"/>
              </a:rPr>
              <a:t> </a:t>
            </a:r>
            <a:r>
              <a:rPr sz="2800" dirty="0">
                <a:latin typeface="Carlito"/>
                <a:cs typeface="Carlito"/>
              </a:rPr>
              <a:t>GenDemo</a:t>
            </a:r>
            <a:r>
              <a:rPr sz="2800" spc="-90" dirty="0">
                <a:latin typeface="Carlito"/>
                <a:cs typeface="Carlito"/>
              </a:rPr>
              <a:t> </a:t>
            </a:r>
            <a:r>
              <a:rPr sz="2800" spc="-50" dirty="0">
                <a:latin typeface="Carlito"/>
                <a:cs typeface="Carlito"/>
              </a:rPr>
              <a:t>{</a:t>
            </a:r>
            <a:endParaRPr sz="2800">
              <a:latin typeface="Carlito"/>
              <a:cs typeface="Carlito"/>
            </a:endParaRPr>
          </a:p>
          <a:p>
            <a:pPr marL="355600">
              <a:lnSpc>
                <a:spcPct val="100000"/>
              </a:lnSpc>
              <a:spcBef>
                <a:spcPts val="335"/>
              </a:spcBef>
            </a:pPr>
            <a:r>
              <a:rPr sz="2800" dirty="0">
                <a:latin typeface="Carlito"/>
                <a:cs typeface="Carlito"/>
              </a:rPr>
              <a:t>public</a:t>
            </a:r>
            <a:r>
              <a:rPr sz="2800" spc="-75" dirty="0">
                <a:latin typeface="Carlito"/>
                <a:cs typeface="Carlito"/>
              </a:rPr>
              <a:t> </a:t>
            </a:r>
            <a:r>
              <a:rPr sz="2800" dirty="0">
                <a:latin typeface="Carlito"/>
                <a:cs typeface="Carlito"/>
              </a:rPr>
              <a:t>static</a:t>
            </a:r>
            <a:r>
              <a:rPr sz="2800" spc="-95" dirty="0">
                <a:latin typeface="Carlito"/>
                <a:cs typeface="Carlito"/>
              </a:rPr>
              <a:t> </a:t>
            </a:r>
            <a:r>
              <a:rPr sz="2800" dirty="0">
                <a:latin typeface="Carlito"/>
                <a:cs typeface="Carlito"/>
              </a:rPr>
              <a:t>void</a:t>
            </a:r>
            <a:r>
              <a:rPr sz="2800" spc="-95" dirty="0">
                <a:latin typeface="Carlito"/>
                <a:cs typeface="Carlito"/>
              </a:rPr>
              <a:t> </a:t>
            </a:r>
            <a:r>
              <a:rPr sz="2800" dirty="0">
                <a:latin typeface="Carlito"/>
                <a:cs typeface="Carlito"/>
              </a:rPr>
              <a:t>main(String</a:t>
            </a:r>
            <a:r>
              <a:rPr sz="2800" spc="-85" dirty="0">
                <a:latin typeface="Carlito"/>
                <a:cs typeface="Carlito"/>
              </a:rPr>
              <a:t> </a:t>
            </a:r>
            <a:r>
              <a:rPr sz="2800" dirty="0">
                <a:latin typeface="Carlito"/>
                <a:cs typeface="Carlito"/>
              </a:rPr>
              <a:t>args[])</a:t>
            </a:r>
            <a:r>
              <a:rPr sz="2800" spc="-90" dirty="0">
                <a:latin typeface="Carlito"/>
                <a:cs typeface="Carlito"/>
              </a:rPr>
              <a:t> </a:t>
            </a:r>
            <a:r>
              <a:rPr sz="2800" spc="-50" dirty="0">
                <a:latin typeface="Carlito"/>
                <a:cs typeface="Carlito"/>
              </a:rPr>
              <a:t>{</a:t>
            </a:r>
            <a:endParaRPr sz="2800">
              <a:latin typeface="Carlito"/>
              <a:cs typeface="Carlito"/>
            </a:endParaRPr>
          </a:p>
          <a:p>
            <a:pPr marL="927100" marR="1540510">
              <a:lnSpc>
                <a:spcPct val="110000"/>
              </a:lnSpc>
            </a:pPr>
            <a:r>
              <a:rPr sz="2800" dirty="0">
                <a:latin typeface="Carlito"/>
                <a:cs typeface="Carlito"/>
              </a:rPr>
              <a:t>//</a:t>
            </a:r>
            <a:r>
              <a:rPr sz="2800" spc="-50" dirty="0">
                <a:latin typeface="Carlito"/>
                <a:cs typeface="Carlito"/>
              </a:rPr>
              <a:t> </a:t>
            </a:r>
            <a:r>
              <a:rPr sz="2800" dirty="0">
                <a:latin typeface="Carlito"/>
                <a:cs typeface="Carlito"/>
              </a:rPr>
              <a:t>Create</a:t>
            </a:r>
            <a:r>
              <a:rPr sz="2800" spc="-55" dirty="0">
                <a:latin typeface="Carlito"/>
                <a:cs typeface="Carlito"/>
              </a:rPr>
              <a:t> </a:t>
            </a:r>
            <a:r>
              <a:rPr sz="2800" dirty="0">
                <a:latin typeface="Carlito"/>
                <a:cs typeface="Carlito"/>
              </a:rPr>
              <a:t>a</a:t>
            </a:r>
            <a:r>
              <a:rPr sz="2800" spc="-70" dirty="0">
                <a:latin typeface="Carlito"/>
                <a:cs typeface="Carlito"/>
              </a:rPr>
              <a:t> </a:t>
            </a:r>
            <a:r>
              <a:rPr sz="2800" dirty="0">
                <a:latin typeface="Carlito"/>
                <a:cs typeface="Carlito"/>
              </a:rPr>
              <a:t>Gen</a:t>
            </a:r>
            <a:r>
              <a:rPr sz="2800" spc="-50" dirty="0">
                <a:latin typeface="Carlito"/>
                <a:cs typeface="Carlito"/>
              </a:rPr>
              <a:t> </a:t>
            </a:r>
            <a:r>
              <a:rPr sz="2800" spc="-20" dirty="0">
                <a:latin typeface="Carlito"/>
                <a:cs typeface="Carlito"/>
              </a:rPr>
              <a:t>reference</a:t>
            </a:r>
            <a:r>
              <a:rPr sz="2800" spc="-60" dirty="0">
                <a:latin typeface="Carlito"/>
                <a:cs typeface="Carlito"/>
              </a:rPr>
              <a:t> </a:t>
            </a:r>
            <a:r>
              <a:rPr sz="2800" dirty="0">
                <a:latin typeface="Carlito"/>
                <a:cs typeface="Carlito"/>
              </a:rPr>
              <a:t>for</a:t>
            </a:r>
            <a:r>
              <a:rPr sz="2800" spc="-60" dirty="0">
                <a:latin typeface="Carlito"/>
                <a:cs typeface="Carlito"/>
              </a:rPr>
              <a:t> </a:t>
            </a:r>
            <a:r>
              <a:rPr sz="2800" spc="-10" dirty="0">
                <a:latin typeface="Carlito"/>
                <a:cs typeface="Carlito"/>
              </a:rPr>
              <a:t>Integers. Gen&lt;Integer&gt;</a:t>
            </a:r>
            <a:r>
              <a:rPr sz="2800" spc="-95" dirty="0">
                <a:latin typeface="Carlito"/>
                <a:cs typeface="Carlito"/>
              </a:rPr>
              <a:t> </a:t>
            </a:r>
            <a:r>
              <a:rPr sz="2800" spc="-20" dirty="0">
                <a:latin typeface="Carlito"/>
                <a:cs typeface="Carlito"/>
              </a:rPr>
              <a:t>iOb;</a:t>
            </a:r>
            <a:endParaRPr sz="2800">
              <a:latin typeface="Carlito"/>
              <a:cs typeface="Carlito"/>
            </a:endParaRPr>
          </a:p>
          <a:p>
            <a:pPr marL="927100">
              <a:lnSpc>
                <a:spcPct val="100000"/>
              </a:lnSpc>
              <a:spcBef>
                <a:spcPts val="340"/>
              </a:spcBef>
            </a:pPr>
            <a:r>
              <a:rPr sz="2800" dirty="0">
                <a:latin typeface="Carlito"/>
                <a:cs typeface="Carlito"/>
              </a:rPr>
              <a:t>//</a:t>
            </a:r>
            <a:r>
              <a:rPr sz="2800" spc="-60" dirty="0">
                <a:latin typeface="Carlito"/>
                <a:cs typeface="Carlito"/>
              </a:rPr>
              <a:t> </a:t>
            </a:r>
            <a:r>
              <a:rPr sz="2800" dirty="0">
                <a:latin typeface="Carlito"/>
                <a:cs typeface="Carlito"/>
              </a:rPr>
              <a:t>Create</a:t>
            </a:r>
            <a:r>
              <a:rPr sz="2800" spc="-70" dirty="0">
                <a:latin typeface="Carlito"/>
                <a:cs typeface="Carlito"/>
              </a:rPr>
              <a:t> </a:t>
            </a:r>
            <a:r>
              <a:rPr sz="2800" dirty="0">
                <a:latin typeface="Carlito"/>
                <a:cs typeface="Carlito"/>
              </a:rPr>
              <a:t>a</a:t>
            </a:r>
            <a:r>
              <a:rPr sz="2800" spc="-85" dirty="0">
                <a:latin typeface="Carlito"/>
                <a:cs typeface="Carlito"/>
              </a:rPr>
              <a:t> </a:t>
            </a:r>
            <a:r>
              <a:rPr sz="2800" spc="-10" dirty="0">
                <a:latin typeface="Carlito"/>
                <a:cs typeface="Carlito"/>
              </a:rPr>
              <a:t>Gen&lt;Integer&gt;</a:t>
            </a:r>
            <a:r>
              <a:rPr sz="2800" spc="-60" dirty="0">
                <a:latin typeface="Carlito"/>
                <a:cs typeface="Carlito"/>
              </a:rPr>
              <a:t> </a:t>
            </a:r>
            <a:r>
              <a:rPr sz="2800" dirty="0">
                <a:latin typeface="Carlito"/>
                <a:cs typeface="Carlito"/>
              </a:rPr>
              <a:t>object</a:t>
            </a:r>
            <a:r>
              <a:rPr sz="2800" spc="-55" dirty="0">
                <a:latin typeface="Carlito"/>
                <a:cs typeface="Carlito"/>
              </a:rPr>
              <a:t> </a:t>
            </a:r>
            <a:r>
              <a:rPr sz="2800" dirty="0">
                <a:latin typeface="Carlito"/>
                <a:cs typeface="Carlito"/>
              </a:rPr>
              <a:t>and</a:t>
            </a:r>
            <a:r>
              <a:rPr sz="2800" spc="-65" dirty="0">
                <a:latin typeface="Carlito"/>
                <a:cs typeface="Carlito"/>
              </a:rPr>
              <a:t> </a:t>
            </a:r>
            <a:r>
              <a:rPr sz="2800" dirty="0">
                <a:latin typeface="Carlito"/>
                <a:cs typeface="Carlito"/>
              </a:rPr>
              <a:t>assign</a:t>
            </a:r>
            <a:r>
              <a:rPr sz="2800" spc="-55" dirty="0">
                <a:latin typeface="Carlito"/>
                <a:cs typeface="Carlito"/>
              </a:rPr>
              <a:t> </a:t>
            </a:r>
            <a:r>
              <a:rPr sz="2800" spc="-25" dirty="0">
                <a:latin typeface="Carlito"/>
                <a:cs typeface="Carlito"/>
              </a:rPr>
              <a:t>its</a:t>
            </a:r>
            <a:endParaRPr sz="2800">
              <a:latin typeface="Carlito"/>
              <a:cs typeface="Carlito"/>
            </a:endParaRPr>
          </a:p>
          <a:p>
            <a:pPr marL="927100">
              <a:lnSpc>
                <a:spcPct val="100000"/>
              </a:lnSpc>
              <a:spcBef>
                <a:spcPts val="335"/>
              </a:spcBef>
            </a:pPr>
            <a:r>
              <a:rPr sz="2800" dirty="0">
                <a:latin typeface="Carlito"/>
                <a:cs typeface="Carlito"/>
              </a:rPr>
              <a:t>//</a:t>
            </a:r>
            <a:r>
              <a:rPr sz="2800" spc="-40" dirty="0">
                <a:latin typeface="Carlito"/>
                <a:cs typeface="Carlito"/>
              </a:rPr>
              <a:t> </a:t>
            </a:r>
            <a:r>
              <a:rPr sz="2800" spc="-20" dirty="0">
                <a:latin typeface="Carlito"/>
                <a:cs typeface="Carlito"/>
              </a:rPr>
              <a:t>reference</a:t>
            </a:r>
            <a:r>
              <a:rPr sz="2800" spc="-45" dirty="0">
                <a:latin typeface="Carlito"/>
                <a:cs typeface="Carlito"/>
              </a:rPr>
              <a:t> </a:t>
            </a:r>
            <a:r>
              <a:rPr sz="2800" dirty="0">
                <a:latin typeface="Carlito"/>
                <a:cs typeface="Carlito"/>
              </a:rPr>
              <a:t>to</a:t>
            </a:r>
            <a:r>
              <a:rPr sz="2800" spc="-50" dirty="0">
                <a:latin typeface="Carlito"/>
                <a:cs typeface="Carlito"/>
              </a:rPr>
              <a:t> </a:t>
            </a:r>
            <a:r>
              <a:rPr sz="2800" dirty="0">
                <a:latin typeface="Carlito"/>
                <a:cs typeface="Carlito"/>
              </a:rPr>
              <a:t>iOb.</a:t>
            </a:r>
            <a:r>
              <a:rPr sz="2800" spc="-25" dirty="0">
                <a:latin typeface="Carlito"/>
                <a:cs typeface="Carlito"/>
              </a:rPr>
              <a:t> </a:t>
            </a:r>
            <a:r>
              <a:rPr sz="2800" dirty="0">
                <a:latin typeface="Carlito"/>
                <a:cs typeface="Carlito"/>
              </a:rPr>
              <a:t>Notice</a:t>
            </a:r>
            <a:r>
              <a:rPr sz="2800" spc="-30" dirty="0">
                <a:latin typeface="Carlito"/>
                <a:cs typeface="Carlito"/>
              </a:rPr>
              <a:t> </a:t>
            </a:r>
            <a:r>
              <a:rPr sz="2800" dirty="0">
                <a:latin typeface="Carlito"/>
                <a:cs typeface="Carlito"/>
              </a:rPr>
              <a:t>the</a:t>
            </a:r>
            <a:r>
              <a:rPr sz="2800" spc="-40" dirty="0">
                <a:latin typeface="Carlito"/>
                <a:cs typeface="Carlito"/>
              </a:rPr>
              <a:t> </a:t>
            </a:r>
            <a:r>
              <a:rPr sz="2800" dirty="0">
                <a:latin typeface="Carlito"/>
                <a:cs typeface="Carlito"/>
              </a:rPr>
              <a:t>use</a:t>
            </a:r>
            <a:r>
              <a:rPr sz="2800" spc="-40" dirty="0">
                <a:latin typeface="Carlito"/>
                <a:cs typeface="Carlito"/>
              </a:rPr>
              <a:t> </a:t>
            </a:r>
            <a:r>
              <a:rPr sz="2800" dirty="0">
                <a:latin typeface="Carlito"/>
                <a:cs typeface="Carlito"/>
              </a:rPr>
              <a:t>of</a:t>
            </a:r>
            <a:r>
              <a:rPr sz="2800" spc="-50" dirty="0">
                <a:latin typeface="Carlito"/>
                <a:cs typeface="Carlito"/>
              </a:rPr>
              <a:t> </a:t>
            </a:r>
            <a:r>
              <a:rPr sz="2800" spc="-10" dirty="0">
                <a:latin typeface="Carlito"/>
                <a:cs typeface="Carlito"/>
              </a:rPr>
              <a:t>autoboxing</a:t>
            </a:r>
            <a:endParaRPr sz="2800">
              <a:latin typeface="Carlito"/>
              <a:cs typeface="Carlito"/>
            </a:endParaRPr>
          </a:p>
          <a:p>
            <a:pPr marL="927100">
              <a:lnSpc>
                <a:spcPts val="3195"/>
              </a:lnSpc>
              <a:spcBef>
                <a:spcPts val="335"/>
              </a:spcBef>
            </a:pPr>
            <a:r>
              <a:rPr sz="2800" dirty="0">
                <a:latin typeface="Carlito"/>
                <a:cs typeface="Carlito"/>
              </a:rPr>
              <a:t>//</a:t>
            </a:r>
            <a:r>
              <a:rPr sz="2800" spc="-35" dirty="0">
                <a:latin typeface="Carlito"/>
                <a:cs typeface="Carlito"/>
              </a:rPr>
              <a:t> </a:t>
            </a:r>
            <a:r>
              <a:rPr sz="2800" dirty="0">
                <a:latin typeface="Carlito"/>
                <a:cs typeface="Carlito"/>
              </a:rPr>
              <a:t>to</a:t>
            </a:r>
            <a:r>
              <a:rPr sz="2800" spc="-45" dirty="0">
                <a:latin typeface="Carlito"/>
                <a:cs typeface="Carlito"/>
              </a:rPr>
              <a:t> </a:t>
            </a:r>
            <a:r>
              <a:rPr sz="2800" spc="-10" dirty="0">
                <a:latin typeface="Carlito"/>
                <a:cs typeface="Carlito"/>
              </a:rPr>
              <a:t>encapsulate</a:t>
            </a:r>
            <a:r>
              <a:rPr sz="2800" spc="-30" dirty="0">
                <a:latin typeface="Carlito"/>
                <a:cs typeface="Carlito"/>
              </a:rPr>
              <a:t> </a:t>
            </a:r>
            <a:r>
              <a:rPr sz="2800" dirty="0">
                <a:latin typeface="Carlito"/>
                <a:cs typeface="Carlito"/>
              </a:rPr>
              <a:t>the</a:t>
            </a:r>
            <a:r>
              <a:rPr sz="2800" spc="-45" dirty="0">
                <a:latin typeface="Carlito"/>
                <a:cs typeface="Carlito"/>
              </a:rPr>
              <a:t> </a:t>
            </a:r>
            <a:r>
              <a:rPr sz="2800" dirty="0">
                <a:latin typeface="Carlito"/>
                <a:cs typeface="Carlito"/>
              </a:rPr>
              <a:t>value</a:t>
            </a:r>
            <a:r>
              <a:rPr sz="2800" spc="-40" dirty="0">
                <a:latin typeface="Carlito"/>
                <a:cs typeface="Carlito"/>
              </a:rPr>
              <a:t> </a:t>
            </a:r>
            <a:r>
              <a:rPr sz="2800" dirty="0">
                <a:latin typeface="Carlito"/>
                <a:cs typeface="Carlito"/>
              </a:rPr>
              <a:t>88</a:t>
            </a:r>
            <a:r>
              <a:rPr sz="2800" spc="-25" dirty="0">
                <a:latin typeface="Carlito"/>
                <a:cs typeface="Carlito"/>
              </a:rPr>
              <a:t> </a:t>
            </a:r>
            <a:r>
              <a:rPr sz="2800" dirty="0">
                <a:latin typeface="Carlito"/>
                <a:cs typeface="Carlito"/>
              </a:rPr>
              <a:t>within</a:t>
            </a:r>
            <a:r>
              <a:rPr sz="2800" spc="-35" dirty="0">
                <a:latin typeface="Carlito"/>
                <a:cs typeface="Carlito"/>
              </a:rPr>
              <a:t> </a:t>
            </a:r>
            <a:r>
              <a:rPr sz="2800" dirty="0">
                <a:latin typeface="Carlito"/>
                <a:cs typeface="Carlito"/>
              </a:rPr>
              <a:t>an</a:t>
            </a:r>
            <a:r>
              <a:rPr sz="2800" spc="-45" dirty="0">
                <a:latin typeface="Carlito"/>
                <a:cs typeface="Carlito"/>
              </a:rPr>
              <a:t> </a:t>
            </a:r>
            <a:r>
              <a:rPr sz="2800" spc="-10" dirty="0">
                <a:latin typeface="Carlito"/>
                <a:cs typeface="Carlito"/>
              </a:rPr>
              <a:t>Integer</a:t>
            </a:r>
            <a:endParaRPr sz="2800">
              <a:latin typeface="Carlito"/>
              <a:cs typeface="Carlito"/>
            </a:endParaRPr>
          </a:p>
          <a:p>
            <a:pPr marL="6576059">
              <a:lnSpc>
                <a:spcPts val="3195"/>
              </a:lnSpc>
            </a:pPr>
            <a:r>
              <a:rPr sz="2800" spc="-10" dirty="0">
                <a:latin typeface="Carlito"/>
                <a:cs typeface="Carlito"/>
              </a:rPr>
              <a:t>object.</a:t>
            </a:r>
            <a:endParaRPr sz="2800">
              <a:latin typeface="Carlito"/>
              <a:cs typeface="Carlito"/>
            </a:endParaRPr>
          </a:p>
          <a:p>
            <a:pPr marL="927100">
              <a:lnSpc>
                <a:spcPct val="100000"/>
              </a:lnSpc>
              <a:spcBef>
                <a:spcPts val="340"/>
              </a:spcBef>
            </a:pPr>
            <a:r>
              <a:rPr sz="2800" dirty="0">
                <a:latin typeface="Carlito"/>
                <a:cs typeface="Carlito"/>
              </a:rPr>
              <a:t>iOb</a:t>
            </a:r>
            <a:r>
              <a:rPr sz="2800" spc="-35" dirty="0">
                <a:latin typeface="Carlito"/>
                <a:cs typeface="Carlito"/>
              </a:rPr>
              <a:t> </a:t>
            </a:r>
            <a:r>
              <a:rPr sz="2800" dirty="0">
                <a:latin typeface="Carlito"/>
                <a:cs typeface="Carlito"/>
              </a:rPr>
              <a:t>=</a:t>
            </a:r>
            <a:r>
              <a:rPr sz="2800" spc="-30" dirty="0">
                <a:latin typeface="Carlito"/>
                <a:cs typeface="Carlito"/>
              </a:rPr>
              <a:t> </a:t>
            </a:r>
            <a:r>
              <a:rPr sz="2800" dirty="0">
                <a:latin typeface="Carlito"/>
                <a:cs typeface="Carlito"/>
              </a:rPr>
              <a:t>new</a:t>
            </a:r>
            <a:r>
              <a:rPr sz="2800" spc="-40" dirty="0">
                <a:latin typeface="Carlito"/>
                <a:cs typeface="Carlito"/>
              </a:rPr>
              <a:t> </a:t>
            </a:r>
            <a:r>
              <a:rPr sz="2800" spc="-10" dirty="0">
                <a:latin typeface="Carlito"/>
                <a:cs typeface="Carlito"/>
              </a:rPr>
              <a:t>Gen&lt;Integer&gt;(88);</a:t>
            </a:r>
            <a:endParaRPr sz="2800">
              <a:latin typeface="Carlito"/>
              <a:cs typeface="Carlito"/>
            </a:endParaRPr>
          </a:p>
          <a:p>
            <a:pPr marL="927100" marR="1640205">
              <a:lnSpc>
                <a:spcPts val="3700"/>
              </a:lnSpc>
              <a:spcBef>
                <a:spcPts val="90"/>
              </a:spcBef>
            </a:pPr>
            <a:r>
              <a:rPr sz="2800" dirty="0">
                <a:latin typeface="Carlito"/>
                <a:cs typeface="Carlito"/>
              </a:rPr>
              <a:t>//</a:t>
            </a:r>
            <a:r>
              <a:rPr sz="2800" spc="-30" dirty="0">
                <a:latin typeface="Carlito"/>
                <a:cs typeface="Carlito"/>
              </a:rPr>
              <a:t> </a:t>
            </a:r>
            <a:r>
              <a:rPr sz="2800" dirty="0">
                <a:latin typeface="Carlito"/>
                <a:cs typeface="Carlito"/>
              </a:rPr>
              <a:t>Show</a:t>
            </a:r>
            <a:r>
              <a:rPr sz="2800" spc="-25" dirty="0">
                <a:latin typeface="Carlito"/>
                <a:cs typeface="Carlito"/>
              </a:rPr>
              <a:t> </a:t>
            </a:r>
            <a:r>
              <a:rPr sz="2800" dirty="0">
                <a:latin typeface="Carlito"/>
                <a:cs typeface="Carlito"/>
              </a:rPr>
              <a:t>the</a:t>
            </a:r>
            <a:r>
              <a:rPr sz="2800" spc="-40" dirty="0">
                <a:latin typeface="Carlito"/>
                <a:cs typeface="Carlito"/>
              </a:rPr>
              <a:t> </a:t>
            </a:r>
            <a:r>
              <a:rPr sz="2800" dirty="0">
                <a:latin typeface="Carlito"/>
                <a:cs typeface="Carlito"/>
              </a:rPr>
              <a:t>type</a:t>
            </a:r>
            <a:r>
              <a:rPr sz="2800" spc="-35" dirty="0">
                <a:latin typeface="Carlito"/>
                <a:cs typeface="Carlito"/>
              </a:rPr>
              <a:t> </a:t>
            </a:r>
            <a:r>
              <a:rPr sz="2800" dirty="0">
                <a:latin typeface="Carlito"/>
                <a:cs typeface="Carlito"/>
              </a:rPr>
              <a:t>of</a:t>
            </a:r>
            <a:r>
              <a:rPr sz="2800" spc="-40" dirty="0">
                <a:latin typeface="Carlito"/>
                <a:cs typeface="Carlito"/>
              </a:rPr>
              <a:t> </a:t>
            </a:r>
            <a:r>
              <a:rPr sz="2800" dirty="0">
                <a:latin typeface="Carlito"/>
                <a:cs typeface="Carlito"/>
              </a:rPr>
              <a:t>data</a:t>
            </a:r>
            <a:r>
              <a:rPr sz="2800" spc="-45" dirty="0">
                <a:latin typeface="Carlito"/>
                <a:cs typeface="Carlito"/>
              </a:rPr>
              <a:t> </a:t>
            </a:r>
            <a:r>
              <a:rPr sz="2800" dirty="0">
                <a:latin typeface="Carlito"/>
                <a:cs typeface="Carlito"/>
              </a:rPr>
              <a:t>used</a:t>
            </a:r>
            <a:r>
              <a:rPr sz="2800" spc="-25" dirty="0">
                <a:latin typeface="Carlito"/>
                <a:cs typeface="Carlito"/>
              </a:rPr>
              <a:t> </a:t>
            </a:r>
            <a:r>
              <a:rPr sz="2800" dirty="0">
                <a:latin typeface="Carlito"/>
                <a:cs typeface="Carlito"/>
              </a:rPr>
              <a:t>by</a:t>
            </a:r>
            <a:r>
              <a:rPr sz="2800" spc="-25" dirty="0">
                <a:latin typeface="Carlito"/>
                <a:cs typeface="Carlito"/>
              </a:rPr>
              <a:t> </a:t>
            </a:r>
            <a:r>
              <a:rPr sz="2800" spc="-20" dirty="0">
                <a:latin typeface="Carlito"/>
                <a:cs typeface="Carlito"/>
              </a:rPr>
              <a:t>iOb. </a:t>
            </a:r>
            <a:r>
              <a:rPr sz="2800" spc="-10" dirty="0">
                <a:latin typeface="Carlito"/>
                <a:cs typeface="Carlito"/>
              </a:rPr>
              <a:t>iOb.showType();</a:t>
            </a:r>
            <a:endParaRPr sz="28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79144" y="139039"/>
            <a:ext cx="6981190" cy="5781675"/>
          </a:xfrm>
          <a:prstGeom prst="rect">
            <a:avLst/>
          </a:prstGeom>
        </p:spPr>
        <p:txBody>
          <a:bodyPr vert="horz" wrap="square" lIns="0" tIns="1098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65"/>
              </a:spcBef>
            </a:pPr>
            <a:r>
              <a:rPr sz="3200" dirty="0">
                <a:latin typeface="Carlito"/>
                <a:cs typeface="Carlito"/>
              </a:rPr>
              <a:t>//</a:t>
            </a:r>
            <a:r>
              <a:rPr sz="3200" spc="-55" dirty="0">
                <a:latin typeface="Carlito"/>
                <a:cs typeface="Carlito"/>
              </a:rPr>
              <a:t> </a:t>
            </a:r>
            <a:r>
              <a:rPr sz="3200" dirty="0">
                <a:latin typeface="Carlito"/>
                <a:cs typeface="Carlito"/>
              </a:rPr>
              <a:t>Get</a:t>
            </a:r>
            <a:r>
              <a:rPr sz="3200" spc="-45" dirty="0">
                <a:latin typeface="Carlito"/>
                <a:cs typeface="Carlito"/>
              </a:rPr>
              <a:t> </a:t>
            </a:r>
            <a:r>
              <a:rPr sz="3200" dirty="0">
                <a:latin typeface="Carlito"/>
                <a:cs typeface="Carlito"/>
              </a:rPr>
              <a:t>the</a:t>
            </a:r>
            <a:r>
              <a:rPr sz="3200" spc="-40" dirty="0">
                <a:latin typeface="Carlito"/>
                <a:cs typeface="Carlito"/>
              </a:rPr>
              <a:t> </a:t>
            </a:r>
            <a:r>
              <a:rPr sz="3200" dirty="0">
                <a:latin typeface="Carlito"/>
                <a:cs typeface="Carlito"/>
              </a:rPr>
              <a:t>value</a:t>
            </a:r>
            <a:r>
              <a:rPr sz="3200" spc="-45" dirty="0">
                <a:latin typeface="Carlito"/>
                <a:cs typeface="Carlito"/>
              </a:rPr>
              <a:t> </a:t>
            </a:r>
            <a:r>
              <a:rPr sz="3200" dirty="0">
                <a:latin typeface="Carlito"/>
                <a:cs typeface="Carlito"/>
              </a:rPr>
              <a:t>in</a:t>
            </a:r>
            <a:r>
              <a:rPr sz="3200" spc="-35" dirty="0">
                <a:latin typeface="Carlito"/>
                <a:cs typeface="Carlito"/>
              </a:rPr>
              <a:t> </a:t>
            </a:r>
            <a:r>
              <a:rPr sz="3200" dirty="0">
                <a:latin typeface="Carlito"/>
                <a:cs typeface="Carlito"/>
              </a:rPr>
              <a:t>iOb.</a:t>
            </a:r>
            <a:r>
              <a:rPr sz="3200" spc="-35" dirty="0">
                <a:latin typeface="Carlito"/>
                <a:cs typeface="Carlito"/>
              </a:rPr>
              <a:t> </a:t>
            </a:r>
            <a:r>
              <a:rPr sz="3200" dirty="0">
                <a:latin typeface="Carlito"/>
                <a:cs typeface="Carlito"/>
              </a:rPr>
              <a:t>Notice</a:t>
            </a:r>
            <a:r>
              <a:rPr sz="3200" spc="-45" dirty="0">
                <a:latin typeface="Carlito"/>
                <a:cs typeface="Carlito"/>
              </a:rPr>
              <a:t> </a:t>
            </a:r>
            <a:r>
              <a:rPr sz="3200" spc="-20" dirty="0">
                <a:latin typeface="Carlito"/>
                <a:cs typeface="Carlito"/>
              </a:rPr>
              <a:t>that</a:t>
            </a:r>
            <a:endParaRPr sz="3200">
              <a:latin typeface="Carlito"/>
              <a:cs typeface="Carlito"/>
            </a:endParaRPr>
          </a:p>
          <a:p>
            <a:pPr marL="12700" marR="3593465">
              <a:lnSpc>
                <a:spcPct val="120000"/>
              </a:lnSpc>
            </a:pPr>
            <a:r>
              <a:rPr sz="3200" dirty="0">
                <a:latin typeface="Carlito"/>
                <a:cs typeface="Carlito"/>
              </a:rPr>
              <a:t>//</a:t>
            </a:r>
            <a:r>
              <a:rPr sz="3200" spc="-50" dirty="0">
                <a:latin typeface="Carlito"/>
                <a:cs typeface="Carlito"/>
              </a:rPr>
              <a:t> </a:t>
            </a:r>
            <a:r>
              <a:rPr sz="3200" dirty="0">
                <a:latin typeface="Carlito"/>
                <a:cs typeface="Carlito"/>
              </a:rPr>
              <a:t>no</a:t>
            </a:r>
            <a:r>
              <a:rPr sz="3200" spc="-40" dirty="0">
                <a:latin typeface="Carlito"/>
                <a:cs typeface="Carlito"/>
              </a:rPr>
              <a:t> </a:t>
            </a:r>
            <a:r>
              <a:rPr sz="3200" dirty="0">
                <a:latin typeface="Carlito"/>
                <a:cs typeface="Carlito"/>
              </a:rPr>
              <a:t>cast</a:t>
            </a:r>
            <a:r>
              <a:rPr sz="3200" spc="-35" dirty="0">
                <a:latin typeface="Carlito"/>
                <a:cs typeface="Carlito"/>
              </a:rPr>
              <a:t> </a:t>
            </a:r>
            <a:r>
              <a:rPr sz="3200" dirty="0">
                <a:latin typeface="Carlito"/>
                <a:cs typeface="Carlito"/>
              </a:rPr>
              <a:t>is</a:t>
            </a:r>
            <a:r>
              <a:rPr sz="3200" spc="-40" dirty="0">
                <a:latin typeface="Carlito"/>
                <a:cs typeface="Carlito"/>
              </a:rPr>
              <a:t> </a:t>
            </a:r>
            <a:r>
              <a:rPr sz="3200" spc="-10" dirty="0">
                <a:latin typeface="Carlito"/>
                <a:cs typeface="Carlito"/>
              </a:rPr>
              <a:t>needed. </a:t>
            </a:r>
            <a:r>
              <a:rPr sz="3200" dirty="0">
                <a:latin typeface="Carlito"/>
                <a:cs typeface="Carlito"/>
              </a:rPr>
              <a:t>int</a:t>
            </a:r>
            <a:r>
              <a:rPr sz="3200" spc="-30" dirty="0">
                <a:latin typeface="Carlito"/>
                <a:cs typeface="Carlito"/>
              </a:rPr>
              <a:t> </a:t>
            </a:r>
            <a:r>
              <a:rPr sz="3200" dirty="0">
                <a:latin typeface="Carlito"/>
                <a:cs typeface="Carlito"/>
              </a:rPr>
              <a:t>v</a:t>
            </a:r>
            <a:r>
              <a:rPr sz="3200" spc="-35" dirty="0">
                <a:latin typeface="Carlito"/>
                <a:cs typeface="Carlito"/>
              </a:rPr>
              <a:t> </a:t>
            </a:r>
            <a:r>
              <a:rPr sz="3200" dirty="0">
                <a:latin typeface="Carlito"/>
                <a:cs typeface="Carlito"/>
              </a:rPr>
              <a:t>=</a:t>
            </a:r>
            <a:r>
              <a:rPr sz="3200" spc="-35" dirty="0">
                <a:latin typeface="Carlito"/>
                <a:cs typeface="Carlito"/>
              </a:rPr>
              <a:t> </a:t>
            </a:r>
            <a:r>
              <a:rPr sz="3200" spc="-10" dirty="0">
                <a:latin typeface="Carlito"/>
                <a:cs typeface="Carlito"/>
              </a:rPr>
              <a:t>iOb.getob();</a:t>
            </a:r>
            <a:endParaRPr sz="3200">
              <a:latin typeface="Carlito"/>
              <a:cs typeface="Carlito"/>
            </a:endParaRPr>
          </a:p>
          <a:p>
            <a:pPr marL="12700" marR="1568450">
              <a:lnSpc>
                <a:spcPct val="120000"/>
              </a:lnSpc>
              <a:spcBef>
                <a:spcPts val="5"/>
              </a:spcBef>
            </a:pPr>
            <a:r>
              <a:rPr sz="3200" spc="-20" dirty="0">
                <a:latin typeface="Carlito"/>
                <a:cs typeface="Carlito"/>
              </a:rPr>
              <a:t>System.out.println("value:</a:t>
            </a:r>
            <a:r>
              <a:rPr sz="3200" spc="20" dirty="0">
                <a:latin typeface="Carlito"/>
                <a:cs typeface="Carlito"/>
              </a:rPr>
              <a:t> </a:t>
            </a:r>
            <a:r>
              <a:rPr sz="3200" dirty="0">
                <a:latin typeface="Carlito"/>
                <a:cs typeface="Carlito"/>
              </a:rPr>
              <a:t>"</a:t>
            </a:r>
            <a:r>
              <a:rPr sz="3200" spc="-25" dirty="0">
                <a:latin typeface="Carlito"/>
                <a:cs typeface="Carlito"/>
              </a:rPr>
              <a:t> </a:t>
            </a:r>
            <a:r>
              <a:rPr sz="3200" dirty="0">
                <a:latin typeface="Carlito"/>
                <a:cs typeface="Carlito"/>
              </a:rPr>
              <a:t>+</a:t>
            </a:r>
            <a:r>
              <a:rPr sz="3200" spc="-30" dirty="0">
                <a:latin typeface="Carlito"/>
                <a:cs typeface="Carlito"/>
              </a:rPr>
              <a:t> </a:t>
            </a:r>
            <a:r>
              <a:rPr sz="3200" spc="-25" dirty="0">
                <a:latin typeface="Carlito"/>
                <a:cs typeface="Carlito"/>
              </a:rPr>
              <a:t>v); </a:t>
            </a:r>
            <a:r>
              <a:rPr sz="3200" spc="-10" dirty="0">
                <a:latin typeface="Carlito"/>
                <a:cs typeface="Carlito"/>
              </a:rPr>
              <a:t>System.out.println();</a:t>
            </a:r>
            <a:endParaRPr sz="3200">
              <a:latin typeface="Carlito"/>
              <a:cs typeface="Carlito"/>
            </a:endParaRPr>
          </a:p>
          <a:p>
            <a:pPr marL="12700" marR="1414145">
              <a:lnSpc>
                <a:spcPct val="120000"/>
              </a:lnSpc>
            </a:pPr>
            <a:r>
              <a:rPr sz="3200" dirty="0">
                <a:latin typeface="Carlito"/>
                <a:cs typeface="Carlito"/>
              </a:rPr>
              <a:t>//</a:t>
            </a:r>
            <a:r>
              <a:rPr sz="3200" spc="-60" dirty="0">
                <a:latin typeface="Carlito"/>
                <a:cs typeface="Carlito"/>
              </a:rPr>
              <a:t> </a:t>
            </a:r>
            <a:r>
              <a:rPr sz="3200" dirty="0">
                <a:latin typeface="Carlito"/>
                <a:cs typeface="Carlito"/>
              </a:rPr>
              <a:t>Create</a:t>
            </a:r>
            <a:r>
              <a:rPr sz="3200" spc="-65" dirty="0">
                <a:latin typeface="Carlito"/>
                <a:cs typeface="Carlito"/>
              </a:rPr>
              <a:t> </a:t>
            </a:r>
            <a:r>
              <a:rPr sz="3200" dirty="0">
                <a:latin typeface="Carlito"/>
                <a:cs typeface="Carlito"/>
              </a:rPr>
              <a:t>a</a:t>
            </a:r>
            <a:r>
              <a:rPr sz="3200" spc="-55" dirty="0">
                <a:latin typeface="Carlito"/>
                <a:cs typeface="Carlito"/>
              </a:rPr>
              <a:t> </a:t>
            </a:r>
            <a:r>
              <a:rPr sz="3200" dirty="0">
                <a:latin typeface="Carlito"/>
                <a:cs typeface="Carlito"/>
              </a:rPr>
              <a:t>Gen</a:t>
            </a:r>
            <a:r>
              <a:rPr sz="3200" spc="-45" dirty="0">
                <a:latin typeface="Carlito"/>
                <a:cs typeface="Carlito"/>
              </a:rPr>
              <a:t> </a:t>
            </a:r>
            <a:r>
              <a:rPr sz="3200" dirty="0">
                <a:latin typeface="Carlito"/>
                <a:cs typeface="Carlito"/>
              </a:rPr>
              <a:t>object</a:t>
            </a:r>
            <a:r>
              <a:rPr sz="3200" spc="-70" dirty="0">
                <a:latin typeface="Carlito"/>
                <a:cs typeface="Carlito"/>
              </a:rPr>
              <a:t> </a:t>
            </a:r>
            <a:r>
              <a:rPr sz="3200" dirty="0">
                <a:latin typeface="Carlito"/>
                <a:cs typeface="Carlito"/>
              </a:rPr>
              <a:t>for</a:t>
            </a:r>
            <a:r>
              <a:rPr sz="3200" spc="-50" dirty="0">
                <a:latin typeface="Carlito"/>
                <a:cs typeface="Carlito"/>
              </a:rPr>
              <a:t> </a:t>
            </a:r>
            <a:r>
              <a:rPr sz="3200" spc="-10" dirty="0">
                <a:latin typeface="Carlito"/>
                <a:cs typeface="Carlito"/>
              </a:rPr>
              <a:t>Strings. </a:t>
            </a:r>
            <a:r>
              <a:rPr sz="3200" dirty="0">
                <a:latin typeface="Carlito"/>
                <a:cs typeface="Carlito"/>
              </a:rPr>
              <a:t>Gen&lt;String&gt;</a:t>
            </a:r>
            <a:r>
              <a:rPr sz="3200" spc="-75" dirty="0">
                <a:latin typeface="Carlito"/>
                <a:cs typeface="Carlito"/>
              </a:rPr>
              <a:t> </a:t>
            </a:r>
            <a:r>
              <a:rPr sz="3200" dirty="0">
                <a:latin typeface="Carlito"/>
                <a:cs typeface="Carlito"/>
              </a:rPr>
              <a:t>strOb</a:t>
            </a:r>
            <a:r>
              <a:rPr sz="3200" spc="-100" dirty="0">
                <a:latin typeface="Carlito"/>
                <a:cs typeface="Carlito"/>
              </a:rPr>
              <a:t> </a:t>
            </a:r>
            <a:r>
              <a:rPr sz="3200" dirty="0">
                <a:latin typeface="Carlito"/>
                <a:cs typeface="Carlito"/>
              </a:rPr>
              <a:t>=</a:t>
            </a:r>
            <a:r>
              <a:rPr sz="3200" spc="-95" dirty="0">
                <a:latin typeface="Carlito"/>
                <a:cs typeface="Carlito"/>
              </a:rPr>
              <a:t> </a:t>
            </a:r>
            <a:r>
              <a:rPr sz="3200" spc="-25" dirty="0">
                <a:latin typeface="Carlito"/>
                <a:cs typeface="Carlito"/>
              </a:rPr>
              <a:t>new</a:t>
            </a:r>
            <a:endParaRPr sz="3200">
              <a:latin typeface="Carlito"/>
              <a:cs typeface="Carlito"/>
            </a:endParaRPr>
          </a:p>
          <a:p>
            <a:pPr marL="2050414">
              <a:lnSpc>
                <a:spcPct val="100000"/>
              </a:lnSpc>
              <a:spcBef>
                <a:spcPts val="5"/>
              </a:spcBef>
            </a:pPr>
            <a:r>
              <a:rPr sz="3200" spc="-10" dirty="0">
                <a:latin typeface="Carlito"/>
                <a:cs typeface="Carlito"/>
              </a:rPr>
              <a:t>Gen&lt;String&gt;("Generics</a:t>
            </a:r>
            <a:r>
              <a:rPr sz="3200" spc="-65" dirty="0">
                <a:latin typeface="Carlito"/>
                <a:cs typeface="Carlito"/>
              </a:rPr>
              <a:t> </a:t>
            </a:r>
            <a:r>
              <a:rPr sz="3200" spc="-10" dirty="0">
                <a:latin typeface="Carlito"/>
                <a:cs typeface="Carlito"/>
              </a:rPr>
              <a:t>Test");</a:t>
            </a:r>
            <a:endParaRPr sz="3200">
              <a:latin typeface="Carlito"/>
              <a:cs typeface="Carlito"/>
            </a:endParaRPr>
          </a:p>
          <a:p>
            <a:pPr marL="12700" marR="441959">
              <a:lnSpc>
                <a:spcPts val="4610"/>
              </a:lnSpc>
              <a:spcBef>
                <a:spcPts val="100"/>
              </a:spcBef>
            </a:pPr>
            <a:r>
              <a:rPr sz="3200" dirty="0">
                <a:latin typeface="Carlito"/>
                <a:cs typeface="Carlito"/>
              </a:rPr>
              <a:t>//</a:t>
            </a:r>
            <a:r>
              <a:rPr sz="3200" spc="-55" dirty="0">
                <a:latin typeface="Carlito"/>
                <a:cs typeface="Carlito"/>
              </a:rPr>
              <a:t> </a:t>
            </a:r>
            <a:r>
              <a:rPr sz="3200" dirty="0">
                <a:latin typeface="Carlito"/>
                <a:cs typeface="Carlito"/>
              </a:rPr>
              <a:t>Show</a:t>
            </a:r>
            <a:r>
              <a:rPr sz="3200" spc="-40" dirty="0">
                <a:latin typeface="Carlito"/>
                <a:cs typeface="Carlito"/>
              </a:rPr>
              <a:t> </a:t>
            </a:r>
            <a:r>
              <a:rPr sz="3200" dirty="0">
                <a:latin typeface="Carlito"/>
                <a:cs typeface="Carlito"/>
              </a:rPr>
              <a:t>the</a:t>
            </a:r>
            <a:r>
              <a:rPr sz="3200" spc="-40" dirty="0">
                <a:latin typeface="Carlito"/>
                <a:cs typeface="Carlito"/>
              </a:rPr>
              <a:t> </a:t>
            </a:r>
            <a:r>
              <a:rPr sz="3200" dirty="0">
                <a:latin typeface="Carlito"/>
                <a:cs typeface="Carlito"/>
              </a:rPr>
              <a:t>type</a:t>
            </a:r>
            <a:r>
              <a:rPr sz="3200" spc="-35" dirty="0">
                <a:latin typeface="Carlito"/>
                <a:cs typeface="Carlito"/>
              </a:rPr>
              <a:t> </a:t>
            </a:r>
            <a:r>
              <a:rPr sz="3200" dirty="0">
                <a:latin typeface="Carlito"/>
                <a:cs typeface="Carlito"/>
              </a:rPr>
              <a:t>of</a:t>
            </a:r>
            <a:r>
              <a:rPr sz="3200" spc="-40" dirty="0">
                <a:latin typeface="Carlito"/>
                <a:cs typeface="Carlito"/>
              </a:rPr>
              <a:t> </a:t>
            </a:r>
            <a:r>
              <a:rPr sz="3200" dirty="0">
                <a:latin typeface="Carlito"/>
                <a:cs typeface="Carlito"/>
              </a:rPr>
              <a:t>data</a:t>
            </a:r>
            <a:r>
              <a:rPr sz="3200" spc="-45" dirty="0">
                <a:latin typeface="Carlito"/>
                <a:cs typeface="Carlito"/>
              </a:rPr>
              <a:t> </a:t>
            </a:r>
            <a:r>
              <a:rPr sz="3200" dirty="0">
                <a:latin typeface="Carlito"/>
                <a:cs typeface="Carlito"/>
              </a:rPr>
              <a:t>used</a:t>
            </a:r>
            <a:r>
              <a:rPr sz="3200" spc="-45" dirty="0">
                <a:latin typeface="Carlito"/>
                <a:cs typeface="Carlito"/>
              </a:rPr>
              <a:t> </a:t>
            </a:r>
            <a:r>
              <a:rPr sz="3200" dirty="0">
                <a:latin typeface="Carlito"/>
                <a:cs typeface="Carlito"/>
              </a:rPr>
              <a:t>by</a:t>
            </a:r>
            <a:r>
              <a:rPr sz="3200" spc="-40" dirty="0">
                <a:latin typeface="Carlito"/>
                <a:cs typeface="Carlito"/>
              </a:rPr>
              <a:t> </a:t>
            </a:r>
            <a:r>
              <a:rPr sz="3200" spc="-10" dirty="0">
                <a:latin typeface="Carlito"/>
                <a:cs typeface="Carlito"/>
              </a:rPr>
              <a:t>strOb. strOb.showType();</a:t>
            </a:r>
            <a:endParaRPr sz="32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724633"/>
            <a:ext cx="6771640" cy="3537585"/>
          </a:xfrm>
          <a:prstGeom prst="rect">
            <a:avLst/>
          </a:prstGeom>
        </p:spPr>
        <p:txBody>
          <a:bodyPr vert="horz" wrap="square" lIns="0" tIns="109855" rIns="0" bIns="0" rtlCol="0">
            <a:spAutoFit/>
          </a:bodyPr>
          <a:lstStyle/>
          <a:p>
            <a:pPr marL="355600">
              <a:lnSpc>
                <a:spcPct val="100000"/>
              </a:lnSpc>
              <a:spcBef>
                <a:spcPts val="865"/>
              </a:spcBef>
            </a:pPr>
            <a:r>
              <a:rPr sz="3200" dirty="0">
                <a:latin typeface="Carlito"/>
                <a:cs typeface="Carlito"/>
              </a:rPr>
              <a:t>//</a:t>
            </a:r>
            <a:r>
              <a:rPr sz="3200" spc="-80" dirty="0">
                <a:latin typeface="Carlito"/>
                <a:cs typeface="Carlito"/>
              </a:rPr>
              <a:t> </a:t>
            </a:r>
            <a:r>
              <a:rPr sz="3200" dirty="0">
                <a:latin typeface="Carlito"/>
                <a:cs typeface="Carlito"/>
              </a:rPr>
              <a:t>Get</a:t>
            </a:r>
            <a:r>
              <a:rPr sz="3200" spc="-70" dirty="0">
                <a:latin typeface="Carlito"/>
                <a:cs typeface="Carlito"/>
              </a:rPr>
              <a:t> </a:t>
            </a:r>
            <a:r>
              <a:rPr sz="3200" dirty="0">
                <a:latin typeface="Carlito"/>
                <a:cs typeface="Carlito"/>
              </a:rPr>
              <a:t>the</a:t>
            </a:r>
            <a:r>
              <a:rPr sz="3200" spc="-65" dirty="0">
                <a:latin typeface="Carlito"/>
                <a:cs typeface="Carlito"/>
              </a:rPr>
              <a:t> </a:t>
            </a:r>
            <a:r>
              <a:rPr sz="3200" dirty="0">
                <a:latin typeface="Carlito"/>
                <a:cs typeface="Carlito"/>
              </a:rPr>
              <a:t>value</a:t>
            </a:r>
            <a:r>
              <a:rPr sz="3200" spc="-70" dirty="0">
                <a:latin typeface="Carlito"/>
                <a:cs typeface="Carlito"/>
              </a:rPr>
              <a:t> </a:t>
            </a:r>
            <a:r>
              <a:rPr sz="3200" dirty="0">
                <a:latin typeface="Carlito"/>
                <a:cs typeface="Carlito"/>
              </a:rPr>
              <a:t>of</a:t>
            </a:r>
            <a:r>
              <a:rPr sz="3200" spc="-70" dirty="0">
                <a:latin typeface="Carlito"/>
                <a:cs typeface="Carlito"/>
              </a:rPr>
              <a:t> </a:t>
            </a:r>
            <a:r>
              <a:rPr sz="3200" dirty="0">
                <a:latin typeface="Carlito"/>
                <a:cs typeface="Carlito"/>
              </a:rPr>
              <a:t>strOb.</a:t>
            </a:r>
            <a:r>
              <a:rPr sz="3200" spc="-50" dirty="0">
                <a:latin typeface="Carlito"/>
                <a:cs typeface="Carlito"/>
              </a:rPr>
              <a:t> </a:t>
            </a:r>
            <a:r>
              <a:rPr sz="3200" dirty="0">
                <a:latin typeface="Carlito"/>
                <a:cs typeface="Carlito"/>
              </a:rPr>
              <a:t>Again,</a:t>
            </a:r>
            <a:r>
              <a:rPr sz="3200" spc="-70" dirty="0">
                <a:latin typeface="Carlito"/>
                <a:cs typeface="Carlito"/>
              </a:rPr>
              <a:t> </a:t>
            </a:r>
            <a:r>
              <a:rPr sz="3200" spc="-10" dirty="0">
                <a:latin typeface="Carlito"/>
                <a:cs typeface="Carlito"/>
              </a:rPr>
              <a:t>notice</a:t>
            </a:r>
            <a:endParaRPr sz="3200">
              <a:latin typeface="Carlito"/>
              <a:cs typeface="Carlito"/>
            </a:endParaRPr>
          </a:p>
          <a:p>
            <a:pPr marL="355600" marR="2205355">
              <a:lnSpc>
                <a:spcPts val="4610"/>
              </a:lnSpc>
              <a:spcBef>
                <a:spcPts val="280"/>
              </a:spcBef>
            </a:pPr>
            <a:r>
              <a:rPr sz="3200" dirty="0">
                <a:latin typeface="Carlito"/>
                <a:cs typeface="Carlito"/>
              </a:rPr>
              <a:t>//</a:t>
            </a:r>
            <a:r>
              <a:rPr sz="3200" spc="-40" dirty="0">
                <a:latin typeface="Carlito"/>
                <a:cs typeface="Carlito"/>
              </a:rPr>
              <a:t> </a:t>
            </a:r>
            <a:r>
              <a:rPr sz="3200" dirty="0">
                <a:latin typeface="Carlito"/>
                <a:cs typeface="Carlito"/>
              </a:rPr>
              <a:t>that</a:t>
            </a:r>
            <a:r>
              <a:rPr sz="3200" spc="-30" dirty="0">
                <a:latin typeface="Carlito"/>
                <a:cs typeface="Carlito"/>
              </a:rPr>
              <a:t> </a:t>
            </a:r>
            <a:r>
              <a:rPr sz="3200" dirty="0">
                <a:latin typeface="Carlito"/>
                <a:cs typeface="Carlito"/>
              </a:rPr>
              <a:t>no</a:t>
            </a:r>
            <a:r>
              <a:rPr sz="3200" spc="-35" dirty="0">
                <a:latin typeface="Carlito"/>
                <a:cs typeface="Carlito"/>
              </a:rPr>
              <a:t> </a:t>
            </a:r>
            <a:r>
              <a:rPr sz="3200" dirty="0">
                <a:latin typeface="Carlito"/>
                <a:cs typeface="Carlito"/>
              </a:rPr>
              <a:t>cast</a:t>
            </a:r>
            <a:r>
              <a:rPr sz="3200" spc="-40" dirty="0">
                <a:latin typeface="Carlito"/>
                <a:cs typeface="Carlito"/>
              </a:rPr>
              <a:t> </a:t>
            </a:r>
            <a:r>
              <a:rPr sz="3200" dirty="0">
                <a:latin typeface="Carlito"/>
                <a:cs typeface="Carlito"/>
              </a:rPr>
              <a:t>is</a:t>
            </a:r>
            <a:r>
              <a:rPr sz="3200" spc="-45" dirty="0">
                <a:latin typeface="Carlito"/>
                <a:cs typeface="Carlito"/>
              </a:rPr>
              <a:t> </a:t>
            </a:r>
            <a:r>
              <a:rPr sz="3200" spc="-10" dirty="0">
                <a:latin typeface="Carlito"/>
                <a:cs typeface="Carlito"/>
              </a:rPr>
              <a:t>needed. </a:t>
            </a:r>
            <a:r>
              <a:rPr sz="3200" dirty="0">
                <a:latin typeface="Carlito"/>
                <a:cs typeface="Carlito"/>
              </a:rPr>
              <a:t>String</a:t>
            </a:r>
            <a:r>
              <a:rPr sz="3200" spc="-40" dirty="0">
                <a:latin typeface="Carlito"/>
                <a:cs typeface="Carlito"/>
              </a:rPr>
              <a:t> </a:t>
            </a:r>
            <a:r>
              <a:rPr sz="3200" dirty="0">
                <a:latin typeface="Carlito"/>
                <a:cs typeface="Carlito"/>
              </a:rPr>
              <a:t>str</a:t>
            </a:r>
            <a:r>
              <a:rPr sz="3200" spc="-45" dirty="0">
                <a:latin typeface="Carlito"/>
                <a:cs typeface="Carlito"/>
              </a:rPr>
              <a:t> </a:t>
            </a:r>
            <a:r>
              <a:rPr sz="3200" dirty="0">
                <a:latin typeface="Carlito"/>
                <a:cs typeface="Carlito"/>
              </a:rPr>
              <a:t>=</a:t>
            </a:r>
            <a:r>
              <a:rPr sz="3200" spc="-45" dirty="0">
                <a:latin typeface="Carlito"/>
                <a:cs typeface="Carlito"/>
              </a:rPr>
              <a:t> </a:t>
            </a:r>
            <a:r>
              <a:rPr sz="3200" spc="-10" dirty="0">
                <a:latin typeface="Carlito"/>
                <a:cs typeface="Carlito"/>
              </a:rPr>
              <a:t>strOb.getob();</a:t>
            </a:r>
            <a:endParaRPr sz="3200">
              <a:latin typeface="Carlito"/>
              <a:cs typeface="Carlito"/>
            </a:endParaRPr>
          </a:p>
          <a:p>
            <a:pPr marL="355600">
              <a:lnSpc>
                <a:spcPct val="100000"/>
              </a:lnSpc>
              <a:spcBef>
                <a:spcPts val="484"/>
              </a:spcBef>
            </a:pPr>
            <a:r>
              <a:rPr sz="3200" spc="-20" dirty="0">
                <a:latin typeface="Carlito"/>
                <a:cs typeface="Carlito"/>
              </a:rPr>
              <a:t>System.out.println("value:</a:t>
            </a:r>
            <a:r>
              <a:rPr sz="3200" spc="35" dirty="0">
                <a:latin typeface="Carlito"/>
                <a:cs typeface="Carlito"/>
              </a:rPr>
              <a:t> </a:t>
            </a:r>
            <a:r>
              <a:rPr sz="3200" dirty="0">
                <a:latin typeface="Carlito"/>
                <a:cs typeface="Carlito"/>
              </a:rPr>
              <a:t>"</a:t>
            </a:r>
            <a:r>
              <a:rPr sz="3200" spc="-10" dirty="0">
                <a:latin typeface="Carlito"/>
                <a:cs typeface="Carlito"/>
              </a:rPr>
              <a:t> </a:t>
            </a:r>
            <a:r>
              <a:rPr sz="3200" dirty="0">
                <a:latin typeface="Carlito"/>
                <a:cs typeface="Carlito"/>
              </a:rPr>
              <a:t>+</a:t>
            </a:r>
            <a:r>
              <a:rPr sz="3200" spc="-5" dirty="0">
                <a:latin typeface="Carlito"/>
                <a:cs typeface="Carlito"/>
              </a:rPr>
              <a:t> </a:t>
            </a:r>
            <a:r>
              <a:rPr sz="3200" spc="-10" dirty="0">
                <a:latin typeface="Carlito"/>
                <a:cs typeface="Carlito"/>
              </a:rPr>
              <a:t>str);</a:t>
            </a:r>
            <a:endParaRPr sz="3200">
              <a:latin typeface="Carlito"/>
              <a:cs typeface="Carlito"/>
            </a:endParaRPr>
          </a:p>
          <a:p>
            <a:pPr marL="355600">
              <a:lnSpc>
                <a:spcPct val="100000"/>
              </a:lnSpc>
              <a:spcBef>
                <a:spcPts val="770"/>
              </a:spcBef>
            </a:pPr>
            <a:r>
              <a:rPr sz="3200" spc="-50" dirty="0">
                <a:latin typeface="Carlito"/>
                <a:cs typeface="Carlito"/>
              </a:rPr>
              <a:t>}</a:t>
            </a:r>
            <a:endParaRPr sz="320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  <a:spcBef>
                <a:spcPts val="770"/>
              </a:spcBef>
            </a:pPr>
            <a:r>
              <a:rPr sz="3200" spc="-50" dirty="0">
                <a:latin typeface="Carlito"/>
                <a:cs typeface="Carlito"/>
              </a:rPr>
              <a:t>}</a:t>
            </a:r>
            <a:endParaRPr sz="32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92987" rIns="0" bIns="0" rtlCol="0">
            <a:spAutoFit/>
          </a:bodyPr>
          <a:lstStyle/>
          <a:p>
            <a:pPr marL="2413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Output: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450594" y="2029558"/>
            <a:ext cx="4699635" cy="2366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20000"/>
              </a:lnSpc>
              <a:spcBef>
                <a:spcPts val="95"/>
              </a:spcBef>
            </a:pPr>
            <a:r>
              <a:rPr sz="3200" dirty="0">
                <a:latin typeface="Carlito"/>
                <a:cs typeface="Carlito"/>
              </a:rPr>
              <a:t>Type</a:t>
            </a:r>
            <a:r>
              <a:rPr sz="3200" spc="-50" dirty="0">
                <a:latin typeface="Carlito"/>
                <a:cs typeface="Carlito"/>
              </a:rPr>
              <a:t> </a:t>
            </a:r>
            <a:r>
              <a:rPr sz="3200" dirty="0">
                <a:latin typeface="Carlito"/>
                <a:cs typeface="Carlito"/>
              </a:rPr>
              <a:t>of</a:t>
            </a:r>
            <a:r>
              <a:rPr sz="3200" spc="-50" dirty="0">
                <a:latin typeface="Carlito"/>
                <a:cs typeface="Carlito"/>
              </a:rPr>
              <a:t> </a:t>
            </a:r>
            <a:r>
              <a:rPr sz="3200" dirty="0">
                <a:latin typeface="Carlito"/>
                <a:cs typeface="Carlito"/>
              </a:rPr>
              <a:t>T</a:t>
            </a:r>
            <a:r>
              <a:rPr sz="3200" spc="-50" dirty="0">
                <a:latin typeface="Carlito"/>
                <a:cs typeface="Carlito"/>
              </a:rPr>
              <a:t> </a:t>
            </a:r>
            <a:r>
              <a:rPr sz="3200" dirty="0">
                <a:latin typeface="Carlito"/>
                <a:cs typeface="Carlito"/>
              </a:rPr>
              <a:t>is</a:t>
            </a:r>
            <a:r>
              <a:rPr sz="3200" spc="-65" dirty="0">
                <a:latin typeface="Carlito"/>
                <a:cs typeface="Carlito"/>
              </a:rPr>
              <a:t> </a:t>
            </a:r>
            <a:r>
              <a:rPr sz="3200" spc="-20" dirty="0">
                <a:latin typeface="Carlito"/>
                <a:cs typeface="Carlito"/>
              </a:rPr>
              <a:t>java.lang.Integer </a:t>
            </a:r>
            <a:r>
              <a:rPr sz="3200" dirty="0">
                <a:latin typeface="Carlito"/>
                <a:cs typeface="Carlito"/>
              </a:rPr>
              <a:t>value:</a:t>
            </a:r>
            <a:r>
              <a:rPr sz="3200" spc="-125" dirty="0">
                <a:latin typeface="Carlito"/>
                <a:cs typeface="Carlito"/>
              </a:rPr>
              <a:t> </a:t>
            </a:r>
            <a:r>
              <a:rPr sz="3200" spc="-25" dirty="0">
                <a:latin typeface="Carlito"/>
                <a:cs typeface="Carlito"/>
              </a:rPr>
              <a:t>88</a:t>
            </a:r>
            <a:endParaRPr sz="3200">
              <a:latin typeface="Carlito"/>
              <a:cs typeface="Carlito"/>
            </a:endParaRPr>
          </a:p>
          <a:p>
            <a:pPr marL="12700" marR="219075">
              <a:lnSpc>
                <a:spcPct val="120000"/>
              </a:lnSpc>
            </a:pPr>
            <a:r>
              <a:rPr sz="3200" dirty="0">
                <a:latin typeface="Carlito"/>
                <a:cs typeface="Carlito"/>
              </a:rPr>
              <a:t>Type</a:t>
            </a:r>
            <a:r>
              <a:rPr sz="3200" spc="-50" dirty="0">
                <a:latin typeface="Carlito"/>
                <a:cs typeface="Carlito"/>
              </a:rPr>
              <a:t> </a:t>
            </a:r>
            <a:r>
              <a:rPr sz="3200" dirty="0">
                <a:latin typeface="Carlito"/>
                <a:cs typeface="Carlito"/>
              </a:rPr>
              <a:t>of</a:t>
            </a:r>
            <a:r>
              <a:rPr sz="3200" spc="-50" dirty="0">
                <a:latin typeface="Carlito"/>
                <a:cs typeface="Carlito"/>
              </a:rPr>
              <a:t> </a:t>
            </a:r>
            <a:r>
              <a:rPr sz="3200" dirty="0">
                <a:latin typeface="Carlito"/>
                <a:cs typeface="Carlito"/>
              </a:rPr>
              <a:t>T</a:t>
            </a:r>
            <a:r>
              <a:rPr sz="3200" spc="-50" dirty="0">
                <a:latin typeface="Carlito"/>
                <a:cs typeface="Carlito"/>
              </a:rPr>
              <a:t> </a:t>
            </a:r>
            <a:r>
              <a:rPr sz="3200" dirty="0">
                <a:latin typeface="Carlito"/>
                <a:cs typeface="Carlito"/>
              </a:rPr>
              <a:t>is</a:t>
            </a:r>
            <a:r>
              <a:rPr sz="3200" spc="-65" dirty="0">
                <a:latin typeface="Carlito"/>
                <a:cs typeface="Carlito"/>
              </a:rPr>
              <a:t> </a:t>
            </a:r>
            <a:r>
              <a:rPr sz="3200" spc="-10" dirty="0">
                <a:latin typeface="Carlito"/>
                <a:cs typeface="Carlito"/>
              </a:rPr>
              <a:t>java.lang.String </a:t>
            </a:r>
            <a:r>
              <a:rPr sz="3200" dirty="0">
                <a:latin typeface="Carlito"/>
                <a:cs typeface="Carlito"/>
              </a:rPr>
              <a:t>value:</a:t>
            </a:r>
            <a:r>
              <a:rPr sz="3200" spc="-90" dirty="0">
                <a:latin typeface="Carlito"/>
                <a:cs typeface="Carlito"/>
              </a:rPr>
              <a:t> </a:t>
            </a:r>
            <a:r>
              <a:rPr sz="3200" dirty="0">
                <a:latin typeface="Carlito"/>
                <a:cs typeface="Carlito"/>
              </a:rPr>
              <a:t>Generics</a:t>
            </a:r>
            <a:r>
              <a:rPr sz="3200" spc="-100" dirty="0">
                <a:latin typeface="Carlito"/>
                <a:cs typeface="Carlito"/>
              </a:rPr>
              <a:t> </a:t>
            </a:r>
            <a:r>
              <a:rPr sz="3200" spc="-20" dirty="0">
                <a:latin typeface="Carlito"/>
                <a:cs typeface="Carlito"/>
              </a:rPr>
              <a:t>Test</a:t>
            </a:r>
            <a:endParaRPr sz="32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581" y="710183"/>
            <a:ext cx="7668768" cy="89916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0218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dirty="0">
                <a:solidFill>
                  <a:srgbClr val="1F487C"/>
                </a:solidFill>
              </a:rPr>
              <a:t>A</a:t>
            </a:r>
            <a:r>
              <a:rPr sz="3200" spc="-65" dirty="0">
                <a:solidFill>
                  <a:srgbClr val="1F487C"/>
                </a:solidFill>
              </a:rPr>
              <a:t> </a:t>
            </a:r>
            <a:r>
              <a:rPr sz="3200" dirty="0">
                <a:solidFill>
                  <a:srgbClr val="1F487C"/>
                </a:solidFill>
              </a:rPr>
              <a:t>Generic</a:t>
            </a:r>
            <a:r>
              <a:rPr sz="3200" spc="-65" dirty="0">
                <a:solidFill>
                  <a:srgbClr val="1F487C"/>
                </a:solidFill>
              </a:rPr>
              <a:t> </a:t>
            </a:r>
            <a:r>
              <a:rPr sz="3200" dirty="0">
                <a:solidFill>
                  <a:srgbClr val="1F487C"/>
                </a:solidFill>
              </a:rPr>
              <a:t>Class</a:t>
            </a:r>
            <a:r>
              <a:rPr sz="3200" spc="-70" dirty="0">
                <a:solidFill>
                  <a:srgbClr val="1F487C"/>
                </a:solidFill>
              </a:rPr>
              <a:t> </a:t>
            </a:r>
            <a:r>
              <a:rPr sz="3200" dirty="0">
                <a:solidFill>
                  <a:srgbClr val="1F487C"/>
                </a:solidFill>
              </a:rPr>
              <a:t>with</a:t>
            </a:r>
            <a:r>
              <a:rPr sz="3200" spc="-75" dirty="0">
                <a:solidFill>
                  <a:srgbClr val="1F487C"/>
                </a:solidFill>
              </a:rPr>
              <a:t> </a:t>
            </a:r>
            <a:r>
              <a:rPr sz="3200" dirty="0">
                <a:solidFill>
                  <a:srgbClr val="1F487C"/>
                </a:solidFill>
              </a:rPr>
              <a:t>Two</a:t>
            </a:r>
            <a:r>
              <a:rPr sz="3200" spc="-50" dirty="0">
                <a:solidFill>
                  <a:srgbClr val="1F487C"/>
                </a:solidFill>
              </a:rPr>
              <a:t> </a:t>
            </a:r>
            <a:r>
              <a:rPr sz="3200" dirty="0">
                <a:solidFill>
                  <a:srgbClr val="1F487C"/>
                </a:solidFill>
              </a:rPr>
              <a:t>Type</a:t>
            </a:r>
            <a:r>
              <a:rPr sz="3200" spc="-65" dirty="0">
                <a:solidFill>
                  <a:srgbClr val="1F487C"/>
                </a:solidFill>
              </a:rPr>
              <a:t> </a:t>
            </a:r>
            <a:r>
              <a:rPr sz="3200" spc="-10" dirty="0">
                <a:solidFill>
                  <a:srgbClr val="1F487C"/>
                </a:solidFill>
              </a:rPr>
              <a:t>Parameters</a:t>
            </a:r>
            <a:endParaRPr sz="3200"/>
          </a:p>
        </p:txBody>
      </p:sp>
      <p:sp>
        <p:nvSpPr>
          <p:cNvPr id="4" name="object 4"/>
          <p:cNvSpPr txBox="1"/>
          <p:nvPr/>
        </p:nvSpPr>
        <p:spPr>
          <a:xfrm>
            <a:off x="307340" y="1929511"/>
            <a:ext cx="8438515" cy="26168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86385" marR="5080" indent="-284480">
              <a:lnSpc>
                <a:spcPct val="100000"/>
              </a:lnSpc>
              <a:spcBef>
                <a:spcPts val="95"/>
              </a:spcBef>
              <a:buSzPct val="82258"/>
              <a:buFont typeface="DejaVu Sans"/>
              <a:buChar char="⚫"/>
              <a:tabLst>
                <a:tab pos="286385" algn="l"/>
              </a:tabLst>
            </a:pPr>
            <a:r>
              <a:rPr sz="3100" dirty="0">
                <a:latin typeface="Carlito"/>
                <a:cs typeface="Carlito"/>
              </a:rPr>
              <a:t>We</a:t>
            </a:r>
            <a:r>
              <a:rPr sz="3100" spc="-75" dirty="0">
                <a:latin typeface="Carlito"/>
                <a:cs typeface="Carlito"/>
              </a:rPr>
              <a:t> </a:t>
            </a:r>
            <a:r>
              <a:rPr sz="3100" dirty="0">
                <a:latin typeface="Carlito"/>
                <a:cs typeface="Carlito"/>
              </a:rPr>
              <a:t>can</a:t>
            </a:r>
            <a:r>
              <a:rPr sz="3100" spc="-65" dirty="0">
                <a:latin typeface="Carlito"/>
                <a:cs typeface="Carlito"/>
              </a:rPr>
              <a:t> </a:t>
            </a:r>
            <a:r>
              <a:rPr sz="3100" dirty="0">
                <a:latin typeface="Carlito"/>
                <a:cs typeface="Carlito"/>
              </a:rPr>
              <a:t>declare</a:t>
            </a:r>
            <a:r>
              <a:rPr sz="3100" spc="-70" dirty="0">
                <a:latin typeface="Carlito"/>
                <a:cs typeface="Carlito"/>
              </a:rPr>
              <a:t> </a:t>
            </a:r>
            <a:r>
              <a:rPr sz="3100" dirty="0">
                <a:latin typeface="Carlito"/>
                <a:cs typeface="Carlito"/>
              </a:rPr>
              <a:t>more</a:t>
            </a:r>
            <a:r>
              <a:rPr sz="3100" spc="-75" dirty="0">
                <a:latin typeface="Carlito"/>
                <a:cs typeface="Carlito"/>
              </a:rPr>
              <a:t> </a:t>
            </a:r>
            <a:r>
              <a:rPr sz="3100" dirty="0">
                <a:latin typeface="Carlito"/>
                <a:cs typeface="Carlito"/>
              </a:rPr>
              <a:t>than</a:t>
            </a:r>
            <a:r>
              <a:rPr sz="3100" spc="-75" dirty="0">
                <a:latin typeface="Carlito"/>
                <a:cs typeface="Carlito"/>
              </a:rPr>
              <a:t> </a:t>
            </a:r>
            <a:r>
              <a:rPr sz="3100" dirty="0">
                <a:latin typeface="Carlito"/>
                <a:cs typeface="Carlito"/>
              </a:rPr>
              <a:t>one</a:t>
            </a:r>
            <a:r>
              <a:rPr sz="3100" spc="-75" dirty="0">
                <a:latin typeface="Carlito"/>
                <a:cs typeface="Carlito"/>
              </a:rPr>
              <a:t> </a:t>
            </a:r>
            <a:r>
              <a:rPr sz="3100" dirty="0">
                <a:latin typeface="Carlito"/>
                <a:cs typeface="Carlito"/>
              </a:rPr>
              <a:t>type</a:t>
            </a:r>
            <a:r>
              <a:rPr sz="3100" spc="-70" dirty="0">
                <a:latin typeface="Carlito"/>
                <a:cs typeface="Carlito"/>
              </a:rPr>
              <a:t> </a:t>
            </a:r>
            <a:r>
              <a:rPr sz="3100" spc="-10" dirty="0">
                <a:latin typeface="Carlito"/>
                <a:cs typeface="Carlito"/>
              </a:rPr>
              <a:t>parameter</a:t>
            </a:r>
            <a:r>
              <a:rPr sz="3100" spc="-75" dirty="0">
                <a:latin typeface="Carlito"/>
                <a:cs typeface="Carlito"/>
              </a:rPr>
              <a:t> </a:t>
            </a:r>
            <a:r>
              <a:rPr sz="3100" dirty="0">
                <a:latin typeface="Carlito"/>
                <a:cs typeface="Carlito"/>
              </a:rPr>
              <a:t>in</a:t>
            </a:r>
            <a:r>
              <a:rPr sz="3100" spc="-75" dirty="0">
                <a:latin typeface="Carlito"/>
                <a:cs typeface="Carlito"/>
              </a:rPr>
              <a:t> </a:t>
            </a:r>
            <a:r>
              <a:rPr sz="3100" spc="-50" dirty="0">
                <a:latin typeface="Carlito"/>
                <a:cs typeface="Carlito"/>
              </a:rPr>
              <a:t>a </a:t>
            </a:r>
            <a:r>
              <a:rPr sz="3100" dirty="0">
                <a:latin typeface="Carlito"/>
                <a:cs typeface="Carlito"/>
              </a:rPr>
              <a:t>generic</a:t>
            </a:r>
            <a:r>
              <a:rPr sz="3100" spc="-50" dirty="0">
                <a:latin typeface="Carlito"/>
                <a:cs typeface="Carlito"/>
              </a:rPr>
              <a:t> </a:t>
            </a:r>
            <a:r>
              <a:rPr sz="3100" spc="-10" dirty="0">
                <a:latin typeface="Carlito"/>
                <a:cs typeface="Carlito"/>
              </a:rPr>
              <a:t>type.</a:t>
            </a:r>
            <a:endParaRPr sz="3100">
              <a:latin typeface="Carlito"/>
              <a:cs typeface="Carlito"/>
            </a:endParaRPr>
          </a:p>
          <a:p>
            <a:pPr>
              <a:lnSpc>
                <a:spcPct val="100000"/>
              </a:lnSpc>
              <a:spcBef>
                <a:spcPts val="535"/>
              </a:spcBef>
              <a:buFont typeface="DejaVu Sans"/>
              <a:buChar char="⚫"/>
            </a:pPr>
            <a:endParaRPr sz="3100">
              <a:latin typeface="Carlito"/>
              <a:cs typeface="Carlito"/>
            </a:endParaRPr>
          </a:p>
          <a:p>
            <a:pPr marL="286385" marR="1678305" indent="-284480">
              <a:lnSpc>
                <a:spcPct val="116199"/>
              </a:lnSpc>
              <a:buSzPct val="82258"/>
              <a:buFont typeface="DejaVu Sans"/>
              <a:buChar char="⚫"/>
              <a:tabLst>
                <a:tab pos="286385" algn="l"/>
              </a:tabLst>
            </a:pPr>
            <a:r>
              <a:rPr sz="3100" spc="-135" dirty="0">
                <a:latin typeface="Carlito"/>
                <a:cs typeface="Carlito"/>
              </a:rPr>
              <a:t>To</a:t>
            </a:r>
            <a:r>
              <a:rPr sz="3100" spc="-40" dirty="0">
                <a:latin typeface="Carlito"/>
                <a:cs typeface="Carlito"/>
              </a:rPr>
              <a:t> </a:t>
            </a:r>
            <a:r>
              <a:rPr sz="3100" dirty="0">
                <a:latin typeface="Carlito"/>
                <a:cs typeface="Carlito"/>
              </a:rPr>
              <a:t>specify</a:t>
            </a:r>
            <a:r>
              <a:rPr sz="3100" spc="-40" dirty="0">
                <a:latin typeface="Carlito"/>
                <a:cs typeface="Carlito"/>
              </a:rPr>
              <a:t> </a:t>
            </a:r>
            <a:r>
              <a:rPr sz="3100" dirty="0">
                <a:latin typeface="Carlito"/>
                <a:cs typeface="Carlito"/>
              </a:rPr>
              <a:t>two</a:t>
            </a:r>
            <a:r>
              <a:rPr sz="3100" spc="-35" dirty="0">
                <a:latin typeface="Carlito"/>
                <a:cs typeface="Carlito"/>
              </a:rPr>
              <a:t> </a:t>
            </a:r>
            <a:r>
              <a:rPr sz="3100" dirty="0">
                <a:latin typeface="Carlito"/>
                <a:cs typeface="Carlito"/>
              </a:rPr>
              <a:t>or</a:t>
            </a:r>
            <a:r>
              <a:rPr sz="3100" spc="-45" dirty="0">
                <a:latin typeface="Carlito"/>
                <a:cs typeface="Carlito"/>
              </a:rPr>
              <a:t> </a:t>
            </a:r>
            <a:r>
              <a:rPr sz="3100" dirty="0">
                <a:latin typeface="Carlito"/>
                <a:cs typeface="Carlito"/>
              </a:rPr>
              <a:t>more</a:t>
            </a:r>
            <a:r>
              <a:rPr sz="3100" spc="-40" dirty="0">
                <a:latin typeface="Carlito"/>
                <a:cs typeface="Carlito"/>
              </a:rPr>
              <a:t> </a:t>
            </a:r>
            <a:r>
              <a:rPr sz="3100" dirty="0">
                <a:latin typeface="Carlito"/>
                <a:cs typeface="Carlito"/>
              </a:rPr>
              <a:t>type</a:t>
            </a:r>
            <a:r>
              <a:rPr sz="3100" spc="-45" dirty="0">
                <a:latin typeface="Carlito"/>
                <a:cs typeface="Carlito"/>
              </a:rPr>
              <a:t> </a:t>
            </a:r>
            <a:r>
              <a:rPr sz="3100" spc="-10" dirty="0">
                <a:latin typeface="Carlito"/>
                <a:cs typeface="Carlito"/>
              </a:rPr>
              <a:t>parameters, </a:t>
            </a:r>
            <a:r>
              <a:rPr sz="3100" dirty="0">
                <a:latin typeface="Carlito"/>
                <a:cs typeface="Carlito"/>
              </a:rPr>
              <a:t>simply</a:t>
            </a:r>
            <a:r>
              <a:rPr sz="3100" spc="-40" dirty="0">
                <a:latin typeface="Carlito"/>
                <a:cs typeface="Carlito"/>
              </a:rPr>
              <a:t> </a:t>
            </a:r>
            <a:r>
              <a:rPr sz="3100" dirty="0">
                <a:latin typeface="Carlito"/>
                <a:cs typeface="Carlito"/>
              </a:rPr>
              <a:t>use</a:t>
            </a:r>
            <a:r>
              <a:rPr sz="3100" spc="-35" dirty="0">
                <a:latin typeface="Carlito"/>
                <a:cs typeface="Carlito"/>
              </a:rPr>
              <a:t> </a:t>
            </a:r>
            <a:r>
              <a:rPr sz="3100" dirty="0">
                <a:latin typeface="Carlito"/>
                <a:cs typeface="Carlito"/>
              </a:rPr>
              <a:t>a</a:t>
            </a:r>
            <a:r>
              <a:rPr sz="3100" spc="-30" dirty="0">
                <a:latin typeface="Carlito"/>
                <a:cs typeface="Carlito"/>
              </a:rPr>
              <a:t> comma-</a:t>
            </a:r>
            <a:r>
              <a:rPr sz="3100" spc="-10" dirty="0">
                <a:latin typeface="Carlito"/>
                <a:cs typeface="Carlito"/>
              </a:rPr>
              <a:t>separated</a:t>
            </a:r>
            <a:r>
              <a:rPr sz="3100" spc="-40" dirty="0">
                <a:latin typeface="Carlito"/>
                <a:cs typeface="Carlito"/>
              </a:rPr>
              <a:t> </a:t>
            </a:r>
            <a:r>
              <a:rPr sz="3100" spc="-10" dirty="0">
                <a:latin typeface="Carlito"/>
                <a:cs typeface="Carlito"/>
              </a:rPr>
              <a:t>list.</a:t>
            </a:r>
            <a:endParaRPr sz="31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83540" y="147015"/>
            <a:ext cx="7858759" cy="58801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dirty="0">
                <a:latin typeface="Carlito"/>
                <a:cs typeface="Carlito"/>
              </a:rPr>
              <a:t>//</a:t>
            </a:r>
            <a:r>
              <a:rPr sz="3200" spc="-35" dirty="0">
                <a:latin typeface="Carlito"/>
                <a:cs typeface="Carlito"/>
              </a:rPr>
              <a:t> </a:t>
            </a:r>
            <a:r>
              <a:rPr sz="3200" dirty="0">
                <a:latin typeface="Carlito"/>
                <a:cs typeface="Carlito"/>
              </a:rPr>
              <a:t>A</a:t>
            </a:r>
            <a:r>
              <a:rPr sz="3200" spc="-30" dirty="0">
                <a:latin typeface="Carlito"/>
                <a:cs typeface="Carlito"/>
              </a:rPr>
              <a:t> </a:t>
            </a:r>
            <a:r>
              <a:rPr sz="3200" dirty="0">
                <a:latin typeface="Carlito"/>
                <a:cs typeface="Carlito"/>
              </a:rPr>
              <a:t>simple</a:t>
            </a:r>
            <a:r>
              <a:rPr sz="3200" spc="-25" dirty="0">
                <a:latin typeface="Carlito"/>
                <a:cs typeface="Carlito"/>
              </a:rPr>
              <a:t> </a:t>
            </a:r>
            <a:r>
              <a:rPr sz="3200" dirty="0">
                <a:latin typeface="Carlito"/>
                <a:cs typeface="Carlito"/>
              </a:rPr>
              <a:t>generic</a:t>
            </a:r>
            <a:r>
              <a:rPr sz="3200" spc="-50" dirty="0">
                <a:latin typeface="Carlito"/>
                <a:cs typeface="Carlito"/>
              </a:rPr>
              <a:t> </a:t>
            </a:r>
            <a:r>
              <a:rPr sz="3200" dirty="0">
                <a:latin typeface="Carlito"/>
                <a:cs typeface="Carlito"/>
              </a:rPr>
              <a:t>class</a:t>
            </a:r>
            <a:r>
              <a:rPr sz="3200" spc="-30" dirty="0">
                <a:latin typeface="Carlito"/>
                <a:cs typeface="Carlito"/>
              </a:rPr>
              <a:t> </a:t>
            </a:r>
            <a:r>
              <a:rPr sz="3200" dirty="0">
                <a:latin typeface="Carlito"/>
                <a:cs typeface="Carlito"/>
              </a:rPr>
              <a:t>with</a:t>
            </a:r>
            <a:r>
              <a:rPr sz="3200" spc="-20" dirty="0">
                <a:latin typeface="Carlito"/>
                <a:cs typeface="Carlito"/>
              </a:rPr>
              <a:t> </a:t>
            </a:r>
            <a:r>
              <a:rPr sz="3200" dirty="0">
                <a:latin typeface="Carlito"/>
                <a:cs typeface="Carlito"/>
              </a:rPr>
              <a:t>two</a:t>
            </a:r>
            <a:r>
              <a:rPr sz="3200" spc="-30" dirty="0">
                <a:latin typeface="Carlito"/>
                <a:cs typeface="Carlito"/>
              </a:rPr>
              <a:t> </a:t>
            </a:r>
            <a:r>
              <a:rPr sz="3200" spc="-20" dirty="0">
                <a:latin typeface="Carlito"/>
                <a:cs typeface="Carlito"/>
              </a:rPr>
              <a:t>type</a:t>
            </a:r>
            <a:endParaRPr sz="320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</a:pPr>
            <a:r>
              <a:rPr sz="3200" dirty="0">
                <a:latin typeface="Carlito"/>
                <a:cs typeface="Carlito"/>
              </a:rPr>
              <a:t>//</a:t>
            </a:r>
            <a:r>
              <a:rPr sz="3200" spc="-75" dirty="0">
                <a:latin typeface="Carlito"/>
                <a:cs typeface="Carlito"/>
              </a:rPr>
              <a:t> </a:t>
            </a:r>
            <a:r>
              <a:rPr sz="3200" spc="-10" dirty="0">
                <a:latin typeface="Carlito"/>
                <a:cs typeface="Carlito"/>
              </a:rPr>
              <a:t>parameters:</a:t>
            </a:r>
            <a:r>
              <a:rPr sz="3200" spc="-75" dirty="0">
                <a:latin typeface="Carlito"/>
                <a:cs typeface="Carlito"/>
              </a:rPr>
              <a:t> </a:t>
            </a:r>
            <a:r>
              <a:rPr sz="3200" dirty="0">
                <a:latin typeface="Carlito"/>
                <a:cs typeface="Carlito"/>
              </a:rPr>
              <a:t>T</a:t>
            </a:r>
            <a:r>
              <a:rPr sz="3200" spc="-65" dirty="0">
                <a:latin typeface="Carlito"/>
                <a:cs typeface="Carlito"/>
              </a:rPr>
              <a:t> </a:t>
            </a:r>
            <a:r>
              <a:rPr sz="3200" dirty="0">
                <a:latin typeface="Carlito"/>
                <a:cs typeface="Carlito"/>
              </a:rPr>
              <a:t>and</a:t>
            </a:r>
            <a:r>
              <a:rPr sz="3200" spc="-50" dirty="0">
                <a:latin typeface="Carlito"/>
                <a:cs typeface="Carlito"/>
              </a:rPr>
              <a:t> </a:t>
            </a:r>
            <a:r>
              <a:rPr sz="3200" spc="-25" dirty="0">
                <a:latin typeface="Carlito"/>
                <a:cs typeface="Carlito"/>
              </a:rPr>
              <a:t>V.</a:t>
            </a:r>
            <a:endParaRPr sz="3200">
              <a:latin typeface="Carlito"/>
              <a:cs typeface="Carlito"/>
            </a:endParaRPr>
          </a:p>
          <a:p>
            <a:pPr marL="355600" marR="4405630" indent="-342900">
              <a:lnSpc>
                <a:spcPct val="100000"/>
              </a:lnSpc>
              <a:spcBef>
                <a:spcPts val="3845"/>
              </a:spcBef>
            </a:pPr>
            <a:r>
              <a:rPr sz="3200" dirty="0">
                <a:latin typeface="Carlito"/>
                <a:cs typeface="Carlito"/>
              </a:rPr>
              <a:t>class</a:t>
            </a:r>
            <a:r>
              <a:rPr sz="3200" spc="-55" dirty="0">
                <a:latin typeface="Carlito"/>
                <a:cs typeface="Carlito"/>
              </a:rPr>
              <a:t> </a:t>
            </a:r>
            <a:r>
              <a:rPr sz="3200" spc="-60" dirty="0">
                <a:latin typeface="Carlito"/>
                <a:cs typeface="Carlito"/>
              </a:rPr>
              <a:t>TwoGen&lt;T,</a:t>
            </a:r>
            <a:r>
              <a:rPr sz="3200" spc="-40" dirty="0">
                <a:latin typeface="Carlito"/>
                <a:cs typeface="Carlito"/>
              </a:rPr>
              <a:t> </a:t>
            </a:r>
            <a:r>
              <a:rPr sz="3200" dirty="0">
                <a:latin typeface="Carlito"/>
                <a:cs typeface="Carlito"/>
              </a:rPr>
              <a:t>V&gt;</a:t>
            </a:r>
            <a:r>
              <a:rPr sz="3200" spc="-45" dirty="0">
                <a:latin typeface="Carlito"/>
                <a:cs typeface="Carlito"/>
              </a:rPr>
              <a:t> </a:t>
            </a:r>
            <a:r>
              <a:rPr sz="3200" spc="-50" dirty="0">
                <a:latin typeface="Carlito"/>
                <a:cs typeface="Carlito"/>
              </a:rPr>
              <a:t>{ </a:t>
            </a:r>
            <a:r>
              <a:rPr sz="3200" dirty="0">
                <a:latin typeface="Carlito"/>
                <a:cs typeface="Carlito"/>
              </a:rPr>
              <a:t>T</a:t>
            </a:r>
            <a:r>
              <a:rPr sz="3200" spc="-15" dirty="0">
                <a:latin typeface="Carlito"/>
                <a:cs typeface="Carlito"/>
              </a:rPr>
              <a:t> </a:t>
            </a:r>
            <a:r>
              <a:rPr sz="3200" spc="-20" dirty="0">
                <a:latin typeface="Carlito"/>
                <a:cs typeface="Carlito"/>
              </a:rPr>
              <a:t>ob1;</a:t>
            </a:r>
            <a:endParaRPr sz="3200">
              <a:latin typeface="Carlito"/>
              <a:cs typeface="Carlito"/>
            </a:endParaRPr>
          </a:p>
          <a:p>
            <a:pPr marL="355600">
              <a:lnSpc>
                <a:spcPct val="100000"/>
              </a:lnSpc>
            </a:pPr>
            <a:r>
              <a:rPr sz="3200" dirty="0">
                <a:latin typeface="Carlito"/>
                <a:cs typeface="Carlito"/>
              </a:rPr>
              <a:t>V </a:t>
            </a:r>
            <a:r>
              <a:rPr sz="3200" spc="-20" dirty="0">
                <a:latin typeface="Carlito"/>
                <a:cs typeface="Carlito"/>
              </a:rPr>
              <a:t>ob2;</a:t>
            </a:r>
            <a:endParaRPr sz="3200">
              <a:latin typeface="Carlito"/>
              <a:cs typeface="Carlito"/>
            </a:endParaRPr>
          </a:p>
          <a:p>
            <a:pPr marL="355600">
              <a:lnSpc>
                <a:spcPct val="100000"/>
              </a:lnSpc>
            </a:pPr>
            <a:r>
              <a:rPr sz="3200" dirty="0">
                <a:latin typeface="Carlito"/>
                <a:cs typeface="Carlito"/>
              </a:rPr>
              <a:t>//</a:t>
            </a:r>
            <a:r>
              <a:rPr sz="3200" spc="-60" dirty="0">
                <a:latin typeface="Carlito"/>
                <a:cs typeface="Carlito"/>
              </a:rPr>
              <a:t> </a:t>
            </a:r>
            <a:r>
              <a:rPr sz="3200" dirty="0">
                <a:latin typeface="Carlito"/>
                <a:cs typeface="Carlito"/>
              </a:rPr>
              <a:t>Pass</a:t>
            </a:r>
            <a:r>
              <a:rPr sz="3200" spc="-55" dirty="0">
                <a:latin typeface="Carlito"/>
                <a:cs typeface="Carlito"/>
              </a:rPr>
              <a:t> </a:t>
            </a:r>
            <a:r>
              <a:rPr sz="3200" dirty="0">
                <a:latin typeface="Carlito"/>
                <a:cs typeface="Carlito"/>
              </a:rPr>
              <a:t>the</a:t>
            </a:r>
            <a:r>
              <a:rPr sz="3200" spc="-50" dirty="0">
                <a:latin typeface="Carlito"/>
                <a:cs typeface="Carlito"/>
              </a:rPr>
              <a:t> </a:t>
            </a:r>
            <a:r>
              <a:rPr sz="3200" dirty="0">
                <a:latin typeface="Carlito"/>
                <a:cs typeface="Carlito"/>
              </a:rPr>
              <a:t>constructor</a:t>
            </a:r>
            <a:r>
              <a:rPr sz="3200" spc="-45" dirty="0">
                <a:latin typeface="Carlito"/>
                <a:cs typeface="Carlito"/>
              </a:rPr>
              <a:t> </a:t>
            </a:r>
            <a:r>
              <a:rPr sz="3200" dirty="0">
                <a:latin typeface="Carlito"/>
                <a:cs typeface="Carlito"/>
              </a:rPr>
              <a:t>a</a:t>
            </a:r>
            <a:r>
              <a:rPr sz="3200" spc="-45" dirty="0">
                <a:latin typeface="Carlito"/>
                <a:cs typeface="Carlito"/>
              </a:rPr>
              <a:t> </a:t>
            </a:r>
            <a:r>
              <a:rPr sz="3200" spc="-10" dirty="0">
                <a:latin typeface="Carlito"/>
                <a:cs typeface="Carlito"/>
              </a:rPr>
              <a:t>reference</a:t>
            </a:r>
            <a:r>
              <a:rPr sz="3200" spc="-90" dirty="0">
                <a:latin typeface="Carlito"/>
                <a:cs typeface="Carlito"/>
              </a:rPr>
              <a:t> </a:t>
            </a:r>
            <a:r>
              <a:rPr sz="3200" spc="-25" dirty="0">
                <a:latin typeface="Carlito"/>
                <a:cs typeface="Carlito"/>
              </a:rPr>
              <a:t>to</a:t>
            </a:r>
            <a:endParaRPr sz="3200">
              <a:latin typeface="Carlito"/>
              <a:cs typeface="Carlito"/>
            </a:endParaRPr>
          </a:p>
          <a:p>
            <a:pPr marL="355600" marR="5080">
              <a:lnSpc>
                <a:spcPct val="100000"/>
              </a:lnSpc>
            </a:pPr>
            <a:r>
              <a:rPr sz="3200" dirty="0">
                <a:latin typeface="Carlito"/>
                <a:cs typeface="Carlito"/>
              </a:rPr>
              <a:t>//</a:t>
            </a:r>
            <a:r>
              <a:rPr sz="3200" spc="-25" dirty="0">
                <a:latin typeface="Carlito"/>
                <a:cs typeface="Carlito"/>
              </a:rPr>
              <a:t> </a:t>
            </a:r>
            <a:r>
              <a:rPr sz="3200" dirty="0">
                <a:latin typeface="Carlito"/>
                <a:cs typeface="Carlito"/>
              </a:rPr>
              <a:t>an</a:t>
            </a:r>
            <a:r>
              <a:rPr sz="3200" spc="-15" dirty="0">
                <a:latin typeface="Carlito"/>
                <a:cs typeface="Carlito"/>
              </a:rPr>
              <a:t> </a:t>
            </a:r>
            <a:r>
              <a:rPr sz="3200" dirty="0">
                <a:latin typeface="Carlito"/>
                <a:cs typeface="Carlito"/>
              </a:rPr>
              <a:t>object</a:t>
            </a:r>
            <a:r>
              <a:rPr sz="3200" spc="-25" dirty="0">
                <a:latin typeface="Carlito"/>
                <a:cs typeface="Carlito"/>
              </a:rPr>
              <a:t> </a:t>
            </a:r>
            <a:r>
              <a:rPr sz="3200" dirty="0">
                <a:latin typeface="Carlito"/>
                <a:cs typeface="Carlito"/>
              </a:rPr>
              <a:t>of</a:t>
            </a:r>
            <a:r>
              <a:rPr sz="3200" spc="-15" dirty="0">
                <a:latin typeface="Carlito"/>
                <a:cs typeface="Carlito"/>
              </a:rPr>
              <a:t> </a:t>
            </a:r>
            <a:r>
              <a:rPr sz="3200" dirty="0">
                <a:latin typeface="Carlito"/>
                <a:cs typeface="Carlito"/>
              </a:rPr>
              <a:t>type</a:t>
            </a:r>
            <a:r>
              <a:rPr sz="3200" spc="-15" dirty="0">
                <a:latin typeface="Carlito"/>
                <a:cs typeface="Carlito"/>
              </a:rPr>
              <a:t> </a:t>
            </a:r>
            <a:r>
              <a:rPr sz="3200" dirty="0">
                <a:latin typeface="Carlito"/>
                <a:cs typeface="Carlito"/>
              </a:rPr>
              <a:t>T</a:t>
            </a:r>
            <a:r>
              <a:rPr sz="3200" spc="-15" dirty="0">
                <a:latin typeface="Carlito"/>
                <a:cs typeface="Carlito"/>
              </a:rPr>
              <a:t> </a:t>
            </a:r>
            <a:r>
              <a:rPr sz="3200" dirty="0">
                <a:latin typeface="Carlito"/>
                <a:cs typeface="Carlito"/>
              </a:rPr>
              <a:t>and</a:t>
            </a:r>
            <a:r>
              <a:rPr sz="3200" spc="5" dirty="0">
                <a:latin typeface="Carlito"/>
                <a:cs typeface="Carlito"/>
              </a:rPr>
              <a:t> </a:t>
            </a:r>
            <a:r>
              <a:rPr sz="3200" dirty="0">
                <a:latin typeface="Carlito"/>
                <a:cs typeface="Carlito"/>
              </a:rPr>
              <a:t>an</a:t>
            </a:r>
            <a:r>
              <a:rPr sz="3200" spc="-15" dirty="0">
                <a:latin typeface="Carlito"/>
                <a:cs typeface="Carlito"/>
              </a:rPr>
              <a:t> </a:t>
            </a:r>
            <a:r>
              <a:rPr sz="3200" dirty="0">
                <a:latin typeface="Carlito"/>
                <a:cs typeface="Carlito"/>
              </a:rPr>
              <a:t>object</a:t>
            </a:r>
            <a:r>
              <a:rPr sz="3200" spc="-20" dirty="0">
                <a:latin typeface="Carlito"/>
                <a:cs typeface="Carlito"/>
              </a:rPr>
              <a:t> </a:t>
            </a:r>
            <a:r>
              <a:rPr sz="3200" dirty="0">
                <a:latin typeface="Carlito"/>
                <a:cs typeface="Carlito"/>
              </a:rPr>
              <a:t>of</a:t>
            </a:r>
            <a:r>
              <a:rPr sz="3200" spc="-15" dirty="0">
                <a:latin typeface="Carlito"/>
                <a:cs typeface="Carlito"/>
              </a:rPr>
              <a:t> </a:t>
            </a:r>
            <a:r>
              <a:rPr sz="3200" dirty="0">
                <a:latin typeface="Carlito"/>
                <a:cs typeface="Carlito"/>
              </a:rPr>
              <a:t>type</a:t>
            </a:r>
            <a:r>
              <a:rPr sz="3200" spc="-10" dirty="0">
                <a:latin typeface="Carlito"/>
                <a:cs typeface="Carlito"/>
              </a:rPr>
              <a:t> </a:t>
            </a:r>
            <a:r>
              <a:rPr sz="3200" spc="-70" dirty="0">
                <a:latin typeface="Carlito"/>
                <a:cs typeface="Carlito"/>
              </a:rPr>
              <a:t>V. </a:t>
            </a:r>
            <a:r>
              <a:rPr sz="3200" spc="-20" dirty="0">
                <a:latin typeface="Carlito"/>
                <a:cs typeface="Carlito"/>
              </a:rPr>
              <a:t>TwoGen(T</a:t>
            </a:r>
            <a:r>
              <a:rPr sz="3200" spc="-45" dirty="0">
                <a:latin typeface="Carlito"/>
                <a:cs typeface="Carlito"/>
              </a:rPr>
              <a:t> </a:t>
            </a:r>
            <a:r>
              <a:rPr sz="3200" dirty="0">
                <a:latin typeface="Carlito"/>
                <a:cs typeface="Carlito"/>
              </a:rPr>
              <a:t>o1,</a:t>
            </a:r>
            <a:r>
              <a:rPr sz="3200" spc="-45" dirty="0">
                <a:latin typeface="Carlito"/>
                <a:cs typeface="Carlito"/>
              </a:rPr>
              <a:t> </a:t>
            </a:r>
            <a:r>
              <a:rPr sz="3200" dirty="0">
                <a:latin typeface="Carlito"/>
                <a:cs typeface="Carlito"/>
              </a:rPr>
              <a:t>V</a:t>
            </a:r>
            <a:r>
              <a:rPr sz="3200" spc="-40" dirty="0">
                <a:latin typeface="Carlito"/>
                <a:cs typeface="Carlito"/>
              </a:rPr>
              <a:t> </a:t>
            </a:r>
            <a:r>
              <a:rPr sz="3200" dirty="0">
                <a:latin typeface="Carlito"/>
                <a:cs typeface="Carlito"/>
              </a:rPr>
              <a:t>o2)</a:t>
            </a:r>
            <a:r>
              <a:rPr sz="3200" spc="-30" dirty="0">
                <a:latin typeface="Carlito"/>
                <a:cs typeface="Carlito"/>
              </a:rPr>
              <a:t> </a:t>
            </a:r>
            <a:r>
              <a:rPr sz="3200" spc="-50" dirty="0">
                <a:latin typeface="Carlito"/>
                <a:cs typeface="Carlito"/>
              </a:rPr>
              <a:t>{</a:t>
            </a:r>
            <a:endParaRPr sz="3200">
              <a:latin typeface="Carlito"/>
              <a:cs typeface="Carlito"/>
            </a:endParaRPr>
          </a:p>
          <a:p>
            <a:pPr marL="927100" marR="5370195">
              <a:lnSpc>
                <a:spcPct val="100000"/>
              </a:lnSpc>
              <a:spcBef>
                <a:spcPts val="5"/>
              </a:spcBef>
            </a:pPr>
            <a:r>
              <a:rPr sz="3200" dirty="0">
                <a:latin typeface="Carlito"/>
                <a:cs typeface="Carlito"/>
              </a:rPr>
              <a:t>ob1</a:t>
            </a:r>
            <a:r>
              <a:rPr sz="3200" spc="-35" dirty="0">
                <a:latin typeface="Carlito"/>
                <a:cs typeface="Carlito"/>
              </a:rPr>
              <a:t> </a:t>
            </a:r>
            <a:r>
              <a:rPr sz="3200" dirty="0">
                <a:latin typeface="Carlito"/>
                <a:cs typeface="Carlito"/>
              </a:rPr>
              <a:t>=</a:t>
            </a:r>
            <a:r>
              <a:rPr sz="3200" spc="-25" dirty="0">
                <a:latin typeface="Carlito"/>
                <a:cs typeface="Carlito"/>
              </a:rPr>
              <a:t> o1; </a:t>
            </a:r>
            <a:r>
              <a:rPr sz="3200" dirty="0">
                <a:latin typeface="Carlito"/>
                <a:cs typeface="Carlito"/>
              </a:rPr>
              <a:t>ob2</a:t>
            </a:r>
            <a:r>
              <a:rPr sz="3200" spc="-10" dirty="0">
                <a:latin typeface="Carlito"/>
                <a:cs typeface="Carlito"/>
              </a:rPr>
              <a:t> </a:t>
            </a:r>
            <a:r>
              <a:rPr sz="3200" dirty="0">
                <a:latin typeface="Carlito"/>
                <a:cs typeface="Carlito"/>
              </a:rPr>
              <a:t>=</a:t>
            </a:r>
            <a:r>
              <a:rPr sz="3200" spc="-10" dirty="0">
                <a:latin typeface="Carlito"/>
                <a:cs typeface="Carlito"/>
              </a:rPr>
              <a:t> </a:t>
            </a:r>
            <a:r>
              <a:rPr sz="3200" spc="-25" dirty="0">
                <a:latin typeface="Carlito"/>
                <a:cs typeface="Carlito"/>
              </a:rPr>
              <a:t>o2;</a:t>
            </a:r>
            <a:endParaRPr sz="3200">
              <a:latin typeface="Carlito"/>
              <a:cs typeface="Carlito"/>
            </a:endParaRPr>
          </a:p>
          <a:p>
            <a:pPr marL="355600">
              <a:lnSpc>
                <a:spcPct val="100000"/>
              </a:lnSpc>
            </a:pPr>
            <a:r>
              <a:rPr sz="3200" spc="-50" dirty="0">
                <a:latin typeface="Carlito"/>
                <a:cs typeface="Carlito"/>
              </a:rPr>
              <a:t>}</a:t>
            </a:r>
            <a:endParaRPr sz="32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514858"/>
            <a:ext cx="7552690" cy="5445760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355600" marR="3587750">
              <a:lnSpc>
                <a:spcPts val="3020"/>
              </a:lnSpc>
              <a:spcBef>
                <a:spcPts val="480"/>
              </a:spcBef>
            </a:pPr>
            <a:r>
              <a:rPr sz="2800" dirty="0">
                <a:latin typeface="Carlito"/>
                <a:cs typeface="Carlito"/>
              </a:rPr>
              <a:t>//</a:t>
            </a:r>
            <a:r>
              <a:rPr sz="2800" spc="-35" dirty="0">
                <a:latin typeface="Carlito"/>
                <a:cs typeface="Carlito"/>
              </a:rPr>
              <a:t> </a:t>
            </a:r>
            <a:r>
              <a:rPr sz="2800" dirty="0">
                <a:latin typeface="Carlito"/>
                <a:cs typeface="Carlito"/>
              </a:rPr>
              <a:t>Show</a:t>
            </a:r>
            <a:r>
              <a:rPr sz="2800" spc="-25" dirty="0">
                <a:latin typeface="Carlito"/>
                <a:cs typeface="Carlito"/>
              </a:rPr>
              <a:t> </a:t>
            </a:r>
            <a:r>
              <a:rPr sz="2800" dirty="0">
                <a:latin typeface="Carlito"/>
                <a:cs typeface="Carlito"/>
              </a:rPr>
              <a:t>types</a:t>
            </a:r>
            <a:r>
              <a:rPr sz="2800" spc="-20" dirty="0">
                <a:latin typeface="Carlito"/>
                <a:cs typeface="Carlito"/>
              </a:rPr>
              <a:t> </a:t>
            </a:r>
            <a:r>
              <a:rPr sz="2800" dirty="0">
                <a:latin typeface="Carlito"/>
                <a:cs typeface="Carlito"/>
              </a:rPr>
              <a:t>of</a:t>
            </a:r>
            <a:r>
              <a:rPr sz="2800" spc="-45" dirty="0">
                <a:latin typeface="Carlito"/>
                <a:cs typeface="Carlito"/>
              </a:rPr>
              <a:t> </a:t>
            </a:r>
            <a:r>
              <a:rPr sz="2800" dirty="0">
                <a:latin typeface="Carlito"/>
                <a:cs typeface="Carlito"/>
              </a:rPr>
              <a:t>T</a:t>
            </a:r>
            <a:r>
              <a:rPr sz="2800" spc="-35" dirty="0">
                <a:latin typeface="Carlito"/>
                <a:cs typeface="Carlito"/>
              </a:rPr>
              <a:t> </a:t>
            </a:r>
            <a:r>
              <a:rPr sz="2800" dirty="0">
                <a:latin typeface="Carlito"/>
                <a:cs typeface="Carlito"/>
              </a:rPr>
              <a:t>and</a:t>
            </a:r>
            <a:r>
              <a:rPr sz="2800" spc="-45" dirty="0">
                <a:latin typeface="Carlito"/>
                <a:cs typeface="Carlito"/>
              </a:rPr>
              <a:t> </a:t>
            </a:r>
            <a:r>
              <a:rPr sz="2800" spc="-85" dirty="0">
                <a:latin typeface="Carlito"/>
                <a:cs typeface="Carlito"/>
              </a:rPr>
              <a:t>V. </a:t>
            </a:r>
            <a:r>
              <a:rPr sz="2800" dirty="0">
                <a:latin typeface="Carlito"/>
                <a:cs typeface="Carlito"/>
              </a:rPr>
              <a:t>void</a:t>
            </a:r>
            <a:r>
              <a:rPr sz="2800" spc="-90" dirty="0">
                <a:latin typeface="Carlito"/>
                <a:cs typeface="Carlito"/>
              </a:rPr>
              <a:t> </a:t>
            </a:r>
            <a:r>
              <a:rPr sz="2800" spc="-20" dirty="0">
                <a:latin typeface="Carlito"/>
                <a:cs typeface="Carlito"/>
              </a:rPr>
              <a:t>showTypes()</a:t>
            </a:r>
            <a:r>
              <a:rPr sz="2800" spc="-50" dirty="0">
                <a:latin typeface="Carlito"/>
                <a:cs typeface="Carlito"/>
              </a:rPr>
              <a:t> {</a:t>
            </a:r>
            <a:endParaRPr sz="2800">
              <a:latin typeface="Carlito"/>
              <a:cs typeface="Carlito"/>
            </a:endParaRPr>
          </a:p>
          <a:p>
            <a:pPr marL="598170">
              <a:lnSpc>
                <a:spcPts val="2820"/>
              </a:lnSpc>
            </a:pPr>
            <a:r>
              <a:rPr sz="2800" spc="-25" dirty="0">
                <a:latin typeface="Carlito"/>
                <a:cs typeface="Carlito"/>
              </a:rPr>
              <a:t>System.out.println("Type</a:t>
            </a:r>
            <a:r>
              <a:rPr sz="2800" spc="50" dirty="0">
                <a:latin typeface="Carlito"/>
                <a:cs typeface="Carlito"/>
              </a:rPr>
              <a:t> </a:t>
            </a:r>
            <a:r>
              <a:rPr sz="2800" dirty="0">
                <a:latin typeface="Carlito"/>
                <a:cs typeface="Carlito"/>
              </a:rPr>
              <a:t>of</a:t>
            </a:r>
            <a:r>
              <a:rPr sz="2800" spc="-10" dirty="0">
                <a:latin typeface="Carlito"/>
                <a:cs typeface="Carlito"/>
              </a:rPr>
              <a:t> </a:t>
            </a:r>
            <a:r>
              <a:rPr sz="2800" dirty="0">
                <a:latin typeface="Carlito"/>
                <a:cs typeface="Carlito"/>
              </a:rPr>
              <a:t>T</a:t>
            </a:r>
            <a:r>
              <a:rPr sz="2800" spc="-5" dirty="0">
                <a:latin typeface="Carlito"/>
                <a:cs typeface="Carlito"/>
              </a:rPr>
              <a:t> </a:t>
            </a:r>
            <a:r>
              <a:rPr sz="2800" dirty="0">
                <a:latin typeface="Carlito"/>
                <a:cs typeface="Carlito"/>
              </a:rPr>
              <a:t>is</a:t>
            </a:r>
            <a:r>
              <a:rPr sz="2800" spc="-10" dirty="0">
                <a:latin typeface="Carlito"/>
                <a:cs typeface="Carlito"/>
              </a:rPr>
              <a:t> </a:t>
            </a:r>
            <a:r>
              <a:rPr sz="2800" dirty="0">
                <a:latin typeface="Carlito"/>
                <a:cs typeface="Carlito"/>
              </a:rPr>
              <a:t>" </a:t>
            </a:r>
            <a:r>
              <a:rPr sz="2800" spc="-50" dirty="0">
                <a:latin typeface="Carlito"/>
                <a:cs typeface="Carlito"/>
              </a:rPr>
              <a:t>+</a:t>
            </a:r>
            <a:endParaRPr sz="2800">
              <a:latin typeface="Carlito"/>
              <a:cs typeface="Carlito"/>
            </a:endParaRPr>
          </a:p>
          <a:p>
            <a:pPr marL="598170" marR="5080" indent="3072765">
              <a:lnSpc>
                <a:spcPts val="3020"/>
              </a:lnSpc>
              <a:spcBef>
                <a:spcPts val="215"/>
              </a:spcBef>
            </a:pPr>
            <a:r>
              <a:rPr sz="2800" spc="-10" dirty="0">
                <a:latin typeface="Carlito"/>
                <a:cs typeface="Carlito"/>
              </a:rPr>
              <a:t>ob1.getClass().getName()); </a:t>
            </a:r>
            <a:r>
              <a:rPr sz="2800" spc="-20" dirty="0">
                <a:latin typeface="Carlito"/>
                <a:cs typeface="Carlito"/>
              </a:rPr>
              <a:t>System.out.println("Type</a:t>
            </a:r>
            <a:r>
              <a:rPr sz="2800" spc="30" dirty="0">
                <a:latin typeface="Carlito"/>
                <a:cs typeface="Carlito"/>
              </a:rPr>
              <a:t> </a:t>
            </a:r>
            <a:r>
              <a:rPr sz="2800" dirty="0">
                <a:latin typeface="Carlito"/>
                <a:cs typeface="Carlito"/>
              </a:rPr>
              <a:t>of</a:t>
            </a:r>
            <a:r>
              <a:rPr sz="2800" spc="-25" dirty="0">
                <a:latin typeface="Carlito"/>
                <a:cs typeface="Carlito"/>
              </a:rPr>
              <a:t> </a:t>
            </a:r>
            <a:r>
              <a:rPr sz="2800" dirty="0">
                <a:latin typeface="Carlito"/>
                <a:cs typeface="Carlito"/>
              </a:rPr>
              <a:t>V</a:t>
            </a:r>
            <a:r>
              <a:rPr sz="2800" spc="-25" dirty="0">
                <a:latin typeface="Carlito"/>
                <a:cs typeface="Carlito"/>
              </a:rPr>
              <a:t> </a:t>
            </a:r>
            <a:r>
              <a:rPr sz="2800" dirty="0">
                <a:latin typeface="Carlito"/>
                <a:cs typeface="Carlito"/>
              </a:rPr>
              <a:t>is</a:t>
            </a:r>
            <a:r>
              <a:rPr sz="2800" spc="-25" dirty="0">
                <a:latin typeface="Carlito"/>
                <a:cs typeface="Carlito"/>
              </a:rPr>
              <a:t> </a:t>
            </a:r>
            <a:r>
              <a:rPr sz="2800" dirty="0">
                <a:latin typeface="Carlito"/>
                <a:cs typeface="Carlito"/>
              </a:rPr>
              <a:t>"</a:t>
            </a:r>
            <a:r>
              <a:rPr sz="2800" spc="-10" dirty="0">
                <a:latin typeface="Carlito"/>
                <a:cs typeface="Carlito"/>
              </a:rPr>
              <a:t> </a:t>
            </a:r>
            <a:r>
              <a:rPr sz="2800" spc="-50" dirty="0">
                <a:latin typeface="Carlito"/>
                <a:cs typeface="Carlito"/>
              </a:rPr>
              <a:t>+</a:t>
            </a:r>
            <a:endParaRPr sz="2800">
              <a:latin typeface="Carlito"/>
              <a:cs typeface="Carlito"/>
            </a:endParaRPr>
          </a:p>
          <a:p>
            <a:pPr marL="3670935">
              <a:lnSpc>
                <a:spcPts val="2815"/>
              </a:lnSpc>
            </a:pPr>
            <a:r>
              <a:rPr sz="2800" spc="-10" dirty="0">
                <a:latin typeface="Carlito"/>
                <a:cs typeface="Carlito"/>
              </a:rPr>
              <a:t>ob2.getClass().getName());</a:t>
            </a:r>
            <a:endParaRPr sz="2800">
              <a:latin typeface="Carlito"/>
              <a:cs typeface="Carlito"/>
            </a:endParaRPr>
          </a:p>
          <a:p>
            <a:pPr marL="355600">
              <a:lnSpc>
                <a:spcPts val="3025"/>
              </a:lnSpc>
            </a:pPr>
            <a:r>
              <a:rPr sz="2800" spc="-50" dirty="0">
                <a:latin typeface="Carlito"/>
                <a:cs typeface="Carlito"/>
              </a:rPr>
              <a:t>}</a:t>
            </a:r>
            <a:endParaRPr sz="2800">
              <a:latin typeface="Carlito"/>
              <a:cs typeface="Carlito"/>
            </a:endParaRPr>
          </a:p>
          <a:p>
            <a:pPr marL="355600">
              <a:lnSpc>
                <a:spcPts val="3025"/>
              </a:lnSpc>
            </a:pPr>
            <a:r>
              <a:rPr sz="2800" dirty="0">
                <a:latin typeface="Carlito"/>
                <a:cs typeface="Carlito"/>
              </a:rPr>
              <a:t>T</a:t>
            </a:r>
            <a:r>
              <a:rPr sz="2800" spc="-75" dirty="0">
                <a:latin typeface="Carlito"/>
                <a:cs typeface="Carlito"/>
              </a:rPr>
              <a:t> </a:t>
            </a:r>
            <a:r>
              <a:rPr sz="2800" dirty="0">
                <a:latin typeface="Carlito"/>
                <a:cs typeface="Carlito"/>
              </a:rPr>
              <a:t>getob1()</a:t>
            </a:r>
            <a:r>
              <a:rPr sz="2800" spc="-70" dirty="0">
                <a:latin typeface="Carlito"/>
                <a:cs typeface="Carlito"/>
              </a:rPr>
              <a:t> </a:t>
            </a:r>
            <a:r>
              <a:rPr sz="2800" spc="-60" dirty="0">
                <a:latin typeface="Carlito"/>
                <a:cs typeface="Carlito"/>
              </a:rPr>
              <a:t>{</a:t>
            </a:r>
            <a:endParaRPr sz="2800">
              <a:latin typeface="Carlito"/>
              <a:cs typeface="Carlito"/>
            </a:endParaRPr>
          </a:p>
          <a:p>
            <a:pPr marL="927100">
              <a:lnSpc>
                <a:spcPts val="3025"/>
              </a:lnSpc>
            </a:pPr>
            <a:r>
              <a:rPr sz="2800" dirty="0">
                <a:latin typeface="Carlito"/>
                <a:cs typeface="Carlito"/>
              </a:rPr>
              <a:t>return</a:t>
            </a:r>
            <a:r>
              <a:rPr sz="2800" spc="-114" dirty="0">
                <a:latin typeface="Carlito"/>
                <a:cs typeface="Carlito"/>
              </a:rPr>
              <a:t> </a:t>
            </a:r>
            <a:r>
              <a:rPr sz="2800" spc="-20" dirty="0">
                <a:latin typeface="Carlito"/>
                <a:cs typeface="Carlito"/>
              </a:rPr>
              <a:t>ob1;</a:t>
            </a:r>
            <a:endParaRPr sz="2800">
              <a:latin typeface="Carlito"/>
              <a:cs typeface="Carlito"/>
            </a:endParaRPr>
          </a:p>
          <a:p>
            <a:pPr marL="355600">
              <a:lnSpc>
                <a:spcPts val="3025"/>
              </a:lnSpc>
            </a:pPr>
            <a:r>
              <a:rPr sz="2800" spc="-50" dirty="0">
                <a:latin typeface="Carlito"/>
                <a:cs typeface="Carlito"/>
              </a:rPr>
              <a:t>}</a:t>
            </a:r>
            <a:endParaRPr sz="2800">
              <a:latin typeface="Carlito"/>
              <a:cs typeface="Carlito"/>
            </a:endParaRPr>
          </a:p>
          <a:p>
            <a:pPr marL="355600">
              <a:lnSpc>
                <a:spcPts val="3025"/>
              </a:lnSpc>
            </a:pPr>
            <a:r>
              <a:rPr sz="2800" dirty="0">
                <a:latin typeface="Carlito"/>
                <a:cs typeface="Carlito"/>
              </a:rPr>
              <a:t>V</a:t>
            </a:r>
            <a:r>
              <a:rPr sz="2800" spc="-90" dirty="0">
                <a:latin typeface="Carlito"/>
                <a:cs typeface="Carlito"/>
              </a:rPr>
              <a:t> </a:t>
            </a:r>
            <a:r>
              <a:rPr sz="2800" dirty="0">
                <a:latin typeface="Carlito"/>
                <a:cs typeface="Carlito"/>
              </a:rPr>
              <a:t>getob2()</a:t>
            </a:r>
            <a:r>
              <a:rPr sz="2800" spc="-80" dirty="0">
                <a:latin typeface="Carlito"/>
                <a:cs typeface="Carlito"/>
              </a:rPr>
              <a:t> </a:t>
            </a:r>
            <a:r>
              <a:rPr sz="2800" spc="-50" dirty="0">
                <a:latin typeface="Carlito"/>
                <a:cs typeface="Carlito"/>
              </a:rPr>
              <a:t>{</a:t>
            </a:r>
            <a:endParaRPr sz="2800">
              <a:latin typeface="Carlito"/>
              <a:cs typeface="Carlito"/>
            </a:endParaRPr>
          </a:p>
          <a:p>
            <a:pPr marL="927100">
              <a:lnSpc>
                <a:spcPts val="3025"/>
              </a:lnSpc>
            </a:pPr>
            <a:r>
              <a:rPr sz="2800" dirty="0">
                <a:latin typeface="Carlito"/>
                <a:cs typeface="Carlito"/>
              </a:rPr>
              <a:t>return</a:t>
            </a:r>
            <a:r>
              <a:rPr sz="2800" spc="-114" dirty="0">
                <a:latin typeface="Carlito"/>
                <a:cs typeface="Carlito"/>
              </a:rPr>
              <a:t> </a:t>
            </a:r>
            <a:r>
              <a:rPr sz="2800" spc="-20" dirty="0">
                <a:latin typeface="Carlito"/>
                <a:cs typeface="Carlito"/>
              </a:rPr>
              <a:t>ob2;</a:t>
            </a:r>
            <a:endParaRPr sz="2800">
              <a:latin typeface="Carlito"/>
              <a:cs typeface="Carlito"/>
            </a:endParaRPr>
          </a:p>
          <a:p>
            <a:pPr marL="355600">
              <a:lnSpc>
                <a:spcPts val="3025"/>
              </a:lnSpc>
            </a:pPr>
            <a:r>
              <a:rPr sz="2800" spc="-50" dirty="0">
                <a:latin typeface="Carlito"/>
                <a:cs typeface="Carlito"/>
              </a:rPr>
              <a:t>}</a:t>
            </a:r>
            <a:endParaRPr sz="2800">
              <a:latin typeface="Carlito"/>
              <a:cs typeface="Carlito"/>
            </a:endParaRPr>
          </a:p>
          <a:p>
            <a:pPr marL="12700">
              <a:lnSpc>
                <a:spcPts val="3195"/>
              </a:lnSpc>
            </a:pPr>
            <a:r>
              <a:rPr sz="2800" spc="-50" dirty="0">
                <a:latin typeface="Carlito"/>
                <a:cs typeface="Carlito"/>
              </a:rPr>
              <a:t>}</a:t>
            </a:r>
            <a:endParaRPr sz="28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152271"/>
            <a:ext cx="7239000" cy="6599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3623945">
              <a:lnSpc>
                <a:spcPct val="110100"/>
              </a:lnSpc>
              <a:spcBef>
                <a:spcPts val="100"/>
              </a:spcBef>
            </a:pPr>
            <a:r>
              <a:rPr sz="2800" dirty="0">
                <a:latin typeface="Carlito"/>
                <a:cs typeface="Carlito"/>
              </a:rPr>
              <a:t>//</a:t>
            </a:r>
            <a:r>
              <a:rPr sz="2800" spc="-45" dirty="0">
                <a:latin typeface="Carlito"/>
                <a:cs typeface="Carlito"/>
              </a:rPr>
              <a:t> </a:t>
            </a:r>
            <a:r>
              <a:rPr sz="2800" spc="-20" dirty="0">
                <a:latin typeface="Carlito"/>
                <a:cs typeface="Carlito"/>
              </a:rPr>
              <a:t>Demonstrate</a:t>
            </a:r>
            <a:r>
              <a:rPr sz="2800" spc="-35" dirty="0">
                <a:latin typeface="Carlito"/>
                <a:cs typeface="Carlito"/>
              </a:rPr>
              <a:t> </a:t>
            </a:r>
            <a:r>
              <a:rPr sz="2800" spc="-10" dirty="0">
                <a:latin typeface="Carlito"/>
                <a:cs typeface="Carlito"/>
              </a:rPr>
              <a:t>TwoGen. </a:t>
            </a:r>
            <a:r>
              <a:rPr sz="2800" dirty="0">
                <a:latin typeface="Carlito"/>
                <a:cs typeface="Carlito"/>
              </a:rPr>
              <a:t>class</a:t>
            </a:r>
            <a:r>
              <a:rPr sz="2800" spc="-100" dirty="0">
                <a:latin typeface="Carlito"/>
                <a:cs typeface="Carlito"/>
              </a:rPr>
              <a:t> </a:t>
            </a:r>
            <a:r>
              <a:rPr sz="2800" dirty="0">
                <a:latin typeface="Carlito"/>
                <a:cs typeface="Carlito"/>
              </a:rPr>
              <a:t>SimpGen</a:t>
            </a:r>
            <a:r>
              <a:rPr sz="2800" spc="-95" dirty="0">
                <a:latin typeface="Carlito"/>
                <a:cs typeface="Carlito"/>
              </a:rPr>
              <a:t> </a:t>
            </a:r>
            <a:r>
              <a:rPr sz="2800" spc="-50" dirty="0">
                <a:latin typeface="Carlito"/>
                <a:cs typeface="Carlito"/>
              </a:rPr>
              <a:t>{</a:t>
            </a:r>
            <a:endParaRPr sz="2800">
              <a:latin typeface="Carlito"/>
              <a:cs typeface="Carlito"/>
            </a:endParaRPr>
          </a:p>
          <a:p>
            <a:pPr marL="927100" marR="1510030" indent="-571500">
              <a:lnSpc>
                <a:spcPts val="3700"/>
              </a:lnSpc>
              <a:spcBef>
                <a:spcPts val="175"/>
              </a:spcBef>
            </a:pPr>
            <a:r>
              <a:rPr sz="2800" dirty="0">
                <a:latin typeface="Carlito"/>
                <a:cs typeface="Carlito"/>
              </a:rPr>
              <a:t>public</a:t>
            </a:r>
            <a:r>
              <a:rPr sz="2800" spc="-80" dirty="0">
                <a:latin typeface="Carlito"/>
                <a:cs typeface="Carlito"/>
              </a:rPr>
              <a:t> </a:t>
            </a:r>
            <a:r>
              <a:rPr sz="2800" dirty="0">
                <a:latin typeface="Carlito"/>
                <a:cs typeface="Carlito"/>
              </a:rPr>
              <a:t>static</a:t>
            </a:r>
            <a:r>
              <a:rPr sz="2800" spc="-105" dirty="0">
                <a:latin typeface="Carlito"/>
                <a:cs typeface="Carlito"/>
              </a:rPr>
              <a:t> </a:t>
            </a:r>
            <a:r>
              <a:rPr sz="2800" dirty="0">
                <a:latin typeface="Carlito"/>
                <a:cs typeface="Carlito"/>
              </a:rPr>
              <a:t>void</a:t>
            </a:r>
            <a:r>
              <a:rPr sz="2800" spc="-110" dirty="0">
                <a:latin typeface="Carlito"/>
                <a:cs typeface="Carlito"/>
              </a:rPr>
              <a:t> </a:t>
            </a:r>
            <a:r>
              <a:rPr sz="2800" dirty="0">
                <a:latin typeface="Carlito"/>
                <a:cs typeface="Carlito"/>
              </a:rPr>
              <a:t>main(String</a:t>
            </a:r>
            <a:r>
              <a:rPr sz="2800" spc="-95" dirty="0">
                <a:latin typeface="Carlito"/>
                <a:cs typeface="Carlito"/>
              </a:rPr>
              <a:t> </a:t>
            </a:r>
            <a:r>
              <a:rPr sz="2800" dirty="0">
                <a:latin typeface="Carlito"/>
                <a:cs typeface="Carlito"/>
              </a:rPr>
              <a:t>args[])</a:t>
            </a:r>
            <a:r>
              <a:rPr sz="2800" spc="-100" dirty="0">
                <a:latin typeface="Carlito"/>
                <a:cs typeface="Carlito"/>
              </a:rPr>
              <a:t> </a:t>
            </a:r>
            <a:r>
              <a:rPr sz="2800" spc="-50" dirty="0">
                <a:latin typeface="Carlito"/>
                <a:cs typeface="Carlito"/>
              </a:rPr>
              <a:t>{ </a:t>
            </a:r>
            <a:r>
              <a:rPr sz="2800" spc="-40" dirty="0">
                <a:latin typeface="Carlito"/>
                <a:cs typeface="Carlito"/>
              </a:rPr>
              <a:t>TwoGen&lt;Integer,</a:t>
            </a:r>
            <a:r>
              <a:rPr sz="2800" spc="-80" dirty="0">
                <a:latin typeface="Carlito"/>
                <a:cs typeface="Carlito"/>
              </a:rPr>
              <a:t> </a:t>
            </a:r>
            <a:r>
              <a:rPr sz="2800" dirty="0">
                <a:latin typeface="Carlito"/>
                <a:cs typeface="Carlito"/>
              </a:rPr>
              <a:t>String&gt;</a:t>
            </a:r>
            <a:r>
              <a:rPr sz="2800" spc="-40" dirty="0">
                <a:latin typeface="Carlito"/>
                <a:cs typeface="Carlito"/>
              </a:rPr>
              <a:t> </a:t>
            </a:r>
            <a:r>
              <a:rPr sz="2800" dirty="0">
                <a:latin typeface="Carlito"/>
                <a:cs typeface="Carlito"/>
              </a:rPr>
              <a:t>tgObj</a:t>
            </a:r>
            <a:r>
              <a:rPr sz="2800" spc="-55" dirty="0">
                <a:latin typeface="Carlito"/>
                <a:cs typeface="Carlito"/>
              </a:rPr>
              <a:t> </a:t>
            </a:r>
            <a:r>
              <a:rPr sz="2800" spc="-50" dirty="0">
                <a:latin typeface="Carlito"/>
                <a:cs typeface="Carlito"/>
              </a:rPr>
              <a:t>=</a:t>
            </a:r>
            <a:endParaRPr sz="2800">
              <a:latin typeface="Carlito"/>
              <a:cs typeface="Carlito"/>
            </a:endParaRPr>
          </a:p>
          <a:p>
            <a:pPr marL="598170">
              <a:lnSpc>
                <a:spcPct val="100000"/>
              </a:lnSpc>
              <a:spcBef>
                <a:spcPts val="155"/>
              </a:spcBef>
            </a:pPr>
            <a:r>
              <a:rPr sz="2800" dirty="0">
                <a:latin typeface="Carlito"/>
                <a:cs typeface="Carlito"/>
              </a:rPr>
              <a:t>new</a:t>
            </a:r>
            <a:r>
              <a:rPr sz="2800" spc="-55" dirty="0">
                <a:latin typeface="Carlito"/>
                <a:cs typeface="Carlito"/>
              </a:rPr>
              <a:t> </a:t>
            </a:r>
            <a:r>
              <a:rPr sz="2800" spc="-40" dirty="0">
                <a:latin typeface="Carlito"/>
                <a:cs typeface="Carlito"/>
              </a:rPr>
              <a:t>TwoGen&lt;Integer,</a:t>
            </a:r>
            <a:r>
              <a:rPr sz="2800" spc="-85" dirty="0">
                <a:latin typeface="Carlito"/>
                <a:cs typeface="Carlito"/>
              </a:rPr>
              <a:t> </a:t>
            </a:r>
            <a:r>
              <a:rPr sz="2800" dirty="0">
                <a:latin typeface="Carlito"/>
                <a:cs typeface="Carlito"/>
              </a:rPr>
              <a:t>String&gt;(88,</a:t>
            </a:r>
            <a:r>
              <a:rPr sz="2800" spc="-40" dirty="0">
                <a:latin typeface="Carlito"/>
                <a:cs typeface="Carlito"/>
              </a:rPr>
              <a:t> </a:t>
            </a:r>
            <a:r>
              <a:rPr sz="2800" spc="-10" dirty="0">
                <a:latin typeface="Carlito"/>
                <a:cs typeface="Carlito"/>
              </a:rPr>
              <a:t>"Generics");</a:t>
            </a:r>
            <a:endParaRPr sz="2800">
              <a:latin typeface="Carlito"/>
              <a:cs typeface="Carlito"/>
            </a:endParaRPr>
          </a:p>
          <a:p>
            <a:pPr marL="927100" marR="3527425">
              <a:lnSpc>
                <a:spcPts val="3700"/>
              </a:lnSpc>
              <a:spcBef>
                <a:spcPts val="175"/>
              </a:spcBef>
            </a:pPr>
            <a:r>
              <a:rPr sz="2800" dirty="0">
                <a:latin typeface="Carlito"/>
                <a:cs typeface="Carlito"/>
              </a:rPr>
              <a:t>//</a:t>
            </a:r>
            <a:r>
              <a:rPr sz="2800" spc="-25" dirty="0">
                <a:latin typeface="Carlito"/>
                <a:cs typeface="Carlito"/>
              </a:rPr>
              <a:t> </a:t>
            </a:r>
            <a:r>
              <a:rPr sz="2800" dirty="0">
                <a:latin typeface="Carlito"/>
                <a:cs typeface="Carlito"/>
              </a:rPr>
              <a:t>Show</a:t>
            </a:r>
            <a:r>
              <a:rPr sz="2800" spc="-20" dirty="0">
                <a:latin typeface="Carlito"/>
                <a:cs typeface="Carlito"/>
              </a:rPr>
              <a:t> </a:t>
            </a:r>
            <a:r>
              <a:rPr sz="2800" dirty="0">
                <a:latin typeface="Carlito"/>
                <a:cs typeface="Carlito"/>
              </a:rPr>
              <a:t>the</a:t>
            </a:r>
            <a:r>
              <a:rPr sz="2800" spc="-30" dirty="0">
                <a:latin typeface="Carlito"/>
                <a:cs typeface="Carlito"/>
              </a:rPr>
              <a:t> </a:t>
            </a:r>
            <a:r>
              <a:rPr sz="2800" spc="-10" dirty="0">
                <a:latin typeface="Carlito"/>
                <a:cs typeface="Carlito"/>
              </a:rPr>
              <a:t>types. </a:t>
            </a:r>
            <a:r>
              <a:rPr sz="2800" spc="-20" dirty="0">
                <a:latin typeface="Carlito"/>
                <a:cs typeface="Carlito"/>
              </a:rPr>
              <a:t>tgObj.showTypes();</a:t>
            </a:r>
            <a:endParaRPr sz="2800">
              <a:latin typeface="Carlito"/>
              <a:cs typeface="Carlito"/>
            </a:endParaRPr>
          </a:p>
          <a:p>
            <a:pPr marL="927100">
              <a:lnSpc>
                <a:spcPct val="100000"/>
              </a:lnSpc>
              <a:spcBef>
                <a:spcPts val="155"/>
              </a:spcBef>
            </a:pPr>
            <a:r>
              <a:rPr sz="2800" dirty="0">
                <a:latin typeface="Carlito"/>
                <a:cs typeface="Carlito"/>
              </a:rPr>
              <a:t>//</a:t>
            </a:r>
            <a:r>
              <a:rPr sz="2800" spc="-70" dirty="0">
                <a:latin typeface="Carlito"/>
                <a:cs typeface="Carlito"/>
              </a:rPr>
              <a:t> </a:t>
            </a:r>
            <a:r>
              <a:rPr sz="2800" dirty="0">
                <a:latin typeface="Carlito"/>
                <a:cs typeface="Carlito"/>
              </a:rPr>
              <a:t>Obtain</a:t>
            </a:r>
            <a:r>
              <a:rPr sz="2800" spc="-75" dirty="0">
                <a:latin typeface="Carlito"/>
                <a:cs typeface="Carlito"/>
              </a:rPr>
              <a:t> </a:t>
            </a:r>
            <a:r>
              <a:rPr sz="2800" dirty="0">
                <a:latin typeface="Carlito"/>
                <a:cs typeface="Carlito"/>
              </a:rPr>
              <a:t>and</a:t>
            </a:r>
            <a:r>
              <a:rPr sz="2800" spc="-60" dirty="0">
                <a:latin typeface="Carlito"/>
                <a:cs typeface="Carlito"/>
              </a:rPr>
              <a:t> </a:t>
            </a:r>
            <a:r>
              <a:rPr sz="2800" dirty="0">
                <a:latin typeface="Carlito"/>
                <a:cs typeface="Carlito"/>
              </a:rPr>
              <a:t>show</a:t>
            </a:r>
            <a:r>
              <a:rPr sz="2800" spc="-65" dirty="0">
                <a:latin typeface="Carlito"/>
                <a:cs typeface="Carlito"/>
              </a:rPr>
              <a:t> </a:t>
            </a:r>
            <a:r>
              <a:rPr sz="2800" spc="-10" dirty="0">
                <a:latin typeface="Carlito"/>
                <a:cs typeface="Carlito"/>
              </a:rPr>
              <a:t>values.</a:t>
            </a:r>
            <a:endParaRPr sz="2800">
              <a:latin typeface="Carlito"/>
              <a:cs typeface="Carlito"/>
            </a:endParaRPr>
          </a:p>
          <a:p>
            <a:pPr marL="927100" marR="1377315">
              <a:lnSpc>
                <a:spcPct val="110000"/>
              </a:lnSpc>
            </a:pPr>
            <a:r>
              <a:rPr sz="2800" dirty="0">
                <a:latin typeface="Carlito"/>
                <a:cs typeface="Carlito"/>
              </a:rPr>
              <a:t>int</a:t>
            </a:r>
            <a:r>
              <a:rPr sz="2800" spc="-20" dirty="0">
                <a:latin typeface="Carlito"/>
                <a:cs typeface="Carlito"/>
              </a:rPr>
              <a:t> </a:t>
            </a:r>
            <a:r>
              <a:rPr sz="2800" dirty="0">
                <a:latin typeface="Carlito"/>
                <a:cs typeface="Carlito"/>
              </a:rPr>
              <a:t>v</a:t>
            </a:r>
            <a:r>
              <a:rPr sz="2800" spc="-30" dirty="0">
                <a:latin typeface="Carlito"/>
                <a:cs typeface="Carlito"/>
              </a:rPr>
              <a:t> </a:t>
            </a:r>
            <a:r>
              <a:rPr sz="2800" dirty="0">
                <a:latin typeface="Carlito"/>
                <a:cs typeface="Carlito"/>
              </a:rPr>
              <a:t>=</a:t>
            </a:r>
            <a:r>
              <a:rPr sz="2800" spc="-20" dirty="0">
                <a:latin typeface="Carlito"/>
                <a:cs typeface="Carlito"/>
              </a:rPr>
              <a:t> </a:t>
            </a:r>
            <a:r>
              <a:rPr sz="2800" spc="-10" dirty="0">
                <a:latin typeface="Carlito"/>
                <a:cs typeface="Carlito"/>
              </a:rPr>
              <a:t>tgObj.getob1(); </a:t>
            </a:r>
            <a:r>
              <a:rPr sz="2800" spc="-20" dirty="0">
                <a:latin typeface="Carlito"/>
                <a:cs typeface="Carlito"/>
              </a:rPr>
              <a:t>System.out.println("value:</a:t>
            </a:r>
            <a:r>
              <a:rPr sz="2800" spc="60" dirty="0">
                <a:latin typeface="Carlito"/>
                <a:cs typeface="Carlito"/>
              </a:rPr>
              <a:t> </a:t>
            </a:r>
            <a:r>
              <a:rPr sz="2800" dirty="0">
                <a:latin typeface="Carlito"/>
                <a:cs typeface="Carlito"/>
              </a:rPr>
              <a:t>"</a:t>
            </a:r>
            <a:r>
              <a:rPr sz="2800" spc="15" dirty="0">
                <a:latin typeface="Carlito"/>
                <a:cs typeface="Carlito"/>
              </a:rPr>
              <a:t> </a:t>
            </a:r>
            <a:r>
              <a:rPr sz="2800" dirty="0">
                <a:latin typeface="Carlito"/>
                <a:cs typeface="Carlito"/>
              </a:rPr>
              <a:t>+</a:t>
            </a:r>
            <a:r>
              <a:rPr sz="2800" spc="20" dirty="0">
                <a:latin typeface="Carlito"/>
                <a:cs typeface="Carlito"/>
              </a:rPr>
              <a:t> </a:t>
            </a:r>
            <a:r>
              <a:rPr sz="2800" spc="-25" dirty="0">
                <a:latin typeface="Carlito"/>
                <a:cs typeface="Carlito"/>
              </a:rPr>
              <a:t>v); </a:t>
            </a:r>
            <a:r>
              <a:rPr sz="2800" dirty="0">
                <a:latin typeface="Carlito"/>
                <a:cs typeface="Carlito"/>
              </a:rPr>
              <a:t>String</a:t>
            </a:r>
            <a:r>
              <a:rPr sz="2800" spc="-35" dirty="0">
                <a:latin typeface="Carlito"/>
                <a:cs typeface="Carlito"/>
              </a:rPr>
              <a:t> </a:t>
            </a:r>
            <a:r>
              <a:rPr sz="2800" dirty="0">
                <a:latin typeface="Carlito"/>
                <a:cs typeface="Carlito"/>
              </a:rPr>
              <a:t>str</a:t>
            </a:r>
            <a:r>
              <a:rPr sz="2800" spc="-25" dirty="0">
                <a:latin typeface="Carlito"/>
                <a:cs typeface="Carlito"/>
              </a:rPr>
              <a:t> </a:t>
            </a:r>
            <a:r>
              <a:rPr sz="2800" dirty="0">
                <a:latin typeface="Carlito"/>
                <a:cs typeface="Carlito"/>
              </a:rPr>
              <a:t>=</a:t>
            </a:r>
            <a:r>
              <a:rPr sz="2800" spc="-30" dirty="0">
                <a:latin typeface="Carlito"/>
                <a:cs typeface="Carlito"/>
              </a:rPr>
              <a:t> </a:t>
            </a:r>
            <a:r>
              <a:rPr sz="2800" spc="-10" dirty="0">
                <a:latin typeface="Carlito"/>
                <a:cs typeface="Carlito"/>
              </a:rPr>
              <a:t>tgObj.getob2(); </a:t>
            </a:r>
            <a:r>
              <a:rPr sz="2800" spc="-20" dirty="0">
                <a:latin typeface="Carlito"/>
                <a:cs typeface="Carlito"/>
              </a:rPr>
              <a:t>System.out.println("value:</a:t>
            </a:r>
            <a:r>
              <a:rPr sz="2800" spc="60" dirty="0">
                <a:latin typeface="Carlito"/>
                <a:cs typeface="Carlito"/>
              </a:rPr>
              <a:t> </a:t>
            </a:r>
            <a:r>
              <a:rPr sz="2800" dirty="0">
                <a:latin typeface="Carlito"/>
                <a:cs typeface="Carlito"/>
              </a:rPr>
              <a:t>"</a:t>
            </a:r>
            <a:r>
              <a:rPr sz="2800" spc="15" dirty="0">
                <a:latin typeface="Carlito"/>
                <a:cs typeface="Carlito"/>
              </a:rPr>
              <a:t> </a:t>
            </a:r>
            <a:r>
              <a:rPr sz="2800" dirty="0">
                <a:latin typeface="Carlito"/>
                <a:cs typeface="Carlito"/>
              </a:rPr>
              <a:t>+</a:t>
            </a:r>
            <a:r>
              <a:rPr sz="2800" spc="20" dirty="0">
                <a:latin typeface="Carlito"/>
                <a:cs typeface="Carlito"/>
              </a:rPr>
              <a:t> </a:t>
            </a:r>
            <a:r>
              <a:rPr sz="2800" spc="-10" dirty="0">
                <a:latin typeface="Carlito"/>
                <a:cs typeface="Carlito"/>
              </a:rPr>
              <a:t>str);</a:t>
            </a:r>
            <a:endParaRPr sz="2800">
              <a:latin typeface="Carlito"/>
              <a:cs typeface="Carlito"/>
            </a:endParaRPr>
          </a:p>
          <a:p>
            <a:pPr marL="355600">
              <a:lnSpc>
                <a:spcPct val="100000"/>
              </a:lnSpc>
              <a:spcBef>
                <a:spcPts val="335"/>
              </a:spcBef>
            </a:pPr>
            <a:r>
              <a:rPr sz="2800" spc="-50" dirty="0">
                <a:latin typeface="Carlito"/>
                <a:cs typeface="Carlito"/>
              </a:rPr>
              <a:t>}</a:t>
            </a:r>
            <a:endParaRPr sz="280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  <a:spcBef>
                <a:spcPts val="340"/>
              </a:spcBef>
            </a:pPr>
            <a:r>
              <a:rPr sz="2800" spc="-50" dirty="0">
                <a:latin typeface="Carlito"/>
                <a:cs typeface="Carlito"/>
              </a:rPr>
              <a:t>}</a:t>
            </a:r>
            <a:endParaRPr sz="28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92987" rIns="0" bIns="0" rtlCol="0">
            <a:spAutoFit/>
          </a:bodyPr>
          <a:lstStyle/>
          <a:p>
            <a:pPr marL="2413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Output: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450594" y="2029558"/>
            <a:ext cx="4699635" cy="2366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20000"/>
              </a:lnSpc>
              <a:spcBef>
                <a:spcPts val="95"/>
              </a:spcBef>
            </a:pPr>
            <a:r>
              <a:rPr sz="3200" dirty="0">
                <a:latin typeface="Carlito"/>
                <a:cs typeface="Carlito"/>
              </a:rPr>
              <a:t>Type</a:t>
            </a:r>
            <a:r>
              <a:rPr sz="3200" spc="-50" dirty="0">
                <a:latin typeface="Carlito"/>
                <a:cs typeface="Carlito"/>
              </a:rPr>
              <a:t> </a:t>
            </a:r>
            <a:r>
              <a:rPr sz="3200" dirty="0">
                <a:latin typeface="Carlito"/>
                <a:cs typeface="Carlito"/>
              </a:rPr>
              <a:t>of</a:t>
            </a:r>
            <a:r>
              <a:rPr sz="3200" spc="-50" dirty="0">
                <a:latin typeface="Carlito"/>
                <a:cs typeface="Carlito"/>
              </a:rPr>
              <a:t> </a:t>
            </a:r>
            <a:r>
              <a:rPr sz="3200" dirty="0">
                <a:latin typeface="Carlito"/>
                <a:cs typeface="Carlito"/>
              </a:rPr>
              <a:t>T</a:t>
            </a:r>
            <a:r>
              <a:rPr sz="3200" spc="-50" dirty="0">
                <a:latin typeface="Carlito"/>
                <a:cs typeface="Carlito"/>
              </a:rPr>
              <a:t> </a:t>
            </a:r>
            <a:r>
              <a:rPr sz="3200" dirty="0">
                <a:latin typeface="Carlito"/>
                <a:cs typeface="Carlito"/>
              </a:rPr>
              <a:t>is</a:t>
            </a:r>
            <a:r>
              <a:rPr sz="3200" spc="-65" dirty="0">
                <a:latin typeface="Carlito"/>
                <a:cs typeface="Carlito"/>
              </a:rPr>
              <a:t> </a:t>
            </a:r>
            <a:r>
              <a:rPr sz="3200" spc="-20" dirty="0">
                <a:latin typeface="Carlito"/>
                <a:cs typeface="Carlito"/>
              </a:rPr>
              <a:t>java.lang.Integer </a:t>
            </a:r>
            <a:r>
              <a:rPr sz="3200" dirty="0">
                <a:latin typeface="Carlito"/>
                <a:cs typeface="Carlito"/>
              </a:rPr>
              <a:t>Type</a:t>
            </a:r>
            <a:r>
              <a:rPr sz="3200" spc="-55" dirty="0">
                <a:latin typeface="Carlito"/>
                <a:cs typeface="Carlito"/>
              </a:rPr>
              <a:t> </a:t>
            </a:r>
            <a:r>
              <a:rPr sz="3200" dirty="0">
                <a:latin typeface="Carlito"/>
                <a:cs typeface="Carlito"/>
              </a:rPr>
              <a:t>of</a:t>
            </a:r>
            <a:r>
              <a:rPr sz="3200" spc="-55" dirty="0">
                <a:latin typeface="Carlito"/>
                <a:cs typeface="Carlito"/>
              </a:rPr>
              <a:t> </a:t>
            </a:r>
            <a:r>
              <a:rPr sz="3200" dirty="0">
                <a:latin typeface="Carlito"/>
                <a:cs typeface="Carlito"/>
              </a:rPr>
              <a:t>V</a:t>
            </a:r>
            <a:r>
              <a:rPr sz="3200" spc="-40" dirty="0">
                <a:latin typeface="Carlito"/>
                <a:cs typeface="Carlito"/>
              </a:rPr>
              <a:t> </a:t>
            </a:r>
            <a:r>
              <a:rPr sz="3200" dirty="0">
                <a:latin typeface="Carlito"/>
                <a:cs typeface="Carlito"/>
              </a:rPr>
              <a:t>is</a:t>
            </a:r>
            <a:r>
              <a:rPr sz="3200" spc="-55" dirty="0">
                <a:latin typeface="Carlito"/>
                <a:cs typeface="Carlito"/>
              </a:rPr>
              <a:t> </a:t>
            </a:r>
            <a:r>
              <a:rPr sz="3200" spc="-10" dirty="0">
                <a:latin typeface="Carlito"/>
                <a:cs typeface="Carlito"/>
              </a:rPr>
              <a:t>java.lang.String </a:t>
            </a:r>
            <a:r>
              <a:rPr sz="3200" dirty="0">
                <a:latin typeface="Carlito"/>
                <a:cs typeface="Carlito"/>
              </a:rPr>
              <a:t>value:</a:t>
            </a:r>
            <a:r>
              <a:rPr sz="3200" spc="-120" dirty="0">
                <a:latin typeface="Carlito"/>
                <a:cs typeface="Carlito"/>
              </a:rPr>
              <a:t> </a:t>
            </a:r>
            <a:r>
              <a:rPr sz="3200" spc="-25" dirty="0">
                <a:latin typeface="Carlito"/>
                <a:cs typeface="Carlito"/>
              </a:rPr>
              <a:t>88</a:t>
            </a:r>
            <a:endParaRPr sz="320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  <a:spcBef>
                <a:spcPts val="770"/>
              </a:spcBef>
            </a:pPr>
            <a:r>
              <a:rPr sz="3200" dirty="0">
                <a:latin typeface="Carlito"/>
                <a:cs typeface="Carlito"/>
              </a:rPr>
              <a:t>value:</a:t>
            </a:r>
            <a:r>
              <a:rPr sz="3200" spc="-125" dirty="0">
                <a:latin typeface="Carlito"/>
                <a:cs typeface="Carlito"/>
              </a:rPr>
              <a:t> </a:t>
            </a:r>
            <a:r>
              <a:rPr sz="3200" spc="-10" dirty="0">
                <a:latin typeface="Carlito"/>
                <a:cs typeface="Carlito"/>
              </a:rPr>
              <a:t>Generics</a:t>
            </a:r>
            <a:endParaRPr sz="32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6699" y="129539"/>
            <a:ext cx="7418832" cy="1008887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35940" y="232917"/>
            <a:ext cx="684212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1F487C"/>
                </a:solidFill>
              </a:rPr>
              <a:t>The</a:t>
            </a:r>
            <a:r>
              <a:rPr spc="-95" dirty="0">
                <a:solidFill>
                  <a:srgbClr val="1F487C"/>
                </a:solidFill>
              </a:rPr>
              <a:t> </a:t>
            </a:r>
            <a:r>
              <a:rPr dirty="0">
                <a:solidFill>
                  <a:srgbClr val="1F487C"/>
                </a:solidFill>
              </a:rPr>
              <a:t>General</a:t>
            </a:r>
            <a:r>
              <a:rPr spc="-75" dirty="0">
                <a:solidFill>
                  <a:srgbClr val="1F487C"/>
                </a:solidFill>
              </a:rPr>
              <a:t> </a:t>
            </a:r>
            <a:r>
              <a:rPr dirty="0">
                <a:solidFill>
                  <a:srgbClr val="1F487C"/>
                </a:solidFill>
              </a:rPr>
              <a:t>Form</a:t>
            </a:r>
            <a:r>
              <a:rPr spc="-90" dirty="0">
                <a:solidFill>
                  <a:srgbClr val="1F487C"/>
                </a:solidFill>
              </a:rPr>
              <a:t> </a:t>
            </a:r>
            <a:r>
              <a:rPr dirty="0">
                <a:solidFill>
                  <a:srgbClr val="1F487C"/>
                </a:solidFill>
              </a:rPr>
              <a:t>of</a:t>
            </a:r>
            <a:r>
              <a:rPr spc="-90" dirty="0">
                <a:solidFill>
                  <a:srgbClr val="1F487C"/>
                </a:solidFill>
              </a:rPr>
              <a:t> </a:t>
            </a:r>
            <a:r>
              <a:rPr dirty="0">
                <a:solidFill>
                  <a:srgbClr val="1F487C"/>
                </a:solidFill>
              </a:rPr>
              <a:t>a</a:t>
            </a:r>
            <a:r>
              <a:rPr spc="-105" dirty="0">
                <a:solidFill>
                  <a:srgbClr val="1F487C"/>
                </a:solidFill>
              </a:rPr>
              <a:t> </a:t>
            </a:r>
            <a:r>
              <a:rPr dirty="0">
                <a:solidFill>
                  <a:srgbClr val="1F487C"/>
                </a:solidFill>
              </a:rPr>
              <a:t>Generic</a:t>
            </a:r>
            <a:r>
              <a:rPr spc="-75" dirty="0">
                <a:solidFill>
                  <a:srgbClr val="1F487C"/>
                </a:solidFill>
              </a:rPr>
              <a:t> </a:t>
            </a:r>
            <a:r>
              <a:rPr spc="-10" dirty="0">
                <a:solidFill>
                  <a:srgbClr val="1F487C"/>
                </a:solidFill>
              </a:rPr>
              <a:t>Class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 vert="horz" wrap="square" lIns="0" tIns="89535" rIns="0" bIns="0" rtlCol="0">
            <a:spAutoFit/>
          </a:bodyPr>
          <a:lstStyle/>
          <a:p>
            <a:pPr marL="287020" indent="-284480">
              <a:lnSpc>
                <a:spcPct val="100000"/>
              </a:lnSpc>
              <a:spcBef>
                <a:spcPts val="705"/>
              </a:spcBef>
              <a:buSzPct val="79687"/>
              <a:buFont typeface="DejaVu Sans"/>
              <a:buChar char="⚫"/>
              <a:tabLst>
                <a:tab pos="287020" algn="l"/>
              </a:tabLst>
            </a:pPr>
            <a:r>
              <a:rPr dirty="0"/>
              <a:t>The</a:t>
            </a:r>
            <a:r>
              <a:rPr spc="-55" dirty="0"/>
              <a:t> </a:t>
            </a:r>
            <a:r>
              <a:rPr spc="-20" dirty="0"/>
              <a:t>syntax</a:t>
            </a:r>
            <a:r>
              <a:rPr spc="-55" dirty="0"/>
              <a:t> </a:t>
            </a:r>
            <a:r>
              <a:rPr dirty="0"/>
              <a:t>for</a:t>
            </a:r>
            <a:r>
              <a:rPr spc="-55" dirty="0"/>
              <a:t> </a:t>
            </a:r>
            <a:r>
              <a:rPr dirty="0"/>
              <a:t>declaring</a:t>
            </a:r>
            <a:r>
              <a:rPr spc="-40" dirty="0"/>
              <a:t> </a:t>
            </a:r>
            <a:r>
              <a:rPr dirty="0"/>
              <a:t>a</a:t>
            </a:r>
            <a:r>
              <a:rPr spc="-55" dirty="0"/>
              <a:t> </a:t>
            </a:r>
            <a:r>
              <a:rPr dirty="0"/>
              <a:t>generic</a:t>
            </a:r>
            <a:r>
              <a:rPr spc="-65" dirty="0"/>
              <a:t> </a:t>
            </a:r>
            <a:r>
              <a:rPr spc="-10" dirty="0"/>
              <a:t>class:</a:t>
            </a: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b="1" dirty="0">
                <a:latin typeface="Carlito"/>
                <a:cs typeface="Carlito"/>
              </a:rPr>
              <a:t>class</a:t>
            </a:r>
            <a:r>
              <a:rPr b="1" spc="-25" dirty="0">
                <a:latin typeface="Carlito"/>
                <a:cs typeface="Carlito"/>
              </a:rPr>
              <a:t> </a:t>
            </a:r>
            <a:r>
              <a:rPr b="1" dirty="0">
                <a:latin typeface="Carlito"/>
                <a:cs typeface="Carlito"/>
              </a:rPr>
              <a:t>class-</a:t>
            </a:r>
            <a:r>
              <a:rPr b="1" spc="-10" dirty="0">
                <a:latin typeface="Carlito"/>
                <a:cs typeface="Carlito"/>
              </a:rPr>
              <a:t>name&lt;type-</a:t>
            </a:r>
            <a:r>
              <a:rPr b="1" spc="-25" dirty="0">
                <a:latin typeface="Carlito"/>
                <a:cs typeface="Carlito"/>
              </a:rPr>
              <a:t>param-</a:t>
            </a:r>
            <a:r>
              <a:rPr b="1" dirty="0">
                <a:latin typeface="Carlito"/>
                <a:cs typeface="Carlito"/>
              </a:rPr>
              <a:t>list&gt;</a:t>
            </a:r>
            <a:r>
              <a:rPr b="1" spc="-10" dirty="0">
                <a:latin typeface="Carlito"/>
                <a:cs typeface="Carlito"/>
              </a:rPr>
              <a:t> </a:t>
            </a:r>
            <a:r>
              <a:rPr b="1" dirty="0">
                <a:latin typeface="Carlito"/>
                <a:cs typeface="Carlito"/>
              </a:rPr>
              <a:t>{</a:t>
            </a:r>
            <a:r>
              <a:rPr b="1" spc="10" dirty="0">
                <a:latin typeface="Carlito"/>
                <a:cs typeface="Carlito"/>
              </a:rPr>
              <a:t> </a:t>
            </a:r>
            <a:r>
              <a:rPr b="1" dirty="0">
                <a:latin typeface="Carlito"/>
                <a:cs typeface="Carlito"/>
              </a:rPr>
              <a:t>//</a:t>
            </a:r>
            <a:r>
              <a:rPr b="1" spc="5" dirty="0">
                <a:latin typeface="Carlito"/>
                <a:cs typeface="Carlito"/>
              </a:rPr>
              <a:t> </a:t>
            </a:r>
            <a:r>
              <a:rPr b="1" spc="-25" dirty="0">
                <a:latin typeface="Carlito"/>
                <a:cs typeface="Carlito"/>
              </a:rPr>
              <a:t>...</a:t>
            </a:r>
          </a:p>
          <a:p>
            <a:pPr>
              <a:lnSpc>
                <a:spcPct val="100000"/>
              </a:lnSpc>
              <a:spcBef>
                <a:spcPts val="1135"/>
              </a:spcBef>
            </a:pPr>
            <a:endParaRPr b="1" spc="-25" dirty="0">
              <a:latin typeface="Carlito"/>
              <a:cs typeface="Carlito"/>
            </a:endParaRPr>
          </a:p>
          <a:p>
            <a:pPr marL="287020" marR="939800" indent="-285115">
              <a:lnSpc>
                <a:spcPct val="100000"/>
              </a:lnSpc>
              <a:buSzPct val="79687"/>
              <a:buFont typeface="DejaVu Sans"/>
              <a:buChar char="⚫"/>
              <a:tabLst>
                <a:tab pos="287020" algn="l"/>
              </a:tabLst>
            </a:pPr>
            <a:r>
              <a:rPr dirty="0"/>
              <a:t>The</a:t>
            </a:r>
            <a:r>
              <a:rPr spc="-70" dirty="0"/>
              <a:t> </a:t>
            </a:r>
            <a:r>
              <a:rPr spc="-10" dirty="0"/>
              <a:t>syntax</a:t>
            </a:r>
            <a:r>
              <a:rPr spc="-70" dirty="0"/>
              <a:t> </a:t>
            </a:r>
            <a:r>
              <a:rPr dirty="0"/>
              <a:t>for</a:t>
            </a:r>
            <a:r>
              <a:rPr spc="-70" dirty="0"/>
              <a:t> </a:t>
            </a:r>
            <a:r>
              <a:rPr dirty="0"/>
              <a:t>declaring</a:t>
            </a:r>
            <a:r>
              <a:rPr spc="-60" dirty="0"/>
              <a:t> </a:t>
            </a:r>
            <a:r>
              <a:rPr dirty="0"/>
              <a:t>a</a:t>
            </a:r>
            <a:r>
              <a:rPr spc="-65" dirty="0"/>
              <a:t> </a:t>
            </a:r>
            <a:r>
              <a:rPr spc="-10" dirty="0"/>
              <a:t>reference</a:t>
            </a:r>
            <a:r>
              <a:rPr spc="-85" dirty="0"/>
              <a:t> </a:t>
            </a:r>
            <a:r>
              <a:rPr dirty="0"/>
              <a:t>to</a:t>
            </a:r>
            <a:r>
              <a:rPr spc="-80" dirty="0"/>
              <a:t> </a:t>
            </a:r>
            <a:r>
              <a:rPr spc="-60" dirty="0"/>
              <a:t>a </a:t>
            </a:r>
            <a:r>
              <a:rPr dirty="0"/>
              <a:t>generic</a:t>
            </a:r>
            <a:r>
              <a:rPr spc="-70" dirty="0"/>
              <a:t> </a:t>
            </a:r>
            <a:r>
              <a:rPr spc="-10" dirty="0"/>
              <a:t>class:</a:t>
            </a:r>
          </a:p>
          <a:p>
            <a:pPr>
              <a:lnSpc>
                <a:spcPct val="100000"/>
              </a:lnSpc>
              <a:spcBef>
                <a:spcPts val="1140"/>
              </a:spcBef>
            </a:pPr>
            <a:endParaRPr spc="-10" dirty="0"/>
          </a:p>
          <a:p>
            <a:pPr marL="12700">
              <a:lnSpc>
                <a:spcPct val="100000"/>
              </a:lnSpc>
            </a:pPr>
            <a:r>
              <a:rPr b="1" dirty="0">
                <a:latin typeface="Carlito"/>
                <a:cs typeface="Carlito"/>
              </a:rPr>
              <a:t>class-</a:t>
            </a:r>
            <a:r>
              <a:rPr b="1" spc="-10" dirty="0">
                <a:latin typeface="Carlito"/>
                <a:cs typeface="Carlito"/>
              </a:rPr>
              <a:t>name&lt;type-</a:t>
            </a:r>
            <a:r>
              <a:rPr b="1" spc="-25" dirty="0">
                <a:latin typeface="Carlito"/>
                <a:cs typeface="Carlito"/>
              </a:rPr>
              <a:t>arg-</a:t>
            </a:r>
            <a:r>
              <a:rPr b="1" dirty="0">
                <a:latin typeface="Carlito"/>
                <a:cs typeface="Carlito"/>
              </a:rPr>
              <a:t>list&gt;</a:t>
            </a:r>
            <a:r>
              <a:rPr b="1" spc="-20" dirty="0">
                <a:latin typeface="Carlito"/>
                <a:cs typeface="Carlito"/>
              </a:rPr>
              <a:t> </a:t>
            </a:r>
            <a:r>
              <a:rPr b="1" spc="-15" dirty="0">
                <a:latin typeface="Carlito"/>
                <a:cs typeface="Carlito"/>
              </a:rPr>
              <a:t>var-</a:t>
            </a:r>
            <a:r>
              <a:rPr b="1" dirty="0">
                <a:latin typeface="Carlito"/>
                <a:cs typeface="Carlito"/>
              </a:rPr>
              <a:t>name</a:t>
            </a:r>
            <a:r>
              <a:rPr b="1" spc="-20" dirty="0">
                <a:latin typeface="Carlito"/>
                <a:cs typeface="Carlito"/>
              </a:rPr>
              <a:t> </a:t>
            </a:r>
            <a:r>
              <a:rPr b="1" spc="-50" dirty="0">
                <a:latin typeface="Carlito"/>
                <a:cs typeface="Carlito"/>
              </a:rPr>
              <a:t>=</a:t>
            </a:r>
          </a:p>
          <a:p>
            <a:pPr marL="287020">
              <a:lnSpc>
                <a:spcPct val="100000"/>
              </a:lnSpc>
              <a:spcBef>
                <a:spcPts val="600"/>
              </a:spcBef>
            </a:pPr>
            <a:r>
              <a:rPr b="1" dirty="0">
                <a:latin typeface="Carlito"/>
                <a:cs typeface="Carlito"/>
              </a:rPr>
              <a:t>new</a:t>
            </a:r>
            <a:r>
              <a:rPr b="1" spc="130" dirty="0">
                <a:latin typeface="Carlito"/>
                <a:cs typeface="Carlito"/>
              </a:rPr>
              <a:t> </a:t>
            </a:r>
            <a:r>
              <a:rPr b="1" dirty="0">
                <a:latin typeface="Carlito"/>
                <a:cs typeface="Carlito"/>
              </a:rPr>
              <a:t>class-</a:t>
            </a:r>
            <a:r>
              <a:rPr b="1" spc="-10" dirty="0">
                <a:latin typeface="Carlito"/>
                <a:cs typeface="Carlito"/>
              </a:rPr>
              <a:t>name&lt;type-</a:t>
            </a:r>
            <a:r>
              <a:rPr b="1" spc="-25" dirty="0">
                <a:latin typeface="Carlito"/>
                <a:cs typeface="Carlito"/>
              </a:rPr>
              <a:t>arg-</a:t>
            </a:r>
            <a:r>
              <a:rPr b="1" spc="-20" dirty="0">
                <a:latin typeface="Carlito"/>
                <a:cs typeface="Carlito"/>
              </a:rPr>
              <a:t>list&gt;(cons-</a:t>
            </a:r>
            <a:r>
              <a:rPr b="1" spc="-25" dirty="0">
                <a:latin typeface="Carlito"/>
                <a:cs typeface="Carlito"/>
              </a:rPr>
              <a:t>arg-</a:t>
            </a:r>
            <a:r>
              <a:rPr b="1" spc="-10" dirty="0">
                <a:latin typeface="Carlito"/>
                <a:cs typeface="Carlito"/>
              </a:rPr>
              <a:t>list);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28194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651628" y="3711066"/>
            <a:ext cx="3338829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cap="small" dirty="0">
                <a:solidFill>
                  <a:srgbClr val="003300"/>
                </a:solidFill>
              </a:rPr>
              <a:t>String</a:t>
            </a:r>
            <a:r>
              <a:rPr sz="4000" cap="small" spc="105" dirty="0">
                <a:solidFill>
                  <a:srgbClr val="003300"/>
                </a:solidFill>
              </a:rPr>
              <a:t> </a:t>
            </a:r>
            <a:r>
              <a:rPr sz="4000" cap="small" spc="-60" dirty="0">
                <a:solidFill>
                  <a:srgbClr val="003300"/>
                </a:solidFill>
              </a:rPr>
              <a:t>Handling</a:t>
            </a:r>
            <a:endParaRPr sz="400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110997"/>
            <a:ext cx="260413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dirty="0"/>
              <a:t>String</a:t>
            </a:r>
            <a:r>
              <a:rPr sz="4400" spc="-25" dirty="0"/>
              <a:t> </a:t>
            </a:r>
            <a:r>
              <a:rPr sz="4400" spc="-10" dirty="0"/>
              <a:t>class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612140" y="801370"/>
            <a:ext cx="8150225" cy="4937125"/>
          </a:xfrm>
          <a:prstGeom prst="rect">
            <a:avLst/>
          </a:prstGeom>
        </p:spPr>
        <p:txBody>
          <a:bodyPr vert="horz" wrap="square" lIns="0" tIns="4000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315"/>
              </a:spcBef>
              <a:buFont typeface="Wingdings"/>
              <a:buChar char=""/>
              <a:tabLst>
                <a:tab pos="355600" algn="l"/>
              </a:tabLst>
            </a:pPr>
            <a:r>
              <a:rPr sz="1800" dirty="0">
                <a:latin typeface="Carlito"/>
                <a:cs typeface="Carlito"/>
              </a:rPr>
              <a:t>String</a:t>
            </a:r>
            <a:r>
              <a:rPr sz="1800" spc="-30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is</a:t>
            </a:r>
            <a:r>
              <a:rPr sz="1800" spc="-35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probably</a:t>
            </a:r>
            <a:r>
              <a:rPr sz="1800" spc="-35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the</a:t>
            </a:r>
            <a:r>
              <a:rPr sz="1800" spc="-25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most</a:t>
            </a:r>
            <a:r>
              <a:rPr sz="1800" spc="-45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commonly</a:t>
            </a:r>
            <a:r>
              <a:rPr sz="1800" spc="-30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used</a:t>
            </a:r>
            <a:r>
              <a:rPr sz="1800" spc="-35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class</a:t>
            </a:r>
            <a:r>
              <a:rPr sz="1800" spc="-35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in</a:t>
            </a:r>
            <a:r>
              <a:rPr sz="1800" spc="-25" dirty="0">
                <a:latin typeface="Carlito"/>
                <a:cs typeface="Carlito"/>
              </a:rPr>
              <a:t> Java’s</a:t>
            </a:r>
            <a:r>
              <a:rPr sz="1800" spc="-60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class</a:t>
            </a:r>
            <a:r>
              <a:rPr sz="1800" spc="-35" dirty="0">
                <a:latin typeface="Carlito"/>
                <a:cs typeface="Carlito"/>
              </a:rPr>
              <a:t> </a:t>
            </a:r>
            <a:r>
              <a:rPr sz="1800" spc="-10" dirty="0">
                <a:latin typeface="Carlito"/>
                <a:cs typeface="Carlito"/>
              </a:rPr>
              <a:t>library.</a:t>
            </a:r>
            <a:endParaRPr sz="1800">
              <a:latin typeface="Carlito"/>
              <a:cs typeface="Carlito"/>
            </a:endParaRPr>
          </a:p>
          <a:p>
            <a:pPr marL="355600" indent="-342900">
              <a:lnSpc>
                <a:spcPct val="100000"/>
              </a:lnSpc>
              <a:spcBef>
                <a:spcPts val="215"/>
              </a:spcBef>
              <a:buFont typeface="Wingdings"/>
              <a:buChar char=""/>
              <a:tabLst>
                <a:tab pos="355600" algn="l"/>
              </a:tabLst>
            </a:pPr>
            <a:r>
              <a:rPr sz="1800" dirty="0">
                <a:latin typeface="Carlito"/>
                <a:cs typeface="Carlito"/>
              </a:rPr>
              <a:t>The</a:t>
            </a:r>
            <a:r>
              <a:rPr sz="1800" spc="-35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reason</a:t>
            </a:r>
            <a:r>
              <a:rPr sz="1800" spc="-25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for</a:t>
            </a:r>
            <a:r>
              <a:rPr sz="1800" spc="-30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this</a:t>
            </a:r>
            <a:r>
              <a:rPr sz="1800" spc="-30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is</a:t>
            </a:r>
            <a:r>
              <a:rPr sz="1800" spc="-30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that</a:t>
            </a:r>
            <a:r>
              <a:rPr sz="1800" spc="-35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strings</a:t>
            </a:r>
            <a:r>
              <a:rPr sz="1800" spc="-30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are</a:t>
            </a:r>
            <a:r>
              <a:rPr sz="1800" spc="-25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a</a:t>
            </a:r>
            <a:r>
              <a:rPr sz="1800" spc="-25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very</a:t>
            </a:r>
            <a:r>
              <a:rPr sz="1800" spc="-40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important</a:t>
            </a:r>
            <a:r>
              <a:rPr sz="1800" spc="-25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part</a:t>
            </a:r>
            <a:r>
              <a:rPr sz="1800" spc="-35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of</a:t>
            </a:r>
            <a:r>
              <a:rPr sz="1800" spc="-30" dirty="0">
                <a:latin typeface="Carlito"/>
                <a:cs typeface="Carlito"/>
              </a:rPr>
              <a:t> </a:t>
            </a:r>
            <a:r>
              <a:rPr sz="1800" spc="-10" dirty="0">
                <a:latin typeface="Carlito"/>
                <a:cs typeface="Carlito"/>
              </a:rPr>
              <a:t>programming.</a:t>
            </a:r>
            <a:endParaRPr sz="1800">
              <a:latin typeface="Carlito"/>
              <a:cs typeface="Carlito"/>
            </a:endParaRPr>
          </a:p>
          <a:p>
            <a:pPr marL="355600" indent="-342900">
              <a:lnSpc>
                <a:spcPts val="2055"/>
              </a:lnSpc>
              <a:spcBef>
                <a:spcPts val="215"/>
              </a:spcBef>
              <a:buFont typeface="Wingdings"/>
              <a:buChar char=""/>
              <a:tabLst>
                <a:tab pos="355600" algn="l"/>
              </a:tabLst>
            </a:pPr>
            <a:r>
              <a:rPr sz="1800" dirty="0">
                <a:latin typeface="Carlito"/>
                <a:cs typeface="Carlito"/>
              </a:rPr>
              <a:t>The</a:t>
            </a:r>
            <a:r>
              <a:rPr sz="1800" spc="15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first</a:t>
            </a:r>
            <a:r>
              <a:rPr sz="1800" spc="15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thing</a:t>
            </a:r>
            <a:r>
              <a:rPr sz="1800" spc="20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to</a:t>
            </a:r>
            <a:r>
              <a:rPr sz="1800" spc="30" dirty="0">
                <a:latin typeface="Carlito"/>
                <a:cs typeface="Carlito"/>
              </a:rPr>
              <a:t> </a:t>
            </a:r>
            <a:r>
              <a:rPr sz="1800" spc="-10" dirty="0">
                <a:latin typeface="Carlito"/>
                <a:cs typeface="Carlito"/>
              </a:rPr>
              <a:t>understand</a:t>
            </a:r>
            <a:r>
              <a:rPr sz="1800" spc="20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about</a:t>
            </a:r>
            <a:r>
              <a:rPr sz="1800" spc="15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strings</a:t>
            </a:r>
            <a:r>
              <a:rPr sz="1800" spc="30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is</a:t>
            </a:r>
            <a:r>
              <a:rPr sz="1800" spc="25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that every</a:t>
            </a:r>
            <a:r>
              <a:rPr sz="1800" spc="15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string</a:t>
            </a:r>
            <a:r>
              <a:rPr sz="1800" spc="25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you</a:t>
            </a:r>
            <a:r>
              <a:rPr sz="1800" spc="15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create</a:t>
            </a:r>
            <a:r>
              <a:rPr sz="1800" spc="25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is</a:t>
            </a:r>
            <a:r>
              <a:rPr sz="1800" spc="25" dirty="0">
                <a:latin typeface="Carlito"/>
                <a:cs typeface="Carlito"/>
              </a:rPr>
              <a:t> </a:t>
            </a:r>
            <a:r>
              <a:rPr sz="1800" spc="-10" dirty="0">
                <a:latin typeface="Carlito"/>
                <a:cs typeface="Carlito"/>
              </a:rPr>
              <a:t>actually</a:t>
            </a:r>
            <a:endParaRPr sz="1800">
              <a:latin typeface="Carlito"/>
              <a:cs typeface="Carlito"/>
            </a:endParaRPr>
          </a:p>
          <a:p>
            <a:pPr marL="355600">
              <a:lnSpc>
                <a:spcPts val="2055"/>
              </a:lnSpc>
            </a:pPr>
            <a:r>
              <a:rPr sz="1800" dirty="0">
                <a:latin typeface="Carlito"/>
                <a:cs typeface="Carlito"/>
              </a:rPr>
              <a:t>an</a:t>
            </a:r>
            <a:r>
              <a:rPr sz="1800" spc="-30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object</a:t>
            </a:r>
            <a:r>
              <a:rPr sz="1800" spc="-25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of</a:t>
            </a:r>
            <a:r>
              <a:rPr sz="1800" spc="-30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type</a:t>
            </a:r>
            <a:r>
              <a:rPr sz="1800" spc="-15" dirty="0">
                <a:latin typeface="Carlito"/>
                <a:cs typeface="Carlito"/>
              </a:rPr>
              <a:t> </a:t>
            </a:r>
            <a:r>
              <a:rPr sz="1800" spc="-10" dirty="0">
                <a:latin typeface="Carlito"/>
                <a:cs typeface="Carlito"/>
              </a:rPr>
              <a:t>String.</a:t>
            </a:r>
            <a:endParaRPr sz="1800">
              <a:latin typeface="Carlito"/>
              <a:cs typeface="Carlito"/>
            </a:endParaRPr>
          </a:p>
          <a:p>
            <a:pPr marL="12700" marR="3324860" indent="342900">
              <a:lnSpc>
                <a:spcPct val="110000"/>
              </a:lnSpc>
              <a:buFont typeface="Wingdings"/>
              <a:buChar char=""/>
              <a:tabLst>
                <a:tab pos="355600" algn="l"/>
              </a:tabLst>
            </a:pPr>
            <a:r>
              <a:rPr sz="1800" dirty="0">
                <a:latin typeface="Carlito"/>
                <a:cs typeface="Carlito"/>
              </a:rPr>
              <a:t>Even</a:t>
            </a:r>
            <a:r>
              <a:rPr sz="1800" spc="-60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string</a:t>
            </a:r>
            <a:r>
              <a:rPr sz="1800" spc="-35" dirty="0">
                <a:latin typeface="Carlito"/>
                <a:cs typeface="Carlito"/>
              </a:rPr>
              <a:t> </a:t>
            </a:r>
            <a:r>
              <a:rPr sz="1800" spc="-10" dirty="0">
                <a:latin typeface="Carlito"/>
                <a:cs typeface="Carlito"/>
              </a:rPr>
              <a:t>constants</a:t>
            </a:r>
            <a:r>
              <a:rPr sz="1800" spc="-45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are</a:t>
            </a:r>
            <a:r>
              <a:rPr sz="1800" spc="-45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actually</a:t>
            </a:r>
            <a:r>
              <a:rPr sz="1800" spc="-45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String</a:t>
            </a:r>
            <a:r>
              <a:rPr sz="1800" spc="-35" dirty="0">
                <a:latin typeface="Carlito"/>
                <a:cs typeface="Carlito"/>
              </a:rPr>
              <a:t> </a:t>
            </a:r>
            <a:r>
              <a:rPr sz="1800" spc="-10" dirty="0">
                <a:latin typeface="Carlito"/>
                <a:cs typeface="Carlito"/>
              </a:rPr>
              <a:t>objects. </a:t>
            </a:r>
            <a:r>
              <a:rPr sz="1800" dirty="0">
                <a:latin typeface="Carlito"/>
                <a:cs typeface="Carlito"/>
              </a:rPr>
              <a:t>For</a:t>
            </a:r>
            <a:r>
              <a:rPr sz="1800" spc="-35" dirty="0">
                <a:latin typeface="Carlito"/>
                <a:cs typeface="Carlito"/>
              </a:rPr>
              <a:t> </a:t>
            </a:r>
            <a:r>
              <a:rPr sz="1800" spc="-10" dirty="0">
                <a:latin typeface="Carlito"/>
                <a:cs typeface="Carlito"/>
              </a:rPr>
              <a:t>example,</a:t>
            </a:r>
            <a:r>
              <a:rPr sz="1800" spc="-25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in</a:t>
            </a:r>
            <a:r>
              <a:rPr sz="1800" spc="-15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the</a:t>
            </a:r>
            <a:r>
              <a:rPr sz="1800" spc="-15" dirty="0">
                <a:latin typeface="Carlito"/>
                <a:cs typeface="Carlito"/>
              </a:rPr>
              <a:t> </a:t>
            </a:r>
            <a:r>
              <a:rPr sz="1800" spc="-10" dirty="0">
                <a:latin typeface="Carlito"/>
                <a:cs typeface="Carlito"/>
              </a:rPr>
              <a:t>statement</a:t>
            </a:r>
            <a:endParaRPr sz="1800">
              <a:latin typeface="Carlito"/>
              <a:cs typeface="Carlito"/>
            </a:endParaRPr>
          </a:p>
          <a:p>
            <a:pPr marR="3260090" algn="r">
              <a:lnSpc>
                <a:spcPct val="100000"/>
              </a:lnSpc>
              <a:spcBef>
                <a:spcPts val="215"/>
              </a:spcBef>
            </a:pPr>
            <a:r>
              <a:rPr sz="1800" b="1" spc="-10" dirty="0">
                <a:latin typeface="Carlito"/>
                <a:cs typeface="Carlito"/>
              </a:rPr>
              <a:t>System.out.println("This</a:t>
            </a:r>
            <a:r>
              <a:rPr sz="1800" b="1" spc="-30" dirty="0">
                <a:latin typeface="Carlito"/>
                <a:cs typeface="Carlito"/>
              </a:rPr>
              <a:t> </a:t>
            </a:r>
            <a:r>
              <a:rPr sz="1800" b="1" dirty="0">
                <a:latin typeface="Carlito"/>
                <a:cs typeface="Carlito"/>
              </a:rPr>
              <a:t>is</a:t>
            </a:r>
            <a:r>
              <a:rPr sz="1800" b="1" spc="25" dirty="0">
                <a:latin typeface="Carlito"/>
                <a:cs typeface="Carlito"/>
              </a:rPr>
              <a:t> </a:t>
            </a:r>
            <a:r>
              <a:rPr sz="1800" b="1" dirty="0">
                <a:latin typeface="Carlito"/>
                <a:cs typeface="Carlito"/>
              </a:rPr>
              <a:t>a</a:t>
            </a:r>
            <a:r>
              <a:rPr sz="1800" b="1" spc="15" dirty="0">
                <a:latin typeface="Carlito"/>
                <a:cs typeface="Carlito"/>
              </a:rPr>
              <a:t> </a:t>
            </a:r>
            <a:r>
              <a:rPr sz="1800" b="1" dirty="0">
                <a:latin typeface="Carlito"/>
                <a:cs typeface="Carlito"/>
              </a:rPr>
              <a:t>String,</a:t>
            </a:r>
            <a:r>
              <a:rPr sz="1800" b="1" spc="15" dirty="0">
                <a:latin typeface="Carlito"/>
                <a:cs typeface="Carlito"/>
              </a:rPr>
              <a:t> </a:t>
            </a:r>
            <a:r>
              <a:rPr sz="1800" b="1" spc="-10" dirty="0">
                <a:latin typeface="Carlito"/>
                <a:cs typeface="Carlito"/>
              </a:rPr>
              <a:t>too");</a:t>
            </a:r>
            <a:endParaRPr sz="1800">
              <a:latin typeface="Carlito"/>
              <a:cs typeface="Carlito"/>
            </a:endParaRPr>
          </a:p>
          <a:p>
            <a:pPr marR="3315335" algn="r">
              <a:lnSpc>
                <a:spcPct val="100000"/>
              </a:lnSpc>
              <a:spcBef>
                <a:spcPts val="219"/>
              </a:spcBef>
            </a:pPr>
            <a:r>
              <a:rPr sz="1800" dirty="0">
                <a:latin typeface="Carlito"/>
                <a:cs typeface="Carlito"/>
              </a:rPr>
              <a:t>the</a:t>
            </a:r>
            <a:r>
              <a:rPr sz="1800" spc="-5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string</a:t>
            </a:r>
            <a:r>
              <a:rPr sz="1800" spc="-5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“</a:t>
            </a:r>
            <a:r>
              <a:rPr sz="1800" b="1" dirty="0">
                <a:latin typeface="Carlito"/>
                <a:cs typeface="Carlito"/>
              </a:rPr>
              <a:t>This</a:t>
            </a:r>
            <a:r>
              <a:rPr sz="1800" b="1" spc="-35" dirty="0">
                <a:latin typeface="Carlito"/>
                <a:cs typeface="Carlito"/>
              </a:rPr>
              <a:t> </a:t>
            </a:r>
            <a:r>
              <a:rPr sz="1800" b="1" dirty="0">
                <a:latin typeface="Carlito"/>
                <a:cs typeface="Carlito"/>
              </a:rPr>
              <a:t>is</a:t>
            </a:r>
            <a:r>
              <a:rPr sz="1800" b="1" spc="-20" dirty="0">
                <a:latin typeface="Carlito"/>
                <a:cs typeface="Carlito"/>
              </a:rPr>
              <a:t> </a:t>
            </a:r>
            <a:r>
              <a:rPr sz="1800" b="1" dirty="0">
                <a:latin typeface="Carlito"/>
                <a:cs typeface="Carlito"/>
              </a:rPr>
              <a:t>a</a:t>
            </a:r>
            <a:r>
              <a:rPr sz="1800" b="1" spc="-10" dirty="0">
                <a:latin typeface="Carlito"/>
                <a:cs typeface="Carlito"/>
              </a:rPr>
              <a:t> </a:t>
            </a:r>
            <a:r>
              <a:rPr sz="1800" b="1" dirty="0">
                <a:latin typeface="Carlito"/>
                <a:cs typeface="Carlito"/>
              </a:rPr>
              <a:t>String,</a:t>
            </a:r>
            <a:r>
              <a:rPr sz="1800" b="1" spc="-15" dirty="0">
                <a:latin typeface="Carlito"/>
                <a:cs typeface="Carlito"/>
              </a:rPr>
              <a:t> </a:t>
            </a:r>
            <a:r>
              <a:rPr sz="1800" b="1" dirty="0">
                <a:latin typeface="Carlito"/>
                <a:cs typeface="Carlito"/>
              </a:rPr>
              <a:t>too</a:t>
            </a:r>
            <a:r>
              <a:rPr sz="1800" dirty="0">
                <a:latin typeface="Carlito"/>
                <a:cs typeface="Carlito"/>
              </a:rPr>
              <a:t>”</a:t>
            </a:r>
            <a:r>
              <a:rPr sz="1800" spc="-35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is</a:t>
            </a:r>
            <a:r>
              <a:rPr sz="1800" spc="-10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a</a:t>
            </a:r>
            <a:r>
              <a:rPr sz="1800" spc="-10" dirty="0">
                <a:latin typeface="Carlito"/>
                <a:cs typeface="Carlito"/>
              </a:rPr>
              <a:t> </a:t>
            </a:r>
            <a:r>
              <a:rPr sz="1800" b="1" dirty="0">
                <a:latin typeface="Carlito"/>
                <a:cs typeface="Carlito"/>
              </a:rPr>
              <a:t>String</a:t>
            </a:r>
            <a:r>
              <a:rPr sz="1800" b="1" spc="-35" dirty="0">
                <a:latin typeface="Carlito"/>
                <a:cs typeface="Carlito"/>
              </a:rPr>
              <a:t> </a:t>
            </a:r>
            <a:r>
              <a:rPr sz="1800" b="1" spc="-10" dirty="0">
                <a:latin typeface="Carlito"/>
                <a:cs typeface="Carlito"/>
              </a:rPr>
              <a:t>constant.</a:t>
            </a:r>
            <a:endParaRPr sz="1800">
              <a:latin typeface="Carlito"/>
              <a:cs typeface="Carlito"/>
            </a:endParaRPr>
          </a:p>
          <a:p>
            <a:pPr marL="355600" marR="6985" indent="-343535">
              <a:lnSpc>
                <a:spcPts val="1939"/>
              </a:lnSpc>
              <a:spcBef>
                <a:spcPts val="465"/>
              </a:spcBef>
              <a:buChar char="•"/>
              <a:tabLst>
                <a:tab pos="355600" algn="l"/>
                <a:tab pos="407034" algn="l"/>
              </a:tabLst>
            </a:pPr>
            <a:r>
              <a:rPr sz="1800" dirty="0">
                <a:latin typeface="Arial"/>
                <a:cs typeface="Arial"/>
              </a:rPr>
              <a:t>	</a:t>
            </a:r>
            <a:r>
              <a:rPr sz="1800" dirty="0">
                <a:latin typeface="Carlito"/>
                <a:cs typeface="Carlito"/>
              </a:rPr>
              <a:t>objects</a:t>
            </a:r>
            <a:r>
              <a:rPr sz="1800" spc="100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of</a:t>
            </a:r>
            <a:r>
              <a:rPr sz="1800" spc="105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type</a:t>
            </a:r>
            <a:r>
              <a:rPr sz="1800" spc="125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String</a:t>
            </a:r>
            <a:r>
              <a:rPr sz="1800" spc="105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are</a:t>
            </a:r>
            <a:r>
              <a:rPr sz="1800" spc="120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immutable;</a:t>
            </a:r>
            <a:r>
              <a:rPr sz="1800" spc="114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once</a:t>
            </a:r>
            <a:r>
              <a:rPr sz="1800" spc="114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a</a:t>
            </a:r>
            <a:r>
              <a:rPr sz="1800" spc="105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String</a:t>
            </a:r>
            <a:r>
              <a:rPr sz="1800" spc="114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object</a:t>
            </a:r>
            <a:r>
              <a:rPr sz="1800" spc="114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is</a:t>
            </a:r>
            <a:r>
              <a:rPr sz="1800" spc="110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created,</a:t>
            </a:r>
            <a:r>
              <a:rPr sz="1800" spc="114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its</a:t>
            </a:r>
            <a:r>
              <a:rPr sz="1800" spc="105" dirty="0">
                <a:latin typeface="Carlito"/>
                <a:cs typeface="Carlito"/>
              </a:rPr>
              <a:t> </a:t>
            </a:r>
            <a:r>
              <a:rPr sz="1800" spc="-10" dirty="0">
                <a:latin typeface="Carlito"/>
                <a:cs typeface="Carlito"/>
              </a:rPr>
              <a:t>contents </a:t>
            </a:r>
            <a:r>
              <a:rPr sz="1800" dirty="0">
                <a:latin typeface="Carlito"/>
                <a:cs typeface="Carlito"/>
              </a:rPr>
              <a:t>cannot</a:t>
            </a:r>
            <a:r>
              <a:rPr sz="1800" spc="-35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be</a:t>
            </a:r>
            <a:r>
              <a:rPr sz="1800" spc="-25" dirty="0">
                <a:latin typeface="Carlito"/>
                <a:cs typeface="Carlito"/>
              </a:rPr>
              <a:t> </a:t>
            </a:r>
            <a:r>
              <a:rPr sz="1800" spc="-10" dirty="0">
                <a:latin typeface="Carlito"/>
                <a:cs typeface="Carlito"/>
              </a:rPr>
              <a:t>altered.</a:t>
            </a:r>
            <a:endParaRPr sz="180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sz="1800" i="1" dirty="0">
                <a:latin typeface="Carlito"/>
                <a:cs typeface="Carlito"/>
              </a:rPr>
              <a:t>While</a:t>
            </a:r>
            <a:r>
              <a:rPr sz="1800" i="1" spc="-30" dirty="0">
                <a:latin typeface="Carlito"/>
                <a:cs typeface="Carlito"/>
              </a:rPr>
              <a:t> </a:t>
            </a:r>
            <a:r>
              <a:rPr sz="1800" i="1" dirty="0">
                <a:latin typeface="Carlito"/>
                <a:cs typeface="Carlito"/>
              </a:rPr>
              <a:t>this</a:t>
            </a:r>
            <a:r>
              <a:rPr sz="1800" i="1" spc="-15" dirty="0">
                <a:latin typeface="Carlito"/>
                <a:cs typeface="Carlito"/>
              </a:rPr>
              <a:t> </a:t>
            </a:r>
            <a:r>
              <a:rPr sz="1800" i="1" dirty="0">
                <a:latin typeface="Carlito"/>
                <a:cs typeface="Carlito"/>
              </a:rPr>
              <a:t>may</a:t>
            </a:r>
            <a:r>
              <a:rPr sz="1800" i="1" spc="-35" dirty="0">
                <a:latin typeface="Carlito"/>
                <a:cs typeface="Carlito"/>
              </a:rPr>
              <a:t> </a:t>
            </a:r>
            <a:r>
              <a:rPr sz="1800" i="1" dirty="0">
                <a:latin typeface="Carlito"/>
                <a:cs typeface="Carlito"/>
              </a:rPr>
              <a:t>seem</a:t>
            </a:r>
            <a:r>
              <a:rPr sz="1800" i="1" spc="-10" dirty="0">
                <a:latin typeface="Carlito"/>
                <a:cs typeface="Carlito"/>
              </a:rPr>
              <a:t> </a:t>
            </a:r>
            <a:r>
              <a:rPr sz="1800" i="1" dirty="0">
                <a:latin typeface="Carlito"/>
                <a:cs typeface="Carlito"/>
              </a:rPr>
              <a:t>like</a:t>
            </a:r>
            <a:r>
              <a:rPr sz="1800" i="1" spc="-25" dirty="0">
                <a:latin typeface="Carlito"/>
                <a:cs typeface="Carlito"/>
              </a:rPr>
              <a:t> </a:t>
            </a:r>
            <a:r>
              <a:rPr sz="1800" i="1" dirty="0">
                <a:latin typeface="Carlito"/>
                <a:cs typeface="Carlito"/>
              </a:rPr>
              <a:t>a</a:t>
            </a:r>
            <a:r>
              <a:rPr sz="1800" i="1" spc="-20" dirty="0">
                <a:latin typeface="Carlito"/>
                <a:cs typeface="Carlito"/>
              </a:rPr>
              <a:t> </a:t>
            </a:r>
            <a:r>
              <a:rPr sz="1800" i="1" dirty="0">
                <a:latin typeface="Carlito"/>
                <a:cs typeface="Carlito"/>
              </a:rPr>
              <a:t>serious</a:t>
            </a:r>
            <a:r>
              <a:rPr sz="1800" i="1" spc="-20" dirty="0">
                <a:latin typeface="Carlito"/>
                <a:cs typeface="Carlito"/>
              </a:rPr>
              <a:t> </a:t>
            </a:r>
            <a:r>
              <a:rPr sz="1800" i="1" dirty="0">
                <a:latin typeface="Carlito"/>
                <a:cs typeface="Carlito"/>
              </a:rPr>
              <a:t>restriction, it</a:t>
            </a:r>
            <a:r>
              <a:rPr sz="1800" i="1" spc="-20" dirty="0">
                <a:latin typeface="Carlito"/>
                <a:cs typeface="Carlito"/>
              </a:rPr>
              <a:t> </a:t>
            </a:r>
            <a:r>
              <a:rPr sz="1800" i="1" dirty="0">
                <a:latin typeface="Carlito"/>
                <a:cs typeface="Carlito"/>
              </a:rPr>
              <a:t>is</a:t>
            </a:r>
            <a:r>
              <a:rPr sz="1800" i="1" spc="-20" dirty="0">
                <a:latin typeface="Carlito"/>
                <a:cs typeface="Carlito"/>
              </a:rPr>
              <a:t> </a:t>
            </a:r>
            <a:r>
              <a:rPr sz="1800" i="1" dirty="0">
                <a:latin typeface="Carlito"/>
                <a:cs typeface="Carlito"/>
              </a:rPr>
              <a:t>not,</a:t>
            </a:r>
            <a:r>
              <a:rPr sz="1800" i="1" spc="-25" dirty="0">
                <a:latin typeface="Carlito"/>
                <a:cs typeface="Carlito"/>
              </a:rPr>
              <a:t> </a:t>
            </a:r>
            <a:r>
              <a:rPr sz="1800" i="1" dirty="0">
                <a:latin typeface="Carlito"/>
                <a:cs typeface="Carlito"/>
              </a:rPr>
              <a:t>for</a:t>
            </a:r>
            <a:r>
              <a:rPr sz="1800" i="1" spc="-25" dirty="0">
                <a:latin typeface="Carlito"/>
                <a:cs typeface="Carlito"/>
              </a:rPr>
              <a:t> </a:t>
            </a:r>
            <a:r>
              <a:rPr sz="1800" i="1" dirty="0">
                <a:latin typeface="Carlito"/>
                <a:cs typeface="Carlito"/>
              </a:rPr>
              <a:t>two</a:t>
            </a:r>
            <a:r>
              <a:rPr sz="1800" i="1" spc="-25" dirty="0">
                <a:latin typeface="Carlito"/>
                <a:cs typeface="Carlito"/>
              </a:rPr>
              <a:t> </a:t>
            </a:r>
            <a:r>
              <a:rPr sz="1800" i="1" spc="-10" dirty="0">
                <a:latin typeface="Carlito"/>
                <a:cs typeface="Carlito"/>
              </a:rPr>
              <a:t>reasons:</a:t>
            </a:r>
            <a:endParaRPr sz="1800">
              <a:latin typeface="Carlito"/>
              <a:cs typeface="Carlito"/>
            </a:endParaRPr>
          </a:p>
          <a:p>
            <a:pPr marL="355600" indent="-342900">
              <a:lnSpc>
                <a:spcPts val="2055"/>
              </a:lnSpc>
              <a:spcBef>
                <a:spcPts val="215"/>
              </a:spcBef>
              <a:buFont typeface="Arial"/>
              <a:buChar char="•"/>
              <a:tabLst>
                <a:tab pos="355600" algn="l"/>
              </a:tabLst>
            </a:pPr>
            <a:r>
              <a:rPr sz="1800" dirty="0">
                <a:latin typeface="Carlito"/>
                <a:cs typeface="Carlito"/>
              </a:rPr>
              <a:t>If</a:t>
            </a:r>
            <a:r>
              <a:rPr sz="1800" spc="75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you</a:t>
            </a:r>
            <a:r>
              <a:rPr sz="1800" spc="80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need</a:t>
            </a:r>
            <a:r>
              <a:rPr sz="1800" spc="85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to</a:t>
            </a:r>
            <a:r>
              <a:rPr sz="1800" spc="90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change</a:t>
            </a:r>
            <a:r>
              <a:rPr sz="1800" spc="70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a</a:t>
            </a:r>
            <a:r>
              <a:rPr sz="1800" spc="75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string,</a:t>
            </a:r>
            <a:r>
              <a:rPr sz="1800" spc="85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you</a:t>
            </a:r>
            <a:r>
              <a:rPr sz="1800" spc="80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can</a:t>
            </a:r>
            <a:r>
              <a:rPr sz="1800" spc="90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always</a:t>
            </a:r>
            <a:r>
              <a:rPr sz="1800" spc="95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create</a:t>
            </a:r>
            <a:r>
              <a:rPr sz="1800" spc="85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a</a:t>
            </a:r>
            <a:r>
              <a:rPr sz="1800" spc="80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new</a:t>
            </a:r>
            <a:r>
              <a:rPr sz="1800" spc="80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one</a:t>
            </a:r>
            <a:r>
              <a:rPr sz="1800" spc="85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that</a:t>
            </a:r>
            <a:r>
              <a:rPr sz="1800" spc="75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contains</a:t>
            </a:r>
            <a:r>
              <a:rPr sz="1800" spc="80" dirty="0">
                <a:latin typeface="Carlito"/>
                <a:cs typeface="Carlito"/>
              </a:rPr>
              <a:t> </a:t>
            </a:r>
            <a:r>
              <a:rPr sz="1800" spc="-25" dirty="0">
                <a:latin typeface="Carlito"/>
                <a:cs typeface="Carlito"/>
              </a:rPr>
              <a:t>the</a:t>
            </a:r>
            <a:endParaRPr sz="1800">
              <a:latin typeface="Carlito"/>
              <a:cs typeface="Carlito"/>
            </a:endParaRPr>
          </a:p>
          <a:p>
            <a:pPr marL="355600">
              <a:lnSpc>
                <a:spcPts val="2055"/>
              </a:lnSpc>
            </a:pPr>
            <a:r>
              <a:rPr sz="1800" spc="-10" dirty="0">
                <a:latin typeface="Carlito"/>
                <a:cs typeface="Carlito"/>
              </a:rPr>
              <a:t>modifications.</a:t>
            </a:r>
            <a:endParaRPr sz="1800">
              <a:latin typeface="Carlito"/>
              <a:cs typeface="Carlito"/>
            </a:endParaRPr>
          </a:p>
          <a:p>
            <a:pPr marL="355600" marR="5080" indent="-343535">
              <a:lnSpc>
                <a:spcPts val="1939"/>
              </a:lnSpc>
              <a:spcBef>
                <a:spcPts val="465"/>
              </a:spcBef>
              <a:buFont typeface="Arial"/>
              <a:buChar char="•"/>
              <a:tabLst>
                <a:tab pos="355600" algn="l"/>
              </a:tabLst>
            </a:pPr>
            <a:r>
              <a:rPr sz="1800" dirty="0">
                <a:latin typeface="Carlito"/>
                <a:cs typeface="Carlito"/>
              </a:rPr>
              <a:t>Java</a:t>
            </a:r>
            <a:r>
              <a:rPr sz="1800" spc="195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defines</a:t>
            </a:r>
            <a:r>
              <a:rPr sz="1800" spc="200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a</a:t>
            </a:r>
            <a:r>
              <a:rPr sz="1800" spc="200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peer</a:t>
            </a:r>
            <a:r>
              <a:rPr sz="1800" spc="185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class</a:t>
            </a:r>
            <a:r>
              <a:rPr sz="1800" spc="200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of</a:t>
            </a:r>
            <a:r>
              <a:rPr sz="1800" spc="200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String,</a:t>
            </a:r>
            <a:r>
              <a:rPr sz="1800" spc="185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called</a:t>
            </a:r>
            <a:r>
              <a:rPr sz="1800" spc="204" dirty="0">
                <a:latin typeface="Carlito"/>
                <a:cs typeface="Carlito"/>
              </a:rPr>
              <a:t> </a:t>
            </a:r>
            <a:r>
              <a:rPr sz="1800" spc="-10" dirty="0">
                <a:latin typeface="Carlito"/>
                <a:cs typeface="Carlito"/>
              </a:rPr>
              <a:t>StringBuffer,</a:t>
            </a:r>
            <a:r>
              <a:rPr sz="1800" spc="185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which</a:t>
            </a:r>
            <a:r>
              <a:rPr sz="1800" spc="190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allows</a:t>
            </a:r>
            <a:r>
              <a:rPr sz="1800" spc="204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strings</a:t>
            </a:r>
            <a:r>
              <a:rPr sz="1800" spc="195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to</a:t>
            </a:r>
            <a:r>
              <a:rPr sz="1800" spc="195" dirty="0">
                <a:latin typeface="Carlito"/>
                <a:cs typeface="Carlito"/>
              </a:rPr>
              <a:t> </a:t>
            </a:r>
            <a:r>
              <a:rPr sz="1800" spc="-25" dirty="0">
                <a:latin typeface="Carlito"/>
                <a:cs typeface="Carlito"/>
              </a:rPr>
              <a:t>be </a:t>
            </a:r>
            <a:r>
              <a:rPr sz="1800" dirty="0">
                <a:latin typeface="Carlito"/>
                <a:cs typeface="Carlito"/>
              </a:rPr>
              <a:t>altered,</a:t>
            </a:r>
            <a:r>
              <a:rPr sz="1800" spc="-20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so</a:t>
            </a:r>
            <a:r>
              <a:rPr sz="1800" spc="-40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all</a:t>
            </a:r>
            <a:r>
              <a:rPr sz="1800" spc="-40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of</a:t>
            </a:r>
            <a:r>
              <a:rPr sz="1800" spc="-30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the</a:t>
            </a:r>
            <a:r>
              <a:rPr sz="1800" spc="-25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normal</a:t>
            </a:r>
            <a:r>
              <a:rPr sz="1800" spc="-50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string</a:t>
            </a:r>
            <a:r>
              <a:rPr sz="1800" spc="-20" dirty="0">
                <a:latin typeface="Carlito"/>
                <a:cs typeface="Carlito"/>
              </a:rPr>
              <a:t> </a:t>
            </a:r>
            <a:r>
              <a:rPr sz="1800" spc="-10" dirty="0">
                <a:latin typeface="Carlito"/>
                <a:cs typeface="Carlito"/>
              </a:rPr>
              <a:t>manipulations</a:t>
            </a:r>
            <a:r>
              <a:rPr sz="1800" spc="-20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are</a:t>
            </a:r>
            <a:r>
              <a:rPr sz="1800" spc="-30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still</a:t>
            </a:r>
            <a:r>
              <a:rPr sz="1800" spc="-35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available</a:t>
            </a:r>
            <a:r>
              <a:rPr sz="1800" spc="-30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in</a:t>
            </a:r>
            <a:r>
              <a:rPr sz="1800" spc="-25" dirty="0">
                <a:latin typeface="Carlito"/>
                <a:cs typeface="Carlito"/>
              </a:rPr>
              <a:t> </a:t>
            </a:r>
            <a:r>
              <a:rPr sz="1800" spc="-10" dirty="0">
                <a:latin typeface="Carlito"/>
                <a:cs typeface="Carlito"/>
              </a:rPr>
              <a:t>Java.</a:t>
            </a:r>
            <a:endParaRPr sz="180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  <a:spcBef>
                <a:spcPts val="195"/>
              </a:spcBef>
            </a:pPr>
            <a:r>
              <a:rPr sz="1800" dirty="0">
                <a:latin typeface="Carlito"/>
                <a:cs typeface="Carlito"/>
              </a:rPr>
              <a:t>Strings</a:t>
            </a:r>
            <a:r>
              <a:rPr sz="1800" spc="-40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can</a:t>
            </a:r>
            <a:r>
              <a:rPr sz="1800" spc="-20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be</a:t>
            </a:r>
            <a:r>
              <a:rPr sz="1800" spc="-40" dirty="0">
                <a:latin typeface="Carlito"/>
                <a:cs typeface="Carlito"/>
              </a:rPr>
              <a:t> </a:t>
            </a:r>
            <a:r>
              <a:rPr sz="1800" spc="-10" dirty="0">
                <a:latin typeface="Carlito"/>
                <a:cs typeface="Carlito"/>
              </a:rPr>
              <a:t>constructed </a:t>
            </a:r>
            <a:r>
              <a:rPr sz="1800" dirty="0">
                <a:latin typeface="Carlito"/>
                <a:cs typeface="Carlito"/>
              </a:rPr>
              <a:t>a</a:t>
            </a:r>
            <a:r>
              <a:rPr sz="1800" spc="-35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variety</a:t>
            </a:r>
            <a:r>
              <a:rPr sz="1800" spc="-25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of</a:t>
            </a:r>
            <a:r>
              <a:rPr sz="1800" spc="-40" dirty="0">
                <a:latin typeface="Carlito"/>
                <a:cs typeface="Carlito"/>
              </a:rPr>
              <a:t> </a:t>
            </a:r>
            <a:r>
              <a:rPr sz="1800" spc="-10" dirty="0">
                <a:latin typeface="Carlito"/>
                <a:cs typeface="Carlito"/>
              </a:rPr>
              <a:t>ways.</a:t>
            </a:r>
            <a:r>
              <a:rPr sz="1800" spc="-45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The</a:t>
            </a:r>
            <a:r>
              <a:rPr sz="1800" spc="-25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easiest</a:t>
            </a:r>
            <a:r>
              <a:rPr sz="1800" spc="-45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is</a:t>
            </a:r>
            <a:r>
              <a:rPr sz="1800" spc="-30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to</a:t>
            </a:r>
            <a:r>
              <a:rPr sz="1800" spc="-35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use</a:t>
            </a:r>
            <a:r>
              <a:rPr sz="1800" spc="-35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a</a:t>
            </a:r>
            <a:r>
              <a:rPr sz="1800" spc="-25" dirty="0">
                <a:latin typeface="Carlito"/>
                <a:cs typeface="Carlito"/>
              </a:rPr>
              <a:t> </a:t>
            </a:r>
            <a:r>
              <a:rPr sz="1800" spc="-10" dirty="0">
                <a:latin typeface="Carlito"/>
                <a:cs typeface="Carlito"/>
              </a:rPr>
              <a:t>statement</a:t>
            </a:r>
            <a:r>
              <a:rPr sz="1800" spc="-50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like</a:t>
            </a:r>
            <a:r>
              <a:rPr sz="1800" spc="-20" dirty="0">
                <a:latin typeface="Carlito"/>
                <a:cs typeface="Carlito"/>
              </a:rPr>
              <a:t> </a:t>
            </a:r>
            <a:r>
              <a:rPr sz="1800" spc="-10" dirty="0">
                <a:latin typeface="Carlito"/>
                <a:cs typeface="Carlito"/>
              </a:rPr>
              <a:t>this:</a:t>
            </a:r>
            <a:endParaRPr sz="1800">
              <a:latin typeface="Carlito"/>
              <a:cs typeface="Carlito"/>
            </a:endParaRPr>
          </a:p>
          <a:p>
            <a:pPr marL="927100">
              <a:lnSpc>
                <a:spcPct val="100000"/>
              </a:lnSpc>
              <a:spcBef>
                <a:spcPts val="215"/>
              </a:spcBef>
            </a:pPr>
            <a:r>
              <a:rPr sz="1800" dirty="0">
                <a:latin typeface="Carlito"/>
                <a:cs typeface="Carlito"/>
              </a:rPr>
              <a:t>String</a:t>
            </a:r>
            <a:r>
              <a:rPr sz="1800" spc="-15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myString</a:t>
            </a:r>
            <a:r>
              <a:rPr sz="1800" spc="-20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=</a:t>
            </a:r>
            <a:r>
              <a:rPr sz="1800" spc="-25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"this</a:t>
            </a:r>
            <a:r>
              <a:rPr sz="1800" spc="-15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is</a:t>
            </a:r>
            <a:r>
              <a:rPr sz="1800" spc="-20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a</a:t>
            </a:r>
            <a:r>
              <a:rPr sz="1800" spc="-25" dirty="0">
                <a:latin typeface="Carlito"/>
                <a:cs typeface="Carlito"/>
              </a:rPr>
              <a:t> </a:t>
            </a:r>
            <a:r>
              <a:rPr sz="1800" spc="-10" dirty="0">
                <a:latin typeface="Carlito"/>
                <a:cs typeface="Carlito"/>
              </a:rPr>
              <a:t>test";</a:t>
            </a:r>
            <a:endParaRPr sz="18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110997"/>
            <a:ext cx="359854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b="0" dirty="0">
                <a:latin typeface="Carlito"/>
                <a:cs typeface="Carlito"/>
              </a:rPr>
              <a:t>Creating</a:t>
            </a:r>
            <a:r>
              <a:rPr sz="4400" b="0" spc="-195" dirty="0">
                <a:latin typeface="Carlito"/>
                <a:cs typeface="Carlito"/>
              </a:rPr>
              <a:t> </a:t>
            </a:r>
            <a:r>
              <a:rPr sz="4400" b="0" spc="-10" dirty="0">
                <a:latin typeface="Carlito"/>
                <a:cs typeface="Carlito"/>
              </a:rPr>
              <a:t>Strings</a:t>
            </a:r>
            <a:endParaRPr sz="4400">
              <a:latin typeface="Carlito"/>
              <a:cs typeface="Carlito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5940" y="1106547"/>
            <a:ext cx="7979409" cy="2732405"/>
          </a:xfrm>
          <a:prstGeom prst="rect">
            <a:avLst/>
          </a:prstGeom>
        </p:spPr>
        <p:txBody>
          <a:bodyPr vert="horz" wrap="square" lIns="0" tIns="6731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530"/>
              </a:spcBef>
              <a:buFont typeface="Arial"/>
              <a:buChar char="•"/>
              <a:tabLst>
                <a:tab pos="355600" algn="l"/>
              </a:tabLst>
            </a:pPr>
            <a:r>
              <a:rPr sz="1800" dirty="0">
                <a:latin typeface="Carlito"/>
                <a:cs typeface="Carlito"/>
              </a:rPr>
              <a:t>String</a:t>
            </a:r>
            <a:r>
              <a:rPr sz="1800" spc="-20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str</a:t>
            </a:r>
            <a:r>
              <a:rPr sz="1800" spc="-45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=</a:t>
            </a:r>
            <a:r>
              <a:rPr sz="1800" spc="-35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"abc";</a:t>
            </a:r>
            <a:r>
              <a:rPr sz="1800" spc="-5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is</a:t>
            </a:r>
            <a:r>
              <a:rPr sz="1800" spc="-25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equivalent</a:t>
            </a:r>
            <a:r>
              <a:rPr sz="1800" spc="-40" dirty="0">
                <a:latin typeface="Carlito"/>
                <a:cs typeface="Carlito"/>
              </a:rPr>
              <a:t> </a:t>
            </a:r>
            <a:r>
              <a:rPr sz="1800" spc="-25" dirty="0">
                <a:latin typeface="Carlito"/>
                <a:cs typeface="Carlito"/>
              </a:rPr>
              <a:t>to:</a:t>
            </a:r>
            <a:endParaRPr sz="1800">
              <a:latin typeface="Carlito"/>
              <a:cs typeface="Carlito"/>
            </a:endParaRPr>
          </a:p>
          <a:p>
            <a:pPr marL="355600">
              <a:lnSpc>
                <a:spcPct val="100000"/>
              </a:lnSpc>
              <a:spcBef>
                <a:spcPts val="430"/>
              </a:spcBef>
            </a:pPr>
            <a:r>
              <a:rPr sz="1800" dirty="0">
                <a:latin typeface="Carlito"/>
                <a:cs typeface="Carlito"/>
              </a:rPr>
              <a:t>char</a:t>
            </a:r>
            <a:r>
              <a:rPr sz="1800" spc="-15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data[]</a:t>
            </a:r>
            <a:r>
              <a:rPr sz="1800" spc="-20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=</a:t>
            </a:r>
            <a:r>
              <a:rPr sz="1800" spc="-20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{'a',</a:t>
            </a:r>
            <a:r>
              <a:rPr sz="1800" spc="-20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'b',</a:t>
            </a:r>
            <a:r>
              <a:rPr sz="1800" spc="-10" dirty="0">
                <a:latin typeface="Carlito"/>
                <a:cs typeface="Carlito"/>
              </a:rPr>
              <a:t> 'c'};</a:t>
            </a:r>
            <a:endParaRPr sz="1800">
              <a:latin typeface="Carlito"/>
              <a:cs typeface="Carlito"/>
            </a:endParaRPr>
          </a:p>
          <a:p>
            <a:pPr marL="355600">
              <a:lnSpc>
                <a:spcPct val="100000"/>
              </a:lnSpc>
              <a:spcBef>
                <a:spcPts val="434"/>
              </a:spcBef>
            </a:pPr>
            <a:r>
              <a:rPr sz="1800" dirty="0">
                <a:latin typeface="Carlito"/>
                <a:cs typeface="Carlito"/>
              </a:rPr>
              <a:t>String</a:t>
            </a:r>
            <a:r>
              <a:rPr sz="1800" spc="-15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str</a:t>
            </a:r>
            <a:r>
              <a:rPr sz="1800" spc="-30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=</a:t>
            </a:r>
            <a:r>
              <a:rPr sz="1800" spc="-30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new</a:t>
            </a:r>
            <a:r>
              <a:rPr sz="1800" spc="-20" dirty="0">
                <a:latin typeface="Carlito"/>
                <a:cs typeface="Carlito"/>
              </a:rPr>
              <a:t> </a:t>
            </a:r>
            <a:r>
              <a:rPr sz="1800" spc="-10" dirty="0">
                <a:latin typeface="Carlito"/>
                <a:cs typeface="Carlito"/>
              </a:rPr>
              <a:t>String(data);</a:t>
            </a:r>
            <a:endParaRPr sz="1800">
              <a:latin typeface="Carlito"/>
              <a:cs typeface="Carlito"/>
            </a:endParaRPr>
          </a:p>
          <a:p>
            <a:pPr>
              <a:lnSpc>
                <a:spcPct val="100000"/>
              </a:lnSpc>
              <a:spcBef>
                <a:spcPts val="535"/>
              </a:spcBef>
            </a:pPr>
            <a:endParaRPr sz="1800">
              <a:latin typeface="Carlito"/>
              <a:cs typeface="Carlito"/>
            </a:endParaRPr>
          </a:p>
          <a:p>
            <a:pPr marL="355600" indent="-342900">
              <a:lnSpc>
                <a:spcPct val="100000"/>
              </a:lnSpc>
              <a:spcBef>
                <a:spcPts val="5"/>
              </a:spcBef>
              <a:buFont typeface="Arial"/>
              <a:buChar char="•"/>
              <a:tabLst>
                <a:tab pos="355600" algn="l"/>
              </a:tabLst>
            </a:pPr>
            <a:r>
              <a:rPr sz="1800" dirty="0">
                <a:latin typeface="Carlito"/>
                <a:cs typeface="Carlito"/>
              </a:rPr>
              <a:t>If</a:t>
            </a:r>
            <a:r>
              <a:rPr sz="1800" spc="-40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data</a:t>
            </a:r>
            <a:r>
              <a:rPr sz="1800" spc="-45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array</a:t>
            </a:r>
            <a:r>
              <a:rPr sz="1800" spc="-40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in</a:t>
            </a:r>
            <a:r>
              <a:rPr sz="1800" spc="-30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the</a:t>
            </a:r>
            <a:r>
              <a:rPr sz="1800" spc="-35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above</a:t>
            </a:r>
            <a:r>
              <a:rPr sz="1800" spc="-25" dirty="0">
                <a:latin typeface="Carlito"/>
                <a:cs typeface="Carlito"/>
              </a:rPr>
              <a:t> </a:t>
            </a:r>
            <a:r>
              <a:rPr sz="1800" spc="-10" dirty="0">
                <a:latin typeface="Carlito"/>
                <a:cs typeface="Carlito"/>
              </a:rPr>
              <a:t>example</a:t>
            </a:r>
            <a:r>
              <a:rPr sz="1800" spc="-40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is</a:t>
            </a:r>
            <a:r>
              <a:rPr sz="1800" spc="-45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modified</a:t>
            </a:r>
            <a:r>
              <a:rPr sz="1800" spc="-25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after</a:t>
            </a:r>
            <a:r>
              <a:rPr sz="1800" spc="-30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the</a:t>
            </a:r>
            <a:r>
              <a:rPr sz="1800" spc="-40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string</a:t>
            </a:r>
            <a:r>
              <a:rPr sz="1800" spc="-25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object</a:t>
            </a:r>
            <a:r>
              <a:rPr sz="1800" spc="-30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str</a:t>
            </a:r>
            <a:r>
              <a:rPr sz="1800" spc="-30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is</a:t>
            </a:r>
            <a:r>
              <a:rPr sz="1800" spc="-40" dirty="0">
                <a:latin typeface="Carlito"/>
                <a:cs typeface="Carlito"/>
              </a:rPr>
              <a:t> </a:t>
            </a:r>
            <a:r>
              <a:rPr sz="1800" spc="-10" dirty="0">
                <a:latin typeface="Carlito"/>
                <a:cs typeface="Carlito"/>
              </a:rPr>
              <a:t>created,</a:t>
            </a:r>
            <a:endParaRPr sz="1800">
              <a:latin typeface="Carlito"/>
              <a:cs typeface="Carlito"/>
            </a:endParaRPr>
          </a:p>
          <a:p>
            <a:pPr marL="355600">
              <a:lnSpc>
                <a:spcPct val="100000"/>
              </a:lnSpc>
            </a:pPr>
            <a:r>
              <a:rPr sz="1800" dirty="0">
                <a:latin typeface="Carlito"/>
                <a:cs typeface="Carlito"/>
              </a:rPr>
              <a:t>then</a:t>
            </a:r>
            <a:r>
              <a:rPr sz="1800" spc="-30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str</a:t>
            </a:r>
            <a:r>
              <a:rPr sz="1800" spc="-55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remains</a:t>
            </a:r>
            <a:r>
              <a:rPr sz="1800" spc="-40" dirty="0">
                <a:latin typeface="Carlito"/>
                <a:cs typeface="Carlito"/>
              </a:rPr>
              <a:t> </a:t>
            </a:r>
            <a:r>
              <a:rPr sz="1800" spc="-10" dirty="0">
                <a:latin typeface="Carlito"/>
                <a:cs typeface="Carlito"/>
              </a:rPr>
              <a:t>unchanged.</a:t>
            </a:r>
            <a:endParaRPr sz="1800">
              <a:latin typeface="Carlito"/>
              <a:cs typeface="Carlito"/>
            </a:endParaRPr>
          </a:p>
          <a:p>
            <a:pPr marL="355600" marR="2266950" indent="-343535">
              <a:lnSpc>
                <a:spcPct val="120000"/>
              </a:lnSpc>
              <a:spcBef>
                <a:spcPts val="1295"/>
              </a:spcBef>
              <a:buFont typeface="Arial"/>
              <a:buChar char="•"/>
              <a:tabLst>
                <a:tab pos="407670" algn="l"/>
              </a:tabLst>
            </a:pPr>
            <a:r>
              <a:rPr sz="1800" dirty="0">
                <a:latin typeface="Carlito"/>
                <a:cs typeface="Carlito"/>
              </a:rPr>
              <a:t>Construct</a:t>
            </a:r>
            <a:r>
              <a:rPr sz="1800" spc="-45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a</a:t>
            </a:r>
            <a:r>
              <a:rPr sz="1800" spc="-35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string</a:t>
            </a:r>
            <a:r>
              <a:rPr sz="1800" spc="-40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object</a:t>
            </a:r>
            <a:r>
              <a:rPr sz="1800" spc="-45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by</a:t>
            </a:r>
            <a:r>
              <a:rPr sz="1800" spc="-45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passing</a:t>
            </a:r>
            <a:r>
              <a:rPr sz="1800" spc="-40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another</a:t>
            </a:r>
            <a:r>
              <a:rPr sz="1800" spc="-35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string</a:t>
            </a:r>
            <a:r>
              <a:rPr sz="1800" spc="-40" dirty="0">
                <a:latin typeface="Carlito"/>
                <a:cs typeface="Carlito"/>
              </a:rPr>
              <a:t> </a:t>
            </a:r>
            <a:r>
              <a:rPr sz="1800" spc="-10" dirty="0">
                <a:latin typeface="Carlito"/>
                <a:cs typeface="Carlito"/>
              </a:rPr>
              <a:t>object. 	</a:t>
            </a:r>
            <a:r>
              <a:rPr sz="1800" dirty="0">
                <a:latin typeface="Carlito"/>
                <a:cs typeface="Carlito"/>
              </a:rPr>
              <a:t>String</a:t>
            </a:r>
            <a:r>
              <a:rPr sz="1800" spc="-15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str2</a:t>
            </a:r>
            <a:r>
              <a:rPr sz="1800" spc="-30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=</a:t>
            </a:r>
            <a:r>
              <a:rPr sz="1800" spc="-25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new</a:t>
            </a:r>
            <a:r>
              <a:rPr sz="1800" spc="-15" dirty="0">
                <a:latin typeface="Carlito"/>
                <a:cs typeface="Carlito"/>
              </a:rPr>
              <a:t> </a:t>
            </a:r>
            <a:r>
              <a:rPr sz="1800" spc="-10" dirty="0">
                <a:latin typeface="Carlito"/>
                <a:cs typeface="Carlito"/>
              </a:rPr>
              <a:t>String(str);</a:t>
            </a:r>
            <a:endParaRPr sz="18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187197"/>
            <a:ext cx="461899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b="0" dirty="0">
                <a:latin typeface="Carlito"/>
                <a:cs typeface="Carlito"/>
              </a:rPr>
              <a:t>String</a:t>
            </a:r>
            <a:r>
              <a:rPr sz="4400" b="0" spc="-95" dirty="0">
                <a:latin typeface="Carlito"/>
                <a:cs typeface="Carlito"/>
              </a:rPr>
              <a:t> </a:t>
            </a:r>
            <a:r>
              <a:rPr sz="4400" b="0" spc="-10" dirty="0">
                <a:latin typeface="Carlito"/>
                <a:cs typeface="Carlito"/>
              </a:rPr>
              <a:t>Operations(1)</a:t>
            </a:r>
            <a:endParaRPr sz="4400">
              <a:latin typeface="Carlito"/>
              <a:cs typeface="Carlito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5940" y="1191513"/>
            <a:ext cx="8072755" cy="400875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6235" indent="-343535" algn="just">
              <a:lnSpc>
                <a:spcPct val="100000"/>
              </a:lnSpc>
              <a:spcBef>
                <a:spcPts val="105"/>
              </a:spcBef>
              <a:buAutoNum type="arabicPeriod"/>
              <a:tabLst>
                <a:tab pos="356235" algn="l"/>
              </a:tabLst>
            </a:pPr>
            <a:r>
              <a:rPr sz="1700" dirty="0">
                <a:latin typeface="Carlito"/>
                <a:cs typeface="Carlito"/>
              </a:rPr>
              <a:t>public</a:t>
            </a:r>
            <a:r>
              <a:rPr sz="1700" spc="-25" dirty="0">
                <a:latin typeface="Carlito"/>
                <a:cs typeface="Carlito"/>
              </a:rPr>
              <a:t> </a:t>
            </a:r>
            <a:r>
              <a:rPr sz="1700" dirty="0">
                <a:latin typeface="Carlito"/>
                <a:cs typeface="Carlito"/>
              </a:rPr>
              <a:t>char</a:t>
            </a:r>
            <a:r>
              <a:rPr sz="1700" spc="-20" dirty="0">
                <a:latin typeface="Carlito"/>
                <a:cs typeface="Carlito"/>
              </a:rPr>
              <a:t> </a:t>
            </a:r>
            <a:r>
              <a:rPr sz="1700" b="1" spc="-10" dirty="0">
                <a:latin typeface="Carlito"/>
                <a:cs typeface="Carlito"/>
              </a:rPr>
              <a:t>charAt</a:t>
            </a:r>
            <a:r>
              <a:rPr sz="1700" spc="-10" dirty="0">
                <a:latin typeface="Carlito"/>
                <a:cs typeface="Carlito"/>
              </a:rPr>
              <a:t>(int</a:t>
            </a:r>
            <a:r>
              <a:rPr sz="1700" spc="-30" dirty="0">
                <a:latin typeface="Carlito"/>
                <a:cs typeface="Carlito"/>
              </a:rPr>
              <a:t> </a:t>
            </a:r>
            <a:r>
              <a:rPr sz="1700" spc="-10" dirty="0">
                <a:latin typeface="Carlito"/>
                <a:cs typeface="Carlito"/>
              </a:rPr>
              <a:t>index)</a:t>
            </a:r>
            <a:endParaRPr sz="1700">
              <a:latin typeface="Carlito"/>
              <a:cs typeface="Carlito"/>
            </a:endParaRPr>
          </a:p>
          <a:p>
            <a:pPr marL="1155700" marR="5080" lvl="1" indent="-228600" algn="just">
              <a:lnSpc>
                <a:spcPct val="80100"/>
              </a:lnSpc>
              <a:spcBef>
                <a:spcPts val="405"/>
              </a:spcBef>
              <a:buFont typeface="Arial"/>
              <a:buChar char="•"/>
              <a:tabLst>
                <a:tab pos="1155700" algn="l"/>
              </a:tabLst>
            </a:pPr>
            <a:r>
              <a:rPr sz="1700" dirty="0">
                <a:latin typeface="Carlito"/>
                <a:cs typeface="Carlito"/>
              </a:rPr>
              <a:t>Returns</a:t>
            </a:r>
            <a:r>
              <a:rPr sz="1700" spc="445" dirty="0">
                <a:latin typeface="Carlito"/>
                <a:cs typeface="Carlito"/>
              </a:rPr>
              <a:t> </a:t>
            </a:r>
            <a:r>
              <a:rPr sz="1700" dirty="0">
                <a:latin typeface="Carlito"/>
                <a:cs typeface="Carlito"/>
              </a:rPr>
              <a:t>the</a:t>
            </a:r>
            <a:r>
              <a:rPr sz="1700" spc="440" dirty="0">
                <a:latin typeface="Carlito"/>
                <a:cs typeface="Carlito"/>
              </a:rPr>
              <a:t> </a:t>
            </a:r>
            <a:r>
              <a:rPr sz="1700" dirty="0">
                <a:latin typeface="Carlito"/>
                <a:cs typeface="Carlito"/>
              </a:rPr>
              <a:t>character</a:t>
            </a:r>
            <a:r>
              <a:rPr sz="1700" spc="440" dirty="0">
                <a:latin typeface="Carlito"/>
                <a:cs typeface="Carlito"/>
              </a:rPr>
              <a:t> </a:t>
            </a:r>
            <a:r>
              <a:rPr sz="1700" dirty="0">
                <a:latin typeface="Carlito"/>
                <a:cs typeface="Carlito"/>
              </a:rPr>
              <a:t>at</a:t>
            </a:r>
            <a:r>
              <a:rPr sz="1700" spc="450" dirty="0">
                <a:latin typeface="Carlito"/>
                <a:cs typeface="Carlito"/>
              </a:rPr>
              <a:t> </a:t>
            </a:r>
            <a:r>
              <a:rPr sz="1700" dirty="0">
                <a:latin typeface="Carlito"/>
                <a:cs typeface="Carlito"/>
              </a:rPr>
              <a:t>the</a:t>
            </a:r>
            <a:r>
              <a:rPr sz="1700" spc="440" dirty="0">
                <a:latin typeface="Carlito"/>
                <a:cs typeface="Carlito"/>
              </a:rPr>
              <a:t> </a:t>
            </a:r>
            <a:r>
              <a:rPr sz="1700" dirty="0">
                <a:latin typeface="Carlito"/>
                <a:cs typeface="Carlito"/>
              </a:rPr>
              <a:t>specified</a:t>
            </a:r>
            <a:r>
              <a:rPr sz="1700" spc="440" dirty="0">
                <a:latin typeface="Carlito"/>
                <a:cs typeface="Carlito"/>
              </a:rPr>
              <a:t> </a:t>
            </a:r>
            <a:r>
              <a:rPr sz="1700" dirty="0">
                <a:latin typeface="Carlito"/>
                <a:cs typeface="Carlito"/>
              </a:rPr>
              <a:t>index.</a:t>
            </a:r>
            <a:r>
              <a:rPr sz="1700" spc="445" dirty="0">
                <a:latin typeface="Carlito"/>
                <a:cs typeface="Carlito"/>
              </a:rPr>
              <a:t> </a:t>
            </a:r>
            <a:r>
              <a:rPr sz="1700" dirty="0">
                <a:latin typeface="Carlito"/>
                <a:cs typeface="Carlito"/>
              </a:rPr>
              <a:t>An</a:t>
            </a:r>
            <a:r>
              <a:rPr sz="1700" spc="430" dirty="0">
                <a:latin typeface="Carlito"/>
                <a:cs typeface="Carlito"/>
              </a:rPr>
              <a:t> </a:t>
            </a:r>
            <a:r>
              <a:rPr sz="1700" dirty="0">
                <a:latin typeface="Carlito"/>
                <a:cs typeface="Carlito"/>
              </a:rPr>
              <a:t>index</a:t>
            </a:r>
            <a:r>
              <a:rPr sz="1700" spc="430" dirty="0">
                <a:latin typeface="Carlito"/>
                <a:cs typeface="Carlito"/>
              </a:rPr>
              <a:t> </a:t>
            </a:r>
            <a:r>
              <a:rPr sz="1700" dirty="0">
                <a:latin typeface="Carlito"/>
                <a:cs typeface="Carlito"/>
              </a:rPr>
              <a:t>ranges</a:t>
            </a:r>
            <a:r>
              <a:rPr sz="1700" spc="450" dirty="0">
                <a:latin typeface="Carlito"/>
                <a:cs typeface="Carlito"/>
              </a:rPr>
              <a:t> </a:t>
            </a:r>
            <a:r>
              <a:rPr sz="1700" dirty="0">
                <a:latin typeface="Carlito"/>
                <a:cs typeface="Carlito"/>
              </a:rPr>
              <a:t>from</a:t>
            </a:r>
            <a:r>
              <a:rPr sz="1700" spc="430" dirty="0">
                <a:latin typeface="Carlito"/>
                <a:cs typeface="Carlito"/>
              </a:rPr>
              <a:t> </a:t>
            </a:r>
            <a:r>
              <a:rPr sz="1700" dirty="0">
                <a:latin typeface="Carlito"/>
                <a:cs typeface="Carlito"/>
              </a:rPr>
              <a:t>0</a:t>
            </a:r>
            <a:r>
              <a:rPr sz="1700" spc="434" dirty="0">
                <a:latin typeface="Carlito"/>
                <a:cs typeface="Carlito"/>
              </a:rPr>
              <a:t> </a:t>
            </a:r>
            <a:r>
              <a:rPr sz="1700" spc="-25" dirty="0">
                <a:latin typeface="Carlito"/>
                <a:cs typeface="Carlito"/>
              </a:rPr>
              <a:t>to </a:t>
            </a:r>
            <a:r>
              <a:rPr sz="1700" dirty="0">
                <a:latin typeface="Carlito"/>
                <a:cs typeface="Carlito"/>
              </a:rPr>
              <a:t>length()</a:t>
            </a:r>
            <a:r>
              <a:rPr sz="1700" spc="30" dirty="0">
                <a:latin typeface="Carlito"/>
                <a:cs typeface="Carlito"/>
              </a:rPr>
              <a:t> </a:t>
            </a:r>
            <a:r>
              <a:rPr sz="1700" dirty="0">
                <a:latin typeface="Carlito"/>
                <a:cs typeface="Carlito"/>
              </a:rPr>
              <a:t>-</a:t>
            </a:r>
            <a:r>
              <a:rPr sz="1700" spc="20" dirty="0">
                <a:latin typeface="Carlito"/>
                <a:cs typeface="Carlito"/>
              </a:rPr>
              <a:t> </a:t>
            </a:r>
            <a:r>
              <a:rPr sz="1700" dirty="0">
                <a:latin typeface="Carlito"/>
                <a:cs typeface="Carlito"/>
              </a:rPr>
              <a:t>1.</a:t>
            </a:r>
            <a:r>
              <a:rPr sz="1700" spc="35" dirty="0">
                <a:latin typeface="Carlito"/>
                <a:cs typeface="Carlito"/>
              </a:rPr>
              <a:t> </a:t>
            </a:r>
            <a:r>
              <a:rPr sz="1700" dirty="0">
                <a:latin typeface="Carlito"/>
                <a:cs typeface="Carlito"/>
              </a:rPr>
              <a:t>The</a:t>
            </a:r>
            <a:r>
              <a:rPr sz="1700" spc="30" dirty="0">
                <a:latin typeface="Carlito"/>
                <a:cs typeface="Carlito"/>
              </a:rPr>
              <a:t> </a:t>
            </a:r>
            <a:r>
              <a:rPr sz="1700" dirty="0">
                <a:latin typeface="Carlito"/>
                <a:cs typeface="Carlito"/>
              </a:rPr>
              <a:t>first</a:t>
            </a:r>
            <a:r>
              <a:rPr sz="1700" spc="30" dirty="0">
                <a:latin typeface="Carlito"/>
                <a:cs typeface="Carlito"/>
              </a:rPr>
              <a:t> </a:t>
            </a:r>
            <a:r>
              <a:rPr sz="1700" dirty="0">
                <a:latin typeface="Carlito"/>
                <a:cs typeface="Carlito"/>
              </a:rPr>
              <a:t>character</a:t>
            </a:r>
            <a:r>
              <a:rPr sz="1700" spc="40" dirty="0">
                <a:latin typeface="Carlito"/>
                <a:cs typeface="Carlito"/>
              </a:rPr>
              <a:t> </a:t>
            </a:r>
            <a:r>
              <a:rPr sz="1700" dirty="0">
                <a:latin typeface="Carlito"/>
                <a:cs typeface="Carlito"/>
              </a:rPr>
              <a:t>of</a:t>
            </a:r>
            <a:r>
              <a:rPr sz="1700" spc="25" dirty="0">
                <a:latin typeface="Carlito"/>
                <a:cs typeface="Carlito"/>
              </a:rPr>
              <a:t> </a:t>
            </a:r>
            <a:r>
              <a:rPr sz="1700" dirty="0">
                <a:latin typeface="Carlito"/>
                <a:cs typeface="Carlito"/>
              </a:rPr>
              <a:t>the</a:t>
            </a:r>
            <a:r>
              <a:rPr sz="1700" spc="25" dirty="0">
                <a:latin typeface="Carlito"/>
                <a:cs typeface="Carlito"/>
              </a:rPr>
              <a:t> </a:t>
            </a:r>
            <a:r>
              <a:rPr sz="1700" dirty="0">
                <a:latin typeface="Carlito"/>
                <a:cs typeface="Carlito"/>
              </a:rPr>
              <a:t>sequence</a:t>
            </a:r>
            <a:r>
              <a:rPr sz="1700" spc="45" dirty="0">
                <a:latin typeface="Carlito"/>
                <a:cs typeface="Carlito"/>
              </a:rPr>
              <a:t> </a:t>
            </a:r>
            <a:r>
              <a:rPr sz="1700" dirty="0">
                <a:latin typeface="Carlito"/>
                <a:cs typeface="Carlito"/>
              </a:rPr>
              <a:t>is</a:t>
            </a:r>
            <a:r>
              <a:rPr sz="1700" spc="35" dirty="0">
                <a:latin typeface="Carlito"/>
                <a:cs typeface="Carlito"/>
              </a:rPr>
              <a:t> </a:t>
            </a:r>
            <a:r>
              <a:rPr sz="1700" dirty="0">
                <a:latin typeface="Carlito"/>
                <a:cs typeface="Carlito"/>
              </a:rPr>
              <a:t>at</a:t>
            </a:r>
            <a:r>
              <a:rPr sz="1700" spc="20" dirty="0">
                <a:latin typeface="Carlito"/>
                <a:cs typeface="Carlito"/>
              </a:rPr>
              <a:t> </a:t>
            </a:r>
            <a:r>
              <a:rPr sz="1700" dirty="0">
                <a:latin typeface="Carlito"/>
                <a:cs typeface="Carlito"/>
              </a:rPr>
              <a:t>index</a:t>
            </a:r>
            <a:r>
              <a:rPr sz="1700" spc="40" dirty="0">
                <a:latin typeface="Carlito"/>
                <a:cs typeface="Carlito"/>
              </a:rPr>
              <a:t> </a:t>
            </a:r>
            <a:r>
              <a:rPr sz="1700" dirty="0">
                <a:latin typeface="Carlito"/>
                <a:cs typeface="Carlito"/>
              </a:rPr>
              <a:t>0,</a:t>
            </a:r>
            <a:r>
              <a:rPr sz="1700" spc="20" dirty="0">
                <a:latin typeface="Carlito"/>
                <a:cs typeface="Carlito"/>
              </a:rPr>
              <a:t> </a:t>
            </a:r>
            <a:r>
              <a:rPr sz="1700" dirty="0">
                <a:latin typeface="Carlito"/>
                <a:cs typeface="Carlito"/>
              </a:rPr>
              <a:t>the</a:t>
            </a:r>
            <a:r>
              <a:rPr sz="1700" spc="25" dirty="0">
                <a:latin typeface="Carlito"/>
                <a:cs typeface="Carlito"/>
              </a:rPr>
              <a:t> </a:t>
            </a:r>
            <a:r>
              <a:rPr sz="1700" dirty="0">
                <a:latin typeface="Carlito"/>
                <a:cs typeface="Carlito"/>
              </a:rPr>
              <a:t>next</a:t>
            </a:r>
            <a:r>
              <a:rPr sz="1700" spc="20" dirty="0">
                <a:latin typeface="Carlito"/>
                <a:cs typeface="Carlito"/>
              </a:rPr>
              <a:t> </a:t>
            </a:r>
            <a:r>
              <a:rPr sz="1700" dirty="0">
                <a:latin typeface="Carlito"/>
                <a:cs typeface="Carlito"/>
              </a:rPr>
              <a:t>at</a:t>
            </a:r>
            <a:r>
              <a:rPr sz="1700" spc="30" dirty="0">
                <a:latin typeface="Carlito"/>
                <a:cs typeface="Carlito"/>
              </a:rPr>
              <a:t> </a:t>
            </a:r>
            <a:r>
              <a:rPr sz="1700" spc="-10" dirty="0">
                <a:latin typeface="Carlito"/>
                <a:cs typeface="Carlito"/>
              </a:rPr>
              <a:t>index </a:t>
            </a:r>
            <a:r>
              <a:rPr sz="1700" dirty="0">
                <a:latin typeface="Carlito"/>
                <a:cs typeface="Carlito"/>
              </a:rPr>
              <a:t>1,</a:t>
            </a:r>
            <a:r>
              <a:rPr sz="1700" spc="-15" dirty="0">
                <a:latin typeface="Carlito"/>
                <a:cs typeface="Carlito"/>
              </a:rPr>
              <a:t> </a:t>
            </a:r>
            <a:r>
              <a:rPr sz="1700" dirty="0">
                <a:latin typeface="Carlito"/>
                <a:cs typeface="Carlito"/>
              </a:rPr>
              <a:t>and</a:t>
            </a:r>
            <a:r>
              <a:rPr sz="1700" spc="-50" dirty="0">
                <a:latin typeface="Carlito"/>
                <a:cs typeface="Carlito"/>
              </a:rPr>
              <a:t> </a:t>
            </a:r>
            <a:r>
              <a:rPr sz="1700" dirty="0">
                <a:latin typeface="Carlito"/>
                <a:cs typeface="Carlito"/>
              </a:rPr>
              <a:t>so</a:t>
            </a:r>
            <a:r>
              <a:rPr sz="1700" spc="-15" dirty="0">
                <a:latin typeface="Carlito"/>
                <a:cs typeface="Carlito"/>
              </a:rPr>
              <a:t> </a:t>
            </a:r>
            <a:r>
              <a:rPr sz="1700" dirty="0">
                <a:latin typeface="Carlito"/>
                <a:cs typeface="Carlito"/>
              </a:rPr>
              <a:t>on,</a:t>
            </a:r>
            <a:r>
              <a:rPr sz="1700" spc="-25" dirty="0">
                <a:latin typeface="Carlito"/>
                <a:cs typeface="Carlito"/>
              </a:rPr>
              <a:t> </a:t>
            </a:r>
            <a:r>
              <a:rPr sz="1700" dirty="0">
                <a:latin typeface="Carlito"/>
                <a:cs typeface="Carlito"/>
              </a:rPr>
              <a:t>as</a:t>
            </a:r>
            <a:r>
              <a:rPr sz="1700" spc="-30" dirty="0">
                <a:latin typeface="Carlito"/>
                <a:cs typeface="Carlito"/>
              </a:rPr>
              <a:t> </a:t>
            </a:r>
            <a:r>
              <a:rPr sz="1700" dirty="0">
                <a:latin typeface="Carlito"/>
                <a:cs typeface="Carlito"/>
              </a:rPr>
              <a:t>for</a:t>
            </a:r>
            <a:r>
              <a:rPr sz="1700" spc="-15" dirty="0">
                <a:latin typeface="Carlito"/>
                <a:cs typeface="Carlito"/>
              </a:rPr>
              <a:t> </a:t>
            </a:r>
            <a:r>
              <a:rPr sz="1700" dirty="0">
                <a:latin typeface="Carlito"/>
                <a:cs typeface="Carlito"/>
              </a:rPr>
              <a:t>array</a:t>
            </a:r>
            <a:r>
              <a:rPr sz="1700" spc="-35" dirty="0">
                <a:latin typeface="Carlito"/>
                <a:cs typeface="Carlito"/>
              </a:rPr>
              <a:t> </a:t>
            </a:r>
            <a:r>
              <a:rPr sz="1700" spc="-10" dirty="0">
                <a:latin typeface="Carlito"/>
                <a:cs typeface="Carlito"/>
              </a:rPr>
              <a:t>indexing.</a:t>
            </a:r>
            <a:endParaRPr sz="1700">
              <a:latin typeface="Carlito"/>
              <a:cs typeface="Carlito"/>
            </a:endParaRPr>
          </a:p>
          <a:p>
            <a:pPr marL="274320" marR="600075" indent="-262255" algn="just">
              <a:lnSpc>
                <a:spcPct val="100000"/>
              </a:lnSpc>
              <a:buFont typeface="Carlito"/>
              <a:buAutoNum type="arabicPeriod"/>
              <a:tabLst>
                <a:tab pos="355600" algn="l"/>
              </a:tabLst>
            </a:pPr>
            <a:r>
              <a:rPr sz="1700" b="1" spc="-10" dirty="0">
                <a:latin typeface="Carlito"/>
                <a:cs typeface="Carlito"/>
              </a:rPr>
              <a:t>getChars()</a:t>
            </a:r>
            <a:r>
              <a:rPr sz="1700" b="1" spc="-35" dirty="0">
                <a:latin typeface="Carlito"/>
                <a:cs typeface="Carlito"/>
              </a:rPr>
              <a:t> </a:t>
            </a:r>
            <a:r>
              <a:rPr sz="1700" b="1" dirty="0">
                <a:latin typeface="Carlito"/>
                <a:cs typeface="Carlito"/>
              </a:rPr>
              <a:t>-</a:t>
            </a:r>
            <a:r>
              <a:rPr sz="1700" b="1" spc="-5" dirty="0">
                <a:latin typeface="Carlito"/>
                <a:cs typeface="Carlito"/>
              </a:rPr>
              <a:t> </a:t>
            </a:r>
            <a:r>
              <a:rPr sz="1700" dirty="0">
                <a:latin typeface="Carlito"/>
                <a:cs typeface="Carlito"/>
              </a:rPr>
              <a:t>Copies</a:t>
            </a:r>
            <a:r>
              <a:rPr sz="1700" spc="-25" dirty="0">
                <a:latin typeface="Carlito"/>
                <a:cs typeface="Carlito"/>
              </a:rPr>
              <a:t> </a:t>
            </a:r>
            <a:r>
              <a:rPr sz="1700" spc="-10" dirty="0">
                <a:latin typeface="Carlito"/>
                <a:cs typeface="Carlito"/>
              </a:rPr>
              <a:t>characters</a:t>
            </a:r>
            <a:r>
              <a:rPr sz="1700" spc="-55" dirty="0">
                <a:latin typeface="Carlito"/>
                <a:cs typeface="Carlito"/>
              </a:rPr>
              <a:t> </a:t>
            </a:r>
            <a:r>
              <a:rPr sz="1700" dirty="0">
                <a:latin typeface="Carlito"/>
                <a:cs typeface="Carlito"/>
              </a:rPr>
              <a:t>from</a:t>
            </a:r>
            <a:r>
              <a:rPr sz="1700" spc="-25" dirty="0">
                <a:latin typeface="Carlito"/>
                <a:cs typeface="Carlito"/>
              </a:rPr>
              <a:t> </a:t>
            </a:r>
            <a:r>
              <a:rPr sz="1700" dirty="0">
                <a:latin typeface="Carlito"/>
                <a:cs typeface="Carlito"/>
              </a:rPr>
              <a:t>this</a:t>
            </a:r>
            <a:r>
              <a:rPr sz="1700" spc="-25" dirty="0">
                <a:latin typeface="Carlito"/>
                <a:cs typeface="Carlito"/>
              </a:rPr>
              <a:t> </a:t>
            </a:r>
            <a:r>
              <a:rPr sz="1700" dirty="0">
                <a:latin typeface="Carlito"/>
                <a:cs typeface="Carlito"/>
              </a:rPr>
              <a:t>string</a:t>
            </a:r>
            <a:r>
              <a:rPr sz="1700" spc="-20" dirty="0">
                <a:latin typeface="Carlito"/>
                <a:cs typeface="Carlito"/>
              </a:rPr>
              <a:t> </a:t>
            </a:r>
            <a:r>
              <a:rPr sz="1700" dirty="0">
                <a:latin typeface="Carlito"/>
                <a:cs typeface="Carlito"/>
              </a:rPr>
              <a:t>into</a:t>
            </a:r>
            <a:r>
              <a:rPr sz="1700" spc="-35" dirty="0">
                <a:latin typeface="Carlito"/>
                <a:cs typeface="Carlito"/>
              </a:rPr>
              <a:t> </a:t>
            </a:r>
            <a:r>
              <a:rPr sz="1700" dirty="0">
                <a:latin typeface="Carlito"/>
                <a:cs typeface="Carlito"/>
              </a:rPr>
              <a:t>the</a:t>
            </a:r>
            <a:r>
              <a:rPr sz="1700" spc="-20" dirty="0">
                <a:latin typeface="Carlito"/>
                <a:cs typeface="Carlito"/>
              </a:rPr>
              <a:t> </a:t>
            </a:r>
            <a:r>
              <a:rPr sz="1700" spc="-10" dirty="0">
                <a:latin typeface="Carlito"/>
                <a:cs typeface="Carlito"/>
              </a:rPr>
              <a:t>destination</a:t>
            </a:r>
            <a:r>
              <a:rPr sz="1700" spc="-65" dirty="0">
                <a:latin typeface="Carlito"/>
                <a:cs typeface="Carlito"/>
              </a:rPr>
              <a:t> </a:t>
            </a:r>
            <a:r>
              <a:rPr sz="1700" dirty="0">
                <a:latin typeface="Carlito"/>
                <a:cs typeface="Carlito"/>
              </a:rPr>
              <a:t>character</a:t>
            </a:r>
            <a:r>
              <a:rPr sz="1700" spc="-30" dirty="0">
                <a:latin typeface="Carlito"/>
                <a:cs typeface="Carlito"/>
              </a:rPr>
              <a:t> </a:t>
            </a:r>
            <a:r>
              <a:rPr sz="1700" spc="-10" dirty="0">
                <a:latin typeface="Carlito"/>
                <a:cs typeface="Carlito"/>
              </a:rPr>
              <a:t>array. 	</a:t>
            </a:r>
            <a:r>
              <a:rPr sz="1700" dirty="0">
                <a:latin typeface="Carlito"/>
                <a:cs typeface="Carlito"/>
              </a:rPr>
              <a:t>public</a:t>
            </a:r>
            <a:r>
              <a:rPr sz="1700" spc="-35" dirty="0">
                <a:latin typeface="Carlito"/>
                <a:cs typeface="Carlito"/>
              </a:rPr>
              <a:t> </a:t>
            </a:r>
            <a:r>
              <a:rPr sz="1700" dirty="0">
                <a:latin typeface="Carlito"/>
                <a:cs typeface="Carlito"/>
              </a:rPr>
              <a:t>void</a:t>
            </a:r>
            <a:r>
              <a:rPr sz="1700" spc="-35" dirty="0">
                <a:latin typeface="Carlito"/>
                <a:cs typeface="Carlito"/>
              </a:rPr>
              <a:t> </a:t>
            </a:r>
            <a:r>
              <a:rPr sz="1700" b="1" spc="-10" dirty="0">
                <a:latin typeface="Carlito"/>
                <a:cs typeface="Carlito"/>
              </a:rPr>
              <a:t>getChars</a:t>
            </a:r>
            <a:r>
              <a:rPr sz="1700" spc="-10" dirty="0">
                <a:latin typeface="Carlito"/>
                <a:cs typeface="Carlito"/>
              </a:rPr>
              <a:t>(int</a:t>
            </a:r>
            <a:r>
              <a:rPr sz="1700" spc="-45" dirty="0">
                <a:latin typeface="Carlito"/>
                <a:cs typeface="Carlito"/>
              </a:rPr>
              <a:t> </a:t>
            </a:r>
            <a:r>
              <a:rPr sz="1700" dirty="0">
                <a:latin typeface="Carlito"/>
                <a:cs typeface="Carlito"/>
              </a:rPr>
              <a:t>srcBegin,</a:t>
            </a:r>
            <a:r>
              <a:rPr sz="1700" spc="-40" dirty="0">
                <a:latin typeface="Carlito"/>
                <a:cs typeface="Carlito"/>
              </a:rPr>
              <a:t> </a:t>
            </a:r>
            <a:r>
              <a:rPr sz="1700" dirty="0">
                <a:latin typeface="Carlito"/>
                <a:cs typeface="Carlito"/>
              </a:rPr>
              <a:t>int</a:t>
            </a:r>
            <a:r>
              <a:rPr sz="1700" spc="-30" dirty="0">
                <a:latin typeface="Carlito"/>
                <a:cs typeface="Carlito"/>
              </a:rPr>
              <a:t> </a:t>
            </a:r>
            <a:r>
              <a:rPr sz="1700" dirty="0">
                <a:latin typeface="Carlito"/>
                <a:cs typeface="Carlito"/>
              </a:rPr>
              <a:t>srcEnd,</a:t>
            </a:r>
            <a:r>
              <a:rPr sz="1700" spc="-40" dirty="0">
                <a:latin typeface="Carlito"/>
                <a:cs typeface="Carlito"/>
              </a:rPr>
              <a:t> </a:t>
            </a:r>
            <a:r>
              <a:rPr sz="1700" dirty="0">
                <a:latin typeface="Carlito"/>
                <a:cs typeface="Carlito"/>
              </a:rPr>
              <a:t>char[]</a:t>
            </a:r>
            <a:r>
              <a:rPr sz="1700" spc="-30" dirty="0">
                <a:latin typeface="Carlito"/>
                <a:cs typeface="Carlito"/>
              </a:rPr>
              <a:t> </a:t>
            </a:r>
            <a:r>
              <a:rPr sz="1700" dirty="0">
                <a:latin typeface="Carlito"/>
                <a:cs typeface="Carlito"/>
              </a:rPr>
              <a:t>dst,</a:t>
            </a:r>
            <a:r>
              <a:rPr sz="1700" spc="-30" dirty="0">
                <a:latin typeface="Carlito"/>
                <a:cs typeface="Carlito"/>
              </a:rPr>
              <a:t> </a:t>
            </a:r>
            <a:r>
              <a:rPr sz="1700" dirty="0">
                <a:latin typeface="Carlito"/>
                <a:cs typeface="Carlito"/>
              </a:rPr>
              <a:t>int</a:t>
            </a:r>
            <a:r>
              <a:rPr sz="1700" spc="-35" dirty="0">
                <a:latin typeface="Carlito"/>
                <a:cs typeface="Carlito"/>
              </a:rPr>
              <a:t> </a:t>
            </a:r>
            <a:r>
              <a:rPr sz="1700" spc="-10" dirty="0">
                <a:latin typeface="Carlito"/>
                <a:cs typeface="Carlito"/>
              </a:rPr>
              <a:t>dstBegin)</a:t>
            </a:r>
            <a:endParaRPr sz="1700">
              <a:latin typeface="Carlito"/>
              <a:cs typeface="Carlito"/>
            </a:endParaRPr>
          </a:p>
          <a:p>
            <a:pPr marL="1155700" lvl="1" indent="-228600">
              <a:lnSpc>
                <a:spcPct val="100000"/>
              </a:lnSpc>
              <a:buFont typeface="Arial"/>
              <a:buChar char="•"/>
              <a:tabLst>
                <a:tab pos="1155700" algn="l"/>
              </a:tabLst>
            </a:pPr>
            <a:r>
              <a:rPr sz="1700" dirty="0">
                <a:latin typeface="Carlito"/>
                <a:cs typeface="Carlito"/>
              </a:rPr>
              <a:t>srcBegin</a:t>
            </a:r>
            <a:r>
              <a:rPr sz="1700" spc="-25" dirty="0">
                <a:latin typeface="Carlito"/>
                <a:cs typeface="Carlito"/>
              </a:rPr>
              <a:t> </a:t>
            </a:r>
            <a:r>
              <a:rPr sz="1700" dirty="0">
                <a:latin typeface="Carlito"/>
                <a:cs typeface="Carlito"/>
              </a:rPr>
              <a:t>-</a:t>
            </a:r>
            <a:r>
              <a:rPr sz="1700" spc="-40" dirty="0">
                <a:latin typeface="Carlito"/>
                <a:cs typeface="Carlito"/>
              </a:rPr>
              <a:t> </a:t>
            </a:r>
            <a:r>
              <a:rPr sz="1700" dirty="0">
                <a:latin typeface="Carlito"/>
                <a:cs typeface="Carlito"/>
              </a:rPr>
              <a:t>index</a:t>
            </a:r>
            <a:r>
              <a:rPr sz="1700" spc="-55" dirty="0">
                <a:latin typeface="Carlito"/>
                <a:cs typeface="Carlito"/>
              </a:rPr>
              <a:t> </a:t>
            </a:r>
            <a:r>
              <a:rPr sz="1700" dirty="0">
                <a:latin typeface="Carlito"/>
                <a:cs typeface="Carlito"/>
              </a:rPr>
              <a:t>of</a:t>
            </a:r>
            <a:r>
              <a:rPr sz="1700" spc="-15" dirty="0">
                <a:latin typeface="Carlito"/>
                <a:cs typeface="Carlito"/>
              </a:rPr>
              <a:t> </a:t>
            </a:r>
            <a:r>
              <a:rPr sz="1700" dirty="0">
                <a:latin typeface="Carlito"/>
                <a:cs typeface="Carlito"/>
              </a:rPr>
              <a:t>the</a:t>
            </a:r>
            <a:r>
              <a:rPr sz="1700" spc="-30" dirty="0">
                <a:latin typeface="Carlito"/>
                <a:cs typeface="Carlito"/>
              </a:rPr>
              <a:t> </a:t>
            </a:r>
            <a:r>
              <a:rPr sz="1700" dirty="0">
                <a:latin typeface="Carlito"/>
                <a:cs typeface="Carlito"/>
              </a:rPr>
              <a:t>first</a:t>
            </a:r>
            <a:r>
              <a:rPr sz="1700" spc="-25" dirty="0">
                <a:latin typeface="Carlito"/>
                <a:cs typeface="Carlito"/>
              </a:rPr>
              <a:t> </a:t>
            </a:r>
            <a:r>
              <a:rPr sz="1700" dirty="0">
                <a:latin typeface="Carlito"/>
                <a:cs typeface="Carlito"/>
              </a:rPr>
              <a:t>character</a:t>
            </a:r>
            <a:r>
              <a:rPr sz="1700" spc="-35" dirty="0">
                <a:latin typeface="Carlito"/>
                <a:cs typeface="Carlito"/>
              </a:rPr>
              <a:t> </a:t>
            </a:r>
            <a:r>
              <a:rPr sz="1700" dirty="0">
                <a:latin typeface="Carlito"/>
                <a:cs typeface="Carlito"/>
              </a:rPr>
              <a:t>in</a:t>
            </a:r>
            <a:r>
              <a:rPr sz="1700" spc="-40" dirty="0">
                <a:latin typeface="Carlito"/>
                <a:cs typeface="Carlito"/>
              </a:rPr>
              <a:t> </a:t>
            </a:r>
            <a:r>
              <a:rPr sz="1700" dirty="0">
                <a:latin typeface="Carlito"/>
                <a:cs typeface="Carlito"/>
              </a:rPr>
              <a:t>the</a:t>
            </a:r>
            <a:r>
              <a:rPr sz="1700" spc="-30" dirty="0">
                <a:latin typeface="Carlito"/>
                <a:cs typeface="Carlito"/>
              </a:rPr>
              <a:t> </a:t>
            </a:r>
            <a:r>
              <a:rPr sz="1700" dirty="0">
                <a:latin typeface="Carlito"/>
                <a:cs typeface="Carlito"/>
              </a:rPr>
              <a:t>string</a:t>
            </a:r>
            <a:r>
              <a:rPr sz="1700" spc="-25" dirty="0">
                <a:latin typeface="Carlito"/>
                <a:cs typeface="Carlito"/>
              </a:rPr>
              <a:t> </a:t>
            </a:r>
            <a:r>
              <a:rPr sz="1700" dirty="0">
                <a:latin typeface="Carlito"/>
                <a:cs typeface="Carlito"/>
              </a:rPr>
              <a:t>to</a:t>
            </a:r>
            <a:r>
              <a:rPr sz="1700" spc="-40" dirty="0">
                <a:latin typeface="Carlito"/>
                <a:cs typeface="Carlito"/>
              </a:rPr>
              <a:t> </a:t>
            </a:r>
            <a:r>
              <a:rPr sz="1700" spc="-10" dirty="0">
                <a:latin typeface="Carlito"/>
                <a:cs typeface="Carlito"/>
              </a:rPr>
              <a:t>copy.</a:t>
            </a:r>
            <a:endParaRPr sz="1700">
              <a:latin typeface="Carlito"/>
              <a:cs typeface="Carlito"/>
            </a:endParaRPr>
          </a:p>
          <a:p>
            <a:pPr marL="1155700" lvl="1" indent="-228600">
              <a:lnSpc>
                <a:spcPct val="100000"/>
              </a:lnSpc>
              <a:buFont typeface="Arial"/>
              <a:buChar char="•"/>
              <a:tabLst>
                <a:tab pos="1155700" algn="l"/>
              </a:tabLst>
            </a:pPr>
            <a:r>
              <a:rPr sz="1700" dirty="0">
                <a:latin typeface="Carlito"/>
                <a:cs typeface="Carlito"/>
              </a:rPr>
              <a:t>srcEnd</a:t>
            </a:r>
            <a:r>
              <a:rPr sz="1700" spc="-50" dirty="0">
                <a:latin typeface="Carlito"/>
                <a:cs typeface="Carlito"/>
              </a:rPr>
              <a:t> </a:t>
            </a:r>
            <a:r>
              <a:rPr sz="1700" dirty="0">
                <a:latin typeface="Carlito"/>
                <a:cs typeface="Carlito"/>
              </a:rPr>
              <a:t>-</a:t>
            </a:r>
            <a:r>
              <a:rPr sz="1700" spc="-10" dirty="0">
                <a:latin typeface="Carlito"/>
                <a:cs typeface="Carlito"/>
              </a:rPr>
              <a:t> </a:t>
            </a:r>
            <a:r>
              <a:rPr sz="1700" dirty="0">
                <a:latin typeface="Carlito"/>
                <a:cs typeface="Carlito"/>
              </a:rPr>
              <a:t>index</a:t>
            </a:r>
            <a:r>
              <a:rPr sz="1700" spc="-35" dirty="0">
                <a:latin typeface="Carlito"/>
                <a:cs typeface="Carlito"/>
              </a:rPr>
              <a:t> </a:t>
            </a:r>
            <a:r>
              <a:rPr sz="1700" dirty="0">
                <a:latin typeface="Carlito"/>
                <a:cs typeface="Carlito"/>
              </a:rPr>
              <a:t>after</a:t>
            </a:r>
            <a:r>
              <a:rPr sz="1700" spc="-10" dirty="0">
                <a:latin typeface="Carlito"/>
                <a:cs typeface="Carlito"/>
              </a:rPr>
              <a:t> </a:t>
            </a:r>
            <a:r>
              <a:rPr sz="1700" dirty="0">
                <a:latin typeface="Carlito"/>
                <a:cs typeface="Carlito"/>
              </a:rPr>
              <a:t>the</a:t>
            </a:r>
            <a:r>
              <a:rPr sz="1700" spc="-25" dirty="0">
                <a:latin typeface="Carlito"/>
                <a:cs typeface="Carlito"/>
              </a:rPr>
              <a:t> </a:t>
            </a:r>
            <a:r>
              <a:rPr sz="1700" dirty="0">
                <a:latin typeface="Carlito"/>
                <a:cs typeface="Carlito"/>
              </a:rPr>
              <a:t>last</a:t>
            </a:r>
            <a:r>
              <a:rPr sz="1700" spc="-15" dirty="0">
                <a:latin typeface="Carlito"/>
                <a:cs typeface="Carlito"/>
              </a:rPr>
              <a:t> </a:t>
            </a:r>
            <a:r>
              <a:rPr sz="1700" spc="-10" dirty="0">
                <a:latin typeface="Carlito"/>
                <a:cs typeface="Carlito"/>
              </a:rPr>
              <a:t>character</a:t>
            </a:r>
            <a:r>
              <a:rPr sz="1700" spc="-30" dirty="0">
                <a:latin typeface="Carlito"/>
                <a:cs typeface="Carlito"/>
              </a:rPr>
              <a:t> </a:t>
            </a:r>
            <a:r>
              <a:rPr sz="1700" dirty="0">
                <a:latin typeface="Carlito"/>
                <a:cs typeface="Carlito"/>
              </a:rPr>
              <a:t>in</a:t>
            </a:r>
            <a:r>
              <a:rPr sz="1700" spc="-30" dirty="0">
                <a:latin typeface="Carlito"/>
                <a:cs typeface="Carlito"/>
              </a:rPr>
              <a:t> </a:t>
            </a:r>
            <a:r>
              <a:rPr sz="1700" dirty="0">
                <a:latin typeface="Carlito"/>
                <a:cs typeface="Carlito"/>
              </a:rPr>
              <a:t>the</a:t>
            </a:r>
            <a:r>
              <a:rPr sz="1700" spc="-25" dirty="0">
                <a:latin typeface="Carlito"/>
                <a:cs typeface="Carlito"/>
              </a:rPr>
              <a:t> </a:t>
            </a:r>
            <a:r>
              <a:rPr sz="1700" dirty="0">
                <a:latin typeface="Carlito"/>
                <a:cs typeface="Carlito"/>
              </a:rPr>
              <a:t>string</a:t>
            </a:r>
            <a:r>
              <a:rPr sz="1700" spc="-40" dirty="0">
                <a:latin typeface="Carlito"/>
                <a:cs typeface="Carlito"/>
              </a:rPr>
              <a:t> </a:t>
            </a:r>
            <a:r>
              <a:rPr sz="1700" dirty="0">
                <a:latin typeface="Carlito"/>
                <a:cs typeface="Carlito"/>
              </a:rPr>
              <a:t>to</a:t>
            </a:r>
            <a:r>
              <a:rPr sz="1700" spc="-10" dirty="0">
                <a:latin typeface="Carlito"/>
                <a:cs typeface="Carlito"/>
              </a:rPr>
              <a:t> copy.</a:t>
            </a:r>
            <a:endParaRPr sz="1700">
              <a:latin typeface="Carlito"/>
              <a:cs typeface="Carlito"/>
            </a:endParaRPr>
          </a:p>
          <a:p>
            <a:pPr marL="1155700" lvl="1" indent="-228600">
              <a:lnSpc>
                <a:spcPct val="100000"/>
              </a:lnSpc>
              <a:buFont typeface="Arial"/>
              <a:buChar char="•"/>
              <a:tabLst>
                <a:tab pos="1155700" algn="l"/>
              </a:tabLst>
            </a:pPr>
            <a:r>
              <a:rPr sz="1700" dirty="0">
                <a:latin typeface="Carlito"/>
                <a:cs typeface="Carlito"/>
              </a:rPr>
              <a:t>dst</a:t>
            </a:r>
            <a:r>
              <a:rPr sz="1700" spc="-5" dirty="0">
                <a:latin typeface="Carlito"/>
                <a:cs typeface="Carlito"/>
              </a:rPr>
              <a:t> </a:t>
            </a:r>
            <a:r>
              <a:rPr sz="1700" dirty="0">
                <a:latin typeface="Carlito"/>
                <a:cs typeface="Carlito"/>
              </a:rPr>
              <a:t>-</a:t>
            </a:r>
            <a:r>
              <a:rPr sz="1700" spc="10" dirty="0">
                <a:latin typeface="Carlito"/>
                <a:cs typeface="Carlito"/>
              </a:rPr>
              <a:t> </a:t>
            </a:r>
            <a:r>
              <a:rPr sz="1700" dirty="0">
                <a:latin typeface="Carlito"/>
                <a:cs typeface="Carlito"/>
              </a:rPr>
              <a:t>the</a:t>
            </a:r>
            <a:r>
              <a:rPr sz="1700" spc="-5" dirty="0">
                <a:latin typeface="Carlito"/>
                <a:cs typeface="Carlito"/>
              </a:rPr>
              <a:t> </a:t>
            </a:r>
            <a:r>
              <a:rPr sz="1700" spc="-10" dirty="0">
                <a:latin typeface="Carlito"/>
                <a:cs typeface="Carlito"/>
              </a:rPr>
              <a:t>destination</a:t>
            </a:r>
            <a:r>
              <a:rPr sz="1700" spc="-30" dirty="0">
                <a:latin typeface="Carlito"/>
                <a:cs typeface="Carlito"/>
              </a:rPr>
              <a:t> </a:t>
            </a:r>
            <a:r>
              <a:rPr sz="1700" spc="-10" dirty="0">
                <a:latin typeface="Carlito"/>
                <a:cs typeface="Carlito"/>
              </a:rPr>
              <a:t>array.</a:t>
            </a:r>
            <a:endParaRPr sz="1700">
              <a:latin typeface="Carlito"/>
              <a:cs typeface="Carlito"/>
            </a:endParaRPr>
          </a:p>
          <a:p>
            <a:pPr marL="1155700" lvl="1" indent="-228600">
              <a:lnSpc>
                <a:spcPct val="100000"/>
              </a:lnSpc>
              <a:buFont typeface="Arial"/>
              <a:buChar char="•"/>
              <a:tabLst>
                <a:tab pos="1155700" algn="l"/>
              </a:tabLst>
            </a:pPr>
            <a:r>
              <a:rPr sz="1700" dirty="0">
                <a:latin typeface="Carlito"/>
                <a:cs typeface="Carlito"/>
              </a:rPr>
              <a:t>dstBegin</a:t>
            </a:r>
            <a:r>
              <a:rPr sz="1700" spc="-15" dirty="0">
                <a:latin typeface="Carlito"/>
                <a:cs typeface="Carlito"/>
              </a:rPr>
              <a:t> </a:t>
            </a:r>
            <a:r>
              <a:rPr sz="1700" dirty="0">
                <a:latin typeface="Carlito"/>
                <a:cs typeface="Carlito"/>
              </a:rPr>
              <a:t>-</a:t>
            </a:r>
            <a:r>
              <a:rPr sz="1700" spc="-35" dirty="0">
                <a:latin typeface="Carlito"/>
                <a:cs typeface="Carlito"/>
              </a:rPr>
              <a:t> </a:t>
            </a:r>
            <a:r>
              <a:rPr sz="1700" dirty="0">
                <a:latin typeface="Carlito"/>
                <a:cs typeface="Carlito"/>
              </a:rPr>
              <a:t>the</a:t>
            </a:r>
            <a:r>
              <a:rPr sz="1700" spc="-25" dirty="0">
                <a:latin typeface="Carlito"/>
                <a:cs typeface="Carlito"/>
              </a:rPr>
              <a:t> </a:t>
            </a:r>
            <a:r>
              <a:rPr sz="1700" dirty="0">
                <a:latin typeface="Carlito"/>
                <a:cs typeface="Carlito"/>
              </a:rPr>
              <a:t>start</a:t>
            </a:r>
            <a:r>
              <a:rPr sz="1700" spc="-30" dirty="0">
                <a:latin typeface="Carlito"/>
                <a:cs typeface="Carlito"/>
              </a:rPr>
              <a:t> </a:t>
            </a:r>
            <a:r>
              <a:rPr sz="1700" dirty="0">
                <a:latin typeface="Carlito"/>
                <a:cs typeface="Carlito"/>
              </a:rPr>
              <a:t>offset in</a:t>
            </a:r>
            <a:r>
              <a:rPr sz="1700" spc="-15" dirty="0">
                <a:latin typeface="Carlito"/>
                <a:cs typeface="Carlito"/>
              </a:rPr>
              <a:t> </a:t>
            </a:r>
            <a:r>
              <a:rPr sz="1700" dirty="0">
                <a:latin typeface="Carlito"/>
                <a:cs typeface="Carlito"/>
              </a:rPr>
              <a:t>the</a:t>
            </a:r>
            <a:r>
              <a:rPr sz="1700" spc="-25" dirty="0">
                <a:latin typeface="Carlito"/>
                <a:cs typeface="Carlito"/>
              </a:rPr>
              <a:t> </a:t>
            </a:r>
            <a:r>
              <a:rPr sz="1700" spc="-10" dirty="0">
                <a:latin typeface="Carlito"/>
                <a:cs typeface="Carlito"/>
              </a:rPr>
              <a:t>destination</a:t>
            </a:r>
            <a:r>
              <a:rPr sz="1700" spc="-50" dirty="0">
                <a:latin typeface="Carlito"/>
                <a:cs typeface="Carlito"/>
              </a:rPr>
              <a:t> </a:t>
            </a:r>
            <a:r>
              <a:rPr sz="1700" spc="-10" dirty="0">
                <a:latin typeface="Carlito"/>
                <a:cs typeface="Carlito"/>
              </a:rPr>
              <a:t>array.</a:t>
            </a:r>
            <a:endParaRPr sz="1700">
              <a:latin typeface="Carlito"/>
              <a:cs typeface="Carlito"/>
            </a:endParaRPr>
          </a:p>
          <a:p>
            <a:pPr marL="225425" marR="2296160" indent="-213360">
              <a:lnSpc>
                <a:spcPct val="100000"/>
              </a:lnSpc>
              <a:buFont typeface="Carlito"/>
              <a:buAutoNum type="arabicPeriod"/>
              <a:tabLst>
                <a:tab pos="927100" algn="l"/>
              </a:tabLst>
            </a:pPr>
            <a:r>
              <a:rPr sz="1700" b="1" spc="-10" dirty="0">
                <a:latin typeface="Carlito"/>
                <a:cs typeface="Carlito"/>
              </a:rPr>
              <a:t>startsWith()</a:t>
            </a:r>
            <a:r>
              <a:rPr sz="1700" b="1" spc="-55" dirty="0">
                <a:latin typeface="Carlito"/>
                <a:cs typeface="Carlito"/>
              </a:rPr>
              <a:t> </a:t>
            </a:r>
            <a:r>
              <a:rPr sz="1700" dirty="0">
                <a:latin typeface="Carlito"/>
                <a:cs typeface="Carlito"/>
              </a:rPr>
              <a:t>–</a:t>
            </a:r>
            <a:r>
              <a:rPr sz="1700" spc="-15" dirty="0">
                <a:latin typeface="Carlito"/>
                <a:cs typeface="Carlito"/>
              </a:rPr>
              <a:t> </a:t>
            </a:r>
            <a:r>
              <a:rPr sz="1700" spc="-25" dirty="0">
                <a:latin typeface="Carlito"/>
                <a:cs typeface="Carlito"/>
              </a:rPr>
              <a:t>Tests</a:t>
            </a:r>
            <a:r>
              <a:rPr sz="1700" spc="-10" dirty="0">
                <a:latin typeface="Carlito"/>
                <a:cs typeface="Carlito"/>
              </a:rPr>
              <a:t> </a:t>
            </a:r>
            <a:r>
              <a:rPr sz="1700" dirty="0">
                <a:latin typeface="Carlito"/>
                <a:cs typeface="Carlito"/>
              </a:rPr>
              <a:t>if</a:t>
            </a:r>
            <a:r>
              <a:rPr sz="1700" spc="-10" dirty="0">
                <a:latin typeface="Carlito"/>
                <a:cs typeface="Carlito"/>
              </a:rPr>
              <a:t> </a:t>
            </a:r>
            <a:r>
              <a:rPr sz="1700" dirty="0">
                <a:latin typeface="Carlito"/>
                <a:cs typeface="Carlito"/>
              </a:rPr>
              <a:t>this</a:t>
            </a:r>
            <a:r>
              <a:rPr sz="1700" spc="-40" dirty="0">
                <a:latin typeface="Carlito"/>
                <a:cs typeface="Carlito"/>
              </a:rPr>
              <a:t> </a:t>
            </a:r>
            <a:r>
              <a:rPr sz="1700" dirty="0">
                <a:latin typeface="Carlito"/>
                <a:cs typeface="Carlito"/>
              </a:rPr>
              <a:t>string</a:t>
            </a:r>
            <a:r>
              <a:rPr sz="1700" spc="-40" dirty="0">
                <a:latin typeface="Carlito"/>
                <a:cs typeface="Carlito"/>
              </a:rPr>
              <a:t> </a:t>
            </a:r>
            <a:r>
              <a:rPr sz="1700" dirty="0">
                <a:latin typeface="Carlito"/>
                <a:cs typeface="Carlito"/>
              </a:rPr>
              <a:t>starts</a:t>
            </a:r>
            <a:r>
              <a:rPr sz="1700" spc="-30" dirty="0">
                <a:latin typeface="Carlito"/>
                <a:cs typeface="Carlito"/>
              </a:rPr>
              <a:t> </a:t>
            </a:r>
            <a:r>
              <a:rPr sz="1700" dirty="0">
                <a:latin typeface="Carlito"/>
                <a:cs typeface="Carlito"/>
              </a:rPr>
              <a:t>with</a:t>
            </a:r>
            <a:r>
              <a:rPr sz="1700" spc="-40" dirty="0">
                <a:latin typeface="Carlito"/>
                <a:cs typeface="Carlito"/>
              </a:rPr>
              <a:t> </a:t>
            </a:r>
            <a:r>
              <a:rPr sz="1700" dirty="0">
                <a:latin typeface="Carlito"/>
                <a:cs typeface="Carlito"/>
              </a:rPr>
              <a:t>the</a:t>
            </a:r>
            <a:r>
              <a:rPr sz="1700" spc="-25" dirty="0">
                <a:latin typeface="Carlito"/>
                <a:cs typeface="Carlito"/>
              </a:rPr>
              <a:t> </a:t>
            </a:r>
            <a:r>
              <a:rPr sz="1700" dirty="0">
                <a:latin typeface="Carlito"/>
                <a:cs typeface="Carlito"/>
              </a:rPr>
              <a:t>specified</a:t>
            </a:r>
            <a:r>
              <a:rPr sz="1700" spc="-30" dirty="0">
                <a:latin typeface="Carlito"/>
                <a:cs typeface="Carlito"/>
              </a:rPr>
              <a:t> </a:t>
            </a:r>
            <a:r>
              <a:rPr sz="1700" spc="-10" dirty="0">
                <a:latin typeface="Carlito"/>
                <a:cs typeface="Carlito"/>
              </a:rPr>
              <a:t>prefix. 	</a:t>
            </a:r>
            <a:r>
              <a:rPr sz="1700" dirty="0">
                <a:latin typeface="Carlito"/>
                <a:cs typeface="Carlito"/>
              </a:rPr>
              <a:t>public</a:t>
            </a:r>
            <a:r>
              <a:rPr sz="1700" spc="-15" dirty="0">
                <a:latin typeface="Carlito"/>
                <a:cs typeface="Carlito"/>
              </a:rPr>
              <a:t> </a:t>
            </a:r>
            <a:r>
              <a:rPr sz="1700" dirty="0">
                <a:latin typeface="Carlito"/>
                <a:cs typeface="Carlito"/>
              </a:rPr>
              <a:t>boolean</a:t>
            </a:r>
            <a:r>
              <a:rPr sz="1700" spc="-15" dirty="0">
                <a:latin typeface="Carlito"/>
                <a:cs typeface="Carlito"/>
              </a:rPr>
              <a:t> </a:t>
            </a:r>
            <a:r>
              <a:rPr sz="1700" b="1" spc="-10" dirty="0">
                <a:latin typeface="Carlito"/>
                <a:cs typeface="Carlito"/>
              </a:rPr>
              <a:t>startsWith</a:t>
            </a:r>
            <a:r>
              <a:rPr sz="1700" spc="-10" dirty="0">
                <a:latin typeface="Carlito"/>
                <a:cs typeface="Carlito"/>
              </a:rPr>
              <a:t>(String</a:t>
            </a:r>
            <a:r>
              <a:rPr sz="1700" spc="-25" dirty="0">
                <a:latin typeface="Carlito"/>
                <a:cs typeface="Carlito"/>
              </a:rPr>
              <a:t> </a:t>
            </a:r>
            <a:r>
              <a:rPr sz="1700" spc="-10" dirty="0">
                <a:latin typeface="Carlito"/>
                <a:cs typeface="Carlito"/>
              </a:rPr>
              <a:t>prefix)</a:t>
            </a:r>
            <a:endParaRPr sz="1700">
              <a:latin typeface="Carlito"/>
              <a:cs typeface="Carlito"/>
            </a:endParaRPr>
          </a:p>
          <a:p>
            <a:pPr marL="927100">
              <a:lnSpc>
                <a:spcPct val="100000"/>
              </a:lnSpc>
            </a:pPr>
            <a:r>
              <a:rPr sz="1700" spc="-10" dirty="0">
                <a:latin typeface="Carlito"/>
                <a:cs typeface="Carlito"/>
              </a:rPr>
              <a:t>“Figure”.startsWith(“Fig”);</a:t>
            </a:r>
            <a:r>
              <a:rPr sz="1700" spc="-55" dirty="0">
                <a:latin typeface="Carlito"/>
                <a:cs typeface="Carlito"/>
              </a:rPr>
              <a:t> </a:t>
            </a:r>
            <a:r>
              <a:rPr sz="1700" dirty="0">
                <a:latin typeface="Carlito"/>
                <a:cs typeface="Carlito"/>
              </a:rPr>
              <a:t>// </a:t>
            </a:r>
            <a:r>
              <a:rPr sz="1700" spc="-20" dirty="0">
                <a:latin typeface="Carlito"/>
                <a:cs typeface="Carlito"/>
              </a:rPr>
              <a:t>true</a:t>
            </a:r>
            <a:endParaRPr sz="1700">
              <a:latin typeface="Carlito"/>
              <a:cs typeface="Carlito"/>
            </a:endParaRPr>
          </a:p>
          <a:p>
            <a:pPr marL="226060" indent="-213360">
              <a:lnSpc>
                <a:spcPct val="100000"/>
              </a:lnSpc>
              <a:spcBef>
                <a:spcPts val="5"/>
              </a:spcBef>
              <a:buFont typeface="Carlito"/>
              <a:buAutoNum type="arabicPeriod" startAt="4"/>
              <a:tabLst>
                <a:tab pos="226060" algn="l"/>
              </a:tabLst>
            </a:pPr>
            <a:r>
              <a:rPr sz="1700" b="1" dirty="0">
                <a:latin typeface="Carlito"/>
                <a:cs typeface="Carlito"/>
              </a:rPr>
              <a:t>endsWith()</a:t>
            </a:r>
            <a:r>
              <a:rPr sz="1700" b="1" spc="-55" dirty="0">
                <a:latin typeface="Carlito"/>
                <a:cs typeface="Carlito"/>
              </a:rPr>
              <a:t> </a:t>
            </a:r>
            <a:r>
              <a:rPr sz="1700" b="1" dirty="0">
                <a:latin typeface="Carlito"/>
                <a:cs typeface="Carlito"/>
              </a:rPr>
              <a:t>-</a:t>
            </a:r>
            <a:r>
              <a:rPr sz="1700" b="1" spc="-10" dirty="0">
                <a:latin typeface="Carlito"/>
                <a:cs typeface="Carlito"/>
              </a:rPr>
              <a:t> </a:t>
            </a:r>
            <a:r>
              <a:rPr sz="1700" spc="-25" dirty="0">
                <a:latin typeface="Carlito"/>
                <a:cs typeface="Carlito"/>
              </a:rPr>
              <a:t>Tests </a:t>
            </a:r>
            <a:r>
              <a:rPr sz="1700" dirty="0">
                <a:latin typeface="Carlito"/>
                <a:cs typeface="Carlito"/>
              </a:rPr>
              <a:t>if</a:t>
            </a:r>
            <a:r>
              <a:rPr sz="1700" spc="-20" dirty="0">
                <a:latin typeface="Carlito"/>
                <a:cs typeface="Carlito"/>
              </a:rPr>
              <a:t> </a:t>
            </a:r>
            <a:r>
              <a:rPr sz="1700" dirty="0">
                <a:latin typeface="Carlito"/>
                <a:cs typeface="Carlito"/>
              </a:rPr>
              <a:t>this</a:t>
            </a:r>
            <a:r>
              <a:rPr sz="1700" spc="-25" dirty="0">
                <a:latin typeface="Carlito"/>
                <a:cs typeface="Carlito"/>
              </a:rPr>
              <a:t> </a:t>
            </a:r>
            <a:r>
              <a:rPr sz="1700" dirty="0">
                <a:latin typeface="Carlito"/>
                <a:cs typeface="Carlito"/>
              </a:rPr>
              <a:t>string</a:t>
            </a:r>
            <a:r>
              <a:rPr sz="1700" spc="-45" dirty="0">
                <a:latin typeface="Carlito"/>
                <a:cs typeface="Carlito"/>
              </a:rPr>
              <a:t> </a:t>
            </a:r>
            <a:r>
              <a:rPr sz="1700" dirty="0">
                <a:latin typeface="Carlito"/>
                <a:cs typeface="Carlito"/>
              </a:rPr>
              <a:t>ends</a:t>
            </a:r>
            <a:r>
              <a:rPr sz="1700" spc="-45" dirty="0">
                <a:latin typeface="Carlito"/>
                <a:cs typeface="Carlito"/>
              </a:rPr>
              <a:t> </a:t>
            </a:r>
            <a:r>
              <a:rPr sz="1700" dirty="0">
                <a:latin typeface="Carlito"/>
                <a:cs typeface="Carlito"/>
              </a:rPr>
              <a:t>with</a:t>
            </a:r>
            <a:r>
              <a:rPr sz="1700" spc="-30" dirty="0">
                <a:latin typeface="Carlito"/>
                <a:cs typeface="Carlito"/>
              </a:rPr>
              <a:t> </a:t>
            </a:r>
            <a:r>
              <a:rPr sz="1700" dirty="0">
                <a:latin typeface="Carlito"/>
                <a:cs typeface="Carlito"/>
              </a:rPr>
              <a:t>the</a:t>
            </a:r>
            <a:r>
              <a:rPr sz="1700" spc="-30" dirty="0">
                <a:latin typeface="Carlito"/>
                <a:cs typeface="Carlito"/>
              </a:rPr>
              <a:t> </a:t>
            </a:r>
            <a:r>
              <a:rPr sz="1700" dirty="0">
                <a:latin typeface="Carlito"/>
                <a:cs typeface="Carlito"/>
              </a:rPr>
              <a:t>specified</a:t>
            </a:r>
            <a:r>
              <a:rPr sz="1700" spc="-45" dirty="0">
                <a:latin typeface="Carlito"/>
                <a:cs typeface="Carlito"/>
              </a:rPr>
              <a:t> </a:t>
            </a:r>
            <a:r>
              <a:rPr sz="1700" spc="-10" dirty="0">
                <a:latin typeface="Carlito"/>
                <a:cs typeface="Carlito"/>
              </a:rPr>
              <a:t>suffix.</a:t>
            </a:r>
            <a:endParaRPr sz="1700">
              <a:latin typeface="Carlito"/>
              <a:cs typeface="Carlito"/>
            </a:endParaRPr>
          </a:p>
          <a:p>
            <a:pPr marL="756285" marR="4335145">
              <a:lnSpc>
                <a:spcPct val="100000"/>
              </a:lnSpc>
              <a:spcBef>
                <a:spcPts val="5"/>
              </a:spcBef>
            </a:pPr>
            <a:r>
              <a:rPr sz="1500" dirty="0">
                <a:latin typeface="Carlito"/>
                <a:cs typeface="Carlito"/>
              </a:rPr>
              <a:t>public</a:t>
            </a:r>
            <a:r>
              <a:rPr sz="1500" spc="-20" dirty="0">
                <a:latin typeface="Carlito"/>
                <a:cs typeface="Carlito"/>
              </a:rPr>
              <a:t> </a:t>
            </a:r>
            <a:r>
              <a:rPr sz="1500" dirty="0">
                <a:latin typeface="Carlito"/>
                <a:cs typeface="Carlito"/>
              </a:rPr>
              <a:t>boolean</a:t>
            </a:r>
            <a:r>
              <a:rPr sz="1500" spc="-20" dirty="0">
                <a:latin typeface="Carlito"/>
                <a:cs typeface="Carlito"/>
              </a:rPr>
              <a:t> </a:t>
            </a:r>
            <a:r>
              <a:rPr sz="1500" b="1" dirty="0">
                <a:latin typeface="Carlito"/>
                <a:cs typeface="Carlito"/>
              </a:rPr>
              <a:t>endsWith</a:t>
            </a:r>
            <a:r>
              <a:rPr sz="1500" dirty="0">
                <a:latin typeface="Carlito"/>
                <a:cs typeface="Carlito"/>
              </a:rPr>
              <a:t>(String</a:t>
            </a:r>
            <a:r>
              <a:rPr sz="1500" spc="-40" dirty="0">
                <a:latin typeface="Carlito"/>
                <a:cs typeface="Carlito"/>
              </a:rPr>
              <a:t> </a:t>
            </a:r>
            <a:r>
              <a:rPr sz="1500" spc="-10" dirty="0">
                <a:latin typeface="Carlito"/>
                <a:cs typeface="Carlito"/>
              </a:rPr>
              <a:t>suffix) </a:t>
            </a:r>
            <a:r>
              <a:rPr sz="1500" spc="-20" dirty="0">
                <a:latin typeface="Carlito"/>
                <a:cs typeface="Carlito"/>
              </a:rPr>
              <a:t>“Figure”.endsWith(“re”);</a:t>
            </a:r>
            <a:r>
              <a:rPr sz="1500" spc="50" dirty="0">
                <a:latin typeface="Carlito"/>
                <a:cs typeface="Carlito"/>
              </a:rPr>
              <a:t> </a:t>
            </a:r>
            <a:r>
              <a:rPr sz="1500" dirty="0">
                <a:latin typeface="Carlito"/>
                <a:cs typeface="Carlito"/>
              </a:rPr>
              <a:t>//</a:t>
            </a:r>
            <a:r>
              <a:rPr sz="1500" spc="65" dirty="0">
                <a:latin typeface="Carlito"/>
                <a:cs typeface="Carlito"/>
              </a:rPr>
              <a:t> </a:t>
            </a:r>
            <a:r>
              <a:rPr sz="1500" spc="-20" dirty="0">
                <a:latin typeface="Carlito"/>
                <a:cs typeface="Carlito"/>
              </a:rPr>
              <a:t>true</a:t>
            </a:r>
            <a:endParaRPr sz="15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187197"/>
            <a:ext cx="461899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b="0" dirty="0">
                <a:latin typeface="Carlito"/>
                <a:cs typeface="Carlito"/>
              </a:rPr>
              <a:t>String</a:t>
            </a:r>
            <a:r>
              <a:rPr sz="4400" b="0" spc="-95" dirty="0">
                <a:latin typeface="Carlito"/>
                <a:cs typeface="Carlito"/>
              </a:rPr>
              <a:t> </a:t>
            </a:r>
            <a:r>
              <a:rPr sz="4400" b="0" spc="-10" dirty="0">
                <a:latin typeface="Carlito"/>
                <a:cs typeface="Carlito"/>
              </a:rPr>
              <a:t>Operations(2)</a:t>
            </a:r>
            <a:endParaRPr sz="4400">
              <a:latin typeface="Carlito"/>
              <a:cs typeface="Carlito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5940" y="1155549"/>
            <a:ext cx="8073390" cy="3693160"/>
          </a:xfrm>
          <a:prstGeom prst="rect">
            <a:avLst/>
          </a:prstGeom>
        </p:spPr>
        <p:txBody>
          <a:bodyPr vert="horz" wrap="square" lIns="0" tIns="8953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705"/>
              </a:spcBef>
              <a:buFont typeface="Arial"/>
              <a:buChar char="•"/>
              <a:tabLst>
                <a:tab pos="355600" algn="l"/>
              </a:tabLst>
            </a:pPr>
            <a:r>
              <a:rPr sz="2400" b="1" spc="-25" dirty="0">
                <a:latin typeface="Carlito"/>
                <a:cs typeface="Carlito"/>
              </a:rPr>
              <a:t>compareTo()</a:t>
            </a:r>
            <a:r>
              <a:rPr sz="2400" b="1" spc="-60" dirty="0">
                <a:latin typeface="Carlito"/>
                <a:cs typeface="Carlito"/>
              </a:rPr>
              <a:t> </a:t>
            </a:r>
            <a:r>
              <a:rPr sz="2400" dirty="0">
                <a:latin typeface="Carlito"/>
                <a:cs typeface="Carlito"/>
              </a:rPr>
              <a:t>-</a:t>
            </a:r>
            <a:r>
              <a:rPr sz="2400" spc="-40" dirty="0">
                <a:latin typeface="Carlito"/>
                <a:cs typeface="Carlito"/>
              </a:rPr>
              <a:t> </a:t>
            </a:r>
            <a:r>
              <a:rPr sz="2400" dirty="0">
                <a:latin typeface="Carlito"/>
                <a:cs typeface="Carlito"/>
              </a:rPr>
              <a:t>Compares</a:t>
            </a:r>
            <a:r>
              <a:rPr sz="2400" spc="-45" dirty="0">
                <a:latin typeface="Carlito"/>
                <a:cs typeface="Carlito"/>
              </a:rPr>
              <a:t> </a:t>
            </a:r>
            <a:r>
              <a:rPr sz="2400" dirty="0">
                <a:latin typeface="Carlito"/>
                <a:cs typeface="Carlito"/>
              </a:rPr>
              <a:t>two</a:t>
            </a:r>
            <a:r>
              <a:rPr sz="2400" spc="-45" dirty="0">
                <a:latin typeface="Carlito"/>
                <a:cs typeface="Carlito"/>
              </a:rPr>
              <a:t> </a:t>
            </a:r>
            <a:r>
              <a:rPr sz="2400" dirty="0">
                <a:latin typeface="Carlito"/>
                <a:cs typeface="Carlito"/>
              </a:rPr>
              <a:t>strings</a:t>
            </a:r>
            <a:r>
              <a:rPr sz="2400" spc="-45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lexicographically.</a:t>
            </a:r>
            <a:endParaRPr sz="2400">
              <a:latin typeface="Carlito"/>
              <a:cs typeface="Carlito"/>
            </a:endParaRPr>
          </a:p>
          <a:p>
            <a:pPr marL="756285" marR="5080" lvl="1" indent="-287020">
              <a:lnSpc>
                <a:spcPct val="100000"/>
              </a:lnSpc>
              <a:spcBef>
                <a:spcPts val="509"/>
              </a:spcBef>
              <a:buFont typeface="Arial"/>
              <a:buChar char="–"/>
              <a:tabLst>
                <a:tab pos="756285" algn="l"/>
              </a:tabLst>
            </a:pPr>
            <a:r>
              <a:rPr sz="2000" dirty="0">
                <a:latin typeface="Carlito"/>
                <a:cs typeface="Carlito"/>
              </a:rPr>
              <a:t>The</a:t>
            </a:r>
            <a:r>
              <a:rPr sz="2000" spc="260" dirty="0">
                <a:latin typeface="Carlito"/>
                <a:cs typeface="Carlito"/>
              </a:rPr>
              <a:t> </a:t>
            </a:r>
            <a:r>
              <a:rPr sz="2000" dirty="0">
                <a:latin typeface="Carlito"/>
                <a:cs typeface="Carlito"/>
              </a:rPr>
              <a:t>result</a:t>
            </a:r>
            <a:r>
              <a:rPr sz="2000" spc="270" dirty="0">
                <a:latin typeface="Carlito"/>
                <a:cs typeface="Carlito"/>
              </a:rPr>
              <a:t> </a:t>
            </a:r>
            <a:r>
              <a:rPr sz="2000" dirty="0">
                <a:latin typeface="Carlito"/>
                <a:cs typeface="Carlito"/>
              </a:rPr>
              <a:t>is</a:t>
            </a:r>
            <a:r>
              <a:rPr sz="2000" spc="270" dirty="0">
                <a:latin typeface="Carlito"/>
                <a:cs typeface="Carlito"/>
              </a:rPr>
              <a:t> </a:t>
            </a:r>
            <a:r>
              <a:rPr sz="2000" dirty="0">
                <a:latin typeface="Carlito"/>
                <a:cs typeface="Carlito"/>
              </a:rPr>
              <a:t>a</a:t>
            </a:r>
            <a:r>
              <a:rPr sz="2000" spc="280" dirty="0">
                <a:latin typeface="Carlito"/>
                <a:cs typeface="Carlito"/>
              </a:rPr>
              <a:t> </a:t>
            </a:r>
            <a:r>
              <a:rPr sz="2000" dirty="0">
                <a:latin typeface="Carlito"/>
                <a:cs typeface="Carlito"/>
              </a:rPr>
              <a:t>negative</a:t>
            </a:r>
            <a:r>
              <a:rPr sz="2000" spc="270" dirty="0">
                <a:latin typeface="Carlito"/>
                <a:cs typeface="Carlito"/>
              </a:rPr>
              <a:t> </a:t>
            </a:r>
            <a:r>
              <a:rPr sz="2000" dirty="0">
                <a:latin typeface="Carlito"/>
                <a:cs typeface="Carlito"/>
              </a:rPr>
              <a:t>integer</a:t>
            </a:r>
            <a:r>
              <a:rPr sz="2000" spc="265" dirty="0">
                <a:latin typeface="Carlito"/>
                <a:cs typeface="Carlito"/>
              </a:rPr>
              <a:t> </a:t>
            </a:r>
            <a:r>
              <a:rPr sz="2000" dirty="0">
                <a:latin typeface="Carlito"/>
                <a:cs typeface="Carlito"/>
              </a:rPr>
              <a:t>if</a:t>
            </a:r>
            <a:r>
              <a:rPr sz="2000" spc="275" dirty="0">
                <a:latin typeface="Carlito"/>
                <a:cs typeface="Carlito"/>
              </a:rPr>
              <a:t> </a:t>
            </a:r>
            <a:r>
              <a:rPr sz="2000" dirty="0">
                <a:latin typeface="Carlito"/>
                <a:cs typeface="Carlito"/>
              </a:rPr>
              <a:t>this</a:t>
            </a:r>
            <a:r>
              <a:rPr sz="2000" spc="270" dirty="0">
                <a:latin typeface="Carlito"/>
                <a:cs typeface="Carlito"/>
              </a:rPr>
              <a:t> </a:t>
            </a:r>
            <a:r>
              <a:rPr sz="2000" dirty="0">
                <a:latin typeface="Carlito"/>
                <a:cs typeface="Carlito"/>
              </a:rPr>
              <a:t>String</a:t>
            </a:r>
            <a:r>
              <a:rPr sz="2000" spc="265" dirty="0">
                <a:latin typeface="Carlito"/>
                <a:cs typeface="Carlito"/>
              </a:rPr>
              <a:t> </a:t>
            </a:r>
            <a:r>
              <a:rPr sz="2000" dirty="0">
                <a:latin typeface="Carlito"/>
                <a:cs typeface="Carlito"/>
              </a:rPr>
              <a:t>object</a:t>
            </a:r>
            <a:r>
              <a:rPr sz="2000" spc="270" dirty="0">
                <a:latin typeface="Carlito"/>
                <a:cs typeface="Carlito"/>
              </a:rPr>
              <a:t> </a:t>
            </a:r>
            <a:r>
              <a:rPr sz="2000" spc="-10" dirty="0">
                <a:latin typeface="Carlito"/>
                <a:cs typeface="Carlito"/>
              </a:rPr>
              <a:t>lexicographically </a:t>
            </a:r>
            <a:r>
              <a:rPr sz="2000" dirty="0">
                <a:latin typeface="Carlito"/>
                <a:cs typeface="Carlito"/>
              </a:rPr>
              <a:t>precedes</a:t>
            </a:r>
            <a:r>
              <a:rPr sz="2000" spc="-60" dirty="0">
                <a:latin typeface="Carlito"/>
                <a:cs typeface="Carlito"/>
              </a:rPr>
              <a:t> </a:t>
            </a:r>
            <a:r>
              <a:rPr sz="2000" dirty="0">
                <a:latin typeface="Carlito"/>
                <a:cs typeface="Carlito"/>
              </a:rPr>
              <a:t>the</a:t>
            </a:r>
            <a:r>
              <a:rPr sz="2000" spc="-50" dirty="0">
                <a:latin typeface="Carlito"/>
                <a:cs typeface="Carlito"/>
              </a:rPr>
              <a:t> </a:t>
            </a:r>
            <a:r>
              <a:rPr sz="2000" spc="-10" dirty="0">
                <a:latin typeface="Carlito"/>
                <a:cs typeface="Carlito"/>
              </a:rPr>
              <a:t>argument</a:t>
            </a:r>
            <a:r>
              <a:rPr sz="2000" spc="-60" dirty="0">
                <a:latin typeface="Carlito"/>
                <a:cs typeface="Carlito"/>
              </a:rPr>
              <a:t> </a:t>
            </a:r>
            <a:r>
              <a:rPr sz="2000" spc="-10" dirty="0">
                <a:latin typeface="Carlito"/>
                <a:cs typeface="Carlito"/>
              </a:rPr>
              <a:t>string.</a:t>
            </a:r>
            <a:endParaRPr sz="2000">
              <a:latin typeface="Carlito"/>
              <a:cs typeface="Carlito"/>
            </a:endParaRPr>
          </a:p>
          <a:p>
            <a:pPr marL="756285" marR="5080" lvl="1" indent="-287020">
              <a:lnSpc>
                <a:spcPct val="100000"/>
              </a:lnSpc>
              <a:spcBef>
                <a:spcPts val="480"/>
              </a:spcBef>
              <a:buFont typeface="Arial"/>
              <a:buChar char="–"/>
              <a:tabLst>
                <a:tab pos="756285" algn="l"/>
              </a:tabLst>
            </a:pPr>
            <a:r>
              <a:rPr sz="2000" dirty="0">
                <a:latin typeface="Carlito"/>
                <a:cs typeface="Carlito"/>
              </a:rPr>
              <a:t>The</a:t>
            </a:r>
            <a:r>
              <a:rPr sz="2000" spc="320" dirty="0">
                <a:latin typeface="Carlito"/>
                <a:cs typeface="Carlito"/>
              </a:rPr>
              <a:t> </a:t>
            </a:r>
            <a:r>
              <a:rPr sz="2000" dirty="0">
                <a:latin typeface="Carlito"/>
                <a:cs typeface="Carlito"/>
              </a:rPr>
              <a:t>result</a:t>
            </a:r>
            <a:r>
              <a:rPr sz="2000" spc="330" dirty="0">
                <a:latin typeface="Carlito"/>
                <a:cs typeface="Carlito"/>
              </a:rPr>
              <a:t> </a:t>
            </a:r>
            <a:r>
              <a:rPr sz="2000" dirty="0">
                <a:latin typeface="Carlito"/>
                <a:cs typeface="Carlito"/>
              </a:rPr>
              <a:t>is</a:t>
            </a:r>
            <a:r>
              <a:rPr sz="2000" spc="330" dirty="0">
                <a:latin typeface="Carlito"/>
                <a:cs typeface="Carlito"/>
              </a:rPr>
              <a:t> </a:t>
            </a:r>
            <a:r>
              <a:rPr sz="2000" dirty="0">
                <a:latin typeface="Carlito"/>
                <a:cs typeface="Carlito"/>
              </a:rPr>
              <a:t>a</a:t>
            </a:r>
            <a:r>
              <a:rPr sz="2000" spc="330" dirty="0">
                <a:latin typeface="Carlito"/>
                <a:cs typeface="Carlito"/>
              </a:rPr>
              <a:t> </a:t>
            </a:r>
            <a:r>
              <a:rPr sz="2000" dirty="0">
                <a:latin typeface="Carlito"/>
                <a:cs typeface="Carlito"/>
              </a:rPr>
              <a:t>positive</a:t>
            </a:r>
            <a:r>
              <a:rPr sz="2000" spc="330" dirty="0">
                <a:latin typeface="Carlito"/>
                <a:cs typeface="Carlito"/>
              </a:rPr>
              <a:t> </a:t>
            </a:r>
            <a:r>
              <a:rPr sz="2000" dirty="0">
                <a:latin typeface="Carlito"/>
                <a:cs typeface="Carlito"/>
              </a:rPr>
              <a:t>integer</a:t>
            </a:r>
            <a:r>
              <a:rPr sz="2000" spc="330" dirty="0">
                <a:latin typeface="Carlito"/>
                <a:cs typeface="Carlito"/>
              </a:rPr>
              <a:t> </a:t>
            </a:r>
            <a:r>
              <a:rPr sz="2000" dirty="0">
                <a:latin typeface="Carlito"/>
                <a:cs typeface="Carlito"/>
              </a:rPr>
              <a:t>if</a:t>
            </a:r>
            <a:r>
              <a:rPr sz="2000" spc="330" dirty="0">
                <a:latin typeface="Carlito"/>
                <a:cs typeface="Carlito"/>
              </a:rPr>
              <a:t> </a:t>
            </a:r>
            <a:r>
              <a:rPr sz="2000" dirty="0">
                <a:latin typeface="Carlito"/>
                <a:cs typeface="Carlito"/>
              </a:rPr>
              <a:t>this</a:t>
            </a:r>
            <a:r>
              <a:rPr sz="2000" spc="330" dirty="0">
                <a:latin typeface="Carlito"/>
                <a:cs typeface="Carlito"/>
              </a:rPr>
              <a:t> </a:t>
            </a:r>
            <a:r>
              <a:rPr sz="2000" dirty="0">
                <a:latin typeface="Carlito"/>
                <a:cs typeface="Carlito"/>
              </a:rPr>
              <a:t>String</a:t>
            </a:r>
            <a:r>
              <a:rPr sz="2000" spc="315" dirty="0">
                <a:latin typeface="Carlito"/>
                <a:cs typeface="Carlito"/>
              </a:rPr>
              <a:t> </a:t>
            </a:r>
            <a:r>
              <a:rPr sz="2000" dirty="0">
                <a:latin typeface="Carlito"/>
                <a:cs typeface="Carlito"/>
              </a:rPr>
              <a:t>object</a:t>
            </a:r>
            <a:r>
              <a:rPr sz="2000" spc="335" dirty="0">
                <a:latin typeface="Carlito"/>
                <a:cs typeface="Carlito"/>
              </a:rPr>
              <a:t> </a:t>
            </a:r>
            <a:r>
              <a:rPr sz="2000" spc="-10" dirty="0">
                <a:latin typeface="Carlito"/>
                <a:cs typeface="Carlito"/>
              </a:rPr>
              <a:t>lexicographically follows</a:t>
            </a:r>
            <a:r>
              <a:rPr sz="2000" spc="-45" dirty="0">
                <a:latin typeface="Carlito"/>
                <a:cs typeface="Carlito"/>
              </a:rPr>
              <a:t> </a:t>
            </a:r>
            <a:r>
              <a:rPr sz="2000" dirty="0">
                <a:latin typeface="Carlito"/>
                <a:cs typeface="Carlito"/>
              </a:rPr>
              <a:t>the</a:t>
            </a:r>
            <a:r>
              <a:rPr sz="2000" spc="-30" dirty="0">
                <a:latin typeface="Carlito"/>
                <a:cs typeface="Carlito"/>
              </a:rPr>
              <a:t> </a:t>
            </a:r>
            <a:r>
              <a:rPr sz="2000" spc="-10" dirty="0">
                <a:latin typeface="Carlito"/>
                <a:cs typeface="Carlito"/>
              </a:rPr>
              <a:t>argument</a:t>
            </a:r>
            <a:r>
              <a:rPr sz="2000" spc="-35" dirty="0">
                <a:latin typeface="Carlito"/>
                <a:cs typeface="Carlito"/>
              </a:rPr>
              <a:t> </a:t>
            </a:r>
            <a:r>
              <a:rPr sz="2000" spc="-10" dirty="0">
                <a:latin typeface="Carlito"/>
                <a:cs typeface="Carlito"/>
              </a:rPr>
              <a:t>string.</a:t>
            </a:r>
            <a:endParaRPr sz="2000">
              <a:latin typeface="Carlito"/>
              <a:cs typeface="Carlito"/>
            </a:endParaRPr>
          </a:p>
          <a:p>
            <a:pPr marL="756285" lvl="1" indent="-286385">
              <a:lnSpc>
                <a:spcPct val="100000"/>
              </a:lnSpc>
              <a:spcBef>
                <a:spcPts val="484"/>
              </a:spcBef>
              <a:buFont typeface="Arial"/>
              <a:buChar char="–"/>
              <a:tabLst>
                <a:tab pos="756285" algn="l"/>
              </a:tabLst>
            </a:pPr>
            <a:r>
              <a:rPr sz="2000" dirty="0">
                <a:latin typeface="Carlito"/>
                <a:cs typeface="Carlito"/>
              </a:rPr>
              <a:t>The</a:t>
            </a:r>
            <a:r>
              <a:rPr sz="2000" spc="-65" dirty="0">
                <a:latin typeface="Carlito"/>
                <a:cs typeface="Carlito"/>
              </a:rPr>
              <a:t> </a:t>
            </a:r>
            <a:r>
              <a:rPr sz="2000" dirty="0">
                <a:latin typeface="Carlito"/>
                <a:cs typeface="Carlito"/>
              </a:rPr>
              <a:t>result</a:t>
            </a:r>
            <a:r>
              <a:rPr sz="2000" spc="-50" dirty="0">
                <a:latin typeface="Carlito"/>
                <a:cs typeface="Carlito"/>
              </a:rPr>
              <a:t> </a:t>
            </a:r>
            <a:r>
              <a:rPr sz="2000" dirty="0">
                <a:latin typeface="Carlito"/>
                <a:cs typeface="Carlito"/>
              </a:rPr>
              <a:t>is</a:t>
            </a:r>
            <a:r>
              <a:rPr sz="2000" spc="-35" dirty="0">
                <a:latin typeface="Carlito"/>
                <a:cs typeface="Carlito"/>
              </a:rPr>
              <a:t> </a:t>
            </a:r>
            <a:r>
              <a:rPr sz="2000" dirty="0">
                <a:latin typeface="Carlito"/>
                <a:cs typeface="Carlito"/>
              </a:rPr>
              <a:t>zero</a:t>
            </a:r>
            <a:r>
              <a:rPr sz="2000" spc="-50" dirty="0">
                <a:latin typeface="Carlito"/>
                <a:cs typeface="Carlito"/>
              </a:rPr>
              <a:t> </a:t>
            </a:r>
            <a:r>
              <a:rPr sz="2000" dirty="0">
                <a:latin typeface="Carlito"/>
                <a:cs typeface="Carlito"/>
              </a:rPr>
              <a:t>if</a:t>
            </a:r>
            <a:r>
              <a:rPr sz="2000" spc="-45" dirty="0">
                <a:latin typeface="Carlito"/>
                <a:cs typeface="Carlito"/>
              </a:rPr>
              <a:t> </a:t>
            </a:r>
            <a:r>
              <a:rPr sz="2000" dirty="0">
                <a:latin typeface="Carlito"/>
                <a:cs typeface="Carlito"/>
              </a:rPr>
              <a:t>the</a:t>
            </a:r>
            <a:r>
              <a:rPr sz="2000" spc="-45" dirty="0">
                <a:latin typeface="Carlito"/>
                <a:cs typeface="Carlito"/>
              </a:rPr>
              <a:t> </a:t>
            </a:r>
            <a:r>
              <a:rPr sz="2000" dirty="0">
                <a:latin typeface="Carlito"/>
                <a:cs typeface="Carlito"/>
              </a:rPr>
              <a:t>strings</a:t>
            </a:r>
            <a:r>
              <a:rPr sz="2000" spc="-50" dirty="0">
                <a:latin typeface="Carlito"/>
                <a:cs typeface="Carlito"/>
              </a:rPr>
              <a:t> </a:t>
            </a:r>
            <a:r>
              <a:rPr sz="2000" dirty="0">
                <a:latin typeface="Carlito"/>
                <a:cs typeface="Carlito"/>
              </a:rPr>
              <a:t>are</a:t>
            </a:r>
            <a:r>
              <a:rPr sz="2000" spc="-45" dirty="0">
                <a:latin typeface="Carlito"/>
                <a:cs typeface="Carlito"/>
              </a:rPr>
              <a:t> </a:t>
            </a:r>
            <a:r>
              <a:rPr sz="2000" spc="-10" dirty="0">
                <a:latin typeface="Carlito"/>
                <a:cs typeface="Carlito"/>
              </a:rPr>
              <a:t>equal.</a:t>
            </a:r>
            <a:endParaRPr sz="2000">
              <a:latin typeface="Carlito"/>
              <a:cs typeface="Carlito"/>
            </a:endParaRPr>
          </a:p>
          <a:p>
            <a:pPr marL="756285" marR="5080" lvl="1" indent="-287020">
              <a:lnSpc>
                <a:spcPct val="100000"/>
              </a:lnSpc>
              <a:spcBef>
                <a:spcPts val="480"/>
              </a:spcBef>
              <a:buFont typeface="Arial"/>
              <a:buChar char="–"/>
              <a:tabLst>
                <a:tab pos="756285" algn="l"/>
              </a:tabLst>
            </a:pPr>
            <a:r>
              <a:rPr sz="2000" spc="-10" dirty="0">
                <a:latin typeface="Carlito"/>
                <a:cs typeface="Carlito"/>
              </a:rPr>
              <a:t>compareTo</a:t>
            </a:r>
            <a:r>
              <a:rPr sz="2000" spc="140" dirty="0">
                <a:latin typeface="Carlito"/>
                <a:cs typeface="Carlito"/>
              </a:rPr>
              <a:t> </a:t>
            </a:r>
            <a:r>
              <a:rPr sz="2000" dirty="0">
                <a:latin typeface="Carlito"/>
                <a:cs typeface="Carlito"/>
              </a:rPr>
              <a:t>returns</a:t>
            </a:r>
            <a:r>
              <a:rPr sz="2000" spc="145" dirty="0">
                <a:latin typeface="Carlito"/>
                <a:cs typeface="Carlito"/>
              </a:rPr>
              <a:t> </a:t>
            </a:r>
            <a:r>
              <a:rPr sz="2000" dirty="0">
                <a:latin typeface="Carlito"/>
                <a:cs typeface="Carlito"/>
              </a:rPr>
              <a:t>0</a:t>
            </a:r>
            <a:r>
              <a:rPr sz="2000" spc="140" dirty="0">
                <a:latin typeface="Carlito"/>
                <a:cs typeface="Carlito"/>
              </a:rPr>
              <a:t> </a:t>
            </a:r>
            <a:r>
              <a:rPr sz="2000" dirty="0">
                <a:latin typeface="Carlito"/>
                <a:cs typeface="Carlito"/>
              </a:rPr>
              <a:t>exactly</a:t>
            </a:r>
            <a:r>
              <a:rPr sz="2000" spc="135" dirty="0">
                <a:latin typeface="Carlito"/>
                <a:cs typeface="Carlito"/>
              </a:rPr>
              <a:t> </a:t>
            </a:r>
            <a:r>
              <a:rPr sz="2000" dirty="0">
                <a:latin typeface="Carlito"/>
                <a:cs typeface="Carlito"/>
              </a:rPr>
              <a:t>when</a:t>
            </a:r>
            <a:r>
              <a:rPr sz="2000" spc="140" dirty="0">
                <a:latin typeface="Carlito"/>
                <a:cs typeface="Carlito"/>
              </a:rPr>
              <a:t> </a:t>
            </a:r>
            <a:r>
              <a:rPr sz="2000" dirty="0">
                <a:latin typeface="Carlito"/>
                <a:cs typeface="Carlito"/>
              </a:rPr>
              <a:t>the</a:t>
            </a:r>
            <a:r>
              <a:rPr sz="2000" spc="145" dirty="0">
                <a:latin typeface="Carlito"/>
                <a:cs typeface="Carlito"/>
              </a:rPr>
              <a:t> </a:t>
            </a:r>
            <a:r>
              <a:rPr sz="2000" dirty="0">
                <a:latin typeface="Carlito"/>
                <a:cs typeface="Carlito"/>
              </a:rPr>
              <a:t>equals(Object)</a:t>
            </a:r>
            <a:r>
              <a:rPr sz="2000" spc="145" dirty="0">
                <a:latin typeface="Carlito"/>
                <a:cs typeface="Carlito"/>
              </a:rPr>
              <a:t> </a:t>
            </a:r>
            <a:r>
              <a:rPr sz="2000" dirty="0">
                <a:latin typeface="Carlito"/>
                <a:cs typeface="Carlito"/>
              </a:rPr>
              <a:t>method</a:t>
            </a:r>
            <a:r>
              <a:rPr sz="2000" spc="145" dirty="0">
                <a:latin typeface="Carlito"/>
                <a:cs typeface="Carlito"/>
              </a:rPr>
              <a:t> </a:t>
            </a:r>
            <a:r>
              <a:rPr sz="2000" spc="-10" dirty="0">
                <a:latin typeface="Carlito"/>
                <a:cs typeface="Carlito"/>
              </a:rPr>
              <a:t>would </a:t>
            </a:r>
            <a:r>
              <a:rPr sz="2000" dirty="0">
                <a:latin typeface="Carlito"/>
                <a:cs typeface="Carlito"/>
              </a:rPr>
              <a:t>return</a:t>
            </a:r>
            <a:r>
              <a:rPr sz="2000" spc="-70" dirty="0">
                <a:latin typeface="Carlito"/>
                <a:cs typeface="Carlito"/>
              </a:rPr>
              <a:t> </a:t>
            </a:r>
            <a:r>
              <a:rPr sz="2000" spc="-10" dirty="0">
                <a:latin typeface="Carlito"/>
                <a:cs typeface="Carlito"/>
              </a:rPr>
              <a:t>true.</a:t>
            </a:r>
            <a:endParaRPr sz="2000">
              <a:latin typeface="Carlito"/>
              <a:cs typeface="Carlito"/>
            </a:endParaRPr>
          </a:p>
          <a:p>
            <a:pPr marL="756285">
              <a:lnSpc>
                <a:spcPct val="100000"/>
              </a:lnSpc>
              <a:spcBef>
                <a:spcPts val="1614"/>
              </a:spcBef>
            </a:pPr>
            <a:r>
              <a:rPr sz="1800" dirty="0">
                <a:latin typeface="Carlito"/>
                <a:cs typeface="Carlito"/>
              </a:rPr>
              <a:t>public</a:t>
            </a:r>
            <a:r>
              <a:rPr sz="1800" spc="-5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int</a:t>
            </a:r>
            <a:r>
              <a:rPr sz="1800" spc="-5" dirty="0">
                <a:latin typeface="Carlito"/>
                <a:cs typeface="Carlito"/>
              </a:rPr>
              <a:t> </a:t>
            </a:r>
            <a:r>
              <a:rPr sz="1800" b="1" spc="-20" dirty="0">
                <a:latin typeface="Carlito"/>
                <a:cs typeface="Carlito"/>
              </a:rPr>
              <a:t>compareTo</a:t>
            </a:r>
            <a:r>
              <a:rPr sz="1800" spc="-20" dirty="0">
                <a:latin typeface="Carlito"/>
                <a:cs typeface="Carlito"/>
              </a:rPr>
              <a:t>(String</a:t>
            </a:r>
            <a:r>
              <a:rPr sz="1800" spc="-25" dirty="0">
                <a:latin typeface="Carlito"/>
                <a:cs typeface="Carlito"/>
              </a:rPr>
              <a:t> </a:t>
            </a:r>
            <a:r>
              <a:rPr sz="1800" spc="-10" dirty="0">
                <a:latin typeface="Carlito"/>
                <a:cs typeface="Carlito"/>
              </a:rPr>
              <a:t>anotherString)</a:t>
            </a:r>
            <a:endParaRPr sz="1800">
              <a:latin typeface="Carlito"/>
              <a:cs typeface="Carlito"/>
            </a:endParaRPr>
          </a:p>
          <a:p>
            <a:pPr marL="756285">
              <a:lnSpc>
                <a:spcPct val="100000"/>
              </a:lnSpc>
              <a:spcBef>
                <a:spcPts val="700"/>
              </a:spcBef>
            </a:pPr>
            <a:r>
              <a:rPr sz="1800" dirty="0">
                <a:latin typeface="Carlito"/>
                <a:cs typeface="Carlito"/>
              </a:rPr>
              <a:t>public</a:t>
            </a:r>
            <a:r>
              <a:rPr sz="1800" spc="-35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int</a:t>
            </a:r>
            <a:r>
              <a:rPr sz="1800" spc="-40" dirty="0">
                <a:latin typeface="Carlito"/>
                <a:cs typeface="Carlito"/>
              </a:rPr>
              <a:t> </a:t>
            </a:r>
            <a:r>
              <a:rPr sz="1800" b="1" spc="-10" dirty="0">
                <a:latin typeface="Carlito"/>
                <a:cs typeface="Carlito"/>
              </a:rPr>
              <a:t>compareToIgnoreCase</a:t>
            </a:r>
            <a:r>
              <a:rPr sz="1800" spc="-10" dirty="0">
                <a:latin typeface="Carlito"/>
                <a:cs typeface="Carlito"/>
              </a:rPr>
              <a:t>(String</a:t>
            </a:r>
            <a:r>
              <a:rPr sz="1800" spc="-55" dirty="0">
                <a:latin typeface="Carlito"/>
                <a:cs typeface="Carlito"/>
              </a:rPr>
              <a:t> </a:t>
            </a:r>
            <a:r>
              <a:rPr sz="1800" spc="-20" dirty="0">
                <a:latin typeface="Carlito"/>
                <a:cs typeface="Carlito"/>
              </a:rPr>
              <a:t>str)</a:t>
            </a:r>
            <a:endParaRPr sz="18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110997"/>
            <a:ext cx="461899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b="0" dirty="0">
                <a:latin typeface="Carlito"/>
                <a:cs typeface="Carlito"/>
              </a:rPr>
              <a:t>String</a:t>
            </a:r>
            <a:r>
              <a:rPr sz="4400" b="0" spc="-95" dirty="0">
                <a:latin typeface="Carlito"/>
                <a:cs typeface="Carlito"/>
              </a:rPr>
              <a:t> </a:t>
            </a:r>
            <a:r>
              <a:rPr sz="4400" b="0" spc="-10" dirty="0">
                <a:latin typeface="Carlito"/>
                <a:cs typeface="Carlito"/>
              </a:rPr>
              <a:t>Operations(3)</a:t>
            </a:r>
            <a:endParaRPr sz="4400">
              <a:latin typeface="Carlito"/>
              <a:cs typeface="Carlito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5940" y="1106511"/>
            <a:ext cx="8069580" cy="3511550"/>
          </a:xfrm>
          <a:prstGeom prst="rect">
            <a:avLst/>
          </a:prstGeom>
        </p:spPr>
        <p:txBody>
          <a:bodyPr vert="horz" wrap="square" lIns="0" tIns="393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10"/>
              </a:spcBef>
            </a:pPr>
            <a:r>
              <a:rPr sz="1800" b="1" dirty="0">
                <a:latin typeface="Carlito"/>
                <a:cs typeface="Carlito"/>
              </a:rPr>
              <a:t>indexOf</a:t>
            </a:r>
            <a:r>
              <a:rPr sz="1800" b="1" spc="-60" dirty="0">
                <a:latin typeface="Carlito"/>
                <a:cs typeface="Carlito"/>
              </a:rPr>
              <a:t> </a:t>
            </a:r>
            <a:r>
              <a:rPr sz="1800" b="1" dirty="0">
                <a:latin typeface="Carlito"/>
                <a:cs typeface="Carlito"/>
              </a:rPr>
              <a:t>–</a:t>
            </a:r>
            <a:r>
              <a:rPr sz="1800" b="1" spc="-40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Searches</a:t>
            </a:r>
            <a:r>
              <a:rPr sz="1800" spc="-40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for</a:t>
            </a:r>
            <a:r>
              <a:rPr sz="1800" spc="-45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the</a:t>
            </a:r>
            <a:r>
              <a:rPr sz="1800" spc="-30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first</a:t>
            </a:r>
            <a:r>
              <a:rPr sz="1800" spc="-35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occurrence</a:t>
            </a:r>
            <a:r>
              <a:rPr sz="1800" spc="-15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of</a:t>
            </a:r>
            <a:r>
              <a:rPr sz="1800" spc="-30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a</a:t>
            </a:r>
            <a:r>
              <a:rPr sz="1800" spc="-40" dirty="0">
                <a:latin typeface="Carlito"/>
                <a:cs typeface="Carlito"/>
              </a:rPr>
              <a:t> </a:t>
            </a:r>
            <a:r>
              <a:rPr sz="1800" spc="-10" dirty="0">
                <a:latin typeface="Carlito"/>
                <a:cs typeface="Carlito"/>
              </a:rPr>
              <a:t>character</a:t>
            </a:r>
            <a:r>
              <a:rPr sz="1800" spc="-20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or</a:t>
            </a:r>
            <a:r>
              <a:rPr sz="1800" spc="-45" dirty="0">
                <a:latin typeface="Carlito"/>
                <a:cs typeface="Carlito"/>
              </a:rPr>
              <a:t> </a:t>
            </a:r>
            <a:r>
              <a:rPr sz="1800" spc="-10" dirty="0">
                <a:latin typeface="Carlito"/>
                <a:cs typeface="Carlito"/>
              </a:rPr>
              <a:t>substring.</a:t>
            </a:r>
            <a:endParaRPr sz="1800">
              <a:latin typeface="Carlito"/>
              <a:cs typeface="Carlito"/>
            </a:endParaRPr>
          </a:p>
          <a:p>
            <a:pPr marL="1032510">
              <a:lnSpc>
                <a:spcPct val="100000"/>
              </a:lnSpc>
              <a:spcBef>
                <a:spcPts val="219"/>
              </a:spcBef>
            </a:pPr>
            <a:r>
              <a:rPr sz="1800" dirty="0">
                <a:latin typeface="Carlito"/>
                <a:cs typeface="Carlito"/>
              </a:rPr>
              <a:t>Returns</a:t>
            </a:r>
            <a:r>
              <a:rPr sz="1800" spc="-20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-1</a:t>
            </a:r>
            <a:r>
              <a:rPr sz="1800" spc="-40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if</a:t>
            </a:r>
            <a:r>
              <a:rPr sz="1800" spc="-20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the</a:t>
            </a:r>
            <a:r>
              <a:rPr sz="1800" spc="-30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character</a:t>
            </a:r>
            <a:r>
              <a:rPr sz="1800" spc="-20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does</a:t>
            </a:r>
            <a:r>
              <a:rPr sz="1800" spc="-40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not</a:t>
            </a:r>
            <a:r>
              <a:rPr sz="1800" spc="-25" dirty="0">
                <a:latin typeface="Carlito"/>
                <a:cs typeface="Carlito"/>
              </a:rPr>
              <a:t> </a:t>
            </a:r>
            <a:r>
              <a:rPr sz="1800" spc="-10" dirty="0">
                <a:latin typeface="Carlito"/>
                <a:cs typeface="Carlito"/>
              </a:rPr>
              <a:t>occur.</a:t>
            </a:r>
            <a:endParaRPr sz="1800">
              <a:latin typeface="Carlito"/>
              <a:cs typeface="Carlito"/>
            </a:endParaRPr>
          </a:p>
          <a:p>
            <a:pPr>
              <a:lnSpc>
                <a:spcPct val="100000"/>
              </a:lnSpc>
              <a:spcBef>
                <a:spcPts val="395"/>
              </a:spcBef>
            </a:pPr>
            <a:endParaRPr sz="180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latin typeface="Carlito"/>
                <a:cs typeface="Carlito"/>
              </a:rPr>
              <a:t>public</a:t>
            </a:r>
            <a:r>
              <a:rPr sz="1800" spc="-40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int</a:t>
            </a:r>
            <a:r>
              <a:rPr sz="1800" spc="-50" dirty="0">
                <a:latin typeface="Carlito"/>
                <a:cs typeface="Carlito"/>
              </a:rPr>
              <a:t> </a:t>
            </a:r>
            <a:r>
              <a:rPr sz="1800" b="1" dirty="0">
                <a:latin typeface="Carlito"/>
                <a:cs typeface="Carlito"/>
              </a:rPr>
              <a:t>indexOf</a:t>
            </a:r>
            <a:r>
              <a:rPr sz="1800" dirty="0">
                <a:latin typeface="Carlito"/>
                <a:cs typeface="Carlito"/>
              </a:rPr>
              <a:t>(int</a:t>
            </a:r>
            <a:r>
              <a:rPr sz="1800" spc="-70" dirty="0">
                <a:latin typeface="Carlito"/>
                <a:cs typeface="Carlito"/>
              </a:rPr>
              <a:t> </a:t>
            </a:r>
            <a:r>
              <a:rPr sz="1800" spc="-25" dirty="0">
                <a:latin typeface="Carlito"/>
                <a:cs typeface="Carlito"/>
              </a:rPr>
              <a:t>ch)</a:t>
            </a:r>
            <a:endParaRPr sz="1800">
              <a:latin typeface="Carlito"/>
              <a:cs typeface="Carlito"/>
            </a:endParaRPr>
          </a:p>
          <a:p>
            <a:pPr marL="927100" marR="5080" indent="135890">
              <a:lnSpc>
                <a:spcPts val="1939"/>
              </a:lnSpc>
              <a:spcBef>
                <a:spcPts val="465"/>
              </a:spcBef>
              <a:buChar char="-"/>
              <a:tabLst>
                <a:tab pos="1062990" algn="l"/>
              </a:tabLst>
            </a:pPr>
            <a:r>
              <a:rPr sz="1800" dirty="0">
                <a:latin typeface="Carlito"/>
                <a:cs typeface="Carlito"/>
              </a:rPr>
              <a:t>Returns</a:t>
            </a:r>
            <a:r>
              <a:rPr sz="1800" spc="60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the</a:t>
            </a:r>
            <a:r>
              <a:rPr sz="1800" spc="65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index</a:t>
            </a:r>
            <a:r>
              <a:rPr sz="1800" spc="65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within</a:t>
            </a:r>
            <a:r>
              <a:rPr sz="1800" spc="60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this</a:t>
            </a:r>
            <a:r>
              <a:rPr sz="1800" spc="60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string</a:t>
            </a:r>
            <a:r>
              <a:rPr sz="1800" spc="65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of</a:t>
            </a:r>
            <a:r>
              <a:rPr sz="1800" spc="65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the</a:t>
            </a:r>
            <a:r>
              <a:rPr sz="1800" spc="65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first</a:t>
            </a:r>
            <a:r>
              <a:rPr sz="1800" spc="65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occurrence</a:t>
            </a:r>
            <a:r>
              <a:rPr sz="1800" spc="65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of</a:t>
            </a:r>
            <a:r>
              <a:rPr sz="1800" spc="65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the</a:t>
            </a:r>
            <a:r>
              <a:rPr sz="1800" spc="70" dirty="0">
                <a:latin typeface="Carlito"/>
                <a:cs typeface="Carlito"/>
              </a:rPr>
              <a:t> </a:t>
            </a:r>
            <a:r>
              <a:rPr sz="1800" spc="-10" dirty="0">
                <a:latin typeface="Carlito"/>
                <a:cs typeface="Carlito"/>
              </a:rPr>
              <a:t>specified character.</a:t>
            </a:r>
            <a:endParaRPr sz="180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sz="1800" dirty="0">
                <a:latin typeface="Carlito"/>
                <a:cs typeface="Carlito"/>
              </a:rPr>
              <a:t>public</a:t>
            </a:r>
            <a:r>
              <a:rPr sz="1800" spc="-10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int</a:t>
            </a:r>
            <a:r>
              <a:rPr sz="1800" spc="-10" dirty="0">
                <a:latin typeface="Carlito"/>
                <a:cs typeface="Carlito"/>
              </a:rPr>
              <a:t> </a:t>
            </a:r>
            <a:r>
              <a:rPr sz="1800" b="1" spc="-10" dirty="0">
                <a:latin typeface="Carlito"/>
                <a:cs typeface="Carlito"/>
              </a:rPr>
              <a:t>indexOf</a:t>
            </a:r>
            <a:r>
              <a:rPr sz="1800" spc="-10" dirty="0">
                <a:latin typeface="Carlito"/>
                <a:cs typeface="Carlito"/>
              </a:rPr>
              <a:t>(String</a:t>
            </a:r>
            <a:r>
              <a:rPr sz="1800" spc="-30" dirty="0">
                <a:latin typeface="Carlito"/>
                <a:cs typeface="Carlito"/>
              </a:rPr>
              <a:t> </a:t>
            </a:r>
            <a:r>
              <a:rPr sz="1800" spc="-20" dirty="0">
                <a:latin typeface="Carlito"/>
                <a:cs typeface="Carlito"/>
              </a:rPr>
              <a:t>str)</a:t>
            </a:r>
            <a:endParaRPr sz="1800">
              <a:latin typeface="Carlito"/>
              <a:cs typeface="Carlito"/>
            </a:endParaRPr>
          </a:p>
          <a:p>
            <a:pPr marL="927100" marR="5080" indent="135890">
              <a:lnSpc>
                <a:spcPts val="1939"/>
              </a:lnSpc>
              <a:spcBef>
                <a:spcPts val="470"/>
              </a:spcBef>
              <a:buChar char="-"/>
              <a:tabLst>
                <a:tab pos="1062990" algn="l"/>
              </a:tabLst>
            </a:pPr>
            <a:r>
              <a:rPr sz="1800" dirty="0">
                <a:latin typeface="Carlito"/>
                <a:cs typeface="Carlito"/>
              </a:rPr>
              <a:t>Returns</a:t>
            </a:r>
            <a:r>
              <a:rPr sz="1800" spc="60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the</a:t>
            </a:r>
            <a:r>
              <a:rPr sz="1800" spc="65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index</a:t>
            </a:r>
            <a:r>
              <a:rPr sz="1800" spc="65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within</a:t>
            </a:r>
            <a:r>
              <a:rPr sz="1800" spc="60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this</a:t>
            </a:r>
            <a:r>
              <a:rPr sz="1800" spc="60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string</a:t>
            </a:r>
            <a:r>
              <a:rPr sz="1800" spc="65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of</a:t>
            </a:r>
            <a:r>
              <a:rPr sz="1800" spc="65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the</a:t>
            </a:r>
            <a:r>
              <a:rPr sz="1800" spc="65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first</a:t>
            </a:r>
            <a:r>
              <a:rPr sz="1800" spc="65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occurrence</a:t>
            </a:r>
            <a:r>
              <a:rPr sz="1800" spc="65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of</a:t>
            </a:r>
            <a:r>
              <a:rPr sz="1800" spc="65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the</a:t>
            </a:r>
            <a:r>
              <a:rPr sz="1800" spc="70" dirty="0">
                <a:latin typeface="Carlito"/>
                <a:cs typeface="Carlito"/>
              </a:rPr>
              <a:t> </a:t>
            </a:r>
            <a:r>
              <a:rPr sz="1800" spc="-10" dirty="0">
                <a:latin typeface="Carlito"/>
                <a:cs typeface="Carlito"/>
              </a:rPr>
              <a:t>specified substring.</a:t>
            </a:r>
            <a:endParaRPr sz="1800">
              <a:latin typeface="Carlito"/>
              <a:cs typeface="Carlito"/>
            </a:endParaRPr>
          </a:p>
          <a:p>
            <a:pPr marL="355600">
              <a:lnSpc>
                <a:spcPts val="2050"/>
              </a:lnSpc>
              <a:spcBef>
                <a:spcPts val="850"/>
              </a:spcBef>
            </a:pPr>
            <a:r>
              <a:rPr sz="1800" dirty="0">
                <a:latin typeface="Carlito"/>
                <a:cs typeface="Carlito"/>
              </a:rPr>
              <a:t>String</a:t>
            </a:r>
            <a:r>
              <a:rPr sz="1800" spc="-30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str</a:t>
            </a:r>
            <a:r>
              <a:rPr sz="1800" spc="-45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=</a:t>
            </a:r>
            <a:r>
              <a:rPr sz="1800" spc="-40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“How</a:t>
            </a:r>
            <a:r>
              <a:rPr sz="1800" spc="-15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was</a:t>
            </a:r>
            <a:r>
              <a:rPr sz="1800" spc="-35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your</a:t>
            </a:r>
            <a:r>
              <a:rPr sz="1800" spc="-35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day</a:t>
            </a:r>
            <a:r>
              <a:rPr sz="1800" spc="-35" dirty="0">
                <a:latin typeface="Carlito"/>
                <a:cs typeface="Carlito"/>
              </a:rPr>
              <a:t> </a:t>
            </a:r>
            <a:r>
              <a:rPr sz="1800" spc="-10" dirty="0">
                <a:latin typeface="Carlito"/>
                <a:cs typeface="Carlito"/>
              </a:rPr>
              <a:t>today?”;</a:t>
            </a:r>
            <a:endParaRPr sz="1800">
              <a:latin typeface="Carlito"/>
              <a:cs typeface="Carlito"/>
            </a:endParaRPr>
          </a:p>
          <a:p>
            <a:pPr marL="355600">
              <a:lnSpc>
                <a:spcPts val="1945"/>
              </a:lnSpc>
            </a:pPr>
            <a:r>
              <a:rPr sz="1800" spc="-10" dirty="0">
                <a:latin typeface="Carlito"/>
                <a:cs typeface="Carlito"/>
              </a:rPr>
              <a:t>str.indexof(‘t’);</a:t>
            </a:r>
            <a:endParaRPr sz="1800">
              <a:latin typeface="Carlito"/>
              <a:cs typeface="Carlito"/>
            </a:endParaRPr>
          </a:p>
          <a:p>
            <a:pPr marL="355600">
              <a:lnSpc>
                <a:spcPts val="2055"/>
              </a:lnSpc>
            </a:pPr>
            <a:r>
              <a:rPr sz="1800" spc="-10" dirty="0">
                <a:latin typeface="Carlito"/>
                <a:cs typeface="Carlito"/>
              </a:rPr>
              <a:t>str(“was”);</a:t>
            </a:r>
            <a:endParaRPr sz="18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110997"/>
            <a:ext cx="461899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b="0" dirty="0">
                <a:latin typeface="Carlito"/>
                <a:cs typeface="Carlito"/>
              </a:rPr>
              <a:t>String</a:t>
            </a:r>
            <a:r>
              <a:rPr sz="4400" b="0" spc="-95" dirty="0">
                <a:latin typeface="Carlito"/>
                <a:cs typeface="Carlito"/>
              </a:rPr>
              <a:t> </a:t>
            </a:r>
            <a:r>
              <a:rPr sz="4400" b="0" spc="-10" dirty="0">
                <a:latin typeface="Carlito"/>
                <a:cs typeface="Carlito"/>
              </a:rPr>
              <a:t>Operations(4)</a:t>
            </a:r>
            <a:endParaRPr sz="4400">
              <a:latin typeface="Carlito"/>
              <a:cs typeface="Carlito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5940" y="1106547"/>
            <a:ext cx="7156450" cy="2659380"/>
          </a:xfrm>
          <a:prstGeom prst="rect">
            <a:avLst/>
          </a:prstGeom>
        </p:spPr>
        <p:txBody>
          <a:bodyPr vert="horz" wrap="square" lIns="0" tIns="6731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530"/>
              </a:spcBef>
              <a:buFont typeface="Arial"/>
              <a:buChar char="•"/>
              <a:tabLst>
                <a:tab pos="355600" algn="l"/>
              </a:tabLst>
            </a:pPr>
            <a:r>
              <a:rPr sz="1800" b="1" spc="-10" dirty="0">
                <a:latin typeface="Carlito"/>
                <a:cs typeface="Carlito"/>
              </a:rPr>
              <a:t>toLowerCase():</a:t>
            </a:r>
            <a:r>
              <a:rPr sz="1800" b="1" spc="-50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Converts</a:t>
            </a:r>
            <a:r>
              <a:rPr sz="1800" spc="-35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all</a:t>
            </a:r>
            <a:r>
              <a:rPr sz="1800" spc="-10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of</a:t>
            </a:r>
            <a:r>
              <a:rPr sz="1800" spc="-20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the</a:t>
            </a:r>
            <a:r>
              <a:rPr sz="1800" spc="-10" dirty="0">
                <a:latin typeface="Carlito"/>
                <a:cs typeface="Carlito"/>
              </a:rPr>
              <a:t> characters</a:t>
            </a:r>
            <a:r>
              <a:rPr sz="1800" spc="10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in</a:t>
            </a:r>
            <a:r>
              <a:rPr sz="1800" spc="-10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a</a:t>
            </a:r>
            <a:r>
              <a:rPr sz="1800" spc="-15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String</a:t>
            </a:r>
            <a:r>
              <a:rPr sz="1800" spc="-15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to</a:t>
            </a:r>
            <a:r>
              <a:rPr sz="1800" spc="-25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lower</a:t>
            </a:r>
            <a:r>
              <a:rPr sz="1800" spc="-5" dirty="0">
                <a:latin typeface="Carlito"/>
                <a:cs typeface="Carlito"/>
              </a:rPr>
              <a:t> </a:t>
            </a:r>
            <a:r>
              <a:rPr sz="1800" spc="-10" dirty="0">
                <a:latin typeface="Carlito"/>
                <a:cs typeface="Carlito"/>
              </a:rPr>
              <a:t>case.</a:t>
            </a:r>
            <a:endParaRPr sz="1800">
              <a:latin typeface="Carlito"/>
              <a:cs typeface="Carlito"/>
            </a:endParaRPr>
          </a:p>
          <a:p>
            <a:pPr marL="355600" indent="-342900">
              <a:lnSpc>
                <a:spcPct val="100000"/>
              </a:lnSpc>
              <a:spcBef>
                <a:spcPts val="430"/>
              </a:spcBef>
              <a:buFont typeface="Arial"/>
              <a:buChar char="•"/>
              <a:tabLst>
                <a:tab pos="355600" algn="l"/>
              </a:tabLst>
            </a:pPr>
            <a:r>
              <a:rPr sz="1800" b="1" spc="-10" dirty="0">
                <a:latin typeface="Carlito"/>
                <a:cs typeface="Carlito"/>
              </a:rPr>
              <a:t>toUpperCase():</a:t>
            </a:r>
            <a:r>
              <a:rPr sz="1800" b="1" spc="-50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Converts</a:t>
            </a:r>
            <a:r>
              <a:rPr sz="1800" spc="-35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all</a:t>
            </a:r>
            <a:r>
              <a:rPr sz="1800" spc="-15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of</a:t>
            </a:r>
            <a:r>
              <a:rPr sz="1800" spc="-15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the</a:t>
            </a:r>
            <a:r>
              <a:rPr sz="1800" spc="-10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characters</a:t>
            </a:r>
            <a:r>
              <a:rPr sz="1800" spc="-5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in</a:t>
            </a:r>
            <a:r>
              <a:rPr sz="1800" spc="-15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this</a:t>
            </a:r>
            <a:r>
              <a:rPr sz="1800" spc="-15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String</a:t>
            </a:r>
            <a:r>
              <a:rPr sz="1800" spc="-5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to</a:t>
            </a:r>
            <a:r>
              <a:rPr sz="1800" spc="-30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upper</a:t>
            </a:r>
            <a:r>
              <a:rPr sz="1800" spc="-5" dirty="0">
                <a:latin typeface="Carlito"/>
                <a:cs typeface="Carlito"/>
              </a:rPr>
              <a:t> </a:t>
            </a:r>
            <a:r>
              <a:rPr sz="1800" spc="-10" dirty="0">
                <a:latin typeface="Carlito"/>
                <a:cs typeface="Carlito"/>
              </a:rPr>
              <a:t>case.</a:t>
            </a:r>
            <a:endParaRPr sz="1800">
              <a:latin typeface="Carlito"/>
              <a:cs typeface="Carlito"/>
            </a:endParaRPr>
          </a:p>
          <a:p>
            <a:pPr>
              <a:lnSpc>
                <a:spcPct val="100000"/>
              </a:lnSpc>
              <a:spcBef>
                <a:spcPts val="395"/>
              </a:spcBef>
            </a:pPr>
            <a:endParaRPr sz="1800">
              <a:latin typeface="Carlito"/>
              <a:cs typeface="Carlito"/>
            </a:endParaRPr>
          </a:p>
          <a:p>
            <a:pPr marL="12700" marR="4556125">
              <a:lnSpc>
                <a:spcPct val="120000"/>
              </a:lnSpc>
            </a:pPr>
            <a:r>
              <a:rPr sz="1800" dirty="0">
                <a:latin typeface="Carlito"/>
                <a:cs typeface="Carlito"/>
              </a:rPr>
              <a:t>public</a:t>
            </a:r>
            <a:r>
              <a:rPr sz="1800" spc="-30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String</a:t>
            </a:r>
            <a:r>
              <a:rPr sz="1800" spc="-25" dirty="0">
                <a:latin typeface="Carlito"/>
                <a:cs typeface="Carlito"/>
              </a:rPr>
              <a:t> </a:t>
            </a:r>
            <a:r>
              <a:rPr sz="1800" b="1" spc="-10" dirty="0">
                <a:latin typeface="Carlito"/>
                <a:cs typeface="Carlito"/>
              </a:rPr>
              <a:t>toLowerCase</a:t>
            </a:r>
            <a:r>
              <a:rPr sz="1800" spc="-10" dirty="0">
                <a:latin typeface="Carlito"/>
                <a:cs typeface="Carlito"/>
              </a:rPr>
              <a:t>() </a:t>
            </a:r>
            <a:r>
              <a:rPr sz="1800" dirty="0">
                <a:latin typeface="Carlito"/>
                <a:cs typeface="Carlito"/>
              </a:rPr>
              <a:t>public</a:t>
            </a:r>
            <a:r>
              <a:rPr sz="1800" spc="-30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String</a:t>
            </a:r>
            <a:r>
              <a:rPr sz="1800" spc="-25" dirty="0">
                <a:latin typeface="Carlito"/>
                <a:cs typeface="Carlito"/>
              </a:rPr>
              <a:t> </a:t>
            </a:r>
            <a:r>
              <a:rPr sz="1800" b="1" spc="-10" dirty="0">
                <a:latin typeface="Carlito"/>
                <a:cs typeface="Carlito"/>
              </a:rPr>
              <a:t>toUpperCase</a:t>
            </a:r>
            <a:r>
              <a:rPr sz="1800" spc="-10" dirty="0">
                <a:latin typeface="Carlito"/>
                <a:cs typeface="Carlito"/>
              </a:rPr>
              <a:t>()</a:t>
            </a:r>
            <a:endParaRPr sz="1800">
              <a:latin typeface="Carlito"/>
              <a:cs typeface="Carlito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sz="1800">
              <a:latin typeface="Carlito"/>
              <a:cs typeface="Carlito"/>
            </a:endParaRPr>
          </a:p>
          <a:p>
            <a:pPr marL="274955" marR="3934460" indent="-262890">
              <a:lnSpc>
                <a:spcPct val="120000"/>
              </a:lnSpc>
            </a:pPr>
            <a:r>
              <a:rPr sz="1800" dirty="0">
                <a:latin typeface="Carlito"/>
                <a:cs typeface="Carlito"/>
              </a:rPr>
              <a:t>Eg:</a:t>
            </a:r>
            <a:r>
              <a:rPr sz="1800" spc="-55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“HELLO</a:t>
            </a:r>
            <a:r>
              <a:rPr sz="1800" spc="-55" dirty="0">
                <a:latin typeface="Carlito"/>
                <a:cs typeface="Carlito"/>
              </a:rPr>
              <a:t> </a:t>
            </a:r>
            <a:r>
              <a:rPr sz="1800" spc="-20" dirty="0">
                <a:latin typeface="Carlito"/>
                <a:cs typeface="Carlito"/>
              </a:rPr>
              <a:t>THERE”.toLowerCase(); </a:t>
            </a:r>
            <a:r>
              <a:rPr sz="1800" dirty="0">
                <a:latin typeface="Carlito"/>
                <a:cs typeface="Carlito"/>
              </a:rPr>
              <a:t>“hello</a:t>
            </a:r>
            <a:r>
              <a:rPr sz="1800" spc="-50" dirty="0">
                <a:latin typeface="Carlito"/>
                <a:cs typeface="Carlito"/>
              </a:rPr>
              <a:t> </a:t>
            </a:r>
            <a:r>
              <a:rPr sz="1800" spc="-10" dirty="0">
                <a:latin typeface="Carlito"/>
                <a:cs typeface="Carlito"/>
              </a:rPr>
              <a:t>there”.toUpperCase()</a:t>
            </a:r>
            <a:endParaRPr sz="18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110997"/>
            <a:ext cx="532511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b="0" dirty="0">
                <a:latin typeface="Carlito"/>
                <a:cs typeface="Carlito"/>
              </a:rPr>
              <a:t>Program</a:t>
            </a:r>
            <a:r>
              <a:rPr sz="4400" b="0" spc="-130" dirty="0">
                <a:latin typeface="Carlito"/>
                <a:cs typeface="Carlito"/>
              </a:rPr>
              <a:t> </a:t>
            </a:r>
            <a:r>
              <a:rPr sz="4400" b="0" dirty="0">
                <a:latin typeface="Carlito"/>
                <a:cs typeface="Carlito"/>
              </a:rPr>
              <a:t>on</a:t>
            </a:r>
            <a:r>
              <a:rPr sz="4400" b="0" spc="-135" dirty="0">
                <a:latin typeface="Carlito"/>
                <a:cs typeface="Carlito"/>
              </a:rPr>
              <a:t> </a:t>
            </a:r>
            <a:r>
              <a:rPr sz="4400" b="0" dirty="0">
                <a:latin typeface="Carlito"/>
                <a:cs typeface="Carlito"/>
              </a:rPr>
              <a:t>String</a:t>
            </a:r>
            <a:r>
              <a:rPr sz="4400" b="0" spc="-125" dirty="0">
                <a:latin typeface="Carlito"/>
                <a:cs typeface="Carlito"/>
              </a:rPr>
              <a:t> </a:t>
            </a:r>
            <a:r>
              <a:rPr sz="4400" b="0" spc="-10" dirty="0">
                <a:latin typeface="Carlito"/>
                <a:cs typeface="Carlito"/>
              </a:rPr>
              <a:t>class</a:t>
            </a:r>
            <a:endParaRPr sz="4400">
              <a:latin typeface="Carlito"/>
              <a:cs typeface="Carlito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5940" y="1434655"/>
            <a:ext cx="3865879" cy="3319145"/>
          </a:xfrm>
          <a:prstGeom prst="rect">
            <a:avLst/>
          </a:prstGeom>
        </p:spPr>
        <p:txBody>
          <a:bodyPr vert="horz" wrap="square" lIns="0" tIns="679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35"/>
              </a:spcBef>
            </a:pPr>
            <a:r>
              <a:rPr sz="1800" dirty="0">
                <a:latin typeface="Carlito"/>
                <a:cs typeface="Carlito"/>
              </a:rPr>
              <a:t>class</a:t>
            </a:r>
            <a:r>
              <a:rPr sz="1800" spc="-70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StringDemo</a:t>
            </a:r>
            <a:r>
              <a:rPr sz="1800" spc="-60" dirty="0">
                <a:latin typeface="Carlito"/>
                <a:cs typeface="Carlito"/>
              </a:rPr>
              <a:t> </a:t>
            </a:r>
            <a:r>
              <a:rPr sz="1800" spc="-50" dirty="0">
                <a:latin typeface="Carlito"/>
                <a:cs typeface="Carlito"/>
              </a:rPr>
              <a:t>{</a:t>
            </a:r>
            <a:endParaRPr sz="1800">
              <a:latin typeface="Carlito"/>
              <a:cs typeface="Carlito"/>
            </a:endParaRPr>
          </a:p>
          <a:p>
            <a:pPr marL="12700" marR="393065">
              <a:lnSpc>
                <a:spcPct val="120000"/>
              </a:lnSpc>
              <a:spcBef>
                <a:spcPts val="5"/>
              </a:spcBef>
            </a:pPr>
            <a:r>
              <a:rPr sz="1800" dirty="0">
                <a:latin typeface="Carlito"/>
                <a:cs typeface="Carlito"/>
              </a:rPr>
              <a:t>public</a:t>
            </a:r>
            <a:r>
              <a:rPr sz="1800" spc="-55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static</a:t>
            </a:r>
            <a:r>
              <a:rPr sz="1800" spc="-60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void</a:t>
            </a:r>
            <a:r>
              <a:rPr sz="1800" spc="-70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main(String</a:t>
            </a:r>
            <a:r>
              <a:rPr sz="1800" spc="-45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args[])</a:t>
            </a:r>
            <a:r>
              <a:rPr sz="1800" spc="-75" dirty="0">
                <a:latin typeface="Carlito"/>
                <a:cs typeface="Carlito"/>
              </a:rPr>
              <a:t> </a:t>
            </a:r>
            <a:r>
              <a:rPr sz="1800" spc="-50" dirty="0">
                <a:latin typeface="Carlito"/>
                <a:cs typeface="Carlito"/>
              </a:rPr>
              <a:t>{ </a:t>
            </a:r>
            <a:r>
              <a:rPr sz="1800" dirty="0">
                <a:latin typeface="Carlito"/>
                <a:cs typeface="Carlito"/>
              </a:rPr>
              <a:t>String</a:t>
            </a:r>
            <a:r>
              <a:rPr sz="1800" spc="-30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strOb1</a:t>
            </a:r>
            <a:r>
              <a:rPr sz="1800" spc="-45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=</a:t>
            </a:r>
            <a:r>
              <a:rPr sz="1800" spc="-45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"First</a:t>
            </a:r>
            <a:r>
              <a:rPr sz="1800" spc="-35" dirty="0">
                <a:latin typeface="Carlito"/>
                <a:cs typeface="Carlito"/>
              </a:rPr>
              <a:t> </a:t>
            </a:r>
            <a:r>
              <a:rPr sz="1800" spc="-10" dirty="0">
                <a:latin typeface="Carlito"/>
                <a:cs typeface="Carlito"/>
              </a:rPr>
              <a:t>String";</a:t>
            </a:r>
            <a:endParaRPr sz="180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  <a:spcBef>
                <a:spcPts val="430"/>
              </a:spcBef>
            </a:pPr>
            <a:r>
              <a:rPr sz="1800" dirty="0">
                <a:latin typeface="Carlito"/>
                <a:cs typeface="Carlito"/>
              </a:rPr>
              <a:t>String</a:t>
            </a:r>
            <a:r>
              <a:rPr sz="1800" spc="-35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strOb2</a:t>
            </a:r>
            <a:r>
              <a:rPr sz="1800" spc="-50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=</a:t>
            </a:r>
            <a:r>
              <a:rPr sz="1800" spc="-45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"Second</a:t>
            </a:r>
            <a:r>
              <a:rPr sz="1800" spc="-25" dirty="0">
                <a:latin typeface="Carlito"/>
                <a:cs typeface="Carlito"/>
              </a:rPr>
              <a:t> </a:t>
            </a:r>
            <a:r>
              <a:rPr sz="1800" spc="-10" dirty="0">
                <a:latin typeface="Carlito"/>
                <a:cs typeface="Carlito"/>
              </a:rPr>
              <a:t>String";</a:t>
            </a:r>
            <a:endParaRPr sz="1800">
              <a:latin typeface="Carlito"/>
              <a:cs typeface="Carlito"/>
            </a:endParaRPr>
          </a:p>
          <a:p>
            <a:pPr marL="12700" marR="5080">
              <a:lnSpc>
                <a:spcPct val="120000"/>
              </a:lnSpc>
            </a:pPr>
            <a:r>
              <a:rPr sz="1800" dirty="0">
                <a:latin typeface="Carlito"/>
                <a:cs typeface="Carlito"/>
              </a:rPr>
              <a:t>String</a:t>
            </a:r>
            <a:r>
              <a:rPr sz="1800" spc="-10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strOb3</a:t>
            </a:r>
            <a:r>
              <a:rPr sz="1800" spc="-20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=</a:t>
            </a:r>
            <a:r>
              <a:rPr sz="1800" spc="-20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strOb1</a:t>
            </a:r>
            <a:r>
              <a:rPr sz="1800" spc="-15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+</a:t>
            </a:r>
            <a:r>
              <a:rPr sz="1800" spc="-20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"</a:t>
            </a:r>
            <a:r>
              <a:rPr sz="1800" spc="-15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and</a:t>
            </a:r>
            <a:r>
              <a:rPr sz="1800" spc="-25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"</a:t>
            </a:r>
            <a:r>
              <a:rPr sz="1800" spc="-10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+</a:t>
            </a:r>
            <a:r>
              <a:rPr sz="1800" spc="-20" dirty="0">
                <a:latin typeface="Carlito"/>
                <a:cs typeface="Carlito"/>
              </a:rPr>
              <a:t> </a:t>
            </a:r>
            <a:r>
              <a:rPr sz="1800" spc="-10" dirty="0">
                <a:latin typeface="Carlito"/>
                <a:cs typeface="Carlito"/>
              </a:rPr>
              <a:t>strOb2; System.out.println(strOb1); System.out.println(strOb2); System.out.println(strOb3);</a:t>
            </a:r>
            <a:endParaRPr sz="180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  <a:spcBef>
                <a:spcPts val="434"/>
              </a:spcBef>
            </a:pPr>
            <a:r>
              <a:rPr sz="1800" spc="-50" dirty="0">
                <a:latin typeface="Carlito"/>
                <a:cs typeface="Carlito"/>
              </a:rPr>
              <a:t>}</a:t>
            </a:r>
            <a:endParaRPr sz="180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  <a:spcBef>
                <a:spcPts val="434"/>
              </a:spcBef>
            </a:pPr>
            <a:r>
              <a:rPr sz="1800" spc="-50" dirty="0">
                <a:latin typeface="Carlito"/>
                <a:cs typeface="Carlito"/>
              </a:rPr>
              <a:t>}</a:t>
            </a:r>
            <a:endParaRPr sz="1800">
              <a:latin typeface="Carlito"/>
              <a:cs typeface="Carlito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43000" y="4419600"/>
            <a:ext cx="5077968" cy="1676400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110997"/>
            <a:ext cx="349186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b="0" dirty="0">
                <a:latin typeface="Carlito"/>
                <a:cs typeface="Carlito"/>
              </a:rPr>
              <a:t>String</a:t>
            </a:r>
            <a:r>
              <a:rPr sz="4400" b="0" spc="-95" dirty="0">
                <a:latin typeface="Carlito"/>
                <a:cs typeface="Carlito"/>
              </a:rPr>
              <a:t> </a:t>
            </a:r>
            <a:r>
              <a:rPr sz="4400" b="0" spc="-10" dirty="0">
                <a:latin typeface="Carlito"/>
                <a:cs typeface="Carlito"/>
              </a:rPr>
              <a:t>methods</a:t>
            </a:r>
            <a:endParaRPr sz="4400">
              <a:latin typeface="Carlito"/>
              <a:cs typeface="Carlito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5940" y="1122934"/>
            <a:ext cx="6160770" cy="40043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dirty="0">
                <a:latin typeface="Carlito"/>
                <a:cs typeface="Carlito"/>
              </a:rPr>
              <a:t>class </a:t>
            </a:r>
            <a:r>
              <a:rPr sz="1500" spc="-10" dirty="0">
                <a:latin typeface="Carlito"/>
                <a:cs typeface="Carlito"/>
              </a:rPr>
              <a:t>StringDemo2</a:t>
            </a:r>
            <a:r>
              <a:rPr sz="1500" spc="-20" dirty="0">
                <a:latin typeface="Carlito"/>
                <a:cs typeface="Carlito"/>
              </a:rPr>
              <a:t> </a:t>
            </a:r>
            <a:r>
              <a:rPr sz="1500" spc="-50" dirty="0">
                <a:latin typeface="Carlito"/>
                <a:cs typeface="Carlito"/>
              </a:rPr>
              <a:t>{</a:t>
            </a:r>
            <a:endParaRPr sz="150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</a:pPr>
            <a:r>
              <a:rPr sz="1500" dirty="0">
                <a:latin typeface="Carlito"/>
                <a:cs typeface="Carlito"/>
              </a:rPr>
              <a:t>public</a:t>
            </a:r>
            <a:r>
              <a:rPr sz="1500" spc="-45" dirty="0">
                <a:latin typeface="Carlito"/>
                <a:cs typeface="Carlito"/>
              </a:rPr>
              <a:t> </a:t>
            </a:r>
            <a:r>
              <a:rPr sz="1500" spc="-10" dirty="0">
                <a:latin typeface="Carlito"/>
                <a:cs typeface="Carlito"/>
              </a:rPr>
              <a:t>static</a:t>
            </a:r>
            <a:r>
              <a:rPr sz="1500" spc="-45" dirty="0">
                <a:latin typeface="Carlito"/>
                <a:cs typeface="Carlito"/>
              </a:rPr>
              <a:t> </a:t>
            </a:r>
            <a:r>
              <a:rPr sz="1500" dirty="0">
                <a:latin typeface="Carlito"/>
                <a:cs typeface="Carlito"/>
              </a:rPr>
              <a:t>void</a:t>
            </a:r>
            <a:r>
              <a:rPr sz="1500" spc="-25" dirty="0">
                <a:latin typeface="Carlito"/>
                <a:cs typeface="Carlito"/>
              </a:rPr>
              <a:t> </a:t>
            </a:r>
            <a:r>
              <a:rPr sz="1500" dirty="0">
                <a:latin typeface="Carlito"/>
                <a:cs typeface="Carlito"/>
              </a:rPr>
              <a:t>main(String</a:t>
            </a:r>
            <a:r>
              <a:rPr sz="1500" spc="-55" dirty="0">
                <a:latin typeface="Carlito"/>
                <a:cs typeface="Carlito"/>
              </a:rPr>
              <a:t> </a:t>
            </a:r>
            <a:r>
              <a:rPr sz="1500" dirty="0">
                <a:latin typeface="Carlito"/>
                <a:cs typeface="Carlito"/>
              </a:rPr>
              <a:t>args[])</a:t>
            </a:r>
            <a:r>
              <a:rPr sz="1500" spc="-45" dirty="0">
                <a:latin typeface="Carlito"/>
                <a:cs typeface="Carlito"/>
              </a:rPr>
              <a:t> </a:t>
            </a:r>
            <a:r>
              <a:rPr sz="1500" spc="-50" dirty="0">
                <a:latin typeface="Carlito"/>
                <a:cs typeface="Carlito"/>
              </a:rPr>
              <a:t>{</a:t>
            </a:r>
            <a:endParaRPr sz="1500">
              <a:latin typeface="Carlito"/>
              <a:cs typeface="Carlito"/>
            </a:endParaRPr>
          </a:p>
          <a:p>
            <a:pPr marL="927100" marR="2766695">
              <a:lnSpc>
                <a:spcPct val="100000"/>
              </a:lnSpc>
            </a:pPr>
            <a:r>
              <a:rPr sz="1500" dirty="0">
                <a:latin typeface="Carlito"/>
                <a:cs typeface="Carlito"/>
              </a:rPr>
              <a:t>String</a:t>
            </a:r>
            <a:r>
              <a:rPr sz="1500" spc="-45" dirty="0">
                <a:latin typeface="Carlito"/>
                <a:cs typeface="Carlito"/>
              </a:rPr>
              <a:t> </a:t>
            </a:r>
            <a:r>
              <a:rPr sz="1500" dirty="0">
                <a:latin typeface="Carlito"/>
                <a:cs typeface="Carlito"/>
              </a:rPr>
              <a:t>strOb1</a:t>
            </a:r>
            <a:r>
              <a:rPr sz="1500" spc="-55" dirty="0">
                <a:latin typeface="Carlito"/>
                <a:cs typeface="Carlito"/>
              </a:rPr>
              <a:t> </a:t>
            </a:r>
            <a:r>
              <a:rPr sz="1500" dirty="0">
                <a:latin typeface="Carlito"/>
                <a:cs typeface="Carlito"/>
              </a:rPr>
              <a:t>=</a:t>
            </a:r>
            <a:r>
              <a:rPr sz="1500" spc="-30" dirty="0">
                <a:latin typeface="Carlito"/>
                <a:cs typeface="Carlito"/>
              </a:rPr>
              <a:t> </a:t>
            </a:r>
            <a:r>
              <a:rPr sz="1500" dirty="0">
                <a:latin typeface="Carlito"/>
                <a:cs typeface="Carlito"/>
              </a:rPr>
              <a:t>"First</a:t>
            </a:r>
            <a:r>
              <a:rPr sz="1500" spc="-30" dirty="0">
                <a:latin typeface="Carlito"/>
                <a:cs typeface="Carlito"/>
              </a:rPr>
              <a:t> </a:t>
            </a:r>
            <a:r>
              <a:rPr sz="1500" spc="-10" dirty="0">
                <a:latin typeface="Carlito"/>
                <a:cs typeface="Carlito"/>
              </a:rPr>
              <a:t>String"; </a:t>
            </a:r>
            <a:r>
              <a:rPr sz="1500" dirty="0">
                <a:latin typeface="Carlito"/>
                <a:cs typeface="Carlito"/>
              </a:rPr>
              <a:t>String</a:t>
            </a:r>
            <a:r>
              <a:rPr sz="1500" spc="-50" dirty="0">
                <a:latin typeface="Carlito"/>
                <a:cs typeface="Carlito"/>
              </a:rPr>
              <a:t> </a:t>
            </a:r>
            <a:r>
              <a:rPr sz="1500" dirty="0">
                <a:latin typeface="Carlito"/>
                <a:cs typeface="Carlito"/>
              </a:rPr>
              <a:t>strOb2</a:t>
            </a:r>
            <a:r>
              <a:rPr sz="1500" spc="-60" dirty="0">
                <a:latin typeface="Carlito"/>
                <a:cs typeface="Carlito"/>
              </a:rPr>
              <a:t> </a:t>
            </a:r>
            <a:r>
              <a:rPr sz="1500" dirty="0">
                <a:latin typeface="Carlito"/>
                <a:cs typeface="Carlito"/>
              </a:rPr>
              <a:t>=</a:t>
            </a:r>
            <a:r>
              <a:rPr sz="1500" spc="-35" dirty="0">
                <a:latin typeface="Carlito"/>
                <a:cs typeface="Carlito"/>
              </a:rPr>
              <a:t> </a:t>
            </a:r>
            <a:r>
              <a:rPr sz="1500" dirty="0">
                <a:latin typeface="Carlito"/>
                <a:cs typeface="Carlito"/>
              </a:rPr>
              <a:t>"Second</a:t>
            </a:r>
            <a:r>
              <a:rPr sz="1500" spc="-30" dirty="0">
                <a:latin typeface="Carlito"/>
                <a:cs typeface="Carlito"/>
              </a:rPr>
              <a:t> </a:t>
            </a:r>
            <a:r>
              <a:rPr sz="1500" spc="-10" dirty="0">
                <a:latin typeface="Carlito"/>
                <a:cs typeface="Carlito"/>
              </a:rPr>
              <a:t>String"; </a:t>
            </a:r>
            <a:r>
              <a:rPr sz="1500" dirty="0">
                <a:latin typeface="Carlito"/>
                <a:cs typeface="Carlito"/>
              </a:rPr>
              <a:t>String</a:t>
            </a:r>
            <a:r>
              <a:rPr sz="1500" spc="-40" dirty="0">
                <a:latin typeface="Carlito"/>
                <a:cs typeface="Carlito"/>
              </a:rPr>
              <a:t> </a:t>
            </a:r>
            <a:r>
              <a:rPr sz="1500" dirty="0">
                <a:latin typeface="Carlito"/>
                <a:cs typeface="Carlito"/>
              </a:rPr>
              <a:t>strOb3</a:t>
            </a:r>
            <a:r>
              <a:rPr sz="1500" spc="-60" dirty="0">
                <a:latin typeface="Carlito"/>
                <a:cs typeface="Carlito"/>
              </a:rPr>
              <a:t> </a:t>
            </a:r>
            <a:r>
              <a:rPr sz="1500" dirty="0">
                <a:latin typeface="Carlito"/>
                <a:cs typeface="Carlito"/>
              </a:rPr>
              <a:t>=</a:t>
            </a:r>
            <a:r>
              <a:rPr sz="1500" spc="-25" dirty="0">
                <a:latin typeface="Carlito"/>
                <a:cs typeface="Carlito"/>
              </a:rPr>
              <a:t> </a:t>
            </a:r>
            <a:r>
              <a:rPr sz="1500" spc="-10" dirty="0">
                <a:latin typeface="Carlito"/>
                <a:cs typeface="Carlito"/>
              </a:rPr>
              <a:t>strOb1;</a:t>
            </a:r>
            <a:endParaRPr sz="1500">
              <a:latin typeface="Carlito"/>
              <a:cs typeface="Carlito"/>
            </a:endParaRPr>
          </a:p>
          <a:p>
            <a:pPr marL="927100" marR="5080">
              <a:lnSpc>
                <a:spcPct val="100000"/>
              </a:lnSpc>
              <a:spcBef>
                <a:spcPts val="240"/>
              </a:spcBef>
            </a:pPr>
            <a:r>
              <a:rPr sz="1500" spc="-10" dirty="0">
                <a:latin typeface="Carlito"/>
                <a:cs typeface="Carlito"/>
              </a:rPr>
              <a:t>System.out.println("Length</a:t>
            </a:r>
            <a:r>
              <a:rPr sz="1500" spc="-45" dirty="0">
                <a:latin typeface="Carlito"/>
                <a:cs typeface="Carlito"/>
              </a:rPr>
              <a:t> </a:t>
            </a:r>
            <a:r>
              <a:rPr sz="1500" dirty="0">
                <a:latin typeface="Carlito"/>
                <a:cs typeface="Carlito"/>
              </a:rPr>
              <a:t>of</a:t>
            </a:r>
            <a:r>
              <a:rPr sz="1500" spc="-10" dirty="0">
                <a:latin typeface="Carlito"/>
                <a:cs typeface="Carlito"/>
              </a:rPr>
              <a:t> </a:t>
            </a:r>
            <a:r>
              <a:rPr sz="1500" dirty="0">
                <a:latin typeface="Carlito"/>
                <a:cs typeface="Carlito"/>
              </a:rPr>
              <a:t>strOb1:</a:t>
            </a:r>
            <a:r>
              <a:rPr sz="1500" spc="-30" dirty="0">
                <a:latin typeface="Carlito"/>
                <a:cs typeface="Carlito"/>
              </a:rPr>
              <a:t> </a:t>
            </a:r>
            <a:r>
              <a:rPr sz="1500" dirty="0">
                <a:latin typeface="Carlito"/>
                <a:cs typeface="Carlito"/>
              </a:rPr>
              <a:t>" +</a:t>
            </a:r>
            <a:r>
              <a:rPr sz="1500" spc="-10" dirty="0">
                <a:latin typeface="Carlito"/>
                <a:cs typeface="Carlito"/>
              </a:rPr>
              <a:t> strOb1.length()); System.out.println("Char</a:t>
            </a:r>
            <a:r>
              <a:rPr sz="1500" spc="-50" dirty="0">
                <a:latin typeface="Carlito"/>
                <a:cs typeface="Carlito"/>
              </a:rPr>
              <a:t> </a:t>
            </a:r>
            <a:r>
              <a:rPr sz="1500" dirty="0">
                <a:latin typeface="Carlito"/>
                <a:cs typeface="Carlito"/>
              </a:rPr>
              <a:t>at</a:t>
            </a:r>
            <a:r>
              <a:rPr sz="1500" spc="-25" dirty="0">
                <a:latin typeface="Carlito"/>
                <a:cs typeface="Carlito"/>
              </a:rPr>
              <a:t> </a:t>
            </a:r>
            <a:r>
              <a:rPr sz="1500" dirty="0">
                <a:latin typeface="Carlito"/>
                <a:cs typeface="Carlito"/>
              </a:rPr>
              <a:t>index</a:t>
            </a:r>
            <a:r>
              <a:rPr sz="1500" spc="-15" dirty="0">
                <a:latin typeface="Carlito"/>
                <a:cs typeface="Carlito"/>
              </a:rPr>
              <a:t> </a:t>
            </a:r>
            <a:r>
              <a:rPr sz="1500" dirty="0">
                <a:latin typeface="Carlito"/>
                <a:cs typeface="Carlito"/>
              </a:rPr>
              <a:t>3</a:t>
            </a:r>
            <a:r>
              <a:rPr sz="1500" spc="-20" dirty="0">
                <a:latin typeface="Carlito"/>
                <a:cs typeface="Carlito"/>
              </a:rPr>
              <a:t> </a:t>
            </a:r>
            <a:r>
              <a:rPr sz="1500" dirty="0">
                <a:latin typeface="Carlito"/>
                <a:cs typeface="Carlito"/>
              </a:rPr>
              <a:t>in</a:t>
            </a:r>
            <a:r>
              <a:rPr sz="1500" spc="-5" dirty="0">
                <a:latin typeface="Carlito"/>
                <a:cs typeface="Carlito"/>
              </a:rPr>
              <a:t> </a:t>
            </a:r>
            <a:r>
              <a:rPr sz="1500" dirty="0">
                <a:latin typeface="Carlito"/>
                <a:cs typeface="Carlito"/>
              </a:rPr>
              <a:t>strOb1:</a:t>
            </a:r>
            <a:r>
              <a:rPr sz="1500" spc="-40" dirty="0">
                <a:latin typeface="Carlito"/>
                <a:cs typeface="Carlito"/>
              </a:rPr>
              <a:t> </a:t>
            </a:r>
            <a:r>
              <a:rPr sz="1500" dirty="0">
                <a:latin typeface="Carlito"/>
                <a:cs typeface="Carlito"/>
              </a:rPr>
              <a:t>"</a:t>
            </a:r>
            <a:r>
              <a:rPr sz="1500" spc="-10" dirty="0">
                <a:latin typeface="Carlito"/>
                <a:cs typeface="Carlito"/>
              </a:rPr>
              <a:t> </a:t>
            </a:r>
            <a:r>
              <a:rPr sz="1500" dirty="0">
                <a:latin typeface="Carlito"/>
                <a:cs typeface="Carlito"/>
              </a:rPr>
              <a:t>+</a:t>
            </a:r>
            <a:r>
              <a:rPr sz="1500" spc="-15" dirty="0">
                <a:latin typeface="Carlito"/>
                <a:cs typeface="Carlito"/>
              </a:rPr>
              <a:t> </a:t>
            </a:r>
            <a:r>
              <a:rPr sz="1500" spc="-10" dirty="0">
                <a:latin typeface="Carlito"/>
                <a:cs typeface="Carlito"/>
              </a:rPr>
              <a:t>strOb1.charAt(3));</a:t>
            </a:r>
            <a:endParaRPr sz="1500">
              <a:latin typeface="Carlito"/>
              <a:cs typeface="Carlito"/>
            </a:endParaRPr>
          </a:p>
          <a:p>
            <a:pPr marL="927100" marR="2155190">
              <a:lnSpc>
                <a:spcPct val="100000"/>
              </a:lnSpc>
              <a:spcBef>
                <a:spcPts val="480"/>
              </a:spcBef>
            </a:pPr>
            <a:r>
              <a:rPr sz="1500" spc="-10" dirty="0">
                <a:latin typeface="Carlito"/>
                <a:cs typeface="Carlito"/>
              </a:rPr>
              <a:t>if(strOb1.equals(strOb2)) System.out.println("strOb1</a:t>
            </a:r>
            <a:r>
              <a:rPr sz="1500" spc="-30" dirty="0">
                <a:latin typeface="Carlito"/>
                <a:cs typeface="Carlito"/>
              </a:rPr>
              <a:t> </a:t>
            </a:r>
            <a:r>
              <a:rPr sz="1500" dirty="0">
                <a:latin typeface="Carlito"/>
                <a:cs typeface="Carlito"/>
              </a:rPr>
              <a:t>==</a:t>
            </a:r>
            <a:r>
              <a:rPr sz="1500" spc="10" dirty="0">
                <a:latin typeface="Carlito"/>
                <a:cs typeface="Carlito"/>
              </a:rPr>
              <a:t> </a:t>
            </a:r>
            <a:r>
              <a:rPr sz="1500" spc="-10" dirty="0">
                <a:latin typeface="Carlito"/>
                <a:cs typeface="Carlito"/>
              </a:rPr>
              <a:t>strOb2"); </a:t>
            </a:r>
            <a:r>
              <a:rPr sz="1500" spc="-20" dirty="0">
                <a:latin typeface="Carlito"/>
                <a:cs typeface="Carlito"/>
              </a:rPr>
              <a:t>else</a:t>
            </a:r>
            <a:endParaRPr sz="1500">
              <a:latin typeface="Carlito"/>
              <a:cs typeface="Carlito"/>
            </a:endParaRPr>
          </a:p>
          <a:p>
            <a:pPr marL="927100" marR="2155190">
              <a:lnSpc>
                <a:spcPct val="100000"/>
              </a:lnSpc>
              <a:spcBef>
                <a:spcPts val="5"/>
              </a:spcBef>
            </a:pPr>
            <a:r>
              <a:rPr sz="1500" spc="-10" dirty="0">
                <a:latin typeface="Carlito"/>
                <a:cs typeface="Carlito"/>
              </a:rPr>
              <a:t>System.out.println("strOb1</a:t>
            </a:r>
            <a:r>
              <a:rPr sz="1500" spc="-30" dirty="0">
                <a:latin typeface="Carlito"/>
                <a:cs typeface="Carlito"/>
              </a:rPr>
              <a:t> </a:t>
            </a:r>
            <a:r>
              <a:rPr sz="1500" dirty="0">
                <a:latin typeface="Carlito"/>
                <a:cs typeface="Carlito"/>
              </a:rPr>
              <a:t>!=</a:t>
            </a:r>
            <a:r>
              <a:rPr sz="1500" spc="10" dirty="0">
                <a:latin typeface="Carlito"/>
                <a:cs typeface="Carlito"/>
              </a:rPr>
              <a:t> </a:t>
            </a:r>
            <a:r>
              <a:rPr sz="1500" spc="-10" dirty="0">
                <a:latin typeface="Carlito"/>
                <a:cs typeface="Carlito"/>
              </a:rPr>
              <a:t>strOb2"); if(strOb1.equals(strOb3)) System.out.println("strOb1</a:t>
            </a:r>
            <a:r>
              <a:rPr sz="1500" spc="-30" dirty="0">
                <a:latin typeface="Carlito"/>
                <a:cs typeface="Carlito"/>
              </a:rPr>
              <a:t> </a:t>
            </a:r>
            <a:r>
              <a:rPr sz="1500" dirty="0">
                <a:latin typeface="Carlito"/>
                <a:cs typeface="Carlito"/>
              </a:rPr>
              <a:t>==</a:t>
            </a:r>
            <a:r>
              <a:rPr sz="1500" spc="10" dirty="0">
                <a:latin typeface="Carlito"/>
                <a:cs typeface="Carlito"/>
              </a:rPr>
              <a:t> </a:t>
            </a:r>
            <a:r>
              <a:rPr sz="1500" spc="-10" dirty="0">
                <a:latin typeface="Carlito"/>
                <a:cs typeface="Carlito"/>
              </a:rPr>
              <a:t>strOb3"); </a:t>
            </a:r>
            <a:r>
              <a:rPr sz="1500" spc="-20" dirty="0">
                <a:latin typeface="Carlito"/>
                <a:cs typeface="Carlito"/>
              </a:rPr>
              <a:t>else</a:t>
            </a:r>
            <a:endParaRPr sz="1500">
              <a:latin typeface="Carlito"/>
              <a:cs typeface="Carlito"/>
            </a:endParaRPr>
          </a:p>
          <a:p>
            <a:pPr marL="927100">
              <a:lnSpc>
                <a:spcPct val="100000"/>
              </a:lnSpc>
            </a:pPr>
            <a:r>
              <a:rPr sz="1500" spc="-10" dirty="0">
                <a:latin typeface="Carlito"/>
                <a:cs typeface="Carlito"/>
              </a:rPr>
              <a:t>System.out.println("strOb1</a:t>
            </a:r>
            <a:r>
              <a:rPr sz="1500" spc="-30" dirty="0">
                <a:latin typeface="Carlito"/>
                <a:cs typeface="Carlito"/>
              </a:rPr>
              <a:t> </a:t>
            </a:r>
            <a:r>
              <a:rPr sz="1500" dirty="0">
                <a:latin typeface="Carlito"/>
                <a:cs typeface="Carlito"/>
              </a:rPr>
              <a:t>!=</a:t>
            </a:r>
            <a:r>
              <a:rPr sz="1500" spc="10" dirty="0">
                <a:latin typeface="Carlito"/>
                <a:cs typeface="Carlito"/>
              </a:rPr>
              <a:t> </a:t>
            </a:r>
            <a:r>
              <a:rPr sz="1500" spc="-10" dirty="0">
                <a:latin typeface="Carlito"/>
                <a:cs typeface="Carlito"/>
              </a:rPr>
              <a:t>strOb3");</a:t>
            </a:r>
            <a:endParaRPr sz="1500">
              <a:latin typeface="Carlito"/>
              <a:cs typeface="Carlito"/>
            </a:endParaRPr>
          </a:p>
          <a:p>
            <a:pPr marL="927100">
              <a:lnSpc>
                <a:spcPct val="100000"/>
              </a:lnSpc>
            </a:pPr>
            <a:r>
              <a:rPr sz="1500" spc="-50" dirty="0">
                <a:latin typeface="Carlito"/>
                <a:cs typeface="Carlito"/>
              </a:rPr>
              <a:t>}</a:t>
            </a:r>
            <a:endParaRPr sz="1500">
              <a:latin typeface="Carlito"/>
              <a:cs typeface="Carlito"/>
            </a:endParaRPr>
          </a:p>
          <a:p>
            <a:pPr marL="927100">
              <a:lnSpc>
                <a:spcPct val="100000"/>
              </a:lnSpc>
            </a:pPr>
            <a:r>
              <a:rPr sz="1500" spc="-50" dirty="0">
                <a:latin typeface="Carlito"/>
                <a:cs typeface="Carlito"/>
              </a:rPr>
              <a:t>}</a:t>
            </a:r>
            <a:endParaRPr sz="1500">
              <a:latin typeface="Carlito"/>
              <a:cs typeface="Carlito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19044" y="5658611"/>
            <a:ext cx="4829556" cy="1199387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110997"/>
            <a:ext cx="274764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b="0" spc="-10" dirty="0">
                <a:latin typeface="Carlito"/>
                <a:cs typeface="Carlito"/>
              </a:rPr>
              <a:t>StringBuffer</a:t>
            </a:r>
            <a:endParaRPr sz="4400">
              <a:latin typeface="Carlito"/>
              <a:cs typeface="Carlito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5940" y="1106547"/>
            <a:ext cx="8070850" cy="2604770"/>
          </a:xfrm>
          <a:prstGeom prst="rect">
            <a:avLst/>
          </a:prstGeom>
        </p:spPr>
        <p:txBody>
          <a:bodyPr vert="horz" wrap="square" lIns="0" tIns="6731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530"/>
              </a:spcBef>
              <a:buFont typeface="Arial"/>
              <a:buChar char="•"/>
              <a:tabLst>
                <a:tab pos="355600" algn="l"/>
              </a:tabLst>
            </a:pPr>
            <a:r>
              <a:rPr sz="1800" dirty="0">
                <a:latin typeface="Carlito"/>
                <a:cs typeface="Carlito"/>
              </a:rPr>
              <a:t>A</a:t>
            </a:r>
            <a:r>
              <a:rPr sz="1800" spc="-25" dirty="0">
                <a:latin typeface="Carlito"/>
                <a:cs typeface="Carlito"/>
              </a:rPr>
              <a:t> </a:t>
            </a:r>
            <a:r>
              <a:rPr sz="1800" spc="-10" dirty="0">
                <a:latin typeface="Carlito"/>
                <a:cs typeface="Carlito"/>
              </a:rPr>
              <a:t>StringBuffer</a:t>
            </a:r>
            <a:r>
              <a:rPr sz="1800" spc="-40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is</a:t>
            </a:r>
            <a:r>
              <a:rPr sz="1800" spc="-15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like</a:t>
            </a:r>
            <a:r>
              <a:rPr sz="1800" spc="-10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a</a:t>
            </a:r>
            <a:r>
              <a:rPr sz="1800" spc="-15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String,</a:t>
            </a:r>
            <a:r>
              <a:rPr sz="1800" spc="-35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but</a:t>
            </a:r>
            <a:r>
              <a:rPr sz="1800" spc="-15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can</a:t>
            </a:r>
            <a:r>
              <a:rPr sz="1800" spc="-10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be</a:t>
            </a:r>
            <a:r>
              <a:rPr sz="1800" spc="-25" dirty="0">
                <a:latin typeface="Carlito"/>
                <a:cs typeface="Carlito"/>
              </a:rPr>
              <a:t> </a:t>
            </a:r>
            <a:r>
              <a:rPr sz="1800" spc="-10" dirty="0">
                <a:latin typeface="Carlito"/>
                <a:cs typeface="Carlito"/>
              </a:rPr>
              <a:t>modified.</a:t>
            </a:r>
            <a:endParaRPr sz="1800">
              <a:latin typeface="Carlito"/>
              <a:cs typeface="Carlito"/>
            </a:endParaRPr>
          </a:p>
          <a:p>
            <a:pPr marL="355600" indent="-342900">
              <a:lnSpc>
                <a:spcPct val="100000"/>
              </a:lnSpc>
              <a:spcBef>
                <a:spcPts val="430"/>
              </a:spcBef>
              <a:buFont typeface="Arial"/>
              <a:buChar char="•"/>
              <a:tabLst>
                <a:tab pos="355600" algn="l"/>
              </a:tabLst>
            </a:pPr>
            <a:r>
              <a:rPr sz="1800" dirty="0">
                <a:latin typeface="Carlito"/>
                <a:cs typeface="Carlito"/>
              </a:rPr>
              <a:t>The</a:t>
            </a:r>
            <a:r>
              <a:rPr sz="1800" spc="330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length</a:t>
            </a:r>
            <a:r>
              <a:rPr sz="1800" spc="330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and</a:t>
            </a:r>
            <a:r>
              <a:rPr sz="1800" spc="340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content</a:t>
            </a:r>
            <a:r>
              <a:rPr sz="1800" spc="325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of</a:t>
            </a:r>
            <a:r>
              <a:rPr sz="1800" spc="335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the</a:t>
            </a:r>
            <a:r>
              <a:rPr sz="1800" spc="330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StringBuffer</a:t>
            </a:r>
            <a:r>
              <a:rPr sz="1800" spc="295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sequence</a:t>
            </a:r>
            <a:r>
              <a:rPr sz="1800" spc="335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can</a:t>
            </a:r>
            <a:r>
              <a:rPr sz="1800" spc="335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be</a:t>
            </a:r>
            <a:r>
              <a:rPr sz="1800" spc="345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changed</a:t>
            </a:r>
            <a:r>
              <a:rPr sz="1800" spc="335" dirty="0">
                <a:latin typeface="Carlito"/>
                <a:cs typeface="Carlito"/>
              </a:rPr>
              <a:t> </a:t>
            </a:r>
            <a:r>
              <a:rPr sz="1800" spc="-10" dirty="0">
                <a:latin typeface="Carlito"/>
                <a:cs typeface="Carlito"/>
              </a:rPr>
              <a:t>through</a:t>
            </a:r>
            <a:endParaRPr sz="1800">
              <a:latin typeface="Carlito"/>
              <a:cs typeface="Carlito"/>
            </a:endParaRPr>
          </a:p>
          <a:p>
            <a:pPr marL="355600">
              <a:lnSpc>
                <a:spcPct val="100000"/>
              </a:lnSpc>
              <a:spcBef>
                <a:spcPts val="5"/>
              </a:spcBef>
            </a:pPr>
            <a:r>
              <a:rPr sz="1800" dirty="0">
                <a:latin typeface="Carlito"/>
                <a:cs typeface="Carlito"/>
              </a:rPr>
              <a:t>certain</a:t>
            </a:r>
            <a:r>
              <a:rPr sz="1800" spc="-60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method</a:t>
            </a:r>
            <a:r>
              <a:rPr sz="1800" spc="-80" dirty="0">
                <a:latin typeface="Carlito"/>
                <a:cs typeface="Carlito"/>
              </a:rPr>
              <a:t> </a:t>
            </a:r>
            <a:r>
              <a:rPr sz="1800" spc="-10" dirty="0">
                <a:latin typeface="Carlito"/>
                <a:cs typeface="Carlito"/>
              </a:rPr>
              <a:t>calls.</a:t>
            </a:r>
            <a:endParaRPr sz="1800">
              <a:latin typeface="Carlito"/>
              <a:cs typeface="Carlito"/>
            </a:endParaRPr>
          </a:p>
          <a:p>
            <a:pPr marL="355600" indent="-342900">
              <a:lnSpc>
                <a:spcPct val="100000"/>
              </a:lnSpc>
              <a:spcBef>
                <a:spcPts val="430"/>
              </a:spcBef>
              <a:buFont typeface="Arial"/>
              <a:buChar char="•"/>
              <a:tabLst>
                <a:tab pos="355600" algn="l"/>
              </a:tabLst>
            </a:pPr>
            <a:r>
              <a:rPr sz="1800" spc="-10" dirty="0">
                <a:latin typeface="Carlito"/>
                <a:cs typeface="Carlito"/>
              </a:rPr>
              <a:t>StringBuffer</a:t>
            </a:r>
            <a:r>
              <a:rPr sz="1800" spc="-50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defines</a:t>
            </a:r>
            <a:r>
              <a:rPr sz="1800" spc="-50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three</a:t>
            </a:r>
            <a:r>
              <a:rPr sz="1800" spc="-35" dirty="0">
                <a:latin typeface="Carlito"/>
                <a:cs typeface="Carlito"/>
              </a:rPr>
              <a:t> </a:t>
            </a:r>
            <a:r>
              <a:rPr sz="1800" spc="-10" dirty="0">
                <a:latin typeface="Carlito"/>
                <a:cs typeface="Carlito"/>
              </a:rPr>
              <a:t>constructors:</a:t>
            </a:r>
            <a:endParaRPr sz="1800">
              <a:latin typeface="Carlito"/>
              <a:cs typeface="Carlito"/>
            </a:endParaRPr>
          </a:p>
          <a:p>
            <a:pPr>
              <a:lnSpc>
                <a:spcPct val="100000"/>
              </a:lnSpc>
              <a:spcBef>
                <a:spcPts val="825"/>
              </a:spcBef>
              <a:buFont typeface="Arial"/>
              <a:buChar char="•"/>
            </a:pPr>
            <a:endParaRPr sz="1800">
              <a:latin typeface="Carlito"/>
              <a:cs typeface="Carlito"/>
            </a:endParaRPr>
          </a:p>
          <a:p>
            <a:pPr marL="756285" lvl="1" indent="-286385">
              <a:lnSpc>
                <a:spcPct val="100000"/>
              </a:lnSpc>
              <a:buFont typeface="Arial"/>
              <a:buChar char="–"/>
              <a:tabLst>
                <a:tab pos="756285" algn="l"/>
              </a:tabLst>
            </a:pPr>
            <a:r>
              <a:rPr sz="1800" spc="-10" dirty="0">
                <a:latin typeface="Carlito"/>
                <a:cs typeface="Carlito"/>
              </a:rPr>
              <a:t>StringBuffer()</a:t>
            </a:r>
            <a:endParaRPr sz="1800">
              <a:latin typeface="Carlito"/>
              <a:cs typeface="Carlito"/>
            </a:endParaRPr>
          </a:p>
          <a:p>
            <a:pPr marL="756285" lvl="1" indent="-286385">
              <a:lnSpc>
                <a:spcPct val="100000"/>
              </a:lnSpc>
              <a:spcBef>
                <a:spcPts val="434"/>
              </a:spcBef>
              <a:buFont typeface="Arial"/>
              <a:buChar char="–"/>
              <a:tabLst>
                <a:tab pos="756285" algn="l"/>
              </a:tabLst>
            </a:pPr>
            <a:r>
              <a:rPr sz="1800" spc="-10" dirty="0">
                <a:latin typeface="Carlito"/>
                <a:cs typeface="Carlito"/>
              </a:rPr>
              <a:t>StringBuffer(int</a:t>
            </a:r>
            <a:r>
              <a:rPr sz="1800" spc="-5" dirty="0">
                <a:latin typeface="Carlito"/>
                <a:cs typeface="Carlito"/>
              </a:rPr>
              <a:t> </a:t>
            </a:r>
            <a:r>
              <a:rPr sz="1800" spc="-10" dirty="0">
                <a:latin typeface="Carlito"/>
                <a:cs typeface="Carlito"/>
              </a:rPr>
              <a:t>size)</a:t>
            </a:r>
            <a:endParaRPr sz="1800">
              <a:latin typeface="Carlito"/>
              <a:cs typeface="Carlito"/>
            </a:endParaRPr>
          </a:p>
          <a:p>
            <a:pPr marL="756285" lvl="1" indent="-286385">
              <a:lnSpc>
                <a:spcPct val="100000"/>
              </a:lnSpc>
              <a:spcBef>
                <a:spcPts val="430"/>
              </a:spcBef>
              <a:buFont typeface="Arial"/>
              <a:buChar char="–"/>
              <a:tabLst>
                <a:tab pos="756285" algn="l"/>
              </a:tabLst>
            </a:pPr>
            <a:r>
              <a:rPr sz="1800" spc="-10" dirty="0">
                <a:latin typeface="Carlito"/>
                <a:cs typeface="Carlito"/>
              </a:rPr>
              <a:t>StringBuffer(String</a:t>
            </a:r>
            <a:r>
              <a:rPr sz="1800" spc="5" dirty="0">
                <a:latin typeface="Carlito"/>
                <a:cs typeface="Carlito"/>
              </a:rPr>
              <a:t> </a:t>
            </a:r>
            <a:r>
              <a:rPr sz="1800" spc="-20" dirty="0">
                <a:latin typeface="Carlito"/>
                <a:cs typeface="Carlito"/>
              </a:rPr>
              <a:t>str)</a:t>
            </a:r>
            <a:endParaRPr sz="18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110997"/>
            <a:ext cx="600519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b="0" spc="-10" dirty="0">
                <a:latin typeface="Carlito"/>
                <a:cs typeface="Carlito"/>
              </a:rPr>
              <a:t>StringBuffer</a:t>
            </a:r>
            <a:r>
              <a:rPr sz="4400" b="0" spc="-175" dirty="0">
                <a:latin typeface="Carlito"/>
                <a:cs typeface="Carlito"/>
              </a:rPr>
              <a:t> </a:t>
            </a:r>
            <a:r>
              <a:rPr sz="4400" b="0" spc="-10" dirty="0">
                <a:latin typeface="Carlito"/>
                <a:cs typeface="Carlito"/>
              </a:rPr>
              <a:t>Operations(1)</a:t>
            </a:r>
            <a:endParaRPr sz="4400">
              <a:latin typeface="Carlito"/>
              <a:cs typeface="Carlito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5940" y="1161034"/>
            <a:ext cx="7633334" cy="2220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355600" algn="l"/>
              </a:tabLst>
            </a:pPr>
            <a:r>
              <a:rPr sz="1800" dirty="0">
                <a:latin typeface="Carlito"/>
                <a:cs typeface="Carlito"/>
              </a:rPr>
              <a:t>The</a:t>
            </a:r>
            <a:r>
              <a:rPr sz="1800" spc="-35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principal</a:t>
            </a:r>
            <a:r>
              <a:rPr sz="1800" spc="-5" dirty="0">
                <a:latin typeface="Carlito"/>
                <a:cs typeface="Carlito"/>
              </a:rPr>
              <a:t> </a:t>
            </a:r>
            <a:r>
              <a:rPr sz="1800" spc="-10" dirty="0">
                <a:latin typeface="Carlito"/>
                <a:cs typeface="Carlito"/>
              </a:rPr>
              <a:t>operations</a:t>
            </a:r>
            <a:r>
              <a:rPr sz="1800" spc="-30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on</a:t>
            </a:r>
            <a:r>
              <a:rPr sz="1800" spc="-25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a</a:t>
            </a:r>
            <a:r>
              <a:rPr sz="1800" spc="-35" dirty="0">
                <a:latin typeface="Carlito"/>
                <a:cs typeface="Carlito"/>
              </a:rPr>
              <a:t> </a:t>
            </a:r>
            <a:r>
              <a:rPr sz="1800" spc="-10" dirty="0">
                <a:latin typeface="Carlito"/>
                <a:cs typeface="Carlito"/>
              </a:rPr>
              <a:t>StringBuffer</a:t>
            </a:r>
            <a:r>
              <a:rPr sz="1800" spc="-35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are</a:t>
            </a:r>
            <a:r>
              <a:rPr sz="1800" spc="-35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the</a:t>
            </a:r>
            <a:r>
              <a:rPr sz="1800" spc="-25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append</a:t>
            </a:r>
            <a:r>
              <a:rPr sz="1800" spc="-25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and</a:t>
            </a:r>
            <a:r>
              <a:rPr sz="1800" spc="-35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insert</a:t>
            </a:r>
            <a:r>
              <a:rPr sz="1800" spc="-45" dirty="0">
                <a:latin typeface="Carlito"/>
                <a:cs typeface="Carlito"/>
              </a:rPr>
              <a:t> </a:t>
            </a:r>
            <a:r>
              <a:rPr sz="1800" spc="-10" dirty="0">
                <a:latin typeface="Carlito"/>
                <a:cs typeface="Carlito"/>
              </a:rPr>
              <a:t>methods,</a:t>
            </a:r>
            <a:endParaRPr sz="1800">
              <a:latin typeface="Carlito"/>
              <a:cs typeface="Carlito"/>
            </a:endParaRPr>
          </a:p>
          <a:p>
            <a:pPr marL="355600">
              <a:lnSpc>
                <a:spcPct val="100000"/>
              </a:lnSpc>
            </a:pPr>
            <a:r>
              <a:rPr sz="1800" dirty="0">
                <a:latin typeface="Carlito"/>
                <a:cs typeface="Carlito"/>
              </a:rPr>
              <a:t>which</a:t>
            </a:r>
            <a:r>
              <a:rPr sz="1800" spc="-25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are</a:t>
            </a:r>
            <a:r>
              <a:rPr sz="1800" spc="-40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overloaded</a:t>
            </a:r>
            <a:r>
              <a:rPr sz="1800" spc="-30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so</a:t>
            </a:r>
            <a:r>
              <a:rPr sz="1800" spc="-45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as</a:t>
            </a:r>
            <a:r>
              <a:rPr sz="1800" spc="-40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to</a:t>
            </a:r>
            <a:r>
              <a:rPr sz="1800" spc="-45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accept</a:t>
            </a:r>
            <a:r>
              <a:rPr sz="1800" spc="-25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data</a:t>
            </a:r>
            <a:r>
              <a:rPr sz="1800" spc="-40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of</a:t>
            </a:r>
            <a:r>
              <a:rPr sz="1800" spc="-40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any</a:t>
            </a:r>
            <a:r>
              <a:rPr sz="1800" spc="-45" dirty="0">
                <a:latin typeface="Carlito"/>
                <a:cs typeface="Carlito"/>
              </a:rPr>
              <a:t> </a:t>
            </a:r>
            <a:r>
              <a:rPr sz="1800" spc="-10" dirty="0">
                <a:latin typeface="Carlito"/>
                <a:cs typeface="Carlito"/>
              </a:rPr>
              <a:t>type.</a:t>
            </a:r>
            <a:endParaRPr sz="1800">
              <a:latin typeface="Carlito"/>
              <a:cs typeface="Carlito"/>
            </a:endParaRPr>
          </a:p>
          <a:p>
            <a:pPr marL="1155700" marR="3622675" indent="-800100">
              <a:lnSpc>
                <a:spcPct val="100000"/>
              </a:lnSpc>
              <a:spcBef>
                <a:spcPts val="2160"/>
              </a:spcBef>
            </a:pPr>
            <a:r>
              <a:rPr sz="1800" dirty="0">
                <a:latin typeface="Carlito"/>
                <a:cs typeface="Carlito"/>
              </a:rPr>
              <a:t>Here</a:t>
            </a:r>
            <a:r>
              <a:rPr sz="1800" spc="-55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are</a:t>
            </a:r>
            <a:r>
              <a:rPr sz="1800" spc="-50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few</a:t>
            </a:r>
            <a:r>
              <a:rPr sz="1800" spc="-65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append</a:t>
            </a:r>
            <a:r>
              <a:rPr sz="1800" spc="-55" dirty="0">
                <a:latin typeface="Carlito"/>
                <a:cs typeface="Carlito"/>
              </a:rPr>
              <a:t> </a:t>
            </a:r>
            <a:r>
              <a:rPr sz="1800" spc="-10" dirty="0">
                <a:latin typeface="Carlito"/>
                <a:cs typeface="Carlito"/>
              </a:rPr>
              <a:t>methods: StringBuffer</a:t>
            </a:r>
            <a:r>
              <a:rPr sz="1800" spc="-65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append(String</a:t>
            </a:r>
            <a:r>
              <a:rPr sz="1800" spc="-45" dirty="0">
                <a:latin typeface="Carlito"/>
                <a:cs typeface="Carlito"/>
              </a:rPr>
              <a:t> </a:t>
            </a:r>
            <a:r>
              <a:rPr sz="1800" spc="-20" dirty="0">
                <a:latin typeface="Carlito"/>
                <a:cs typeface="Carlito"/>
              </a:rPr>
              <a:t>str) </a:t>
            </a:r>
            <a:r>
              <a:rPr sz="1800" spc="-10" dirty="0">
                <a:latin typeface="Carlito"/>
                <a:cs typeface="Carlito"/>
              </a:rPr>
              <a:t>StringBuffer</a:t>
            </a:r>
            <a:r>
              <a:rPr sz="1800" spc="-55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append(int</a:t>
            </a:r>
            <a:r>
              <a:rPr sz="1800" spc="-55" dirty="0">
                <a:latin typeface="Carlito"/>
                <a:cs typeface="Carlito"/>
              </a:rPr>
              <a:t> </a:t>
            </a:r>
            <a:r>
              <a:rPr sz="1800" spc="-20" dirty="0">
                <a:latin typeface="Carlito"/>
                <a:cs typeface="Carlito"/>
              </a:rPr>
              <a:t>num)</a:t>
            </a:r>
            <a:endParaRPr sz="1800">
              <a:latin typeface="Carlito"/>
              <a:cs typeface="Carlito"/>
            </a:endParaRPr>
          </a:p>
          <a:p>
            <a:pPr marL="355600" indent="-342900">
              <a:lnSpc>
                <a:spcPct val="100000"/>
              </a:lnSpc>
              <a:spcBef>
                <a:spcPts val="2165"/>
              </a:spcBef>
              <a:buFont typeface="Arial"/>
              <a:buChar char="•"/>
              <a:tabLst>
                <a:tab pos="355600" algn="l"/>
              </a:tabLst>
            </a:pPr>
            <a:r>
              <a:rPr sz="1800" dirty="0">
                <a:latin typeface="Carlito"/>
                <a:cs typeface="Carlito"/>
              </a:rPr>
              <a:t>The</a:t>
            </a:r>
            <a:r>
              <a:rPr sz="1800" spc="-45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append</a:t>
            </a:r>
            <a:r>
              <a:rPr sz="1800" spc="-30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method</a:t>
            </a:r>
            <a:r>
              <a:rPr sz="1800" spc="-35" dirty="0">
                <a:latin typeface="Carlito"/>
                <a:cs typeface="Carlito"/>
              </a:rPr>
              <a:t> </a:t>
            </a:r>
            <a:r>
              <a:rPr sz="1800" spc="-10" dirty="0">
                <a:latin typeface="Carlito"/>
                <a:cs typeface="Carlito"/>
              </a:rPr>
              <a:t>always</a:t>
            </a:r>
            <a:r>
              <a:rPr sz="1800" spc="-40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adds</a:t>
            </a:r>
            <a:r>
              <a:rPr sz="1800" spc="-40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these</a:t>
            </a:r>
            <a:r>
              <a:rPr sz="1800" spc="-40" dirty="0">
                <a:latin typeface="Carlito"/>
                <a:cs typeface="Carlito"/>
              </a:rPr>
              <a:t> </a:t>
            </a:r>
            <a:r>
              <a:rPr sz="1800" spc="-10" dirty="0">
                <a:latin typeface="Carlito"/>
                <a:cs typeface="Carlito"/>
              </a:rPr>
              <a:t>characters</a:t>
            </a:r>
            <a:r>
              <a:rPr sz="1800" spc="-20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at</a:t>
            </a:r>
            <a:r>
              <a:rPr sz="1800" spc="-45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the</a:t>
            </a:r>
            <a:r>
              <a:rPr sz="1800" spc="-45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end</a:t>
            </a:r>
            <a:r>
              <a:rPr sz="1800" spc="-30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of</a:t>
            </a:r>
            <a:r>
              <a:rPr sz="1800" spc="-45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the</a:t>
            </a:r>
            <a:r>
              <a:rPr sz="1800" spc="-30" dirty="0">
                <a:latin typeface="Carlito"/>
                <a:cs typeface="Carlito"/>
              </a:rPr>
              <a:t> </a:t>
            </a:r>
            <a:r>
              <a:rPr sz="1800" spc="-10" dirty="0">
                <a:latin typeface="Carlito"/>
                <a:cs typeface="Carlito"/>
              </a:rPr>
              <a:t>buffer</a:t>
            </a:r>
            <a:endParaRPr sz="18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263397"/>
            <a:ext cx="600519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b="0" spc="-10" dirty="0">
                <a:latin typeface="Carlito"/>
                <a:cs typeface="Carlito"/>
              </a:rPr>
              <a:t>StringBuffer</a:t>
            </a:r>
            <a:r>
              <a:rPr sz="4400" b="0" spc="-175" dirty="0">
                <a:latin typeface="Carlito"/>
                <a:cs typeface="Carlito"/>
              </a:rPr>
              <a:t> </a:t>
            </a:r>
            <a:r>
              <a:rPr sz="4400" b="0" spc="-10" dirty="0">
                <a:latin typeface="Carlito"/>
                <a:cs typeface="Carlito"/>
              </a:rPr>
              <a:t>Operations(2)</a:t>
            </a:r>
            <a:endParaRPr sz="4400">
              <a:latin typeface="Carlito"/>
              <a:cs typeface="Carlito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5940" y="1313434"/>
            <a:ext cx="7956550" cy="2550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rlito"/>
                <a:cs typeface="Carlito"/>
              </a:rPr>
              <a:t>The</a:t>
            </a:r>
            <a:r>
              <a:rPr sz="1800" spc="-45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insert</a:t>
            </a:r>
            <a:r>
              <a:rPr sz="1800" spc="-40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method</a:t>
            </a:r>
            <a:r>
              <a:rPr sz="1800" spc="-30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adds</a:t>
            </a:r>
            <a:r>
              <a:rPr sz="1800" spc="-45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the</a:t>
            </a:r>
            <a:r>
              <a:rPr sz="1800" spc="-40" dirty="0">
                <a:latin typeface="Carlito"/>
                <a:cs typeface="Carlito"/>
              </a:rPr>
              <a:t> </a:t>
            </a:r>
            <a:r>
              <a:rPr sz="1800" spc="-10" dirty="0">
                <a:latin typeface="Carlito"/>
                <a:cs typeface="Carlito"/>
              </a:rPr>
              <a:t>characters</a:t>
            </a:r>
            <a:r>
              <a:rPr sz="1800" spc="-20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at</a:t>
            </a:r>
            <a:r>
              <a:rPr sz="1800" spc="-45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a</a:t>
            </a:r>
            <a:r>
              <a:rPr sz="1800" spc="-45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specified</a:t>
            </a:r>
            <a:r>
              <a:rPr sz="1800" spc="-35" dirty="0">
                <a:latin typeface="Carlito"/>
                <a:cs typeface="Carlito"/>
              </a:rPr>
              <a:t> </a:t>
            </a:r>
            <a:r>
              <a:rPr sz="1800" spc="-10" dirty="0">
                <a:latin typeface="Carlito"/>
                <a:cs typeface="Carlito"/>
              </a:rPr>
              <a:t>point.</a:t>
            </a:r>
            <a:endParaRPr sz="1800">
              <a:latin typeface="Carlito"/>
              <a:cs typeface="Carlito"/>
            </a:endParaRPr>
          </a:p>
          <a:p>
            <a:pPr>
              <a:lnSpc>
                <a:spcPct val="100000"/>
              </a:lnSpc>
              <a:spcBef>
                <a:spcPts val="825"/>
              </a:spcBef>
            </a:pPr>
            <a:endParaRPr sz="180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800" dirty="0">
                <a:latin typeface="Carlito"/>
                <a:cs typeface="Carlito"/>
              </a:rPr>
              <a:t>Here</a:t>
            </a:r>
            <a:r>
              <a:rPr sz="1800" spc="-45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are</a:t>
            </a:r>
            <a:r>
              <a:rPr sz="1800" spc="-40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few</a:t>
            </a:r>
            <a:r>
              <a:rPr sz="1800" spc="-50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insert</a:t>
            </a:r>
            <a:r>
              <a:rPr sz="1800" spc="-55" dirty="0">
                <a:latin typeface="Carlito"/>
                <a:cs typeface="Carlito"/>
              </a:rPr>
              <a:t> </a:t>
            </a:r>
            <a:r>
              <a:rPr sz="1800" spc="-10" dirty="0">
                <a:latin typeface="Carlito"/>
                <a:cs typeface="Carlito"/>
              </a:rPr>
              <a:t>methods:</a:t>
            </a:r>
            <a:endParaRPr sz="1800">
              <a:latin typeface="Carlito"/>
              <a:cs typeface="Carlito"/>
            </a:endParaRPr>
          </a:p>
          <a:p>
            <a:pPr marL="927100" marR="3426460">
              <a:lnSpc>
                <a:spcPct val="120000"/>
              </a:lnSpc>
            </a:pPr>
            <a:r>
              <a:rPr sz="1800" spc="-10" dirty="0">
                <a:latin typeface="Carlito"/>
                <a:cs typeface="Carlito"/>
              </a:rPr>
              <a:t>StringBuffer</a:t>
            </a:r>
            <a:r>
              <a:rPr sz="1800" spc="-45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insert(int</a:t>
            </a:r>
            <a:r>
              <a:rPr sz="1800" spc="-40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index,</a:t>
            </a:r>
            <a:r>
              <a:rPr sz="1800" spc="-40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String</a:t>
            </a:r>
            <a:r>
              <a:rPr sz="1800" spc="-40" dirty="0">
                <a:latin typeface="Carlito"/>
                <a:cs typeface="Carlito"/>
              </a:rPr>
              <a:t> </a:t>
            </a:r>
            <a:r>
              <a:rPr sz="1800" spc="-20" dirty="0">
                <a:latin typeface="Carlito"/>
                <a:cs typeface="Carlito"/>
              </a:rPr>
              <a:t>str) </a:t>
            </a:r>
            <a:r>
              <a:rPr sz="1800" spc="-10" dirty="0">
                <a:latin typeface="Carlito"/>
                <a:cs typeface="Carlito"/>
              </a:rPr>
              <a:t>StringBuffer</a:t>
            </a:r>
            <a:r>
              <a:rPr sz="1800" spc="-55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append(int</a:t>
            </a:r>
            <a:r>
              <a:rPr sz="1800" spc="-50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index,</a:t>
            </a:r>
            <a:r>
              <a:rPr sz="1800" spc="-45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char</a:t>
            </a:r>
            <a:r>
              <a:rPr sz="1800" spc="-45" dirty="0">
                <a:latin typeface="Carlito"/>
                <a:cs typeface="Carlito"/>
              </a:rPr>
              <a:t> </a:t>
            </a:r>
            <a:r>
              <a:rPr sz="1800" spc="-25" dirty="0">
                <a:latin typeface="Carlito"/>
                <a:cs typeface="Carlito"/>
              </a:rPr>
              <a:t>ch)</a:t>
            </a:r>
            <a:endParaRPr sz="1800">
              <a:latin typeface="Carlito"/>
              <a:cs typeface="Carlito"/>
            </a:endParaRPr>
          </a:p>
          <a:p>
            <a:pPr>
              <a:lnSpc>
                <a:spcPct val="100000"/>
              </a:lnSpc>
              <a:spcBef>
                <a:spcPts val="825"/>
              </a:spcBef>
            </a:pPr>
            <a:endParaRPr sz="1800">
              <a:latin typeface="Carlito"/>
              <a:cs typeface="Carlito"/>
            </a:endParaRPr>
          </a:p>
          <a:p>
            <a:pPr marL="12700" marR="5080">
              <a:lnSpc>
                <a:spcPct val="100000"/>
              </a:lnSpc>
            </a:pPr>
            <a:r>
              <a:rPr sz="1800" dirty="0">
                <a:latin typeface="Carlito"/>
                <a:cs typeface="Carlito"/>
              </a:rPr>
              <a:t>Index</a:t>
            </a:r>
            <a:r>
              <a:rPr sz="1800" spc="-55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specifies</a:t>
            </a:r>
            <a:r>
              <a:rPr sz="1800" spc="-50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at</a:t>
            </a:r>
            <a:r>
              <a:rPr sz="1800" spc="-50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which</a:t>
            </a:r>
            <a:r>
              <a:rPr sz="1800" spc="-25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point</a:t>
            </a:r>
            <a:r>
              <a:rPr sz="1800" spc="-45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the</a:t>
            </a:r>
            <a:r>
              <a:rPr sz="1800" spc="-45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string</a:t>
            </a:r>
            <a:r>
              <a:rPr sz="1800" spc="-35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will</a:t>
            </a:r>
            <a:r>
              <a:rPr sz="1800" spc="-45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be</a:t>
            </a:r>
            <a:r>
              <a:rPr sz="1800" spc="-35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inserted</a:t>
            </a:r>
            <a:r>
              <a:rPr sz="1800" spc="-35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into</a:t>
            </a:r>
            <a:r>
              <a:rPr sz="1800" spc="-50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the</a:t>
            </a:r>
            <a:r>
              <a:rPr sz="1800" spc="-35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invoking</a:t>
            </a:r>
            <a:r>
              <a:rPr sz="1800" spc="-45" dirty="0">
                <a:latin typeface="Carlito"/>
                <a:cs typeface="Carlito"/>
              </a:rPr>
              <a:t> </a:t>
            </a:r>
            <a:r>
              <a:rPr sz="1800" spc="-10" dirty="0">
                <a:latin typeface="Carlito"/>
                <a:cs typeface="Carlito"/>
              </a:rPr>
              <a:t>StringBuffer object.</a:t>
            </a:r>
            <a:endParaRPr sz="18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233299"/>
            <a:ext cx="600519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b="0" spc="-10" dirty="0">
                <a:latin typeface="Carlito"/>
                <a:cs typeface="Carlito"/>
              </a:rPr>
              <a:t>StringBuffer</a:t>
            </a:r>
            <a:r>
              <a:rPr sz="4400" b="0" spc="-175" dirty="0">
                <a:latin typeface="Carlito"/>
                <a:cs typeface="Carlito"/>
              </a:rPr>
              <a:t> </a:t>
            </a:r>
            <a:r>
              <a:rPr sz="4400" b="0" spc="-10" dirty="0">
                <a:latin typeface="Carlito"/>
                <a:cs typeface="Carlito"/>
              </a:rPr>
              <a:t>Operations(3)</a:t>
            </a:r>
            <a:endParaRPr sz="4400">
              <a:latin typeface="Carlito"/>
              <a:cs typeface="Carlito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5940" y="1283334"/>
            <a:ext cx="8074659" cy="17818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3535" algn="just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355600" algn="l"/>
              </a:tabLst>
            </a:pPr>
            <a:r>
              <a:rPr sz="1800" b="1" dirty="0">
                <a:latin typeface="Carlito"/>
                <a:cs typeface="Carlito"/>
              </a:rPr>
              <a:t>delete()</a:t>
            </a:r>
            <a:r>
              <a:rPr sz="1800" b="1" spc="20" dirty="0">
                <a:latin typeface="Carlito"/>
                <a:cs typeface="Carlito"/>
              </a:rPr>
              <a:t> </a:t>
            </a:r>
            <a:r>
              <a:rPr sz="1800" b="1" dirty="0">
                <a:latin typeface="Carlito"/>
                <a:cs typeface="Carlito"/>
              </a:rPr>
              <a:t>-</a:t>
            </a:r>
            <a:r>
              <a:rPr sz="1800" b="1" spc="440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Removes</a:t>
            </a:r>
            <a:r>
              <a:rPr sz="1800" spc="25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the</a:t>
            </a:r>
            <a:r>
              <a:rPr sz="1800" spc="15" dirty="0">
                <a:latin typeface="Carlito"/>
                <a:cs typeface="Carlito"/>
              </a:rPr>
              <a:t> </a:t>
            </a:r>
            <a:r>
              <a:rPr sz="1800" spc="-10" dirty="0">
                <a:latin typeface="Carlito"/>
                <a:cs typeface="Carlito"/>
              </a:rPr>
              <a:t>characters</a:t>
            </a:r>
            <a:r>
              <a:rPr sz="1800" spc="25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in</a:t>
            </a:r>
            <a:r>
              <a:rPr sz="1800" spc="20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a</a:t>
            </a:r>
            <a:r>
              <a:rPr sz="1800" spc="15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substring</a:t>
            </a:r>
            <a:r>
              <a:rPr sz="1800" spc="35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of</a:t>
            </a:r>
            <a:r>
              <a:rPr sz="1800" spc="20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this</a:t>
            </a:r>
            <a:r>
              <a:rPr sz="1800" spc="15" dirty="0">
                <a:latin typeface="Carlito"/>
                <a:cs typeface="Carlito"/>
              </a:rPr>
              <a:t> </a:t>
            </a:r>
            <a:r>
              <a:rPr sz="1800" spc="-20" dirty="0">
                <a:latin typeface="Carlito"/>
                <a:cs typeface="Carlito"/>
              </a:rPr>
              <a:t>StringBuffer.</a:t>
            </a:r>
            <a:r>
              <a:rPr sz="1800" spc="20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The</a:t>
            </a:r>
            <a:r>
              <a:rPr sz="1800" spc="20" dirty="0">
                <a:latin typeface="Carlito"/>
                <a:cs typeface="Carlito"/>
              </a:rPr>
              <a:t> </a:t>
            </a:r>
            <a:r>
              <a:rPr sz="1800" spc="-10" dirty="0">
                <a:latin typeface="Carlito"/>
                <a:cs typeface="Carlito"/>
              </a:rPr>
              <a:t>substring </a:t>
            </a:r>
            <a:r>
              <a:rPr sz="1800" dirty="0">
                <a:latin typeface="Carlito"/>
                <a:cs typeface="Carlito"/>
              </a:rPr>
              <a:t>begins</a:t>
            </a:r>
            <a:r>
              <a:rPr sz="1800" spc="-5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at</a:t>
            </a:r>
            <a:r>
              <a:rPr sz="1800" spc="-15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the specified start</a:t>
            </a:r>
            <a:r>
              <a:rPr sz="1800" spc="-5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and extends</a:t>
            </a:r>
            <a:r>
              <a:rPr sz="1800" spc="-5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to the character at</a:t>
            </a:r>
            <a:r>
              <a:rPr sz="1800" spc="-15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index</a:t>
            </a:r>
            <a:r>
              <a:rPr sz="1800" spc="-10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end -</a:t>
            </a:r>
            <a:r>
              <a:rPr sz="1800" spc="-5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1</a:t>
            </a:r>
            <a:r>
              <a:rPr sz="1800" spc="-5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or</a:t>
            </a:r>
            <a:r>
              <a:rPr sz="1800" spc="-5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to </a:t>
            </a:r>
            <a:r>
              <a:rPr sz="1800" spc="-25" dirty="0">
                <a:latin typeface="Carlito"/>
                <a:cs typeface="Carlito"/>
              </a:rPr>
              <a:t>the </a:t>
            </a:r>
            <a:r>
              <a:rPr sz="1800" dirty="0">
                <a:latin typeface="Carlito"/>
                <a:cs typeface="Carlito"/>
              </a:rPr>
              <a:t>end</a:t>
            </a:r>
            <a:r>
              <a:rPr sz="1800" spc="305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of</a:t>
            </a:r>
            <a:r>
              <a:rPr sz="1800" spc="305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the</a:t>
            </a:r>
            <a:r>
              <a:rPr sz="1800" spc="305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StringBuffer</a:t>
            </a:r>
            <a:r>
              <a:rPr sz="1800" spc="315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if</a:t>
            </a:r>
            <a:r>
              <a:rPr sz="1800" spc="310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no</a:t>
            </a:r>
            <a:r>
              <a:rPr sz="1800" spc="305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such</a:t>
            </a:r>
            <a:r>
              <a:rPr sz="1800" spc="305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character</a:t>
            </a:r>
            <a:r>
              <a:rPr sz="1800" spc="310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exists.</a:t>
            </a:r>
            <a:r>
              <a:rPr sz="1800" spc="305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If</a:t>
            </a:r>
            <a:r>
              <a:rPr sz="1800" spc="295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start</a:t>
            </a:r>
            <a:r>
              <a:rPr sz="1800" spc="305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is</a:t>
            </a:r>
            <a:r>
              <a:rPr sz="1800" spc="300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equal</a:t>
            </a:r>
            <a:r>
              <a:rPr sz="1800" spc="305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to</a:t>
            </a:r>
            <a:r>
              <a:rPr sz="1800" spc="310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end,</a:t>
            </a:r>
            <a:r>
              <a:rPr sz="1800" spc="295" dirty="0">
                <a:latin typeface="Carlito"/>
                <a:cs typeface="Carlito"/>
              </a:rPr>
              <a:t> </a:t>
            </a:r>
            <a:r>
              <a:rPr sz="1800" spc="-25" dirty="0">
                <a:latin typeface="Carlito"/>
                <a:cs typeface="Carlito"/>
              </a:rPr>
              <a:t>no </a:t>
            </a:r>
            <a:r>
              <a:rPr sz="1800" dirty="0">
                <a:latin typeface="Carlito"/>
                <a:cs typeface="Carlito"/>
              </a:rPr>
              <a:t>changes</a:t>
            </a:r>
            <a:r>
              <a:rPr sz="1800" spc="-60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are</a:t>
            </a:r>
            <a:r>
              <a:rPr sz="1800" spc="-60" dirty="0">
                <a:latin typeface="Carlito"/>
                <a:cs typeface="Carlito"/>
              </a:rPr>
              <a:t> </a:t>
            </a:r>
            <a:r>
              <a:rPr sz="1800" spc="-10" dirty="0">
                <a:latin typeface="Carlito"/>
                <a:cs typeface="Carlito"/>
              </a:rPr>
              <a:t>made.</a:t>
            </a:r>
            <a:endParaRPr sz="1800">
              <a:latin typeface="Carlito"/>
              <a:cs typeface="Carlito"/>
            </a:endParaRPr>
          </a:p>
          <a:p>
            <a:pPr>
              <a:lnSpc>
                <a:spcPct val="100000"/>
              </a:lnSpc>
              <a:spcBef>
                <a:spcPts val="825"/>
              </a:spcBef>
            </a:pPr>
            <a:endParaRPr sz="1800">
              <a:latin typeface="Carlito"/>
              <a:cs typeface="Carlito"/>
            </a:endParaRPr>
          </a:p>
          <a:p>
            <a:pPr marL="326390">
              <a:lnSpc>
                <a:spcPct val="100000"/>
              </a:lnSpc>
            </a:pPr>
            <a:r>
              <a:rPr sz="1800" dirty="0">
                <a:latin typeface="Carlito"/>
                <a:cs typeface="Carlito"/>
              </a:rPr>
              <a:t>public</a:t>
            </a:r>
            <a:r>
              <a:rPr sz="1800" spc="-45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StringBuffer</a:t>
            </a:r>
            <a:r>
              <a:rPr sz="1800" spc="-50" dirty="0">
                <a:latin typeface="Carlito"/>
                <a:cs typeface="Carlito"/>
              </a:rPr>
              <a:t> </a:t>
            </a:r>
            <a:r>
              <a:rPr sz="1800" b="1" spc="-10" dirty="0">
                <a:latin typeface="Carlito"/>
                <a:cs typeface="Carlito"/>
              </a:rPr>
              <a:t>delete</a:t>
            </a:r>
            <a:r>
              <a:rPr sz="1800" spc="-10" dirty="0">
                <a:latin typeface="Carlito"/>
                <a:cs typeface="Carlito"/>
              </a:rPr>
              <a:t>(int</a:t>
            </a:r>
            <a:r>
              <a:rPr sz="1800" spc="-80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start,</a:t>
            </a:r>
            <a:r>
              <a:rPr sz="1800" spc="-40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int</a:t>
            </a:r>
            <a:r>
              <a:rPr sz="1800" spc="-55" dirty="0">
                <a:latin typeface="Carlito"/>
                <a:cs typeface="Carlito"/>
              </a:rPr>
              <a:t> </a:t>
            </a:r>
            <a:r>
              <a:rPr sz="1800" spc="-20" dirty="0">
                <a:latin typeface="Carlito"/>
                <a:cs typeface="Carlito"/>
              </a:rPr>
              <a:t>end)</a:t>
            </a:r>
            <a:endParaRPr sz="18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187197"/>
            <a:ext cx="600519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b="0" spc="-10" dirty="0">
                <a:latin typeface="Carlito"/>
                <a:cs typeface="Carlito"/>
              </a:rPr>
              <a:t>StringBuffer</a:t>
            </a:r>
            <a:r>
              <a:rPr sz="4400" b="0" spc="-175" dirty="0">
                <a:latin typeface="Carlito"/>
                <a:cs typeface="Carlito"/>
              </a:rPr>
              <a:t> </a:t>
            </a:r>
            <a:r>
              <a:rPr sz="4400" b="0" spc="-10" dirty="0">
                <a:latin typeface="Carlito"/>
                <a:cs typeface="Carlito"/>
              </a:rPr>
              <a:t>Operations(4)</a:t>
            </a:r>
            <a:endParaRPr sz="4400">
              <a:latin typeface="Carlito"/>
              <a:cs typeface="Carlito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919721" y="1161034"/>
            <a:ext cx="1688464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262380" algn="l"/>
              </a:tabLst>
            </a:pPr>
            <a:r>
              <a:rPr sz="1800" spc="-10" dirty="0">
                <a:latin typeface="Carlito"/>
                <a:cs typeface="Carlito"/>
              </a:rPr>
              <a:t>StringBuffer</a:t>
            </a:r>
            <a:r>
              <a:rPr sz="1800" dirty="0">
                <a:latin typeface="Carlito"/>
                <a:cs typeface="Carlito"/>
              </a:rPr>
              <a:t>	</a:t>
            </a:r>
            <a:r>
              <a:rPr sz="1800" spc="-20" dirty="0">
                <a:latin typeface="Carlito"/>
                <a:cs typeface="Carlito"/>
              </a:rPr>
              <a:t>with</a:t>
            </a:r>
            <a:endParaRPr sz="1800">
              <a:latin typeface="Carlito"/>
              <a:cs typeface="Carlito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35940" y="1161034"/>
            <a:ext cx="627189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355600" algn="l"/>
                <a:tab pos="1329055" algn="l"/>
                <a:tab pos="1536700" algn="l"/>
                <a:tab pos="2492375" algn="l"/>
                <a:tab pos="2941955" algn="l"/>
                <a:tab pos="4041140" algn="l"/>
                <a:tab pos="4352290" algn="l"/>
                <a:tab pos="4598670" algn="l"/>
                <a:tab pos="5589905" algn="l"/>
                <a:tab pos="5918835" algn="l"/>
              </a:tabLst>
            </a:pPr>
            <a:r>
              <a:rPr sz="1800" b="1" spc="-10" dirty="0">
                <a:latin typeface="Carlito"/>
                <a:cs typeface="Carlito"/>
              </a:rPr>
              <a:t>replace()</a:t>
            </a:r>
            <a:r>
              <a:rPr sz="1800" b="1" dirty="0">
                <a:latin typeface="Carlito"/>
                <a:cs typeface="Carlito"/>
              </a:rPr>
              <a:t>	</a:t>
            </a:r>
            <a:r>
              <a:rPr sz="1800" b="1" spc="-50" dirty="0">
                <a:latin typeface="Carlito"/>
                <a:cs typeface="Carlito"/>
              </a:rPr>
              <a:t>-</a:t>
            </a:r>
            <a:r>
              <a:rPr sz="1800" b="1" dirty="0">
                <a:latin typeface="Carlito"/>
                <a:cs typeface="Carlito"/>
              </a:rPr>
              <a:t>	</a:t>
            </a:r>
            <a:r>
              <a:rPr sz="1800" spc="-10" dirty="0">
                <a:latin typeface="Carlito"/>
                <a:cs typeface="Carlito"/>
              </a:rPr>
              <a:t>Replaces</a:t>
            </a:r>
            <a:r>
              <a:rPr sz="1800" dirty="0">
                <a:latin typeface="Carlito"/>
                <a:cs typeface="Carlito"/>
              </a:rPr>
              <a:t>	</a:t>
            </a:r>
            <a:r>
              <a:rPr sz="1800" spc="-25" dirty="0">
                <a:latin typeface="Carlito"/>
                <a:cs typeface="Carlito"/>
              </a:rPr>
              <a:t>the</a:t>
            </a:r>
            <a:r>
              <a:rPr sz="1800" dirty="0">
                <a:latin typeface="Carlito"/>
                <a:cs typeface="Carlito"/>
              </a:rPr>
              <a:t>	</a:t>
            </a:r>
            <a:r>
              <a:rPr sz="1800" spc="-10" dirty="0">
                <a:latin typeface="Carlito"/>
                <a:cs typeface="Carlito"/>
              </a:rPr>
              <a:t>characters</a:t>
            </a:r>
            <a:r>
              <a:rPr sz="1800" dirty="0">
                <a:latin typeface="Carlito"/>
                <a:cs typeface="Carlito"/>
              </a:rPr>
              <a:t>	</a:t>
            </a:r>
            <a:r>
              <a:rPr sz="1800" spc="-25" dirty="0">
                <a:latin typeface="Carlito"/>
                <a:cs typeface="Carlito"/>
              </a:rPr>
              <a:t>in</a:t>
            </a:r>
            <a:r>
              <a:rPr sz="1800" dirty="0">
                <a:latin typeface="Carlito"/>
                <a:cs typeface="Carlito"/>
              </a:rPr>
              <a:t>	</a:t>
            </a:r>
            <a:r>
              <a:rPr sz="1800" spc="-50" dirty="0">
                <a:latin typeface="Carlito"/>
                <a:cs typeface="Carlito"/>
              </a:rPr>
              <a:t>a</a:t>
            </a:r>
            <a:r>
              <a:rPr sz="1800" dirty="0">
                <a:latin typeface="Carlito"/>
                <a:cs typeface="Carlito"/>
              </a:rPr>
              <a:t>	</a:t>
            </a:r>
            <a:r>
              <a:rPr sz="1800" spc="-10" dirty="0">
                <a:latin typeface="Carlito"/>
                <a:cs typeface="Carlito"/>
              </a:rPr>
              <a:t>substring</a:t>
            </a:r>
            <a:r>
              <a:rPr sz="1800" dirty="0">
                <a:latin typeface="Carlito"/>
                <a:cs typeface="Carlito"/>
              </a:rPr>
              <a:t>	</a:t>
            </a:r>
            <a:r>
              <a:rPr sz="1800" spc="-25" dirty="0">
                <a:latin typeface="Carlito"/>
                <a:cs typeface="Carlito"/>
              </a:rPr>
              <a:t>of</a:t>
            </a:r>
            <a:r>
              <a:rPr sz="1800" dirty="0">
                <a:latin typeface="Carlito"/>
                <a:cs typeface="Carlito"/>
              </a:rPr>
              <a:t>	</a:t>
            </a:r>
            <a:r>
              <a:rPr sz="1800" spc="-20" dirty="0">
                <a:latin typeface="Carlito"/>
                <a:cs typeface="Carlito"/>
              </a:rPr>
              <a:t>this</a:t>
            </a:r>
            <a:endParaRPr sz="1800">
              <a:latin typeface="Carlito"/>
              <a:cs typeface="Carlito"/>
            </a:endParaRPr>
          </a:p>
          <a:p>
            <a:pPr marL="355600">
              <a:lnSpc>
                <a:spcPct val="100000"/>
              </a:lnSpc>
            </a:pPr>
            <a:r>
              <a:rPr sz="1800" spc="-10" dirty="0">
                <a:latin typeface="Carlito"/>
                <a:cs typeface="Carlito"/>
              </a:rPr>
              <a:t>characters</a:t>
            </a:r>
            <a:r>
              <a:rPr sz="1800" spc="-25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in</a:t>
            </a:r>
            <a:r>
              <a:rPr sz="1800" spc="-45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the</a:t>
            </a:r>
            <a:r>
              <a:rPr sz="1800" spc="-30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specified</a:t>
            </a:r>
            <a:r>
              <a:rPr sz="1800" spc="-30" dirty="0">
                <a:latin typeface="Carlito"/>
                <a:cs typeface="Carlito"/>
              </a:rPr>
              <a:t> </a:t>
            </a:r>
            <a:r>
              <a:rPr sz="1800" spc="-10" dirty="0">
                <a:latin typeface="Carlito"/>
                <a:cs typeface="Carlito"/>
              </a:rPr>
              <a:t>String.</a:t>
            </a:r>
            <a:endParaRPr sz="1800">
              <a:latin typeface="Carlito"/>
              <a:cs typeface="Carlito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35940" y="1929510"/>
            <a:ext cx="8073390" cy="20008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973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rlito"/>
                <a:cs typeface="Carlito"/>
              </a:rPr>
              <a:t>public</a:t>
            </a:r>
            <a:r>
              <a:rPr sz="1800" spc="-25" dirty="0">
                <a:latin typeface="Carlito"/>
                <a:cs typeface="Carlito"/>
              </a:rPr>
              <a:t> </a:t>
            </a:r>
            <a:r>
              <a:rPr sz="1800" spc="-10" dirty="0">
                <a:latin typeface="Carlito"/>
                <a:cs typeface="Carlito"/>
              </a:rPr>
              <a:t>StringBuffer</a:t>
            </a:r>
            <a:r>
              <a:rPr sz="1800" spc="-50" dirty="0">
                <a:latin typeface="Carlito"/>
                <a:cs typeface="Carlito"/>
              </a:rPr>
              <a:t> </a:t>
            </a:r>
            <a:r>
              <a:rPr sz="1800" b="1" dirty="0">
                <a:latin typeface="Carlito"/>
                <a:cs typeface="Carlito"/>
              </a:rPr>
              <a:t>replace</a:t>
            </a:r>
            <a:r>
              <a:rPr sz="1800" dirty="0">
                <a:latin typeface="Carlito"/>
                <a:cs typeface="Carlito"/>
              </a:rPr>
              <a:t>(int</a:t>
            </a:r>
            <a:r>
              <a:rPr sz="1800" spc="-70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start,</a:t>
            </a:r>
            <a:r>
              <a:rPr sz="1800" spc="-35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int</a:t>
            </a:r>
            <a:r>
              <a:rPr sz="1800" spc="-35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end,</a:t>
            </a:r>
            <a:r>
              <a:rPr sz="1800" spc="-45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String</a:t>
            </a:r>
            <a:r>
              <a:rPr sz="1800" spc="-40" dirty="0">
                <a:latin typeface="Carlito"/>
                <a:cs typeface="Carlito"/>
              </a:rPr>
              <a:t> </a:t>
            </a:r>
            <a:r>
              <a:rPr sz="1800" spc="-20" dirty="0">
                <a:latin typeface="Carlito"/>
                <a:cs typeface="Carlito"/>
              </a:rPr>
              <a:t>str)</a:t>
            </a:r>
            <a:endParaRPr sz="1800">
              <a:latin typeface="Carlito"/>
              <a:cs typeface="Carlito"/>
            </a:endParaRPr>
          </a:p>
          <a:p>
            <a:pPr>
              <a:lnSpc>
                <a:spcPct val="100000"/>
              </a:lnSpc>
              <a:spcBef>
                <a:spcPts val="825"/>
              </a:spcBef>
            </a:pPr>
            <a:endParaRPr sz="1800">
              <a:latin typeface="Carlito"/>
              <a:cs typeface="Carlito"/>
            </a:endParaRPr>
          </a:p>
          <a:p>
            <a:pPr marL="355600" marR="5080" indent="-343535" algn="just">
              <a:lnSpc>
                <a:spcPct val="100000"/>
              </a:lnSpc>
              <a:buFont typeface="Arial"/>
              <a:buChar char="•"/>
              <a:tabLst>
                <a:tab pos="355600" algn="l"/>
              </a:tabLst>
            </a:pPr>
            <a:r>
              <a:rPr sz="1800" b="1" dirty="0">
                <a:latin typeface="Carlito"/>
                <a:cs typeface="Carlito"/>
              </a:rPr>
              <a:t>substring()</a:t>
            </a:r>
            <a:r>
              <a:rPr sz="1800" b="1" spc="409" dirty="0">
                <a:latin typeface="Carlito"/>
                <a:cs typeface="Carlito"/>
              </a:rPr>
              <a:t> </a:t>
            </a:r>
            <a:r>
              <a:rPr sz="1800" b="1" dirty="0">
                <a:latin typeface="Carlito"/>
                <a:cs typeface="Carlito"/>
              </a:rPr>
              <a:t>-</a:t>
            </a:r>
            <a:r>
              <a:rPr sz="1800" b="1" spc="409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Returns</a:t>
            </a:r>
            <a:r>
              <a:rPr sz="1800" spc="415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a</a:t>
            </a:r>
            <a:r>
              <a:rPr sz="1800" spc="409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new</a:t>
            </a:r>
            <a:r>
              <a:rPr sz="1800" spc="409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String</a:t>
            </a:r>
            <a:r>
              <a:rPr sz="1800" spc="415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that</a:t>
            </a:r>
            <a:r>
              <a:rPr sz="1800" spc="405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contains</a:t>
            </a:r>
            <a:r>
              <a:rPr sz="1800" spc="415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a</a:t>
            </a:r>
            <a:r>
              <a:rPr sz="1800" spc="409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subsequence</a:t>
            </a:r>
            <a:r>
              <a:rPr sz="1800" spc="420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of</a:t>
            </a:r>
            <a:r>
              <a:rPr sz="1800" spc="420" dirty="0">
                <a:latin typeface="Carlito"/>
                <a:cs typeface="Carlito"/>
              </a:rPr>
              <a:t> </a:t>
            </a:r>
            <a:r>
              <a:rPr sz="1800" spc="-10" dirty="0">
                <a:latin typeface="Carlito"/>
                <a:cs typeface="Carlito"/>
              </a:rPr>
              <a:t>characters </a:t>
            </a:r>
            <a:r>
              <a:rPr sz="1800" dirty="0">
                <a:latin typeface="Carlito"/>
                <a:cs typeface="Carlito"/>
              </a:rPr>
              <a:t>currently</a:t>
            </a:r>
            <a:r>
              <a:rPr sz="1800" spc="5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contained</a:t>
            </a:r>
            <a:r>
              <a:rPr sz="1800" spc="20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in</a:t>
            </a:r>
            <a:r>
              <a:rPr sz="1800" spc="5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this </a:t>
            </a:r>
            <a:r>
              <a:rPr sz="1800" spc="-20" dirty="0">
                <a:latin typeface="Carlito"/>
                <a:cs typeface="Carlito"/>
              </a:rPr>
              <a:t>StringBuffer.</a:t>
            </a:r>
            <a:r>
              <a:rPr sz="1800" dirty="0">
                <a:latin typeface="Carlito"/>
                <a:cs typeface="Carlito"/>
              </a:rPr>
              <a:t> The</a:t>
            </a:r>
            <a:r>
              <a:rPr sz="1800" spc="10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substring</a:t>
            </a:r>
            <a:r>
              <a:rPr sz="1800" spc="10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begins</a:t>
            </a:r>
            <a:r>
              <a:rPr sz="1800" spc="15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at</a:t>
            </a:r>
            <a:r>
              <a:rPr sz="1800" spc="-5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the</a:t>
            </a:r>
            <a:r>
              <a:rPr sz="1800" spc="10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specified</a:t>
            </a:r>
            <a:r>
              <a:rPr sz="1800" spc="10" dirty="0">
                <a:latin typeface="Carlito"/>
                <a:cs typeface="Carlito"/>
              </a:rPr>
              <a:t> </a:t>
            </a:r>
            <a:r>
              <a:rPr sz="1800" spc="-10" dirty="0">
                <a:latin typeface="Carlito"/>
                <a:cs typeface="Carlito"/>
              </a:rPr>
              <a:t>index </a:t>
            </a:r>
            <a:r>
              <a:rPr sz="1800" dirty="0">
                <a:latin typeface="Carlito"/>
                <a:cs typeface="Carlito"/>
              </a:rPr>
              <a:t>and</a:t>
            </a:r>
            <a:r>
              <a:rPr sz="1800" spc="-20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extends</a:t>
            </a:r>
            <a:r>
              <a:rPr sz="1800" spc="-25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to</a:t>
            </a:r>
            <a:r>
              <a:rPr sz="1800" spc="-40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the</a:t>
            </a:r>
            <a:r>
              <a:rPr sz="1800" spc="-30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end</a:t>
            </a:r>
            <a:r>
              <a:rPr sz="1800" spc="-20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of</a:t>
            </a:r>
            <a:r>
              <a:rPr sz="1800" spc="-25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the</a:t>
            </a:r>
            <a:r>
              <a:rPr sz="1800" spc="-35" dirty="0">
                <a:latin typeface="Carlito"/>
                <a:cs typeface="Carlito"/>
              </a:rPr>
              <a:t> </a:t>
            </a:r>
            <a:r>
              <a:rPr sz="1800" spc="-10" dirty="0">
                <a:latin typeface="Carlito"/>
                <a:cs typeface="Carlito"/>
              </a:rPr>
              <a:t>StringBuffer.</a:t>
            </a:r>
            <a:endParaRPr sz="1800">
              <a:latin typeface="Carlito"/>
              <a:cs typeface="Carlito"/>
            </a:endParaRPr>
          </a:p>
          <a:p>
            <a:pPr marL="379730">
              <a:lnSpc>
                <a:spcPct val="100000"/>
              </a:lnSpc>
              <a:spcBef>
                <a:spcPts val="1730"/>
              </a:spcBef>
            </a:pPr>
            <a:r>
              <a:rPr sz="1800" dirty="0">
                <a:latin typeface="Carlito"/>
                <a:cs typeface="Carlito"/>
              </a:rPr>
              <a:t>public</a:t>
            </a:r>
            <a:r>
              <a:rPr sz="1800" spc="-10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String</a:t>
            </a:r>
            <a:r>
              <a:rPr sz="1800" spc="-25" dirty="0">
                <a:latin typeface="Carlito"/>
                <a:cs typeface="Carlito"/>
              </a:rPr>
              <a:t> </a:t>
            </a:r>
            <a:r>
              <a:rPr sz="1800" spc="-10" dirty="0">
                <a:latin typeface="Carlito"/>
                <a:cs typeface="Carlito"/>
              </a:rPr>
              <a:t>substring(int start)</a:t>
            </a:r>
            <a:endParaRPr sz="18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263397"/>
            <a:ext cx="600519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b="0" spc="-10" dirty="0">
                <a:latin typeface="Carlito"/>
                <a:cs typeface="Carlito"/>
              </a:rPr>
              <a:t>StringBuffer</a:t>
            </a:r>
            <a:r>
              <a:rPr sz="4400" b="0" spc="-175" dirty="0">
                <a:latin typeface="Carlito"/>
                <a:cs typeface="Carlito"/>
              </a:rPr>
              <a:t> </a:t>
            </a:r>
            <a:r>
              <a:rPr sz="4400" b="0" spc="-10" dirty="0">
                <a:latin typeface="Carlito"/>
                <a:cs typeface="Carlito"/>
              </a:rPr>
              <a:t>Operations(5)</a:t>
            </a:r>
            <a:endParaRPr sz="4400">
              <a:latin typeface="Carlito"/>
              <a:cs typeface="Carlito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5940" y="1313434"/>
            <a:ext cx="7707630" cy="189166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355600" algn="l"/>
              </a:tabLst>
            </a:pPr>
            <a:r>
              <a:rPr sz="1800" b="1" spc="-10" dirty="0">
                <a:latin typeface="Carlito"/>
                <a:cs typeface="Carlito"/>
              </a:rPr>
              <a:t>reverse()</a:t>
            </a:r>
            <a:r>
              <a:rPr sz="1800" b="1" spc="-75" dirty="0">
                <a:latin typeface="Carlito"/>
                <a:cs typeface="Carlito"/>
              </a:rPr>
              <a:t> </a:t>
            </a:r>
            <a:r>
              <a:rPr sz="1800" b="1" dirty="0">
                <a:latin typeface="Carlito"/>
                <a:cs typeface="Carlito"/>
              </a:rPr>
              <a:t>-</a:t>
            </a:r>
            <a:r>
              <a:rPr sz="1800" b="1" spc="-45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The</a:t>
            </a:r>
            <a:r>
              <a:rPr sz="1800" spc="-30" dirty="0">
                <a:latin typeface="Carlito"/>
                <a:cs typeface="Carlito"/>
              </a:rPr>
              <a:t> </a:t>
            </a:r>
            <a:r>
              <a:rPr sz="1800" spc="-10" dirty="0">
                <a:latin typeface="Carlito"/>
                <a:cs typeface="Carlito"/>
              </a:rPr>
              <a:t>character</a:t>
            </a:r>
            <a:r>
              <a:rPr sz="1800" spc="-35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sequence</a:t>
            </a:r>
            <a:r>
              <a:rPr sz="1800" spc="-30" dirty="0">
                <a:latin typeface="Carlito"/>
                <a:cs typeface="Carlito"/>
              </a:rPr>
              <a:t> </a:t>
            </a:r>
            <a:r>
              <a:rPr sz="1800" spc="-10" dirty="0">
                <a:latin typeface="Carlito"/>
                <a:cs typeface="Carlito"/>
              </a:rPr>
              <a:t>contained</a:t>
            </a:r>
            <a:r>
              <a:rPr sz="1800" spc="-20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in</a:t>
            </a:r>
            <a:r>
              <a:rPr sz="1800" spc="-35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this</a:t>
            </a:r>
            <a:r>
              <a:rPr sz="1800" spc="-45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string</a:t>
            </a:r>
            <a:r>
              <a:rPr sz="1800" spc="-40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buffer</a:t>
            </a:r>
            <a:r>
              <a:rPr sz="1800" spc="-35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is</a:t>
            </a:r>
            <a:r>
              <a:rPr sz="1800" spc="-45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replaced</a:t>
            </a:r>
            <a:r>
              <a:rPr sz="1800" spc="-35" dirty="0">
                <a:latin typeface="Carlito"/>
                <a:cs typeface="Carlito"/>
              </a:rPr>
              <a:t> </a:t>
            </a:r>
            <a:r>
              <a:rPr sz="1800" spc="-25" dirty="0">
                <a:latin typeface="Carlito"/>
                <a:cs typeface="Carlito"/>
              </a:rPr>
              <a:t>by</a:t>
            </a:r>
            <a:endParaRPr sz="1800">
              <a:latin typeface="Carlito"/>
              <a:cs typeface="Carlito"/>
            </a:endParaRPr>
          </a:p>
          <a:p>
            <a:pPr marL="355600">
              <a:lnSpc>
                <a:spcPct val="100000"/>
              </a:lnSpc>
            </a:pPr>
            <a:r>
              <a:rPr sz="1800" dirty="0">
                <a:latin typeface="Carlito"/>
                <a:cs typeface="Carlito"/>
              </a:rPr>
              <a:t>the</a:t>
            </a:r>
            <a:r>
              <a:rPr sz="1800" spc="-15" dirty="0">
                <a:latin typeface="Carlito"/>
                <a:cs typeface="Carlito"/>
              </a:rPr>
              <a:t> </a:t>
            </a:r>
            <a:r>
              <a:rPr sz="1800" spc="-10" dirty="0">
                <a:latin typeface="Carlito"/>
                <a:cs typeface="Carlito"/>
              </a:rPr>
              <a:t>reverse</a:t>
            </a:r>
            <a:r>
              <a:rPr sz="1800" spc="-30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of</a:t>
            </a:r>
            <a:r>
              <a:rPr sz="1800" spc="-15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the</a:t>
            </a:r>
            <a:r>
              <a:rPr sz="1800" spc="-20" dirty="0">
                <a:latin typeface="Carlito"/>
                <a:cs typeface="Carlito"/>
              </a:rPr>
              <a:t> </a:t>
            </a:r>
            <a:r>
              <a:rPr sz="1800" spc="-10" dirty="0">
                <a:latin typeface="Carlito"/>
                <a:cs typeface="Carlito"/>
              </a:rPr>
              <a:t>sequence.</a:t>
            </a:r>
            <a:endParaRPr sz="1800">
              <a:latin typeface="Carlito"/>
              <a:cs typeface="Carlito"/>
            </a:endParaRPr>
          </a:p>
          <a:p>
            <a:pPr marL="355600">
              <a:lnSpc>
                <a:spcPct val="100000"/>
              </a:lnSpc>
              <a:spcBef>
                <a:spcPts val="434"/>
              </a:spcBef>
            </a:pPr>
            <a:r>
              <a:rPr sz="1800" dirty="0">
                <a:latin typeface="Carlito"/>
                <a:cs typeface="Carlito"/>
              </a:rPr>
              <a:t>public</a:t>
            </a:r>
            <a:r>
              <a:rPr sz="1800" spc="-20" dirty="0">
                <a:latin typeface="Carlito"/>
                <a:cs typeface="Carlito"/>
              </a:rPr>
              <a:t> </a:t>
            </a:r>
            <a:r>
              <a:rPr sz="1800" spc="-10" dirty="0">
                <a:latin typeface="Carlito"/>
                <a:cs typeface="Carlito"/>
              </a:rPr>
              <a:t>StringBuffer</a:t>
            </a:r>
            <a:r>
              <a:rPr sz="1800" spc="-30" dirty="0">
                <a:latin typeface="Carlito"/>
                <a:cs typeface="Carlito"/>
              </a:rPr>
              <a:t> </a:t>
            </a:r>
            <a:r>
              <a:rPr sz="1800" b="1" spc="-10" dirty="0">
                <a:latin typeface="Carlito"/>
                <a:cs typeface="Carlito"/>
              </a:rPr>
              <a:t>reverse</a:t>
            </a:r>
            <a:r>
              <a:rPr sz="1800" spc="-10" dirty="0">
                <a:latin typeface="Carlito"/>
                <a:cs typeface="Carlito"/>
              </a:rPr>
              <a:t>()</a:t>
            </a:r>
            <a:endParaRPr sz="1800">
              <a:latin typeface="Carlito"/>
              <a:cs typeface="Carlito"/>
            </a:endParaRPr>
          </a:p>
          <a:p>
            <a:pPr>
              <a:lnSpc>
                <a:spcPct val="100000"/>
              </a:lnSpc>
              <a:spcBef>
                <a:spcPts val="825"/>
              </a:spcBef>
            </a:pPr>
            <a:endParaRPr sz="1800">
              <a:latin typeface="Carlito"/>
              <a:cs typeface="Carlito"/>
            </a:endParaRPr>
          </a:p>
          <a:p>
            <a:pPr marL="355600" indent="-342900">
              <a:lnSpc>
                <a:spcPct val="100000"/>
              </a:lnSpc>
              <a:buFont typeface="Arial"/>
              <a:buChar char="•"/>
              <a:tabLst>
                <a:tab pos="355600" algn="l"/>
              </a:tabLst>
            </a:pPr>
            <a:r>
              <a:rPr sz="1800" b="1" dirty="0">
                <a:latin typeface="Carlito"/>
                <a:cs typeface="Carlito"/>
              </a:rPr>
              <a:t>length()</a:t>
            </a:r>
            <a:r>
              <a:rPr sz="1800" b="1" spc="-45" dirty="0">
                <a:latin typeface="Carlito"/>
                <a:cs typeface="Carlito"/>
              </a:rPr>
              <a:t> </a:t>
            </a:r>
            <a:r>
              <a:rPr sz="1800" b="1" dirty="0">
                <a:latin typeface="Carlito"/>
                <a:cs typeface="Carlito"/>
              </a:rPr>
              <a:t>-</a:t>
            </a:r>
            <a:r>
              <a:rPr sz="1800" b="1" spc="-60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Returns</a:t>
            </a:r>
            <a:r>
              <a:rPr sz="1800" spc="-30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the</a:t>
            </a:r>
            <a:r>
              <a:rPr sz="1800" spc="-25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length</a:t>
            </a:r>
            <a:r>
              <a:rPr sz="1800" spc="-40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of</a:t>
            </a:r>
            <a:r>
              <a:rPr sz="1800" spc="-30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this</a:t>
            </a:r>
            <a:r>
              <a:rPr sz="1800" spc="-40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string</a:t>
            </a:r>
            <a:r>
              <a:rPr sz="1800" spc="-30" dirty="0">
                <a:latin typeface="Carlito"/>
                <a:cs typeface="Carlito"/>
              </a:rPr>
              <a:t> </a:t>
            </a:r>
            <a:r>
              <a:rPr sz="1800" spc="-10" dirty="0">
                <a:latin typeface="Carlito"/>
                <a:cs typeface="Carlito"/>
              </a:rPr>
              <a:t>buffer.</a:t>
            </a:r>
            <a:endParaRPr sz="1800">
              <a:latin typeface="Carlito"/>
              <a:cs typeface="Carlito"/>
            </a:endParaRPr>
          </a:p>
          <a:p>
            <a:pPr marL="355600">
              <a:lnSpc>
                <a:spcPct val="100000"/>
              </a:lnSpc>
              <a:spcBef>
                <a:spcPts val="430"/>
              </a:spcBef>
            </a:pPr>
            <a:r>
              <a:rPr sz="1800" dirty="0">
                <a:latin typeface="Carlito"/>
                <a:cs typeface="Carlito"/>
              </a:rPr>
              <a:t>public</a:t>
            </a:r>
            <a:r>
              <a:rPr sz="1800" spc="-35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int</a:t>
            </a:r>
            <a:r>
              <a:rPr sz="1800" spc="-35" dirty="0">
                <a:latin typeface="Carlito"/>
                <a:cs typeface="Carlito"/>
              </a:rPr>
              <a:t> </a:t>
            </a:r>
            <a:r>
              <a:rPr sz="1800" b="1" spc="-10" dirty="0">
                <a:latin typeface="Carlito"/>
                <a:cs typeface="Carlito"/>
              </a:rPr>
              <a:t>length</a:t>
            </a:r>
            <a:r>
              <a:rPr sz="1800" spc="-10" dirty="0">
                <a:latin typeface="Carlito"/>
                <a:cs typeface="Carlito"/>
              </a:rPr>
              <a:t>()</a:t>
            </a:r>
            <a:endParaRPr sz="18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110997"/>
            <a:ext cx="600964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b="0" spc="-10" dirty="0">
                <a:latin typeface="Carlito"/>
                <a:cs typeface="Carlito"/>
              </a:rPr>
              <a:t>StringBuffer</a:t>
            </a:r>
            <a:r>
              <a:rPr sz="4400" b="0" spc="-165" dirty="0">
                <a:latin typeface="Carlito"/>
                <a:cs typeface="Carlito"/>
              </a:rPr>
              <a:t> </a:t>
            </a:r>
            <a:r>
              <a:rPr sz="4400" b="0" spc="-10" dirty="0">
                <a:latin typeface="Carlito"/>
                <a:cs typeface="Carlito"/>
              </a:rPr>
              <a:t>Operations(6)</a:t>
            </a:r>
            <a:endParaRPr sz="4400">
              <a:latin typeface="Carlito"/>
              <a:cs typeface="Carlito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5940" y="1161034"/>
            <a:ext cx="7776209" cy="2494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355600" algn="l"/>
              </a:tabLst>
            </a:pPr>
            <a:r>
              <a:rPr sz="1800" b="1" dirty="0">
                <a:latin typeface="Carlito"/>
                <a:cs typeface="Carlito"/>
              </a:rPr>
              <a:t>capacity()</a:t>
            </a:r>
            <a:r>
              <a:rPr sz="1800" b="1" spc="-55" dirty="0">
                <a:latin typeface="Carlito"/>
                <a:cs typeface="Carlito"/>
              </a:rPr>
              <a:t> </a:t>
            </a:r>
            <a:r>
              <a:rPr sz="1800" b="1" dirty="0">
                <a:latin typeface="Carlito"/>
                <a:cs typeface="Carlito"/>
              </a:rPr>
              <a:t>-</a:t>
            </a:r>
            <a:r>
              <a:rPr sz="1800" b="1" spc="-40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Returns</a:t>
            </a:r>
            <a:r>
              <a:rPr sz="1800" spc="-30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the</a:t>
            </a:r>
            <a:r>
              <a:rPr sz="1800" spc="-40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current</a:t>
            </a:r>
            <a:r>
              <a:rPr sz="1800" spc="-25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capacity</a:t>
            </a:r>
            <a:r>
              <a:rPr sz="1800" spc="-35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of</a:t>
            </a:r>
            <a:r>
              <a:rPr sz="1800" spc="-45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the</a:t>
            </a:r>
            <a:r>
              <a:rPr sz="1800" spc="-25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String</a:t>
            </a:r>
            <a:r>
              <a:rPr sz="1800" spc="-35" dirty="0">
                <a:latin typeface="Carlito"/>
                <a:cs typeface="Carlito"/>
              </a:rPr>
              <a:t> buffer.</a:t>
            </a:r>
            <a:r>
              <a:rPr sz="1800" spc="-40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The</a:t>
            </a:r>
            <a:r>
              <a:rPr sz="1800" spc="-40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capacity</a:t>
            </a:r>
            <a:r>
              <a:rPr sz="1800" spc="-25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is</a:t>
            </a:r>
            <a:r>
              <a:rPr sz="1800" spc="-35" dirty="0">
                <a:latin typeface="Carlito"/>
                <a:cs typeface="Carlito"/>
              </a:rPr>
              <a:t> </a:t>
            </a:r>
            <a:r>
              <a:rPr sz="1800" spc="-25" dirty="0">
                <a:latin typeface="Carlito"/>
                <a:cs typeface="Carlito"/>
              </a:rPr>
              <a:t>the</a:t>
            </a:r>
            <a:endParaRPr sz="1800">
              <a:latin typeface="Carlito"/>
              <a:cs typeface="Carlito"/>
            </a:endParaRPr>
          </a:p>
          <a:p>
            <a:pPr marL="355600">
              <a:lnSpc>
                <a:spcPct val="100000"/>
              </a:lnSpc>
            </a:pPr>
            <a:r>
              <a:rPr sz="1800" dirty="0">
                <a:latin typeface="Carlito"/>
                <a:cs typeface="Carlito"/>
              </a:rPr>
              <a:t>amount</a:t>
            </a:r>
            <a:r>
              <a:rPr sz="1800" spc="-60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of</a:t>
            </a:r>
            <a:r>
              <a:rPr sz="1800" spc="-55" dirty="0">
                <a:latin typeface="Carlito"/>
                <a:cs typeface="Carlito"/>
              </a:rPr>
              <a:t> </a:t>
            </a:r>
            <a:r>
              <a:rPr sz="1800" spc="-10" dirty="0">
                <a:latin typeface="Carlito"/>
                <a:cs typeface="Carlito"/>
              </a:rPr>
              <a:t>storage</a:t>
            </a:r>
            <a:r>
              <a:rPr sz="1800" spc="-65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available</a:t>
            </a:r>
            <a:r>
              <a:rPr sz="1800" spc="-55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for</a:t>
            </a:r>
            <a:r>
              <a:rPr sz="1800" spc="-65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newly</a:t>
            </a:r>
            <a:r>
              <a:rPr sz="1800" spc="-40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inserted</a:t>
            </a:r>
            <a:r>
              <a:rPr sz="1800" spc="-65" dirty="0">
                <a:latin typeface="Carlito"/>
                <a:cs typeface="Carlito"/>
              </a:rPr>
              <a:t> </a:t>
            </a:r>
            <a:r>
              <a:rPr sz="1800" spc="-10" dirty="0">
                <a:latin typeface="Carlito"/>
                <a:cs typeface="Carlito"/>
              </a:rPr>
              <a:t>characters.</a:t>
            </a:r>
            <a:endParaRPr sz="1800">
              <a:latin typeface="Carlito"/>
              <a:cs typeface="Carlito"/>
            </a:endParaRPr>
          </a:p>
          <a:p>
            <a:pPr marL="355600">
              <a:lnSpc>
                <a:spcPct val="100000"/>
              </a:lnSpc>
              <a:spcBef>
                <a:spcPts val="1730"/>
              </a:spcBef>
            </a:pPr>
            <a:r>
              <a:rPr sz="1800" dirty="0">
                <a:latin typeface="Carlito"/>
                <a:cs typeface="Carlito"/>
              </a:rPr>
              <a:t>public</a:t>
            </a:r>
            <a:r>
              <a:rPr sz="1800" spc="-25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int</a:t>
            </a:r>
            <a:r>
              <a:rPr sz="1800" spc="-35" dirty="0">
                <a:latin typeface="Carlito"/>
                <a:cs typeface="Carlito"/>
              </a:rPr>
              <a:t> </a:t>
            </a:r>
            <a:r>
              <a:rPr sz="1800" b="1" spc="-10" dirty="0">
                <a:latin typeface="Carlito"/>
                <a:cs typeface="Carlito"/>
              </a:rPr>
              <a:t>capacity</a:t>
            </a:r>
            <a:r>
              <a:rPr sz="1800" spc="-10" dirty="0">
                <a:latin typeface="Carlito"/>
                <a:cs typeface="Carlito"/>
              </a:rPr>
              <a:t>()</a:t>
            </a:r>
            <a:endParaRPr sz="1800">
              <a:latin typeface="Carlito"/>
              <a:cs typeface="Carlito"/>
            </a:endParaRPr>
          </a:p>
          <a:p>
            <a:pPr>
              <a:lnSpc>
                <a:spcPct val="100000"/>
              </a:lnSpc>
              <a:spcBef>
                <a:spcPts val="825"/>
              </a:spcBef>
            </a:pPr>
            <a:endParaRPr sz="1800">
              <a:latin typeface="Carlito"/>
              <a:cs typeface="Carlito"/>
            </a:endParaRPr>
          </a:p>
          <a:p>
            <a:pPr marL="407034" indent="-394335">
              <a:lnSpc>
                <a:spcPct val="100000"/>
              </a:lnSpc>
              <a:buFont typeface="Arial"/>
              <a:buChar char="•"/>
              <a:tabLst>
                <a:tab pos="407034" algn="l"/>
              </a:tabLst>
            </a:pPr>
            <a:r>
              <a:rPr sz="1800" b="1" dirty="0">
                <a:latin typeface="Carlito"/>
                <a:cs typeface="Carlito"/>
              </a:rPr>
              <a:t>charAt()</a:t>
            </a:r>
            <a:r>
              <a:rPr sz="1800" b="1" spc="-60" dirty="0">
                <a:latin typeface="Carlito"/>
                <a:cs typeface="Carlito"/>
              </a:rPr>
              <a:t> </a:t>
            </a:r>
            <a:r>
              <a:rPr sz="1800" b="1" dirty="0">
                <a:latin typeface="Carlito"/>
                <a:cs typeface="Carlito"/>
              </a:rPr>
              <a:t>-</a:t>
            </a:r>
            <a:r>
              <a:rPr sz="1800" b="1" spc="-40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The</a:t>
            </a:r>
            <a:r>
              <a:rPr sz="1800" spc="-50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specified</a:t>
            </a:r>
            <a:r>
              <a:rPr sz="1800" spc="-40" dirty="0">
                <a:latin typeface="Carlito"/>
                <a:cs typeface="Carlito"/>
              </a:rPr>
              <a:t> </a:t>
            </a:r>
            <a:r>
              <a:rPr sz="1800" spc="-10" dirty="0">
                <a:latin typeface="Carlito"/>
                <a:cs typeface="Carlito"/>
              </a:rPr>
              <a:t>character</a:t>
            </a:r>
            <a:r>
              <a:rPr sz="1800" spc="-30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of</a:t>
            </a:r>
            <a:r>
              <a:rPr sz="1800" spc="-55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the</a:t>
            </a:r>
            <a:r>
              <a:rPr sz="1800" spc="-35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sequence</a:t>
            </a:r>
            <a:r>
              <a:rPr sz="1800" spc="-35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currently</a:t>
            </a:r>
            <a:r>
              <a:rPr sz="1800" spc="-40" dirty="0">
                <a:latin typeface="Carlito"/>
                <a:cs typeface="Carlito"/>
              </a:rPr>
              <a:t> </a:t>
            </a:r>
            <a:r>
              <a:rPr sz="1800" spc="-10" dirty="0">
                <a:latin typeface="Carlito"/>
                <a:cs typeface="Carlito"/>
              </a:rPr>
              <a:t>represented</a:t>
            </a:r>
            <a:r>
              <a:rPr sz="1800" spc="-50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by</a:t>
            </a:r>
            <a:r>
              <a:rPr sz="1800" spc="-40" dirty="0">
                <a:latin typeface="Carlito"/>
                <a:cs typeface="Carlito"/>
              </a:rPr>
              <a:t> </a:t>
            </a:r>
            <a:r>
              <a:rPr sz="1800" spc="-25" dirty="0">
                <a:latin typeface="Carlito"/>
                <a:cs typeface="Carlito"/>
              </a:rPr>
              <a:t>the</a:t>
            </a:r>
            <a:endParaRPr sz="1800">
              <a:latin typeface="Carlito"/>
              <a:cs typeface="Carlito"/>
            </a:endParaRPr>
          </a:p>
          <a:p>
            <a:pPr marL="355600">
              <a:lnSpc>
                <a:spcPct val="100000"/>
              </a:lnSpc>
            </a:pPr>
            <a:r>
              <a:rPr sz="1800" dirty="0">
                <a:latin typeface="Carlito"/>
                <a:cs typeface="Carlito"/>
              </a:rPr>
              <a:t>string</a:t>
            </a:r>
            <a:r>
              <a:rPr sz="1800" spc="-45" dirty="0">
                <a:latin typeface="Carlito"/>
                <a:cs typeface="Carlito"/>
              </a:rPr>
              <a:t> </a:t>
            </a:r>
            <a:r>
              <a:rPr sz="1800" spc="-30" dirty="0">
                <a:latin typeface="Carlito"/>
                <a:cs typeface="Carlito"/>
              </a:rPr>
              <a:t>buffer,</a:t>
            </a:r>
            <a:r>
              <a:rPr sz="1800" spc="-40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as</a:t>
            </a:r>
            <a:r>
              <a:rPr sz="1800" spc="-40" dirty="0">
                <a:latin typeface="Carlito"/>
                <a:cs typeface="Carlito"/>
              </a:rPr>
              <a:t> </a:t>
            </a:r>
            <a:r>
              <a:rPr sz="1800" spc="-10" dirty="0">
                <a:latin typeface="Carlito"/>
                <a:cs typeface="Carlito"/>
              </a:rPr>
              <a:t>indicated</a:t>
            </a:r>
            <a:r>
              <a:rPr sz="1800" spc="-20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by</a:t>
            </a:r>
            <a:r>
              <a:rPr sz="1800" spc="-40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the</a:t>
            </a:r>
            <a:r>
              <a:rPr sz="1800" spc="-30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index</a:t>
            </a:r>
            <a:r>
              <a:rPr sz="1800" spc="-45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argument,</a:t>
            </a:r>
            <a:r>
              <a:rPr sz="1800" spc="-40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is</a:t>
            </a:r>
            <a:r>
              <a:rPr sz="1800" spc="-40" dirty="0">
                <a:latin typeface="Carlito"/>
                <a:cs typeface="Carlito"/>
              </a:rPr>
              <a:t> </a:t>
            </a:r>
            <a:r>
              <a:rPr sz="1800" spc="-10" dirty="0">
                <a:latin typeface="Carlito"/>
                <a:cs typeface="Carlito"/>
              </a:rPr>
              <a:t>returned.</a:t>
            </a:r>
            <a:endParaRPr sz="1800">
              <a:latin typeface="Carlito"/>
              <a:cs typeface="Carlito"/>
            </a:endParaRPr>
          </a:p>
          <a:p>
            <a:pPr marL="355600">
              <a:lnSpc>
                <a:spcPct val="100000"/>
              </a:lnSpc>
              <a:spcBef>
                <a:spcPts val="1730"/>
              </a:spcBef>
            </a:pPr>
            <a:r>
              <a:rPr sz="1800" dirty="0">
                <a:latin typeface="Carlito"/>
                <a:cs typeface="Carlito"/>
              </a:rPr>
              <a:t>public</a:t>
            </a:r>
            <a:r>
              <a:rPr sz="1800" spc="-25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char</a:t>
            </a:r>
            <a:r>
              <a:rPr sz="1800" spc="-25" dirty="0">
                <a:latin typeface="Carlito"/>
                <a:cs typeface="Carlito"/>
              </a:rPr>
              <a:t> </a:t>
            </a:r>
            <a:r>
              <a:rPr sz="1800" b="1" spc="-10" dirty="0">
                <a:latin typeface="Carlito"/>
                <a:cs typeface="Carlito"/>
              </a:rPr>
              <a:t>charAt</a:t>
            </a:r>
            <a:r>
              <a:rPr sz="1800" spc="-10" dirty="0">
                <a:latin typeface="Carlito"/>
                <a:cs typeface="Carlito"/>
              </a:rPr>
              <a:t>(int</a:t>
            </a:r>
            <a:r>
              <a:rPr sz="1800" spc="-40" dirty="0">
                <a:latin typeface="Carlito"/>
                <a:cs typeface="Carlito"/>
              </a:rPr>
              <a:t> </a:t>
            </a:r>
            <a:r>
              <a:rPr sz="1800" spc="-10" dirty="0">
                <a:latin typeface="Carlito"/>
                <a:cs typeface="Carlito"/>
              </a:rPr>
              <a:t>index)</a:t>
            </a:r>
            <a:endParaRPr sz="18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9740" y="110997"/>
            <a:ext cx="600519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b="0" spc="-10" dirty="0">
                <a:latin typeface="Carlito"/>
                <a:cs typeface="Carlito"/>
              </a:rPr>
              <a:t>StringBuffer</a:t>
            </a:r>
            <a:r>
              <a:rPr sz="4400" b="0" spc="-175" dirty="0">
                <a:latin typeface="Carlito"/>
                <a:cs typeface="Carlito"/>
              </a:rPr>
              <a:t> </a:t>
            </a:r>
            <a:r>
              <a:rPr sz="4400" b="0" spc="-10" dirty="0">
                <a:latin typeface="Carlito"/>
                <a:cs typeface="Carlito"/>
              </a:rPr>
              <a:t>Operations(7)</a:t>
            </a:r>
            <a:endParaRPr sz="4400">
              <a:latin typeface="Carlito"/>
              <a:cs typeface="Carlito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5940" y="1119505"/>
            <a:ext cx="8072755" cy="31267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3535" algn="just">
              <a:lnSpc>
                <a:spcPct val="150100"/>
              </a:lnSpc>
              <a:spcBef>
                <a:spcPts val="100"/>
              </a:spcBef>
              <a:buFont typeface="Arial"/>
              <a:buChar char="•"/>
              <a:tabLst>
                <a:tab pos="355600" algn="l"/>
              </a:tabLst>
            </a:pPr>
            <a:r>
              <a:rPr sz="1800" b="1" dirty="0">
                <a:latin typeface="Carlito"/>
                <a:cs typeface="Carlito"/>
              </a:rPr>
              <a:t>getChars()</a:t>
            </a:r>
            <a:r>
              <a:rPr sz="1800" b="1" spc="360" dirty="0">
                <a:latin typeface="Carlito"/>
                <a:cs typeface="Carlito"/>
              </a:rPr>
              <a:t> </a:t>
            </a:r>
            <a:r>
              <a:rPr sz="1800" b="1" dirty="0">
                <a:latin typeface="Carlito"/>
                <a:cs typeface="Carlito"/>
              </a:rPr>
              <a:t>-</a:t>
            </a:r>
            <a:r>
              <a:rPr sz="1800" b="1" spc="360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Characters</a:t>
            </a:r>
            <a:r>
              <a:rPr sz="1800" spc="365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are</a:t>
            </a:r>
            <a:r>
              <a:rPr sz="1800" spc="360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copied</a:t>
            </a:r>
            <a:r>
              <a:rPr sz="1800" spc="370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from</a:t>
            </a:r>
            <a:r>
              <a:rPr sz="1800" spc="360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this</a:t>
            </a:r>
            <a:r>
              <a:rPr sz="1800" spc="360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string</a:t>
            </a:r>
            <a:r>
              <a:rPr sz="1800" spc="365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buffer</a:t>
            </a:r>
            <a:r>
              <a:rPr sz="1800" spc="360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into</a:t>
            </a:r>
            <a:r>
              <a:rPr sz="1800" spc="355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the</a:t>
            </a:r>
            <a:r>
              <a:rPr sz="1800" spc="365" dirty="0">
                <a:latin typeface="Carlito"/>
                <a:cs typeface="Carlito"/>
              </a:rPr>
              <a:t> </a:t>
            </a:r>
            <a:r>
              <a:rPr sz="1800" spc="-10" dirty="0">
                <a:latin typeface="Carlito"/>
                <a:cs typeface="Carlito"/>
              </a:rPr>
              <a:t>destination </a:t>
            </a:r>
            <a:r>
              <a:rPr sz="1800" dirty="0">
                <a:latin typeface="Carlito"/>
                <a:cs typeface="Carlito"/>
              </a:rPr>
              <a:t>character</a:t>
            </a:r>
            <a:r>
              <a:rPr sz="1800" spc="145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array</a:t>
            </a:r>
            <a:r>
              <a:rPr sz="1800" spc="150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dst.</a:t>
            </a:r>
            <a:r>
              <a:rPr sz="1800" spc="140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The</a:t>
            </a:r>
            <a:r>
              <a:rPr sz="1800" spc="140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first</a:t>
            </a:r>
            <a:r>
              <a:rPr sz="1800" spc="130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character</a:t>
            </a:r>
            <a:r>
              <a:rPr sz="1800" spc="140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to</a:t>
            </a:r>
            <a:r>
              <a:rPr sz="1800" spc="135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be</a:t>
            </a:r>
            <a:r>
              <a:rPr sz="1800" spc="155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copied</a:t>
            </a:r>
            <a:r>
              <a:rPr sz="1800" spc="150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is</a:t>
            </a:r>
            <a:r>
              <a:rPr sz="1800" spc="140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at</a:t>
            </a:r>
            <a:r>
              <a:rPr sz="1800" spc="135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index</a:t>
            </a:r>
            <a:r>
              <a:rPr sz="1800" spc="140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srcBegin;</a:t>
            </a:r>
            <a:r>
              <a:rPr sz="1800" spc="135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the</a:t>
            </a:r>
            <a:r>
              <a:rPr sz="1800" spc="140" dirty="0">
                <a:latin typeface="Carlito"/>
                <a:cs typeface="Carlito"/>
              </a:rPr>
              <a:t> </a:t>
            </a:r>
            <a:r>
              <a:rPr sz="1800" spc="-20" dirty="0">
                <a:latin typeface="Carlito"/>
                <a:cs typeface="Carlito"/>
              </a:rPr>
              <a:t>last </a:t>
            </a:r>
            <a:r>
              <a:rPr sz="1800" spc="-10" dirty="0">
                <a:latin typeface="Carlito"/>
                <a:cs typeface="Carlito"/>
              </a:rPr>
              <a:t>character </a:t>
            </a:r>
            <a:r>
              <a:rPr sz="1800" dirty="0">
                <a:latin typeface="Carlito"/>
                <a:cs typeface="Carlito"/>
              </a:rPr>
              <a:t>to</a:t>
            </a:r>
            <a:r>
              <a:rPr sz="1800" spc="-25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be</a:t>
            </a:r>
            <a:r>
              <a:rPr sz="1800" spc="-25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copied is</a:t>
            </a:r>
            <a:r>
              <a:rPr sz="1800" spc="-20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at</a:t>
            </a:r>
            <a:r>
              <a:rPr sz="1800" spc="-30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index</a:t>
            </a:r>
            <a:r>
              <a:rPr sz="1800" spc="-25" dirty="0">
                <a:latin typeface="Carlito"/>
                <a:cs typeface="Carlito"/>
              </a:rPr>
              <a:t> </a:t>
            </a:r>
            <a:r>
              <a:rPr sz="1800" spc="-20" dirty="0">
                <a:latin typeface="Carlito"/>
                <a:cs typeface="Carlito"/>
              </a:rPr>
              <a:t>srcEnd-</a:t>
            </a:r>
            <a:r>
              <a:rPr sz="1800" spc="-25" dirty="0">
                <a:latin typeface="Carlito"/>
                <a:cs typeface="Carlito"/>
              </a:rPr>
              <a:t>1.</a:t>
            </a:r>
            <a:endParaRPr sz="1800">
              <a:latin typeface="Carlito"/>
              <a:cs typeface="Carlito"/>
            </a:endParaRPr>
          </a:p>
          <a:p>
            <a:pPr marL="355600" algn="just">
              <a:lnSpc>
                <a:spcPct val="100000"/>
              </a:lnSpc>
              <a:spcBef>
                <a:spcPts val="1510"/>
              </a:spcBef>
            </a:pPr>
            <a:r>
              <a:rPr sz="1800" dirty="0">
                <a:latin typeface="Carlito"/>
                <a:cs typeface="Carlito"/>
              </a:rPr>
              <a:t>public</a:t>
            </a:r>
            <a:r>
              <a:rPr sz="1800" spc="-30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void</a:t>
            </a:r>
            <a:r>
              <a:rPr sz="1800" spc="-35" dirty="0">
                <a:latin typeface="Carlito"/>
                <a:cs typeface="Carlito"/>
              </a:rPr>
              <a:t> </a:t>
            </a:r>
            <a:r>
              <a:rPr sz="1800" b="1" spc="-10" dirty="0">
                <a:latin typeface="Carlito"/>
                <a:cs typeface="Carlito"/>
              </a:rPr>
              <a:t>getChars</a:t>
            </a:r>
            <a:r>
              <a:rPr sz="1800" spc="-10" dirty="0">
                <a:latin typeface="Carlito"/>
                <a:cs typeface="Carlito"/>
              </a:rPr>
              <a:t>(int</a:t>
            </a:r>
            <a:r>
              <a:rPr sz="1800" spc="-55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srcBegin,</a:t>
            </a:r>
            <a:r>
              <a:rPr sz="1800" spc="-50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int</a:t>
            </a:r>
            <a:r>
              <a:rPr sz="1800" spc="-40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srcEnd,</a:t>
            </a:r>
            <a:r>
              <a:rPr sz="1800" spc="-40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char[]</a:t>
            </a:r>
            <a:r>
              <a:rPr sz="1800" spc="-35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dst,</a:t>
            </a:r>
            <a:r>
              <a:rPr sz="1800" spc="-50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int</a:t>
            </a:r>
            <a:r>
              <a:rPr sz="1800" spc="-40" dirty="0">
                <a:latin typeface="Carlito"/>
                <a:cs typeface="Carlito"/>
              </a:rPr>
              <a:t> </a:t>
            </a:r>
            <a:r>
              <a:rPr sz="1800" spc="-10" dirty="0">
                <a:latin typeface="Carlito"/>
                <a:cs typeface="Carlito"/>
              </a:rPr>
              <a:t>dstBegin)</a:t>
            </a:r>
            <a:endParaRPr sz="1800">
              <a:latin typeface="Carlito"/>
              <a:cs typeface="Carlito"/>
            </a:endParaRPr>
          </a:p>
          <a:p>
            <a:pPr>
              <a:lnSpc>
                <a:spcPct val="100000"/>
              </a:lnSpc>
              <a:spcBef>
                <a:spcPts val="1475"/>
              </a:spcBef>
            </a:pPr>
            <a:endParaRPr sz="1800">
              <a:latin typeface="Carlito"/>
              <a:cs typeface="Carlito"/>
            </a:endParaRPr>
          </a:p>
          <a:p>
            <a:pPr marL="407034" marR="3223260" indent="-394970">
              <a:lnSpc>
                <a:spcPct val="170000"/>
              </a:lnSpc>
              <a:spcBef>
                <a:spcPts val="5"/>
              </a:spcBef>
              <a:buFont typeface="Arial"/>
              <a:buChar char="•"/>
              <a:tabLst>
                <a:tab pos="431800" algn="l"/>
              </a:tabLst>
            </a:pPr>
            <a:r>
              <a:rPr sz="1800" b="1" dirty="0">
                <a:latin typeface="Carlito"/>
                <a:cs typeface="Carlito"/>
              </a:rPr>
              <a:t>setLength</a:t>
            </a:r>
            <a:r>
              <a:rPr sz="1800" dirty="0">
                <a:latin typeface="Carlito"/>
                <a:cs typeface="Carlito"/>
              </a:rPr>
              <a:t>()</a:t>
            </a:r>
            <a:r>
              <a:rPr sz="1800" spc="-50" dirty="0">
                <a:latin typeface="Carlito"/>
                <a:cs typeface="Carlito"/>
              </a:rPr>
              <a:t> </a:t>
            </a:r>
            <a:r>
              <a:rPr sz="1800" b="1" dirty="0">
                <a:latin typeface="Carlito"/>
                <a:cs typeface="Carlito"/>
              </a:rPr>
              <a:t>-</a:t>
            </a:r>
            <a:r>
              <a:rPr sz="1800" b="1" spc="-35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Sets</a:t>
            </a:r>
            <a:r>
              <a:rPr sz="1800" spc="-30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the</a:t>
            </a:r>
            <a:r>
              <a:rPr sz="1800" spc="-30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length</a:t>
            </a:r>
            <a:r>
              <a:rPr sz="1800" spc="-20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of</a:t>
            </a:r>
            <a:r>
              <a:rPr sz="1800" spc="-30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the</a:t>
            </a:r>
            <a:r>
              <a:rPr sz="1800" spc="-15" dirty="0">
                <a:latin typeface="Carlito"/>
                <a:cs typeface="Carlito"/>
              </a:rPr>
              <a:t> </a:t>
            </a:r>
            <a:r>
              <a:rPr sz="1800" spc="-10" dirty="0">
                <a:latin typeface="Carlito"/>
                <a:cs typeface="Carlito"/>
              </a:rPr>
              <a:t>StringBuffer. 	</a:t>
            </a:r>
            <a:r>
              <a:rPr sz="1800" dirty="0">
                <a:latin typeface="Carlito"/>
                <a:cs typeface="Carlito"/>
              </a:rPr>
              <a:t>public</a:t>
            </a:r>
            <a:r>
              <a:rPr sz="1800" spc="-45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void</a:t>
            </a:r>
            <a:r>
              <a:rPr sz="1800" spc="-45" dirty="0">
                <a:latin typeface="Carlito"/>
                <a:cs typeface="Carlito"/>
              </a:rPr>
              <a:t> </a:t>
            </a:r>
            <a:r>
              <a:rPr sz="1800" b="1" dirty="0">
                <a:latin typeface="Carlito"/>
                <a:cs typeface="Carlito"/>
              </a:rPr>
              <a:t>setLength</a:t>
            </a:r>
            <a:r>
              <a:rPr sz="1800" dirty="0">
                <a:latin typeface="Carlito"/>
                <a:cs typeface="Carlito"/>
              </a:rPr>
              <a:t>(int</a:t>
            </a:r>
            <a:r>
              <a:rPr sz="1800" spc="-85" dirty="0">
                <a:latin typeface="Carlito"/>
                <a:cs typeface="Carlito"/>
              </a:rPr>
              <a:t> </a:t>
            </a:r>
            <a:r>
              <a:rPr sz="1800" spc="-10" dirty="0">
                <a:latin typeface="Carlito"/>
                <a:cs typeface="Carlito"/>
              </a:rPr>
              <a:t>newLength)</a:t>
            </a:r>
            <a:endParaRPr sz="18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110997"/>
            <a:ext cx="506920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b="0" dirty="0">
                <a:latin typeface="Carlito"/>
                <a:cs typeface="Carlito"/>
              </a:rPr>
              <a:t>Example</a:t>
            </a:r>
            <a:r>
              <a:rPr sz="4400" b="0" spc="-55" dirty="0">
                <a:latin typeface="Carlito"/>
                <a:cs typeface="Carlito"/>
              </a:rPr>
              <a:t> </a:t>
            </a:r>
            <a:r>
              <a:rPr sz="4400" b="0" dirty="0">
                <a:latin typeface="Carlito"/>
                <a:cs typeface="Carlito"/>
              </a:rPr>
              <a:t>:</a:t>
            </a:r>
            <a:r>
              <a:rPr sz="4400" b="0" spc="-45" dirty="0">
                <a:latin typeface="Carlito"/>
                <a:cs typeface="Carlito"/>
              </a:rPr>
              <a:t> </a:t>
            </a:r>
            <a:r>
              <a:rPr sz="4400" b="0" spc="-10" dirty="0">
                <a:latin typeface="Carlito"/>
                <a:cs typeface="Carlito"/>
              </a:rPr>
              <a:t>StringBuffer</a:t>
            </a:r>
            <a:endParaRPr sz="4400">
              <a:latin typeface="Carlito"/>
              <a:cs typeface="Carlito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5940" y="1232662"/>
            <a:ext cx="6551930" cy="40170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-10" dirty="0">
                <a:latin typeface="Carlito"/>
                <a:cs typeface="Carlito"/>
              </a:rPr>
              <a:t>StringBuffer</a:t>
            </a:r>
            <a:r>
              <a:rPr sz="1700" spc="-20" dirty="0">
                <a:latin typeface="Carlito"/>
                <a:cs typeface="Carlito"/>
              </a:rPr>
              <a:t> </a:t>
            </a:r>
            <a:r>
              <a:rPr sz="1700" dirty="0">
                <a:latin typeface="Carlito"/>
                <a:cs typeface="Carlito"/>
              </a:rPr>
              <a:t>sb</a:t>
            </a:r>
            <a:r>
              <a:rPr sz="1700" spc="-10" dirty="0">
                <a:latin typeface="Carlito"/>
                <a:cs typeface="Carlito"/>
              </a:rPr>
              <a:t> </a:t>
            </a:r>
            <a:r>
              <a:rPr sz="1700" dirty="0">
                <a:latin typeface="Carlito"/>
                <a:cs typeface="Carlito"/>
              </a:rPr>
              <a:t>=</a:t>
            </a:r>
            <a:r>
              <a:rPr sz="1700" spc="-5" dirty="0">
                <a:latin typeface="Carlito"/>
                <a:cs typeface="Carlito"/>
              </a:rPr>
              <a:t> </a:t>
            </a:r>
            <a:r>
              <a:rPr sz="1700" dirty="0">
                <a:latin typeface="Carlito"/>
                <a:cs typeface="Carlito"/>
              </a:rPr>
              <a:t>new</a:t>
            </a:r>
            <a:r>
              <a:rPr sz="1700" spc="-15" dirty="0">
                <a:latin typeface="Carlito"/>
                <a:cs typeface="Carlito"/>
              </a:rPr>
              <a:t> </a:t>
            </a:r>
            <a:r>
              <a:rPr sz="1700" spc="-10" dirty="0">
                <a:latin typeface="Carlito"/>
                <a:cs typeface="Carlito"/>
              </a:rPr>
              <a:t>StringBuffer(“Hello”);</a:t>
            </a:r>
            <a:endParaRPr sz="1700">
              <a:latin typeface="Carlito"/>
              <a:cs typeface="Carlito"/>
            </a:endParaRPr>
          </a:p>
          <a:p>
            <a:pPr marL="355600">
              <a:lnSpc>
                <a:spcPct val="100000"/>
              </a:lnSpc>
              <a:spcBef>
                <a:spcPts val="1220"/>
              </a:spcBef>
            </a:pPr>
            <a:r>
              <a:rPr sz="1700" spc="-10" dirty="0">
                <a:latin typeface="Carlito"/>
                <a:cs typeface="Carlito"/>
              </a:rPr>
              <a:t>sb.length();</a:t>
            </a:r>
            <a:r>
              <a:rPr sz="1700" spc="-25" dirty="0">
                <a:latin typeface="Carlito"/>
                <a:cs typeface="Carlito"/>
              </a:rPr>
              <a:t> </a:t>
            </a:r>
            <a:r>
              <a:rPr sz="1700" dirty="0">
                <a:latin typeface="Carlito"/>
                <a:cs typeface="Carlito"/>
              </a:rPr>
              <a:t>//</a:t>
            </a:r>
            <a:r>
              <a:rPr sz="1700" spc="25" dirty="0">
                <a:latin typeface="Carlito"/>
                <a:cs typeface="Carlito"/>
              </a:rPr>
              <a:t> </a:t>
            </a:r>
            <a:r>
              <a:rPr sz="1700" spc="-50" dirty="0">
                <a:latin typeface="Carlito"/>
                <a:cs typeface="Carlito"/>
              </a:rPr>
              <a:t>5</a:t>
            </a:r>
            <a:endParaRPr sz="1700">
              <a:latin typeface="Carlito"/>
              <a:cs typeface="Carlito"/>
            </a:endParaRPr>
          </a:p>
          <a:p>
            <a:pPr marL="355600" marR="5080">
              <a:lnSpc>
                <a:spcPct val="160000"/>
              </a:lnSpc>
              <a:spcBef>
                <a:spcPts val="5"/>
              </a:spcBef>
            </a:pPr>
            <a:r>
              <a:rPr sz="1700" dirty="0">
                <a:latin typeface="Carlito"/>
                <a:cs typeface="Carlito"/>
              </a:rPr>
              <a:t>sb.capacity();</a:t>
            </a:r>
            <a:r>
              <a:rPr sz="1700" spc="-35" dirty="0">
                <a:latin typeface="Carlito"/>
                <a:cs typeface="Carlito"/>
              </a:rPr>
              <a:t> </a:t>
            </a:r>
            <a:r>
              <a:rPr sz="1700" dirty="0">
                <a:latin typeface="Carlito"/>
                <a:cs typeface="Carlito"/>
              </a:rPr>
              <a:t>//</a:t>
            </a:r>
            <a:r>
              <a:rPr sz="1700" spc="-40" dirty="0">
                <a:latin typeface="Carlito"/>
                <a:cs typeface="Carlito"/>
              </a:rPr>
              <a:t> </a:t>
            </a:r>
            <a:r>
              <a:rPr sz="1700" dirty="0">
                <a:latin typeface="Carlito"/>
                <a:cs typeface="Carlito"/>
              </a:rPr>
              <a:t>21</a:t>
            </a:r>
            <a:r>
              <a:rPr sz="1700" spc="-15" dirty="0">
                <a:latin typeface="Carlito"/>
                <a:cs typeface="Carlito"/>
              </a:rPr>
              <a:t> </a:t>
            </a:r>
            <a:r>
              <a:rPr sz="1700" dirty="0">
                <a:latin typeface="Carlito"/>
                <a:cs typeface="Carlito"/>
              </a:rPr>
              <a:t>(16</a:t>
            </a:r>
            <a:r>
              <a:rPr sz="1700" spc="-20" dirty="0">
                <a:latin typeface="Carlito"/>
                <a:cs typeface="Carlito"/>
              </a:rPr>
              <a:t> </a:t>
            </a:r>
            <a:r>
              <a:rPr sz="1700" spc="-10" dirty="0">
                <a:latin typeface="Carlito"/>
                <a:cs typeface="Carlito"/>
              </a:rPr>
              <a:t>characters</a:t>
            </a:r>
            <a:r>
              <a:rPr sz="1700" spc="-25" dirty="0">
                <a:latin typeface="Carlito"/>
                <a:cs typeface="Carlito"/>
              </a:rPr>
              <a:t> </a:t>
            </a:r>
            <a:r>
              <a:rPr sz="1700" dirty="0">
                <a:latin typeface="Carlito"/>
                <a:cs typeface="Carlito"/>
              </a:rPr>
              <a:t>room</a:t>
            </a:r>
            <a:r>
              <a:rPr sz="1700" spc="-45" dirty="0">
                <a:latin typeface="Carlito"/>
                <a:cs typeface="Carlito"/>
              </a:rPr>
              <a:t> </a:t>
            </a:r>
            <a:r>
              <a:rPr sz="1700" dirty="0">
                <a:latin typeface="Carlito"/>
                <a:cs typeface="Carlito"/>
              </a:rPr>
              <a:t>is</a:t>
            </a:r>
            <a:r>
              <a:rPr sz="1700" spc="345" dirty="0">
                <a:latin typeface="Carlito"/>
                <a:cs typeface="Carlito"/>
              </a:rPr>
              <a:t> </a:t>
            </a:r>
            <a:r>
              <a:rPr sz="1700" dirty="0">
                <a:latin typeface="Carlito"/>
                <a:cs typeface="Carlito"/>
              </a:rPr>
              <a:t>added</a:t>
            </a:r>
            <a:r>
              <a:rPr sz="1700" spc="-50" dirty="0">
                <a:latin typeface="Carlito"/>
                <a:cs typeface="Carlito"/>
              </a:rPr>
              <a:t> </a:t>
            </a:r>
            <a:r>
              <a:rPr sz="1700" dirty="0">
                <a:latin typeface="Carlito"/>
                <a:cs typeface="Carlito"/>
              </a:rPr>
              <a:t>if</a:t>
            </a:r>
            <a:r>
              <a:rPr sz="1700" spc="-15" dirty="0">
                <a:latin typeface="Carlito"/>
                <a:cs typeface="Carlito"/>
              </a:rPr>
              <a:t> </a:t>
            </a:r>
            <a:r>
              <a:rPr sz="1700" dirty="0">
                <a:latin typeface="Carlito"/>
                <a:cs typeface="Carlito"/>
              </a:rPr>
              <a:t>no</a:t>
            </a:r>
            <a:r>
              <a:rPr sz="1700" spc="-10" dirty="0">
                <a:latin typeface="Carlito"/>
                <a:cs typeface="Carlito"/>
              </a:rPr>
              <a:t> </a:t>
            </a:r>
            <a:r>
              <a:rPr sz="1700" dirty="0">
                <a:latin typeface="Carlito"/>
                <a:cs typeface="Carlito"/>
              </a:rPr>
              <a:t>size</a:t>
            </a:r>
            <a:r>
              <a:rPr sz="1700" spc="-45" dirty="0">
                <a:latin typeface="Carlito"/>
                <a:cs typeface="Carlito"/>
              </a:rPr>
              <a:t> </a:t>
            </a:r>
            <a:r>
              <a:rPr sz="1700" dirty="0">
                <a:latin typeface="Carlito"/>
                <a:cs typeface="Carlito"/>
              </a:rPr>
              <a:t>is</a:t>
            </a:r>
            <a:r>
              <a:rPr sz="1700" spc="-20" dirty="0">
                <a:latin typeface="Carlito"/>
                <a:cs typeface="Carlito"/>
              </a:rPr>
              <a:t> </a:t>
            </a:r>
            <a:r>
              <a:rPr sz="1700" spc="-10" dirty="0">
                <a:latin typeface="Carlito"/>
                <a:cs typeface="Carlito"/>
              </a:rPr>
              <a:t>specified) sb.charAt(1);</a:t>
            </a:r>
            <a:r>
              <a:rPr sz="1700" spc="-40" dirty="0">
                <a:latin typeface="Carlito"/>
                <a:cs typeface="Carlito"/>
              </a:rPr>
              <a:t> </a:t>
            </a:r>
            <a:r>
              <a:rPr sz="1700" dirty="0">
                <a:latin typeface="Carlito"/>
                <a:cs typeface="Carlito"/>
              </a:rPr>
              <a:t>//</a:t>
            </a:r>
            <a:r>
              <a:rPr sz="1700" spc="30" dirty="0">
                <a:latin typeface="Carlito"/>
                <a:cs typeface="Carlito"/>
              </a:rPr>
              <a:t> </a:t>
            </a:r>
            <a:r>
              <a:rPr sz="1700" spc="-50" dirty="0">
                <a:latin typeface="Carlito"/>
                <a:cs typeface="Carlito"/>
              </a:rPr>
              <a:t>e</a:t>
            </a:r>
            <a:endParaRPr sz="1700">
              <a:latin typeface="Carlito"/>
              <a:cs typeface="Carlito"/>
            </a:endParaRPr>
          </a:p>
          <a:p>
            <a:pPr marL="355600">
              <a:lnSpc>
                <a:spcPct val="100000"/>
              </a:lnSpc>
              <a:spcBef>
                <a:spcPts val="1225"/>
              </a:spcBef>
            </a:pPr>
            <a:r>
              <a:rPr sz="1700" spc="-10" dirty="0">
                <a:latin typeface="Carlito"/>
                <a:cs typeface="Carlito"/>
              </a:rPr>
              <a:t>sb.setCharAt(1,’i’);</a:t>
            </a:r>
            <a:r>
              <a:rPr sz="1700" spc="-65" dirty="0">
                <a:latin typeface="Carlito"/>
                <a:cs typeface="Carlito"/>
              </a:rPr>
              <a:t> </a:t>
            </a:r>
            <a:r>
              <a:rPr sz="1700" dirty="0">
                <a:latin typeface="Carlito"/>
                <a:cs typeface="Carlito"/>
              </a:rPr>
              <a:t>//</a:t>
            </a:r>
            <a:r>
              <a:rPr sz="1700" spc="-10" dirty="0">
                <a:latin typeface="Carlito"/>
                <a:cs typeface="Carlito"/>
              </a:rPr>
              <a:t> </a:t>
            </a:r>
            <a:r>
              <a:rPr sz="1700" spc="-20" dirty="0">
                <a:latin typeface="Carlito"/>
                <a:cs typeface="Carlito"/>
              </a:rPr>
              <a:t>Hillo</a:t>
            </a:r>
            <a:endParaRPr sz="1700">
              <a:latin typeface="Carlito"/>
              <a:cs typeface="Carlito"/>
            </a:endParaRPr>
          </a:p>
          <a:p>
            <a:pPr marL="355600">
              <a:lnSpc>
                <a:spcPct val="100000"/>
              </a:lnSpc>
              <a:spcBef>
                <a:spcPts val="1225"/>
              </a:spcBef>
            </a:pPr>
            <a:r>
              <a:rPr sz="1700" spc="-10" dirty="0">
                <a:latin typeface="Carlito"/>
                <a:cs typeface="Carlito"/>
              </a:rPr>
              <a:t>sb.setLength(2);</a:t>
            </a:r>
            <a:r>
              <a:rPr sz="1700" spc="-25" dirty="0">
                <a:latin typeface="Carlito"/>
                <a:cs typeface="Carlito"/>
              </a:rPr>
              <a:t> </a:t>
            </a:r>
            <a:r>
              <a:rPr sz="1700" dirty="0">
                <a:latin typeface="Carlito"/>
                <a:cs typeface="Carlito"/>
              </a:rPr>
              <a:t>//</a:t>
            </a:r>
            <a:r>
              <a:rPr sz="1700" spc="45" dirty="0">
                <a:latin typeface="Carlito"/>
                <a:cs typeface="Carlito"/>
              </a:rPr>
              <a:t> </a:t>
            </a:r>
            <a:r>
              <a:rPr sz="1700" spc="-25" dirty="0">
                <a:latin typeface="Carlito"/>
                <a:cs typeface="Carlito"/>
              </a:rPr>
              <a:t>Hi</a:t>
            </a:r>
            <a:endParaRPr sz="1700">
              <a:latin typeface="Carlito"/>
              <a:cs typeface="Carlito"/>
            </a:endParaRPr>
          </a:p>
          <a:p>
            <a:pPr marL="355600">
              <a:lnSpc>
                <a:spcPct val="100000"/>
              </a:lnSpc>
              <a:spcBef>
                <a:spcPts val="1225"/>
              </a:spcBef>
            </a:pPr>
            <a:r>
              <a:rPr sz="1700" spc="-10" dirty="0">
                <a:latin typeface="Carlito"/>
                <a:cs typeface="Carlito"/>
              </a:rPr>
              <a:t>sb.append(“l”).append(“l”);</a:t>
            </a:r>
            <a:r>
              <a:rPr sz="1700" dirty="0">
                <a:latin typeface="Carlito"/>
                <a:cs typeface="Carlito"/>
              </a:rPr>
              <a:t> //</a:t>
            </a:r>
            <a:r>
              <a:rPr sz="1700" spc="80" dirty="0">
                <a:latin typeface="Carlito"/>
                <a:cs typeface="Carlito"/>
              </a:rPr>
              <a:t> </a:t>
            </a:r>
            <a:r>
              <a:rPr sz="1700" spc="-20" dirty="0">
                <a:latin typeface="Carlito"/>
                <a:cs typeface="Carlito"/>
              </a:rPr>
              <a:t>Hill</a:t>
            </a:r>
            <a:endParaRPr sz="1700">
              <a:latin typeface="Carlito"/>
              <a:cs typeface="Carlito"/>
            </a:endParaRPr>
          </a:p>
          <a:p>
            <a:pPr marL="355600">
              <a:lnSpc>
                <a:spcPct val="100000"/>
              </a:lnSpc>
              <a:spcBef>
                <a:spcPts val="1225"/>
              </a:spcBef>
            </a:pPr>
            <a:r>
              <a:rPr sz="1700" dirty="0">
                <a:latin typeface="Carlito"/>
                <a:cs typeface="Carlito"/>
              </a:rPr>
              <a:t>sb.insert(0,</a:t>
            </a:r>
            <a:r>
              <a:rPr sz="1700" spc="-50" dirty="0">
                <a:latin typeface="Carlito"/>
                <a:cs typeface="Carlito"/>
              </a:rPr>
              <a:t> </a:t>
            </a:r>
            <a:r>
              <a:rPr sz="1700" dirty="0">
                <a:latin typeface="Carlito"/>
                <a:cs typeface="Carlito"/>
              </a:rPr>
              <a:t>“Big</a:t>
            </a:r>
            <a:r>
              <a:rPr sz="1700" spc="-10" dirty="0">
                <a:latin typeface="Carlito"/>
                <a:cs typeface="Carlito"/>
              </a:rPr>
              <a:t> </a:t>
            </a:r>
            <a:r>
              <a:rPr sz="1700" dirty="0">
                <a:latin typeface="Carlito"/>
                <a:cs typeface="Carlito"/>
              </a:rPr>
              <a:t>“);</a:t>
            </a:r>
            <a:r>
              <a:rPr sz="1700" spc="-15" dirty="0">
                <a:latin typeface="Carlito"/>
                <a:cs typeface="Carlito"/>
              </a:rPr>
              <a:t> </a:t>
            </a:r>
            <a:r>
              <a:rPr sz="1700" dirty="0">
                <a:latin typeface="Carlito"/>
                <a:cs typeface="Carlito"/>
              </a:rPr>
              <a:t>//</a:t>
            </a:r>
            <a:r>
              <a:rPr sz="1700" spc="-10" dirty="0">
                <a:latin typeface="Carlito"/>
                <a:cs typeface="Carlito"/>
              </a:rPr>
              <a:t> </a:t>
            </a:r>
            <a:r>
              <a:rPr sz="1700" dirty="0">
                <a:latin typeface="Carlito"/>
                <a:cs typeface="Carlito"/>
              </a:rPr>
              <a:t>Big</a:t>
            </a:r>
            <a:r>
              <a:rPr sz="1700" spc="-15" dirty="0">
                <a:latin typeface="Carlito"/>
                <a:cs typeface="Carlito"/>
              </a:rPr>
              <a:t> </a:t>
            </a:r>
            <a:r>
              <a:rPr sz="1700" spc="-20" dirty="0">
                <a:latin typeface="Carlito"/>
                <a:cs typeface="Carlito"/>
              </a:rPr>
              <a:t>Hill</a:t>
            </a:r>
            <a:endParaRPr sz="1700">
              <a:latin typeface="Carlito"/>
              <a:cs typeface="Carlito"/>
            </a:endParaRPr>
          </a:p>
          <a:p>
            <a:pPr marL="355600" marR="3853179">
              <a:lnSpc>
                <a:spcPct val="160000"/>
              </a:lnSpc>
            </a:pPr>
            <a:r>
              <a:rPr sz="1700" dirty="0">
                <a:latin typeface="Carlito"/>
                <a:cs typeface="Carlito"/>
              </a:rPr>
              <a:t>sb.replace(3,</a:t>
            </a:r>
            <a:r>
              <a:rPr sz="1700" spc="-55" dirty="0">
                <a:latin typeface="Carlito"/>
                <a:cs typeface="Carlito"/>
              </a:rPr>
              <a:t> </a:t>
            </a:r>
            <a:r>
              <a:rPr sz="1700" dirty="0">
                <a:latin typeface="Carlito"/>
                <a:cs typeface="Carlito"/>
              </a:rPr>
              <a:t>11,</a:t>
            </a:r>
            <a:r>
              <a:rPr sz="1700" spc="-30" dirty="0">
                <a:latin typeface="Carlito"/>
                <a:cs typeface="Carlito"/>
              </a:rPr>
              <a:t> </a:t>
            </a:r>
            <a:r>
              <a:rPr sz="1700" dirty="0">
                <a:latin typeface="Carlito"/>
                <a:cs typeface="Carlito"/>
              </a:rPr>
              <a:t>“”);</a:t>
            </a:r>
            <a:r>
              <a:rPr sz="1700" spc="-20" dirty="0">
                <a:latin typeface="Carlito"/>
                <a:cs typeface="Carlito"/>
              </a:rPr>
              <a:t> </a:t>
            </a:r>
            <a:r>
              <a:rPr sz="1700" dirty="0">
                <a:latin typeface="Carlito"/>
                <a:cs typeface="Carlito"/>
              </a:rPr>
              <a:t>//</a:t>
            </a:r>
            <a:r>
              <a:rPr sz="1700" spc="-20" dirty="0">
                <a:latin typeface="Carlito"/>
                <a:cs typeface="Carlito"/>
              </a:rPr>
              <a:t> </a:t>
            </a:r>
            <a:r>
              <a:rPr sz="1700" spc="-25" dirty="0">
                <a:latin typeface="Carlito"/>
                <a:cs typeface="Carlito"/>
              </a:rPr>
              <a:t>Big </a:t>
            </a:r>
            <a:r>
              <a:rPr sz="1700" spc="-10" dirty="0">
                <a:latin typeface="Carlito"/>
                <a:cs typeface="Carlito"/>
              </a:rPr>
              <a:t>sb.reverse();</a:t>
            </a:r>
            <a:r>
              <a:rPr sz="1700" spc="-15" dirty="0">
                <a:latin typeface="Carlito"/>
                <a:cs typeface="Carlito"/>
              </a:rPr>
              <a:t> </a:t>
            </a:r>
            <a:r>
              <a:rPr sz="1700" dirty="0">
                <a:latin typeface="Carlito"/>
                <a:cs typeface="Carlito"/>
              </a:rPr>
              <a:t>//</a:t>
            </a:r>
            <a:r>
              <a:rPr sz="1700" spc="-20" dirty="0">
                <a:latin typeface="Carlito"/>
                <a:cs typeface="Carlito"/>
              </a:rPr>
              <a:t> </a:t>
            </a:r>
            <a:r>
              <a:rPr sz="1700" spc="-25" dirty="0">
                <a:latin typeface="Carlito"/>
                <a:cs typeface="Carlito"/>
              </a:rPr>
              <a:t>gib</a:t>
            </a:r>
            <a:endParaRPr sz="17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671" y="0"/>
              <a:ext cx="9101328" cy="6857998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0"/>
              <a:ext cx="667512" cy="6857996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2012</TotalTime>
  <Words>4323</Words>
  <Application>Microsoft Office PowerPoint</Application>
  <PresentationFormat>On-screen Show (4:3)</PresentationFormat>
  <Paragraphs>457</Paragraphs>
  <Slides>60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60</vt:i4>
      </vt:variant>
    </vt:vector>
  </HeadingPairs>
  <TitlesOfParts>
    <vt:vector size="71" baseType="lpstr">
      <vt:lpstr>Arial</vt:lpstr>
      <vt:lpstr>Calibri</vt:lpstr>
      <vt:lpstr>Carlito</vt:lpstr>
      <vt:lpstr>Century Gothic</vt:lpstr>
      <vt:lpstr>Consolas</vt:lpstr>
      <vt:lpstr>DejaVu Sans</vt:lpstr>
      <vt:lpstr>Segoe UI</vt:lpstr>
      <vt:lpstr>Verdana</vt:lpstr>
      <vt:lpstr>Wingdings</vt:lpstr>
      <vt:lpstr>Wingdings 3</vt:lpstr>
      <vt:lpstr>Wisp</vt:lpstr>
      <vt:lpstr>Enumerations, Autoboxing, and Annotations</vt:lpstr>
      <vt:lpstr>Enumerations</vt:lpstr>
      <vt:lpstr>Introduction</vt:lpstr>
      <vt:lpstr>Enumeration Fundamentals</vt:lpstr>
      <vt:lpstr>You can also have an enum inside class: </vt:lpstr>
      <vt:lpstr>Switch staement</vt:lpstr>
      <vt:lpstr>Difference between Enums and Classes </vt:lpstr>
      <vt:lpstr>The values( ) and valueOf( ) Methods</vt:lpstr>
      <vt:lpstr>PowerPoint Presentation</vt:lpstr>
      <vt:lpstr>PowerPoint Presentation</vt:lpstr>
      <vt:lpstr>PowerPoint Presentation</vt:lpstr>
      <vt:lpstr>PowerPoint Presentation</vt:lpstr>
      <vt:lpstr>Java Enumerations Are Class Types</vt:lpstr>
      <vt:lpstr>Autoboxing</vt:lpstr>
      <vt:lpstr>Introduction</vt:lpstr>
      <vt:lpstr>Demonstrate autoboxing/unboxing</vt:lpstr>
      <vt:lpstr>Autoboxing and Methods</vt:lpstr>
      <vt:lpstr>Annotations (Metadata)</vt:lpstr>
      <vt:lpstr>Annotation Basics</vt:lpstr>
      <vt:lpstr>The Built-In Annotations</vt:lpstr>
      <vt:lpstr>PowerPoint Presentation</vt:lpstr>
      <vt:lpstr>I/O Basics</vt:lpstr>
      <vt:lpstr>The Predefined Streams</vt:lpstr>
      <vt:lpstr>BufferedReader to read characters from the console</vt:lpstr>
      <vt:lpstr>PowerPoint Presentation</vt:lpstr>
      <vt:lpstr>Writing Console Output</vt:lpstr>
      <vt:lpstr>Generics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Output:</vt:lpstr>
      <vt:lpstr>A Generic Class with Two Type Parameters</vt:lpstr>
      <vt:lpstr>PowerPoint Presentation</vt:lpstr>
      <vt:lpstr>PowerPoint Presentation</vt:lpstr>
      <vt:lpstr>PowerPoint Presentation</vt:lpstr>
      <vt:lpstr>Output:</vt:lpstr>
      <vt:lpstr>The General Form of a Generic Class</vt:lpstr>
      <vt:lpstr>String Handling</vt:lpstr>
      <vt:lpstr>String class</vt:lpstr>
      <vt:lpstr>Creating Strings</vt:lpstr>
      <vt:lpstr>String Operations(1)</vt:lpstr>
      <vt:lpstr>String Operations(2)</vt:lpstr>
      <vt:lpstr>String Operations(3)</vt:lpstr>
      <vt:lpstr>String Operations(4)</vt:lpstr>
      <vt:lpstr>Program on String class</vt:lpstr>
      <vt:lpstr>String methods</vt:lpstr>
      <vt:lpstr>StringBuffer</vt:lpstr>
      <vt:lpstr>StringBuffer Operations(1)</vt:lpstr>
      <vt:lpstr>StringBuffer Operations(2)</vt:lpstr>
      <vt:lpstr>StringBuffer Operations(3)</vt:lpstr>
      <vt:lpstr>StringBuffer Operations(4)</vt:lpstr>
      <vt:lpstr>StringBuffer Operations(5)</vt:lpstr>
      <vt:lpstr>StringBuffer Operations(6)</vt:lpstr>
      <vt:lpstr>StringBuffer Operations(7)</vt:lpstr>
      <vt:lpstr>Example : StringBuffer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ganga holi</cp:lastModifiedBy>
  <cp:revision>3</cp:revision>
  <dcterms:created xsi:type="dcterms:W3CDTF">2024-12-04T03:29:36Z</dcterms:created>
  <dcterms:modified xsi:type="dcterms:W3CDTF">2024-12-05T13:02:24Z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2022-10-07T00:00:00Z</vt:filetime>
  </property>
  <property fmtid="{D5CDD505-2E9C-101B-9397-08002B2CF9AE}" pid="3" name="Creator">
    <vt:lpwstr>Microsoft® PowerPoint® 2013</vt:lpwstr>
  </property>
  <property fmtid="{D5CDD505-2E9C-101B-9397-08002B2CF9AE}" pid="4" name="LastSaved">
    <vt:filetime>2024-12-04T00:00:00Z</vt:filetime>
  </property>
  <property fmtid="{D5CDD505-2E9C-101B-9397-08002B2CF9AE}" pid="5" name="Producer">
    <vt:lpwstr>3-Heights(TM) PDF Security Shell 4.8.25.2 (http://www.pdf-tools.com)</vt:lpwstr>
  </property>
</Properties>
</file>