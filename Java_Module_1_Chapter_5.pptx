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0" r:id="rId42"/>
    <p:sldId id="296" r:id="rId43"/>
    <p:sldId id="297" r:id="rId44"/>
    <p:sldId id="298" r:id="rId45"/>
    <p:sldId id="301" r:id="rId46"/>
    <p:sldId id="302" r:id="rId47"/>
    <p:sldId id="303" r:id="rId48"/>
    <p:sldId id="304" r:id="rId49"/>
    <p:sldId id="299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43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9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14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49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55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7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4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0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90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8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0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782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146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6858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68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6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64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C87B4-9484-4861-B4F8-17D230F2A026}" type="datetimeFigureOut">
              <a:rPr lang="en-IN" smtClean="0"/>
              <a:t>06-09-2024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F7B1D4-F75E-46B9-806F-AFB5D4739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5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for-each-loo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program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C2F-B4B2-7DF3-8150-527D23627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978" y="842683"/>
            <a:ext cx="9908894" cy="3163734"/>
          </a:xfrm>
        </p:spPr>
        <p:txBody>
          <a:bodyPr>
            <a:normAutofit/>
          </a:bodyPr>
          <a:lstStyle/>
          <a:p>
            <a:r>
              <a:rPr lang="en-IN" b="1" dirty="0"/>
              <a:t>OOP</a:t>
            </a:r>
            <a:r>
              <a:rPr lang="en-IN" sz="4800" b="1" dirty="0"/>
              <a:t>s  with Java</a:t>
            </a:r>
            <a:br>
              <a:rPr lang="en-IN" sz="4800" b="1" dirty="0"/>
            </a:br>
            <a:r>
              <a:rPr lang="en-IN" sz="4800" b="1" dirty="0"/>
              <a:t>Chapter 5</a:t>
            </a:r>
            <a:br>
              <a:rPr lang="en-IN" sz="4800" b="1" dirty="0"/>
            </a:br>
            <a:r>
              <a:rPr lang="en-IN" sz="4800" b="1" dirty="0"/>
              <a:t>Control statements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A476A-7C1D-BE23-D0F4-71547039F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 err="1"/>
              <a:t>Dr.</a:t>
            </a:r>
            <a:r>
              <a:rPr lang="en-IN" sz="2800" b="1" dirty="0"/>
              <a:t> Ganga Holi </a:t>
            </a:r>
          </a:p>
          <a:p>
            <a:r>
              <a:rPr lang="en-IN" sz="2800" b="1" dirty="0"/>
              <a:t>Professor &amp; Head, Dept of CSE(ICB)</a:t>
            </a:r>
          </a:p>
        </p:txBody>
      </p:sp>
    </p:spTree>
    <p:extLst>
      <p:ext uri="{BB962C8B-B14F-4D97-AF65-F5344CB8AC3E}">
        <p14:creationId xmlns:p14="http://schemas.microsoft.com/office/powerpoint/2010/main" val="157561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6F49-B560-7FB2-82DC-5AE89BDD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Control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9DA6-6151-E871-8ABE-5BA40C9C4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462" y="1805354"/>
            <a:ext cx="9238150" cy="410586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A programming language uses </a:t>
            </a:r>
            <a:r>
              <a:rPr lang="en-IN" sz="2400" b="0" i="1" u="none" strike="noStrike" baseline="0" dirty="0">
                <a:latin typeface="NewBaskervilleStd-Italic"/>
              </a:rPr>
              <a:t>control </a:t>
            </a:r>
            <a:r>
              <a:rPr lang="en-IN" sz="2400" b="0" i="0" u="none" strike="noStrike" baseline="0" dirty="0">
                <a:latin typeface="NewBaskervilleStd-Roman"/>
              </a:rPr>
              <a:t>statements to cause the flow of execution to advance and branch based on changes to the state of a program*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Java’s program control statements can be put into the following categories: </a:t>
            </a:r>
            <a:r>
              <a:rPr lang="en-IN" sz="2400" b="1" i="0" u="none" strike="noStrike" baseline="0" dirty="0">
                <a:latin typeface="NewBaskervilleStd-Roman"/>
              </a:rPr>
              <a:t>selection, iteration, and jump</a:t>
            </a:r>
          </a:p>
          <a:p>
            <a:pPr algn="l"/>
            <a:r>
              <a:rPr lang="en-IN" sz="2800" b="1" i="1" u="none" strike="noStrike" baseline="0" dirty="0">
                <a:solidFill>
                  <a:srgbClr val="C00000"/>
                </a:solidFill>
                <a:latin typeface="NewBaskervilleStd-Italic"/>
              </a:rPr>
              <a:t>Selection </a:t>
            </a:r>
            <a:r>
              <a:rPr lang="en-IN" sz="2800" b="1" i="0" u="none" strike="noStrike" baseline="0" dirty="0">
                <a:solidFill>
                  <a:srgbClr val="C00000"/>
                </a:solidFill>
                <a:latin typeface="NewBaskervilleStd-Roman"/>
              </a:rPr>
              <a:t>statements : </a:t>
            </a:r>
            <a:r>
              <a:rPr lang="en-IN" sz="2400" b="0" i="0" u="none" strike="noStrike" baseline="0" dirty="0">
                <a:latin typeface="NewBaskervilleStd-Roman"/>
              </a:rPr>
              <a:t>allow your program to choose different paths of execution based upon the outcome of an expression or the state of a variable* </a:t>
            </a:r>
          </a:p>
          <a:p>
            <a:pPr algn="l"/>
            <a:r>
              <a:rPr lang="en-IN" sz="2800" b="1" i="1" u="none" strike="noStrike" baseline="0" dirty="0">
                <a:solidFill>
                  <a:srgbClr val="C00000"/>
                </a:solidFill>
                <a:latin typeface="NewBaskervilleStd-Italic"/>
              </a:rPr>
              <a:t>Iteration </a:t>
            </a:r>
            <a:r>
              <a:rPr lang="en-IN" sz="2800" b="1" i="1" u="none" strike="noStrike" baseline="0" dirty="0">
                <a:solidFill>
                  <a:srgbClr val="C00000"/>
                </a:solidFill>
                <a:latin typeface="NewBaskervilleStd-Roman"/>
              </a:rPr>
              <a:t>statements</a:t>
            </a:r>
            <a:r>
              <a:rPr lang="en-IN" sz="2400" b="0" i="0" u="none" strike="noStrike" baseline="0" dirty="0">
                <a:latin typeface="NewBaskervilleStd-Roman"/>
              </a:rPr>
              <a:t> enable program execution to repeat one or more statements (that is, iteration statements form loops)* </a:t>
            </a:r>
          </a:p>
          <a:p>
            <a:pPr algn="l"/>
            <a:r>
              <a:rPr lang="en-IN" sz="2800" b="1" i="1" u="none" strike="noStrike" baseline="0" dirty="0">
                <a:solidFill>
                  <a:srgbClr val="C00000"/>
                </a:solidFill>
                <a:latin typeface="NewBaskervilleStd-Italic"/>
              </a:rPr>
              <a:t>Jump </a:t>
            </a:r>
            <a:r>
              <a:rPr lang="en-IN" sz="2800" b="1" i="1" u="none" strike="noStrike" baseline="0" dirty="0">
                <a:solidFill>
                  <a:srgbClr val="C00000"/>
                </a:solidFill>
                <a:latin typeface="NewBaskervilleStd-Roman"/>
              </a:rPr>
              <a:t>statements</a:t>
            </a:r>
            <a:r>
              <a:rPr lang="en-IN" sz="2400" b="0" i="0" u="none" strike="noStrike" baseline="0" dirty="0">
                <a:latin typeface="NewBaskervilleStd-Roman"/>
              </a:rPr>
              <a:t> allow your program to execute in a nonlinear fashion*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8572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D637-5977-BF0D-DB93-70021D70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1" u="none" strike="noStrike" baseline="0" dirty="0">
                <a:solidFill>
                  <a:srgbClr val="C00000"/>
                </a:solidFill>
                <a:latin typeface="NewBaskervilleStd-Italic"/>
              </a:rPr>
              <a:t>Selection </a:t>
            </a:r>
            <a:r>
              <a:rPr lang="en-IN" sz="3600" b="1" i="0" u="none" strike="noStrike" baseline="0" dirty="0">
                <a:solidFill>
                  <a:srgbClr val="C00000"/>
                </a:solidFill>
                <a:latin typeface="NewBaskervilleStd-Roman"/>
              </a:rPr>
              <a:t>statements - </a:t>
            </a:r>
            <a:r>
              <a:rPr lang="en-IN" sz="3600" b="1" i="0" u="none" strike="noStrike" baseline="0" dirty="0">
                <a:latin typeface="NewBaskervilleStd-Bold"/>
              </a:rPr>
              <a:t>if </a:t>
            </a:r>
            <a:r>
              <a:rPr lang="en-IN" sz="3600" b="0" i="0" u="none" strike="noStrike" baseline="0" dirty="0">
                <a:latin typeface="NewBaskervilleStd-Roman"/>
              </a:rPr>
              <a:t>and </a:t>
            </a:r>
            <a:r>
              <a:rPr lang="en-IN" sz="3600" b="1" i="0" u="none" strike="noStrike" baseline="0" dirty="0">
                <a:latin typeface="NewBaskervilleStd-Bold"/>
              </a:rPr>
              <a:t>switch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45F16E-260E-ADE4-8656-25653B4E1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735" y="1540188"/>
            <a:ext cx="8915400" cy="5141965"/>
          </a:xfrm>
        </p:spPr>
        <p:txBody>
          <a:bodyPr>
            <a:norm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The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statement is Java’s conditional branch statement* It can be used to route program execution through two different paths* Here is the general form of the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statement: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if (</a:t>
            </a:r>
            <a:r>
              <a:rPr lang="en-IN" sz="2400" b="0" i="1" u="none" strike="noStrike" baseline="0" dirty="0">
                <a:latin typeface="NewBaskervilleStd-Italic"/>
              </a:rPr>
              <a:t>condition</a:t>
            </a:r>
            <a:r>
              <a:rPr lang="en-IN" sz="2400" b="0" i="0" u="none" strike="noStrike" baseline="0" dirty="0">
                <a:latin typeface="NewBaskervilleStd-Roman"/>
              </a:rPr>
              <a:t>) </a:t>
            </a:r>
            <a:r>
              <a:rPr lang="en-IN" sz="2400" b="0" i="1" u="none" strike="noStrike" baseline="0" dirty="0">
                <a:latin typeface="NewBaskervilleStd-Italic"/>
              </a:rPr>
              <a:t>statement1</a:t>
            </a:r>
            <a:r>
              <a:rPr lang="en-IN" sz="2400" b="0" i="0" u="none" strike="noStrike" baseline="0" dirty="0">
                <a:latin typeface="NewBaskervilleStd-Roman"/>
              </a:rPr>
              <a:t>;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else </a:t>
            </a:r>
            <a:r>
              <a:rPr lang="en-IN" sz="2400" b="0" i="1" u="none" strike="noStrike" baseline="0" dirty="0">
                <a:latin typeface="NewBaskervilleStd-Italic"/>
              </a:rPr>
              <a:t>statement2</a:t>
            </a:r>
            <a:r>
              <a:rPr lang="en-IN" sz="2400" b="0" i="0" u="none" strike="noStrike" baseline="0" dirty="0">
                <a:latin typeface="NewBaskervilleStd-Roman"/>
              </a:rPr>
              <a:t>;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Here, each </a:t>
            </a:r>
            <a:r>
              <a:rPr lang="en-IN" sz="2400" b="0" i="1" u="none" strike="noStrike" baseline="0" dirty="0">
                <a:latin typeface="NewBaskervilleStd-Italic"/>
              </a:rPr>
              <a:t>statement </a:t>
            </a:r>
            <a:r>
              <a:rPr lang="en-IN" sz="2400" b="0" i="0" u="none" strike="noStrike" baseline="0" dirty="0">
                <a:latin typeface="NewBaskervilleStd-Roman"/>
              </a:rPr>
              <a:t>may be a single statement or a compound statement enclosed in curly braces (that is, a </a:t>
            </a:r>
            <a:r>
              <a:rPr lang="en-IN" sz="2400" b="0" i="1" u="none" strike="noStrike" baseline="0" dirty="0">
                <a:latin typeface="NewBaskervilleStd-Italic"/>
              </a:rPr>
              <a:t>block</a:t>
            </a:r>
            <a:r>
              <a:rPr lang="en-IN" sz="2400" b="0" i="0" u="none" strike="noStrike" baseline="0" dirty="0">
                <a:latin typeface="NewBaskervilleStd-Roman"/>
              </a:rPr>
              <a:t>)* The </a:t>
            </a:r>
            <a:r>
              <a:rPr lang="en-IN" sz="2400" b="0" i="1" u="none" strike="noStrike" baseline="0" dirty="0">
                <a:latin typeface="NewBaskervilleStd-Italic"/>
              </a:rPr>
              <a:t>condition </a:t>
            </a:r>
            <a:r>
              <a:rPr lang="en-IN" sz="2400" b="0" i="0" u="none" strike="noStrike" baseline="0" dirty="0">
                <a:latin typeface="NewBaskervilleStd-Roman"/>
              </a:rPr>
              <a:t>is any expression that returns a </a:t>
            </a:r>
            <a:r>
              <a:rPr lang="en-IN" sz="2400" b="1" i="0" u="none" strike="noStrike" baseline="0" dirty="0" err="1">
                <a:latin typeface="NewBaskervilleStd-Bold"/>
              </a:rPr>
              <a:t>boolean</a:t>
            </a:r>
            <a:r>
              <a:rPr lang="en-IN" sz="2400" b="1" i="0" u="none" strike="noStrike" baseline="0" dirty="0">
                <a:latin typeface="NewBaskervilleStd-Bold"/>
              </a:rPr>
              <a:t> </a:t>
            </a:r>
            <a:r>
              <a:rPr lang="en-IN" sz="2400" b="0" i="0" u="none" strike="noStrike" baseline="0" dirty="0">
                <a:latin typeface="NewBaskervilleStd-Roman"/>
              </a:rPr>
              <a:t>value* The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clause is optional*</a:t>
            </a:r>
          </a:p>
        </p:txBody>
      </p:sp>
    </p:spTree>
    <p:extLst>
      <p:ext uri="{BB962C8B-B14F-4D97-AF65-F5344CB8AC3E}">
        <p14:creationId xmlns:p14="http://schemas.microsoft.com/office/powerpoint/2010/main" val="135377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69C3-8653-711F-833F-31CC4A14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4844"/>
          </a:xfrm>
        </p:spPr>
        <p:txBody>
          <a:bodyPr/>
          <a:lstStyle/>
          <a:p>
            <a:r>
              <a:rPr lang="en-IN" dirty="0"/>
              <a:t>If – selection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DE481-A1CF-7072-34A1-803560B6C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8954"/>
            <a:ext cx="8915400" cy="4512268"/>
          </a:xfrm>
        </p:spPr>
        <p:txBody>
          <a:bodyPr/>
          <a:lstStyle/>
          <a:p>
            <a:pPr algn="l"/>
            <a:r>
              <a:rPr lang="en-IN" sz="1800" b="0" i="0" u="none" strike="noStrike" baseline="0" dirty="0">
                <a:latin typeface="NewBaskervilleStd-Roman"/>
              </a:rPr>
              <a:t>The </a:t>
            </a:r>
            <a:r>
              <a:rPr lang="en-IN" sz="1800" b="1" i="0" u="none" strike="noStrike" baseline="0" dirty="0">
                <a:latin typeface="NewBaskervilleStd-Bold"/>
              </a:rPr>
              <a:t>if </a:t>
            </a:r>
            <a:r>
              <a:rPr lang="en-IN" sz="1800" b="0" i="0" u="none" strike="noStrike" baseline="0" dirty="0">
                <a:latin typeface="NewBaskervilleStd-Roman"/>
              </a:rPr>
              <a:t>works like this: If the </a:t>
            </a:r>
            <a:r>
              <a:rPr lang="en-IN" sz="1800" b="0" i="1" u="none" strike="noStrike" baseline="0" dirty="0">
                <a:latin typeface="NewBaskervilleStd-Italic"/>
              </a:rPr>
              <a:t>condition </a:t>
            </a:r>
            <a:r>
              <a:rPr lang="en-IN" sz="1800" b="0" i="0" u="none" strike="noStrike" baseline="0" dirty="0">
                <a:latin typeface="NewBaskervilleStd-Roman"/>
              </a:rPr>
              <a:t>is true, then </a:t>
            </a:r>
            <a:r>
              <a:rPr lang="en-IN" sz="1800" b="0" i="1" u="none" strike="noStrike" baseline="0" dirty="0">
                <a:latin typeface="NewBaskervilleStd-Italic"/>
              </a:rPr>
              <a:t>statement1 </a:t>
            </a:r>
            <a:r>
              <a:rPr lang="en-IN" sz="1800" b="0" i="0" u="none" strike="noStrike" baseline="0" dirty="0">
                <a:latin typeface="NewBaskervilleStd-Roman"/>
              </a:rPr>
              <a:t>is executed* </a:t>
            </a:r>
          </a:p>
          <a:p>
            <a:pPr algn="l"/>
            <a:r>
              <a:rPr lang="en-IN" sz="1800" b="0" i="0" u="none" strike="noStrike" baseline="0" dirty="0">
                <a:latin typeface="NewBaskervilleStd-Roman"/>
              </a:rPr>
              <a:t>Otherwise, </a:t>
            </a:r>
            <a:r>
              <a:rPr lang="en-IN" sz="1800" b="0" i="1" u="none" strike="noStrike" baseline="0" dirty="0">
                <a:latin typeface="NewBaskervilleStd-Italic"/>
              </a:rPr>
              <a:t>statement2 </a:t>
            </a:r>
            <a:r>
              <a:rPr lang="en-IN" sz="1800" b="0" i="0" u="none" strike="noStrike" baseline="0" dirty="0">
                <a:latin typeface="NewBaskervilleStd-Roman"/>
              </a:rPr>
              <a:t>(if it exists) is executed* </a:t>
            </a:r>
          </a:p>
          <a:p>
            <a:pPr algn="l"/>
            <a:r>
              <a:rPr lang="en-IN" sz="1800" b="0" i="0" u="none" strike="noStrike" baseline="0" dirty="0">
                <a:latin typeface="NewBaskervilleStd-Roman"/>
              </a:rPr>
              <a:t>In no case will both statements be executed* For example, consider the following:</a:t>
            </a:r>
            <a:endParaRPr lang="en-IN" sz="2400" b="0" i="0" u="none" strike="noStrike" baseline="0" dirty="0">
              <a:latin typeface="NewBaskervilleStd-Roman"/>
            </a:endParaRP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int a, b;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//***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if(a &lt; b) a = 0;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else b = 0;</a:t>
            </a:r>
            <a:endParaRPr lang="en-IN" sz="28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66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B8F2-5425-C61A-0027-2584D435D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090" y="187569"/>
            <a:ext cx="8915400" cy="6518031"/>
          </a:xfrm>
        </p:spPr>
        <p:txBody>
          <a:bodyPr>
            <a:noAutofit/>
          </a:bodyPr>
          <a:lstStyle/>
          <a:p>
            <a:pPr algn="l"/>
            <a:r>
              <a:rPr lang="en-IN" b="0" i="0" u="none" strike="noStrike" baseline="0" dirty="0">
                <a:latin typeface="NewBaskervilleStd-Roman"/>
              </a:rPr>
              <a:t>It is possible to control the </a:t>
            </a:r>
            <a:r>
              <a:rPr lang="en-IN" b="1" i="0" u="none" strike="noStrike" baseline="0" dirty="0">
                <a:latin typeface="NewBaskervilleStd-Bold"/>
              </a:rPr>
              <a:t>if </a:t>
            </a:r>
            <a:r>
              <a:rPr lang="en-IN" b="0" i="0" u="none" strike="noStrike" baseline="0" dirty="0">
                <a:latin typeface="NewBaskervilleStd-Roman"/>
              </a:rPr>
              <a:t>using a single </a:t>
            </a:r>
            <a:r>
              <a:rPr lang="en-IN" b="1" i="0" u="none" strike="noStrike" baseline="0" dirty="0">
                <a:latin typeface="NewBaskervilleStd-Bold"/>
              </a:rPr>
              <a:t>Boolean </a:t>
            </a:r>
            <a:r>
              <a:rPr lang="en-IN" b="0" i="0" u="none" strike="noStrike" baseline="0" dirty="0">
                <a:latin typeface="NewBaskervilleStd-Roman"/>
              </a:rPr>
              <a:t>variable, as shown in this code fragment: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boolean</a:t>
            </a:r>
            <a:r>
              <a:rPr lang="en-IN" b="1" i="0" u="none" strike="noStrike" baseline="0" dirty="0">
                <a:latin typeface="CourierStd"/>
              </a:rPr>
              <a:t> </a:t>
            </a:r>
            <a:r>
              <a:rPr lang="en-IN" b="1" i="0" u="none" strike="noStrike" baseline="0" dirty="0" err="1">
                <a:latin typeface="CourierStd"/>
              </a:rPr>
              <a:t>dataAvailable</a:t>
            </a:r>
            <a:r>
              <a:rPr lang="en-IN" b="1" i="0" u="none" strike="noStrike" baseline="0" dirty="0">
                <a:latin typeface="CourierStd"/>
              </a:rPr>
              <a:t>;</a:t>
            </a:r>
          </a:p>
          <a:p>
            <a:pPr marL="0" indent="0" algn="l">
              <a:buNone/>
            </a:pPr>
            <a:r>
              <a:rPr lang="en-IN" b="1" i="0" u="none" strike="noStrike" baseline="0" dirty="0">
                <a:latin typeface="CourierStd"/>
              </a:rPr>
              <a:t>if (</a:t>
            </a:r>
            <a:r>
              <a:rPr lang="en-IN" b="1" i="0" u="none" strike="noStrike" baseline="0" dirty="0" err="1">
                <a:latin typeface="CourierStd"/>
              </a:rPr>
              <a:t>dataAvailable</a:t>
            </a:r>
            <a:r>
              <a:rPr lang="en-IN" b="1" i="0" u="none" strike="noStrike" baseline="0" dirty="0">
                <a:latin typeface="CourierStd"/>
              </a:rPr>
              <a:t>)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ProcessData</a:t>
            </a:r>
            <a:r>
              <a:rPr lang="en-IN" b="1" i="0" u="none" strike="noStrike" baseline="0" dirty="0">
                <a:latin typeface="CourierStd"/>
              </a:rPr>
              <a:t>();</a:t>
            </a:r>
          </a:p>
          <a:p>
            <a:pPr marL="0" indent="0" algn="l">
              <a:buNone/>
            </a:pPr>
            <a:r>
              <a:rPr lang="en-IN" b="1" i="0" u="none" strike="noStrike" baseline="0" dirty="0">
                <a:latin typeface="CourierStd"/>
              </a:rPr>
              <a:t>else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waitForMoreData</a:t>
            </a:r>
            <a:r>
              <a:rPr lang="en-IN" b="1" i="0" u="none" strike="noStrike" baseline="0" dirty="0">
                <a:latin typeface="CourierStd"/>
              </a:rPr>
              <a:t>();</a:t>
            </a:r>
          </a:p>
          <a:p>
            <a:pPr algn="l"/>
            <a:r>
              <a:rPr lang="en-IN" b="0" i="0" u="none" strike="noStrike" baseline="0" dirty="0">
                <a:latin typeface="NewBaskervilleStd-Roman"/>
              </a:rPr>
              <a:t>Remember, only one statement can appear directly after the </a:t>
            </a:r>
            <a:r>
              <a:rPr lang="en-IN" b="1" i="0" u="none" strike="noStrike" baseline="0" dirty="0">
                <a:latin typeface="NewBaskervilleStd-Bold"/>
              </a:rPr>
              <a:t>if </a:t>
            </a:r>
            <a:r>
              <a:rPr lang="en-IN" b="0" i="0" u="none" strike="noStrike" baseline="0" dirty="0">
                <a:latin typeface="NewBaskervilleStd-Roman"/>
              </a:rPr>
              <a:t>or the </a:t>
            </a:r>
            <a:r>
              <a:rPr lang="en-IN" b="1" i="0" u="none" strike="noStrike" baseline="0" dirty="0">
                <a:latin typeface="NewBaskervilleStd-Bold"/>
              </a:rPr>
              <a:t>else</a:t>
            </a:r>
            <a:r>
              <a:rPr lang="en-IN" b="0" i="0" u="none" strike="noStrike" baseline="0" dirty="0">
                <a:latin typeface="NewBaskervilleStd-Roman"/>
              </a:rPr>
              <a:t>* If you want to </a:t>
            </a:r>
            <a:r>
              <a:rPr lang="en-IN" b="0" i="0" u="none" strike="noStrike" baseline="0" dirty="0" err="1">
                <a:latin typeface="NewBaskervilleStd-Roman"/>
              </a:rPr>
              <a:t>ainclude</a:t>
            </a:r>
            <a:r>
              <a:rPr lang="en-IN" b="0" i="0" u="none" strike="noStrike" baseline="0" dirty="0">
                <a:latin typeface="NewBaskervilleStd-Roman"/>
              </a:rPr>
              <a:t> more statements, you’ll need to create a block, as in this fragment:</a:t>
            </a:r>
          </a:p>
          <a:p>
            <a:pPr marL="0" indent="0" algn="l">
              <a:buNone/>
            </a:pPr>
            <a:r>
              <a:rPr lang="en-IN" b="1" i="0" u="none" strike="noStrike" baseline="0" dirty="0">
                <a:latin typeface="CourierStd"/>
              </a:rPr>
              <a:t>int </a:t>
            </a:r>
            <a:r>
              <a:rPr lang="en-IN" b="1" i="0" u="none" strike="noStrike" baseline="0" dirty="0" err="1">
                <a:latin typeface="CourierStd"/>
              </a:rPr>
              <a:t>bytesAvailable</a:t>
            </a:r>
            <a:r>
              <a:rPr lang="en-IN" b="1" i="0" u="none" strike="noStrike" baseline="0" dirty="0">
                <a:latin typeface="CourierStd"/>
              </a:rPr>
              <a:t>;</a:t>
            </a:r>
          </a:p>
          <a:p>
            <a:pPr marL="0" indent="0" algn="l">
              <a:buNone/>
            </a:pPr>
            <a:r>
              <a:rPr lang="en-IN" b="1" i="0" u="none" strike="noStrike" baseline="0" dirty="0">
                <a:latin typeface="CourierStd"/>
              </a:rPr>
              <a:t>if (</a:t>
            </a:r>
            <a:r>
              <a:rPr lang="en-IN" b="1" i="0" u="none" strike="noStrike" baseline="0" dirty="0" err="1">
                <a:latin typeface="CourierStd"/>
              </a:rPr>
              <a:t>bytesAvailable</a:t>
            </a:r>
            <a:r>
              <a:rPr lang="en-IN" b="1" i="0" u="none" strike="noStrike" baseline="0" dirty="0">
                <a:latin typeface="CourierStd"/>
              </a:rPr>
              <a:t> &gt; 0) {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ProcessData</a:t>
            </a:r>
            <a:r>
              <a:rPr lang="en-IN" b="1" i="0" u="none" strike="noStrike" baseline="0" dirty="0">
                <a:latin typeface="CourierStd"/>
              </a:rPr>
              <a:t>();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bytesAvailable</a:t>
            </a:r>
            <a:r>
              <a:rPr lang="en-IN" b="1" i="0" u="none" strike="noStrike" baseline="0" dirty="0">
                <a:latin typeface="CourierStd"/>
              </a:rPr>
              <a:t> -= n;</a:t>
            </a:r>
          </a:p>
          <a:p>
            <a:pPr marL="0" indent="0" algn="l">
              <a:buNone/>
            </a:pPr>
            <a:r>
              <a:rPr lang="en-IN" b="1" i="0" u="none" strike="noStrike" baseline="0" dirty="0">
                <a:latin typeface="CourierStd"/>
              </a:rPr>
              <a:t>} else</a:t>
            </a:r>
          </a:p>
          <a:p>
            <a:pPr marL="0" indent="0" algn="l">
              <a:buNone/>
            </a:pPr>
            <a:r>
              <a:rPr lang="en-IN" b="1" i="0" u="none" strike="noStrike" baseline="0" dirty="0" err="1">
                <a:latin typeface="CourierStd"/>
              </a:rPr>
              <a:t>waitForMoreData</a:t>
            </a:r>
            <a:r>
              <a:rPr lang="en-IN" b="1" i="0" u="none" strike="noStrike" baseline="0" dirty="0">
                <a:latin typeface="CourierStd"/>
              </a:rPr>
              <a:t>();</a:t>
            </a:r>
          </a:p>
          <a:p>
            <a:pPr algn="l"/>
            <a:r>
              <a:rPr lang="en-IN" b="0" i="0" u="none" strike="noStrike" baseline="0" dirty="0">
                <a:latin typeface="NewBaskervilleStd-Roman"/>
              </a:rPr>
              <a:t>Here, both statements within the </a:t>
            </a:r>
            <a:r>
              <a:rPr lang="en-IN" b="1" i="0" u="none" strike="noStrike" baseline="0" dirty="0">
                <a:latin typeface="NewBaskervilleStd-Bold"/>
              </a:rPr>
              <a:t>if </a:t>
            </a:r>
            <a:r>
              <a:rPr lang="en-IN" b="0" i="0" u="none" strike="noStrike" baseline="0" dirty="0">
                <a:latin typeface="NewBaskervilleStd-Roman"/>
              </a:rPr>
              <a:t>block will execute if </a:t>
            </a:r>
            <a:r>
              <a:rPr lang="en-IN" b="1" i="0" u="none" strike="noStrike" baseline="0" dirty="0" err="1">
                <a:latin typeface="NewBaskervilleStd-Bold"/>
              </a:rPr>
              <a:t>bytesAvailable</a:t>
            </a:r>
            <a:r>
              <a:rPr lang="en-IN" b="1" i="0" u="none" strike="noStrike" baseline="0" dirty="0">
                <a:latin typeface="NewBaskervilleStd-Bold"/>
              </a:rPr>
              <a:t> </a:t>
            </a:r>
            <a:r>
              <a:rPr lang="en-IN" b="0" i="0" u="none" strike="noStrike" baseline="0" dirty="0">
                <a:latin typeface="NewBaskervilleStd-Roman"/>
              </a:rPr>
              <a:t>is greater than zero*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8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2748-9152-A9C7-9746-8BEF7CA57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621" y="336884"/>
            <a:ext cx="11148441" cy="6521116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400" b="1" i="0" u="none" strike="noStrike" baseline="0" dirty="0">
                <a:latin typeface="DINMittelEFOP-Bold"/>
              </a:rPr>
              <a:t>Nested ifs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A </a:t>
            </a:r>
            <a:r>
              <a:rPr lang="en-IN" sz="2400" b="0" i="1" u="none" strike="noStrike" baseline="0" dirty="0">
                <a:latin typeface="NewBaskervilleStd-Italic"/>
              </a:rPr>
              <a:t>nested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is an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statement that is the target of another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or </a:t>
            </a:r>
            <a:r>
              <a:rPr lang="en-IN" sz="2400" b="1" i="0" u="none" strike="noStrike" baseline="0" dirty="0">
                <a:latin typeface="NewBaskervilleStd-Bold"/>
              </a:rPr>
              <a:t>else</a:t>
            </a:r>
            <a:r>
              <a:rPr lang="en-IN" sz="2400" b="0" i="0" u="none" strike="noStrike" baseline="0" dirty="0">
                <a:latin typeface="NewBaskervilleStd-Roman"/>
              </a:rPr>
              <a:t>* Nested </a:t>
            </a:r>
            <a:r>
              <a:rPr lang="en-IN" sz="2400" b="1" i="0" u="none" strike="noStrike" baseline="0" dirty="0">
                <a:latin typeface="NewBaskervilleStd-Bold"/>
              </a:rPr>
              <a:t>if</a:t>
            </a:r>
            <a:r>
              <a:rPr lang="en-IN" sz="2400" b="0" i="0" u="none" strike="noStrike" baseline="0" dirty="0">
                <a:latin typeface="NewBaskervilleStd-Roman"/>
              </a:rPr>
              <a:t>s are very common in programming* When you nest </a:t>
            </a:r>
            <a:r>
              <a:rPr lang="en-IN" sz="2400" b="1" i="0" u="none" strike="noStrike" baseline="0" dirty="0">
                <a:latin typeface="NewBaskervilleStd-Bold"/>
              </a:rPr>
              <a:t>if</a:t>
            </a:r>
            <a:r>
              <a:rPr lang="en-IN" sz="2400" b="0" i="0" u="none" strike="noStrike" baseline="0" dirty="0">
                <a:latin typeface="NewBaskervilleStd-Roman"/>
              </a:rPr>
              <a:t>s, the main thing to remember is that an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statement always refers to the nearest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statement that is within the same block as the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and that is not already associated with an </a:t>
            </a:r>
            <a:r>
              <a:rPr lang="en-IN" sz="2400" b="1" i="0" u="none" strike="noStrike" baseline="0" dirty="0">
                <a:latin typeface="NewBaskervilleStd-Bold"/>
              </a:rPr>
              <a:t>else</a:t>
            </a:r>
            <a:r>
              <a:rPr lang="en-IN" sz="2400" b="0" i="0" u="none" strike="noStrike" baseline="0" dirty="0">
                <a:latin typeface="NewBaskervilleStd-Roman"/>
              </a:rPr>
              <a:t>* Here is an example: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if(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== 10)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if(j &lt; 20) a = b;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if(k &gt; 100) c = d; // this if is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else a = c; // associated with this else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else a = d; </a:t>
            </a:r>
            <a:r>
              <a:rPr lang="en-IN" sz="2400" b="0" i="0" u="none" strike="noStrike" baseline="0" dirty="0">
                <a:latin typeface="CourierStd"/>
              </a:rPr>
              <a:t>// this else refers to if(</a:t>
            </a:r>
            <a:r>
              <a:rPr lang="en-IN" sz="2400" b="0" i="0" u="none" strike="noStrike" baseline="0" dirty="0" err="1">
                <a:latin typeface="CourierStd"/>
              </a:rPr>
              <a:t>i</a:t>
            </a:r>
            <a:r>
              <a:rPr lang="en-IN" sz="2400" b="0" i="0" u="none" strike="noStrike" baseline="0" dirty="0">
                <a:latin typeface="CourierStd"/>
              </a:rPr>
              <a:t> == 10)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As the comments indicate, the final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is not associated with </a:t>
            </a:r>
            <a:r>
              <a:rPr lang="en-IN" sz="2400" b="1" i="0" u="none" strike="noStrike" baseline="0" dirty="0">
                <a:latin typeface="NewBaskervilleStd-Bold"/>
              </a:rPr>
              <a:t>if(j&lt;20) </a:t>
            </a:r>
            <a:r>
              <a:rPr lang="en-IN" sz="2400" b="0" i="0" u="none" strike="noStrike" baseline="0" dirty="0">
                <a:latin typeface="NewBaskervilleStd-Roman"/>
              </a:rPr>
              <a:t>because it is not in the same block (even though it is the nearest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without an </a:t>
            </a:r>
            <a:r>
              <a:rPr lang="en-IN" sz="2400" b="1" i="0" u="none" strike="noStrike" baseline="0" dirty="0">
                <a:latin typeface="NewBaskervilleStd-Bold"/>
              </a:rPr>
              <a:t>else</a:t>
            </a:r>
            <a:r>
              <a:rPr lang="en-IN" sz="2400" b="0" i="0" u="none" strike="noStrike" baseline="0" dirty="0">
                <a:latin typeface="NewBaskervilleStd-Roman"/>
              </a:rPr>
              <a:t>)* Rather, the final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is associated with </a:t>
            </a:r>
            <a:r>
              <a:rPr lang="en-IN" sz="2400" b="1" i="0" u="none" strike="noStrike" baseline="0" dirty="0">
                <a:latin typeface="NewBaskervilleStd-Bold"/>
              </a:rPr>
              <a:t>if(</a:t>
            </a:r>
            <a:r>
              <a:rPr lang="en-IN" sz="2400" b="1" i="0" u="none" strike="noStrike" baseline="0" dirty="0" err="1">
                <a:latin typeface="NewBaskervilleStd-Bold"/>
              </a:rPr>
              <a:t>i</a:t>
            </a:r>
            <a:r>
              <a:rPr lang="en-IN" sz="2400" b="1" i="0" u="none" strike="noStrike" baseline="0" dirty="0">
                <a:latin typeface="NewBaskervilleStd-Bold"/>
              </a:rPr>
              <a:t>==10)</a:t>
            </a:r>
            <a:r>
              <a:rPr lang="en-IN" sz="2400" b="0" i="0" u="none" strike="noStrike" baseline="0" dirty="0">
                <a:latin typeface="NewBaskervilleStd-Roman"/>
              </a:rPr>
              <a:t>* The inner </a:t>
            </a:r>
            <a:r>
              <a:rPr lang="en-IN" sz="2400" b="1" i="0" u="none" strike="noStrike" baseline="0" dirty="0">
                <a:latin typeface="NewBaskervilleStd-Bold"/>
              </a:rPr>
              <a:t>else </a:t>
            </a:r>
            <a:r>
              <a:rPr lang="en-IN" sz="2400" b="0" i="0" u="none" strike="noStrike" baseline="0" dirty="0">
                <a:latin typeface="NewBaskervilleStd-Roman"/>
              </a:rPr>
              <a:t>refers to </a:t>
            </a:r>
            <a:r>
              <a:rPr lang="en-IN" sz="2400" b="1" i="0" u="none" strike="noStrike" baseline="0" dirty="0">
                <a:latin typeface="NewBaskervilleStd-Bold"/>
              </a:rPr>
              <a:t>if(k&gt;100) </a:t>
            </a:r>
            <a:r>
              <a:rPr lang="en-IN" sz="2400" b="0" i="0" u="none" strike="noStrike" baseline="0" dirty="0">
                <a:latin typeface="NewBaskervilleStd-Roman"/>
              </a:rPr>
              <a:t>because it is the closest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within the same block*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5886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2DCE7-6422-1BBA-A157-0C885A3B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369" y="164122"/>
            <a:ext cx="10511693" cy="6791569"/>
          </a:xfrm>
        </p:spPr>
        <p:txBody>
          <a:bodyPr>
            <a:normAutofit/>
          </a:bodyPr>
          <a:lstStyle/>
          <a:p>
            <a:pPr algn="l"/>
            <a:r>
              <a:rPr lang="en-IN" sz="2000" b="1" i="0" u="none" strike="noStrike" baseline="0" dirty="0">
                <a:latin typeface="DINMittelEFOP-Bold"/>
              </a:rPr>
              <a:t>The if-else-if Ladder:   </a:t>
            </a:r>
            <a:r>
              <a:rPr lang="en-IN" sz="2000" b="0" i="0" u="none" strike="noStrike" baseline="0" dirty="0">
                <a:latin typeface="NewBaskervilleStd-Roman"/>
              </a:rPr>
              <a:t>A common programming construct that is based upon a sequence of nested </a:t>
            </a:r>
            <a:r>
              <a:rPr lang="en-IN" sz="2000" b="1" i="0" u="none" strike="noStrike" baseline="0" dirty="0">
                <a:latin typeface="NewBaskervilleStd-Bold"/>
              </a:rPr>
              <a:t>if</a:t>
            </a:r>
            <a:r>
              <a:rPr lang="en-IN" sz="2000" b="0" i="0" u="none" strike="noStrike" baseline="0" dirty="0">
                <a:latin typeface="NewBaskervilleStd-Roman"/>
              </a:rPr>
              <a:t>s is the </a:t>
            </a:r>
            <a:r>
              <a:rPr lang="en-IN" sz="2000" b="0" i="1" u="none" strike="noStrike" baseline="0" dirty="0">
                <a:latin typeface="NewBaskervilleStd-Italic"/>
              </a:rPr>
              <a:t>if-elseif </a:t>
            </a:r>
            <a:r>
              <a:rPr lang="en-IN" sz="2000" b="0" i="0" u="none" strike="noStrike" baseline="0" dirty="0">
                <a:latin typeface="NewBaskervilleStd-Roman"/>
              </a:rPr>
              <a:t>ladder* It looks like this: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if(</a:t>
            </a:r>
            <a:r>
              <a:rPr lang="en-IN" sz="2000" b="1" i="1" u="none" strike="noStrike" baseline="0" dirty="0">
                <a:latin typeface="NewBaskervilleStd-Italic"/>
              </a:rPr>
              <a:t>condition</a:t>
            </a:r>
            <a:r>
              <a:rPr lang="en-IN" sz="2000" b="1" i="0" u="none" strike="noStrike" baseline="0" dirty="0">
                <a:latin typeface="NewBaskervilleStd-Roman"/>
              </a:rPr>
              <a:t>)</a:t>
            </a:r>
          </a:p>
          <a:p>
            <a:pPr marL="0" indent="0" algn="l">
              <a:buNone/>
            </a:pPr>
            <a:r>
              <a:rPr lang="en-IN" sz="2000" b="1" i="1" u="none" strike="noStrike" baseline="0" dirty="0">
                <a:latin typeface="NewBaskervilleStd-Italic"/>
              </a:rPr>
              <a:t>      statement</a:t>
            </a:r>
            <a:r>
              <a:rPr lang="en-IN" sz="2000" b="1" i="0" u="none" strike="noStrike" baseline="0" dirty="0">
                <a:latin typeface="NewBaskervilleStd-Roman"/>
              </a:rPr>
              <a:t>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else if(</a:t>
            </a:r>
            <a:r>
              <a:rPr lang="en-IN" sz="2000" b="1" i="1" u="none" strike="noStrike" baseline="0" dirty="0">
                <a:latin typeface="NewBaskervilleStd-Italic"/>
              </a:rPr>
              <a:t>condition</a:t>
            </a:r>
            <a:r>
              <a:rPr lang="en-IN" sz="2000" b="1" i="0" u="none" strike="noStrike" baseline="0" dirty="0">
                <a:latin typeface="NewBaskervilleStd-Roman"/>
              </a:rPr>
              <a:t>)</a:t>
            </a:r>
          </a:p>
          <a:p>
            <a:pPr marL="0" indent="0" algn="l">
              <a:buNone/>
            </a:pPr>
            <a:r>
              <a:rPr lang="en-IN" sz="2000" b="1" i="1" u="none" strike="noStrike" baseline="0" dirty="0">
                <a:latin typeface="NewBaskervilleStd-Italic"/>
              </a:rPr>
              <a:t>     statement</a:t>
            </a:r>
            <a:r>
              <a:rPr lang="en-IN" sz="2000" b="1" i="0" u="none" strike="noStrike" baseline="0" dirty="0">
                <a:latin typeface="NewBaskervilleStd-Roman"/>
              </a:rPr>
              <a:t>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else if(</a:t>
            </a:r>
            <a:r>
              <a:rPr lang="en-IN" sz="2000" b="1" i="1" u="none" strike="noStrike" baseline="0" dirty="0">
                <a:latin typeface="NewBaskervilleStd-Italic"/>
              </a:rPr>
              <a:t>condition</a:t>
            </a:r>
            <a:r>
              <a:rPr lang="en-IN" sz="2000" b="1" i="0" u="none" strike="noStrike" baseline="0" dirty="0">
                <a:latin typeface="NewBaskervilleStd-Roman"/>
              </a:rPr>
              <a:t>)</a:t>
            </a:r>
          </a:p>
          <a:p>
            <a:pPr marL="0" indent="0" algn="l">
              <a:buNone/>
            </a:pPr>
            <a:r>
              <a:rPr lang="en-IN" sz="2000" b="1" i="1" u="none" strike="noStrike" baseline="0" dirty="0">
                <a:latin typeface="NewBaskervilleStd-Italic"/>
              </a:rPr>
              <a:t>     statement</a:t>
            </a:r>
            <a:r>
              <a:rPr lang="en-IN" sz="2000" b="1" i="0" u="none" strike="noStrike" baseline="0" dirty="0">
                <a:latin typeface="NewBaskervilleStd-Roman"/>
              </a:rPr>
              <a:t>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*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else</a:t>
            </a:r>
          </a:p>
          <a:p>
            <a:pPr marL="0" indent="0" algn="l">
              <a:buNone/>
            </a:pPr>
            <a:r>
              <a:rPr lang="en-IN" sz="2000" b="1" i="1" u="none" strike="noStrike" baseline="0" dirty="0">
                <a:latin typeface="NewBaskervilleStd-Italic"/>
              </a:rPr>
              <a:t>statement</a:t>
            </a:r>
            <a:r>
              <a:rPr lang="en-IN" sz="2000" b="1" i="0" u="none" strike="noStrike" baseline="0" dirty="0">
                <a:latin typeface="NewBaskervilleStd-Roman"/>
              </a:rPr>
              <a:t>;</a:t>
            </a:r>
          </a:p>
          <a:p>
            <a:pPr algn="l"/>
            <a:r>
              <a:rPr lang="en-IN" sz="2000" b="0" i="0" u="none" strike="noStrike" baseline="0" dirty="0">
                <a:latin typeface="NewBaskervilleStd-Roman"/>
              </a:rPr>
              <a:t>The </a:t>
            </a:r>
            <a:r>
              <a:rPr lang="en-IN" sz="2000" b="1" i="0" u="none" strike="noStrike" baseline="0" dirty="0">
                <a:latin typeface="NewBaskervilleStd-Bold"/>
              </a:rPr>
              <a:t>if </a:t>
            </a:r>
            <a:r>
              <a:rPr lang="en-IN" sz="2000" b="0" i="0" u="none" strike="noStrike" baseline="0" dirty="0">
                <a:latin typeface="NewBaskervilleStd-Roman"/>
              </a:rPr>
              <a:t>statements are executed from the top down* As soon as one of the conditions controlling the </a:t>
            </a:r>
            <a:r>
              <a:rPr lang="en-IN" sz="2000" b="1" i="0" u="none" strike="noStrike" baseline="0" dirty="0">
                <a:latin typeface="NewBaskervilleStd-Bold"/>
              </a:rPr>
              <a:t>if </a:t>
            </a:r>
            <a:r>
              <a:rPr lang="en-IN" sz="2000" b="0" i="0" u="none" strike="noStrike" baseline="0" dirty="0">
                <a:latin typeface="NewBaskervilleStd-Roman"/>
              </a:rPr>
              <a:t>is </a:t>
            </a:r>
            <a:r>
              <a:rPr lang="en-IN" sz="2000" b="1" i="0" u="none" strike="noStrike" baseline="0" dirty="0">
                <a:latin typeface="NewBaskervilleStd-Bold"/>
              </a:rPr>
              <a:t>true</a:t>
            </a:r>
            <a:r>
              <a:rPr lang="en-IN" sz="2000" b="0" i="0" u="none" strike="noStrike" baseline="0" dirty="0">
                <a:latin typeface="NewBaskervilleStd-Roman"/>
              </a:rPr>
              <a:t>, the statement associated with that </a:t>
            </a:r>
            <a:r>
              <a:rPr lang="en-IN" sz="2000" b="1" i="0" u="none" strike="noStrike" baseline="0" dirty="0">
                <a:latin typeface="NewBaskervilleStd-Bold"/>
              </a:rPr>
              <a:t>if </a:t>
            </a:r>
            <a:r>
              <a:rPr lang="en-IN" sz="2000" b="0" i="0" u="none" strike="noStrike" baseline="0" dirty="0">
                <a:latin typeface="NewBaskervilleStd-Roman"/>
              </a:rPr>
              <a:t>is executed, and the rest of the ladder is bypassed* If none of the conditions is true, then the final </a:t>
            </a:r>
            <a:r>
              <a:rPr lang="en-IN" sz="2000" b="1" i="0" u="none" strike="noStrike" baseline="0" dirty="0">
                <a:latin typeface="NewBaskervilleStd-Bold"/>
              </a:rPr>
              <a:t>else </a:t>
            </a:r>
            <a:r>
              <a:rPr lang="en-IN" sz="2000" b="0" i="0" u="none" strike="noStrike" baseline="0" dirty="0">
                <a:latin typeface="NewBaskervilleStd-Roman"/>
              </a:rPr>
              <a:t>statement will be executed* The final </a:t>
            </a:r>
            <a:r>
              <a:rPr lang="en-IN" sz="2000" b="1" i="0" u="none" strike="noStrike" baseline="0" dirty="0">
                <a:latin typeface="NewBaskervilleStd-Bold"/>
              </a:rPr>
              <a:t>else </a:t>
            </a:r>
            <a:r>
              <a:rPr lang="en-IN" sz="2000" b="0" i="0" u="none" strike="noStrike" baseline="0" dirty="0">
                <a:latin typeface="NewBaskervilleStd-Roman"/>
              </a:rPr>
              <a:t>acts as a default condition; that is, if all other conditional tests fail, then the last </a:t>
            </a:r>
            <a:r>
              <a:rPr lang="en-IN" sz="2000" b="1" i="0" u="none" strike="noStrike" baseline="0" dirty="0">
                <a:latin typeface="NewBaskervilleStd-Bold"/>
              </a:rPr>
              <a:t>else </a:t>
            </a:r>
            <a:r>
              <a:rPr lang="en-IN" sz="2000" b="0" i="0" u="none" strike="noStrike" baseline="0" dirty="0">
                <a:latin typeface="NewBaskervilleStd-Roman"/>
              </a:rPr>
              <a:t>statement is performed* If there is no final </a:t>
            </a:r>
            <a:r>
              <a:rPr lang="en-IN" sz="2000" b="1" i="0" u="none" strike="noStrike" baseline="0" dirty="0">
                <a:latin typeface="NewBaskervilleStd-Bold"/>
              </a:rPr>
              <a:t>else </a:t>
            </a:r>
            <a:r>
              <a:rPr lang="en-IN" sz="2000" b="0" i="0" u="none" strike="noStrike" baseline="0" dirty="0">
                <a:latin typeface="NewBaskervilleStd-Roman"/>
              </a:rPr>
              <a:t>and all other conditions are </a:t>
            </a:r>
            <a:r>
              <a:rPr lang="en-IN" sz="2000" b="1" i="0" u="none" strike="noStrike" baseline="0" dirty="0">
                <a:latin typeface="NewBaskervilleStd-Bold"/>
              </a:rPr>
              <a:t>false</a:t>
            </a:r>
            <a:r>
              <a:rPr lang="en-IN" sz="2000" b="0" i="0" u="none" strike="noStrike" baseline="0" dirty="0">
                <a:latin typeface="NewBaskervilleStd-Roman"/>
              </a:rPr>
              <a:t>, then no action will take place*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4699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43FF-650E-9AC6-A142-1FCEF9AFA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123" y="0"/>
            <a:ext cx="10402277" cy="6791570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en-IN" sz="3000" b="1" i="0" u="none" strike="noStrike" baseline="-25000" dirty="0">
                <a:latin typeface="NewBaskervilleStd-Roman"/>
              </a:rPr>
              <a:t>Here is a program that uses an </a:t>
            </a:r>
            <a:r>
              <a:rPr lang="en-IN" sz="3000" b="1" i="0" u="none" strike="noStrike" baseline="-25000" dirty="0">
                <a:latin typeface="NewBaskervilleStd-Bold"/>
              </a:rPr>
              <a:t>if-else-if </a:t>
            </a:r>
            <a:r>
              <a:rPr lang="en-IN" sz="3000" b="1" i="0" u="none" strike="noStrike" baseline="-25000" dirty="0">
                <a:latin typeface="NewBaskervilleStd-Roman"/>
              </a:rPr>
              <a:t>ladder to determine which season a particular month is in*</a:t>
            </a:r>
          </a:p>
          <a:p>
            <a:pPr marL="0" indent="0" algn="l">
              <a:buNone/>
            </a:pPr>
            <a:r>
              <a:rPr lang="en-IN" sz="3000" b="1" i="0" u="none" strike="noStrike" baseline="-25000" dirty="0">
                <a:latin typeface="CourierStd"/>
              </a:rPr>
              <a:t>// Demonstrate if-else-if statements*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class </a:t>
            </a:r>
            <a:r>
              <a:rPr lang="en-IN" sz="3800" b="1" i="0" u="none" strike="noStrike" baseline="-25000" dirty="0" err="1">
                <a:latin typeface="CourierStd"/>
              </a:rPr>
              <a:t>IfElse</a:t>
            </a:r>
            <a:r>
              <a:rPr lang="en-IN" sz="3800" b="1" i="0" u="none" strike="noStrike" baseline="-25000" dirty="0">
                <a:latin typeface="CourierStd"/>
              </a:rPr>
              <a:t> {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  public static void main(String </a:t>
            </a:r>
            <a:r>
              <a:rPr lang="en-IN" sz="3800" b="1" i="0" u="none" strike="noStrike" baseline="-25000" dirty="0" err="1">
                <a:latin typeface="CourierStd"/>
              </a:rPr>
              <a:t>args</a:t>
            </a:r>
            <a:r>
              <a:rPr lang="en-IN" sz="3800" b="1" i="0" u="none" strike="noStrike" baseline="-25000" dirty="0">
                <a:latin typeface="CourierStd"/>
              </a:rPr>
              <a:t>[]) {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     	int month = 4; // April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String season; 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if(month == 12 || month == 1 || month == 2)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	season = "Winter";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else if(month == 3 || month == 4 || month == 5)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	season = "Spring";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else if(month == 6 || month == 7 || month == 8)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	season = "Summer";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else if(month == 9 || month == 10 || month == 11)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	season = "Autumn";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else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	season = "Bogus Month";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	System*out*</a:t>
            </a:r>
            <a:r>
              <a:rPr lang="en-IN" sz="3800" b="1" i="0" u="none" strike="noStrike" baseline="-25000" dirty="0" err="1">
                <a:latin typeface="CourierStd"/>
              </a:rPr>
              <a:t>println</a:t>
            </a:r>
            <a:r>
              <a:rPr lang="en-IN" sz="3800" b="1" i="0" u="none" strike="noStrike" baseline="-25000" dirty="0">
                <a:latin typeface="CourierStd"/>
              </a:rPr>
              <a:t>("April is in the " + season + "*");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3800" b="1" i="0" u="none" strike="noStrike" baseline="-25000" dirty="0">
                <a:latin typeface="CourierStd"/>
              </a:rPr>
              <a:t>}</a:t>
            </a:r>
          </a:p>
          <a:p>
            <a:pPr marL="0" indent="0" algn="l">
              <a:buNone/>
            </a:pPr>
            <a:r>
              <a:rPr lang="en-IN" sz="3300" b="1" i="0" u="none" strike="noStrike" baseline="-25000" dirty="0">
                <a:latin typeface="NewBaskervilleStd-Roman"/>
              </a:rPr>
              <a:t>Here is the output produced by the program:</a:t>
            </a:r>
          </a:p>
          <a:p>
            <a:pPr marL="0" indent="0" algn="l">
              <a:buNone/>
            </a:pPr>
            <a:r>
              <a:rPr lang="en-IN" sz="3300" b="1" i="0" u="none" strike="noStrike" baseline="-25000" dirty="0">
                <a:latin typeface="CourierStd"/>
              </a:rPr>
              <a:t>April is in the Spring*</a:t>
            </a:r>
            <a:endParaRPr lang="en-IN" sz="33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29687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9DC9-F16B-0871-F83A-E33F1737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NewBaskervilleStd-Bold"/>
              </a:rPr>
              <a:t>switch </a:t>
            </a:r>
            <a:r>
              <a:rPr lang="en-IN" sz="3200" b="0" i="0" u="none" strike="noStrike" baseline="0" dirty="0">
                <a:latin typeface="NewBaskervilleStd-Roman"/>
              </a:rPr>
              <a:t>statement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5A305-092E-32BA-488A-D50A0771B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820" y="2133600"/>
            <a:ext cx="10277792" cy="3777622"/>
          </a:xfrm>
        </p:spPr>
        <p:txBody>
          <a:bodyPr>
            <a:norm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The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 is Java’s multiway branch statement* It provides an easy way to dispatch execution to different parts of your code based on the value of an expression*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As such, it often provides a better alternative than a large series of </a:t>
            </a:r>
            <a:r>
              <a:rPr lang="en-IN" sz="2400" b="1" i="0" u="none" strike="noStrike" baseline="0" dirty="0">
                <a:latin typeface="NewBaskervilleStd-Bold"/>
              </a:rPr>
              <a:t>if-else-if </a:t>
            </a:r>
            <a:r>
              <a:rPr lang="en-IN" sz="2400" b="0" i="0" u="none" strike="noStrike" baseline="0" dirty="0">
                <a:latin typeface="NewBaskervilleStd-Roman"/>
              </a:rPr>
              <a:t>statements* Here is  the general form of a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statement:</a:t>
            </a:r>
          </a:p>
          <a:p>
            <a:pPr algn="l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041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A0B0D-A7EE-485C-A177-E0D0A1E4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0" y="1097280"/>
            <a:ext cx="9797732" cy="481394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switch (</a:t>
            </a:r>
            <a:r>
              <a:rPr lang="en-IN" sz="2000" b="1" i="1" u="none" strike="noStrike" baseline="0" dirty="0">
                <a:latin typeface="NewBaskervilleStd-Italic"/>
              </a:rPr>
              <a:t>expression</a:t>
            </a:r>
            <a:r>
              <a:rPr lang="en-IN" sz="2000" b="1" i="0" u="none" strike="noStrike" baseline="0" dirty="0">
                <a:latin typeface="NewBaskervilleStd-Roman"/>
              </a:rPr>
              <a:t>) {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case </a:t>
            </a:r>
            <a:r>
              <a:rPr lang="en-IN" sz="2000" b="1" i="1" u="none" strike="noStrike" baseline="0" dirty="0">
                <a:latin typeface="NewBaskervilleStd-Italic"/>
              </a:rPr>
              <a:t>value1 </a:t>
            </a:r>
            <a:r>
              <a:rPr lang="en-IN" sz="2000" b="1" i="0" u="none" strike="noStrike" baseline="0" dirty="0">
                <a:latin typeface="NewBaskervilleStd-Roman"/>
              </a:rPr>
              <a:t>:     // statement sequence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			break;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case </a:t>
            </a:r>
            <a:r>
              <a:rPr lang="en-IN" sz="2000" b="1" i="1" u="none" strike="noStrike" baseline="0" dirty="0">
                <a:latin typeface="NewBaskervilleStd-Italic"/>
              </a:rPr>
              <a:t>value2 </a:t>
            </a:r>
            <a:r>
              <a:rPr lang="en-IN" sz="2000" b="1" i="0" u="none" strike="noStrike" baseline="0" dirty="0">
                <a:latin typeface="NewBaskervilleStd-Roman"/>
              </a:rPr>
              <a:t>: // statement sequence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			break;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*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case </a:t>
            </a:r>
            <a:r>
              <a:rPr lang="en-IN" sz="2000" b="1" i="1" u="none" strike="noStrike" baseline="0" dirty="0" err="1">
                <a:latin typeface="NewBaskervilleStd-Italic"/>
              </a:rPr>
              <a:t>valueN</a:t>
            </a:r>
            <a:r>
              <a:rPr lang="en-IN" sz="2000" b="1" i="1" u="none" strike="noStrike" baseline="0" dirty="0">
                <a:latin typeface="NewBaskervilleStd-Italic"/>
              </a:rPr>
              <a:t>  </a:t>
            </a:r>
            <a:r>
              <a:rPr lang="en-IN" sz="2000" b="1" i="0" u="none" strike="noStrike" baseline="0" dirty="0">
                <a:latin typeface="NewBaskervilleStd-Roman"/>
              </a:rPr>
              <a:t>: // statement sequence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			break;</a:t>
            </a:r>
          </a:p>
          <a:p>
            <a:pPr marL="0" indent="0" algn="l">
              <a:buNone/>
            </a:pPr>
            <a:r>
              <a:rPr lang="en-IN" sz="2000" b="1" dirty="0">
                <a:latin typeface="NewBaskervilleStd-Roman"/>
              </a:rPr>
              <a:t>d</a:t>
            </a:r>
            <a:r>
              <a:rPr lang="en-IN" sz="2000" b="1" i="0" u="none" strike="noStrike" baseline="0" dirty="0">
                <a:latin typeface="NewBaskervilleStd-Roman"/>
              </a:rPr>
              <a:t>efault :   // default statement sequence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2256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86E2-F3FC-FC77-A53A-3AFB347EC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89560"/>
            <a:ext cx="10187940" cy="64541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// A simple example of the switch*</a:t>
            </a:r>
          </a:p>
          <a:p>
            <a:pPr marL="0" indent="0">
              <a:buNone/>
            </a:pPr>
            <a:r>
              <a:rPr lang="en-IN" b="1" dirty="0"/>
              <a:t>class </a:t>
            </a:r>
            <a:r>
              <a:rPr lang="en-IN" b="1" dirty="0" err="1"/>
              <a:t>SampleSwitch</a:t>
            </a:r>
            <a:r>
              <a:rPr lang="en-IN" b="1" dirty="0"/>
              <a:t> {</a:t>
            </a:r>
          </a:p>
          <a:p>
            <a:pPr marL="0" indent="0">
              <a:buNone/>
            </a:pPr>
            <a:r>
              <a:rPr lang="en-IN" b="1" dirty="0"/>
              <a:t>	public static void main(String </a:t>
            </a:r>
            <a:r>
              <a:rPr lang="en-IN" b="1" dirty="0" err="1"/>
              <a:t>args</a:t>
            </a:r>
            <a:r>
              <a:rPr lang="en-IN" b="1" dirty="0"/>
              <a:t>[]) {</a:t>
            </a:r>
          </a:p>
          <a:p>
            <a:pPr marL="0" indent="0">
              <a:buNone/>
            </a:pPr>
            <a:r>
              <a:rPr lang="en-IN" b="1" dirty="0"/>
              <a:t>		for(int </a:t>
            </a:r>
            <a:r>
              <a:rPr lang="en-IN" b="1" dirty="0" err="1"/>
              <a:t>i</a:t>
            </a:r>
            <a:r>
              <a:rPr lang="en-IN" b="1" dirty="0"/>
              <a:t>=0; </a:t>
            </a:r>
            <a:r>
              <a:rPr lang="en-IN" b="1" dirty="0" err="1"/>
              <a:t>i</a:t>
            </a:r>
            <a:r>
              <a:rPr lang="en-IN" b="1" dirty="0"/>
              <a:t>&lt;6; </a:t>
            </a:r>
            <a:r>
              <a:rPr lang="en-IN" b="1" dirty="0" err="1"/>
              <a:t>i</a:t>
            </a:r>
            <a:r>
              <a:rPr lang="en-IN" b="1" dirty="0"/>
              <a:t>++)</a:t>
            </a:r>
          </a:p>
          <a:p>
            <a:pPr marL="0" indent="0">
              <a:buNone/>
            </a:pPr>
            <a:r>
              <a:rPr lang="en-IN" b="1" dirty="0"/>
              <a:t>		switch(</a:t>
            </a:r>
            <a:r>
              <a:rPr lang="en-IN" b="1" dirty="0" err="1"/>
              <a:t>i</a:t>
            </a:r>
            <a:r>
              <a:rPr lang="en-IN" b="1" dirty="0"/>
              <a:t>) </a:t>
            </a:r>
          </a:p>
          <a:p>
            <a:pPr marL="0" indent="0">
              <a:buNone/>
            </a:pPr>
            <a:r>
              <a:rPr lang="en-IN" b="1" dirty="0"/>
              <a:t>		{</a:t>
            </a:r>
          </a:p>
          <a:p>
            <a:pPr marL="0" indent="0">
              <a:buNone/>
            </a:pPr>
            <a:r>
              <a:rPr lang="en-IN" b="1" dirty="0"/>
              <a:t>		case 0 :  System*out*</a:t>
            </a:r>
            <a:r>
              <a:rPr lang="en-IN" b="1" dirty="0" err="1"/>
              <a:t>println</a:t>
            </a:r>
            <a:r>
              <a:rPr lang="en-IN" b="1" dirty="0"/>
              <a:t>("</a:t>
            </a:r>
            <a:r>
              <a:rPr lang="en-IN" b="1" dirty="0" err="1"/>
              <a:t>i</a:t>
            </a:r>
            <a:r>
              <a:rPr lang="en-IN" b="1" dirty="0"/>
              <a:t> is zero*");</a:t>
            </a:r>
          </a:p>
          <a:p>
            <a:pPr marL="0" indent="0">
              <a:buNone/>
            </a:pPr>
            <a:r>
              <a:rPr lang="en-IN" b="1" dirty="0"/>
              <a:t>			      break;</a:t>
            </a:r>
          </a:p>
          <a:p>
            <a:pPr marL="0" indent="0">
              <a:buNone/>
            </a:pPr>
            <a:r>
              <a:rPr lang="en-IN" b="1" dirty="0"/>
              <a:t>		case 1 : System*out*</a:t>
            </a:r>
            <a:r>
              <a:rPr lang="en-IN" b="1" dirty="0" err="1"/>
              <a:t>println</a:t>
            </a:r>
            <a:r>
              <a:rPr lang="en-IN" b="1" dirty="0"/>
              <a:t>("</a:t>
            </a:r>
            <a:r>
              <a:rPr lang="en-IN" b="1" dirty="0" err="1"/>
              <a:t>i</a:t>
            </a:r>
            <a:r>
              <a:rPr lang="en-IN" b="1" dirty="0"/>
              <a:t> is one*");</a:t>
            </a:r>
          </a:p>
          <a:p>
            <a:pPr marL="0" indent="0">
              <a:buNone/>
            </a:pPr>
            <a:r>
              <a:rPr lang="en-IN" b="1" dirty="0"/>
              <a:t>			     break;</a:t>
            </a:r>
          </a:p>
          <a:p>
            <a:pPr marL="0" indent="0">
              <a:buNone/>
            </a:pPr>
            <a:r>
              <a:rPr lang="en-IN" b="1" dirty="0"/>
              <a:t>		case 2 : System*out*</a:t>
            </a:r>
            <a:r>
              <a:rPr lang="en-IN" b="1" dirty="0" err="1"/>
              <a:t>println</a:t>
            </a:r>
            <a:r>
              <a:rPr lang="en-IN" b="1" dirty="0"/>
              <a:t>("</a:t>
            </a:r>
            <a:r>
              <a:rPr lang="en-IN" b="1" dirty="0" err="1"/>
              <a:t>i</a:t>
            </a:r>
            <a:r>
              <a:rPr lang="en-IN" b="1" dirty="0"/>
              <a:t> is two*");</a:t>
            </a:r>
          </a:p>
          <a:p>
            <a:pPr marL="0" indent="0">
              <a:buNone/>
            </a:pPr>
            <a:r>
              <a:rPr lang="en-IN" b="1" dirty="0"/>
              <a:t>			      break;</a:t>
            </a:r>
          </a:p>
          <a:p>
            <a:pPr marL="0" indent="0">
              <a:buNone/>
            </a:pPr>
            <a:r>
              <a:rPr lang="en-IN" b="1" dirty="0"/>
              <a:t>		case 3 : System*out*</a:t>
            </a:r>
            <a:r>
              <a:rPr lang="en-IN" b="1" dirty="0" err="1"/>
              <a:t>println</a:t>
            </a:r>
            <a:r>
              <a:rPr lang="en-IN" b="1" dirty="0"/>
              <a:t>("</a:t>
            </a:r>
            <a:r>
              <a:rPr lang="en-IN" b="1" dirty="0" err="1"/>
              <a:t>i</a:t>
            </a:r>
            <a:r>
              <a:rPr lang="en-IN" b="1" dirty="0"/>
              <a:t> is three*");</a:t>
            </a:r>
          </a:p>
          <a:p>
            <a:pPr marL="0" indent="0">
              <a:buNone/>
            </a:pPr>
            <a:r>
              <a:rPr lang="en-IN" b="1" dirty="0"/>
              <a:t>				break;</a:t>
            </a:r>
          </a:p>
          <a:p>
            <a:pPr marL="0" indent="0">
              <a:buNone/>
            </a:pPr>
            <a:r>
              <a:rPr lang="en-IN" b="1" dirty="0"/>
              <a:t>		default : System*out*</a:t>
            </a:r>
            <a:r>
              <a:rPr lang="en-IN" b="1" dirty="0" err="1"/>
              <a:t>println</a:t>
            </a:r>
            <a:r>
              <a:rPr lang="en-IN" b="1" dirty="0"/>
              <a:t>("</a:t>
            </a:r>
            <a:r>
              <a:rPr lang="en-IN" b="1" dirty="0" err="1"/>
              <a:t>i</a:t>
            </a:r>
            <a:r>
              <a:rPr lang="en-IN" b="1" dirty="0"/>
              <a:t> is greater than 3*");</a:t>
            </a:r>
          </a:p>
          <a:p>
            <a:pPr marL="0" indent="0">
              <a:buNone/>
            </a:pPr>
            <a:r>
              <a:rPr lang="en-IN" b="1" dirty="0"/>
              <a:t>		}</a:t>
            </a:r>
          </a:p>
          <a:p>
            <a:pPr marL="0" indent="0">
              <a:buNone/>
            </a:pPr>
            <a:r>
              <a:rPr lang="en-IN" b="1" dirty="0"/>
              <a:t>	}</a:t>
            </a:r>
          </a:p>
          <a:p>
            <a:pPr marL="0" indent="0">
              <a:buNone/>
            </a:pPr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8578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89E10-2542-AE4B-F2D2-631F68F5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34823-E749-AC46-6D41-9D180491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b="1" i="0" u="none" strike="noStrike" baseline="0" dirty="0">
                <a:latin typeface="NewBaskervilleStd-Roman"/>
              </a:rPr>
              <a:t>The output produced by this program is shown here: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zero*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one*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two*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three*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greater than 3*</a:t>
            </a:r>
          </a:p>
          <a:p>
            <a:pPr algn="l"/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is greater than 3*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6522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CDBE-683A-4594-C881-FE97BBCC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6530"/>
          </a:xfrm>
        </p:spPr>
        <p:txBody>
          <a:bodyPr/>
          <a:lstStyle/>
          <a:p>
            <a:r>
              <a:rPr lang="en-IN" sz="3600" b="1" i="0" u="none" strike="noStrike" baseline="0" dirty="0">
                <a:latin typeface="DINMittelEFOP-Bold"/>
              </a:rPr>
              <a:t>Nested switch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E1208-4FB4-16C9-73EE-E3551F48B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0" y="1203960"/>
            <a:ext cx="9797732" cy="565404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b="1" i="0" u="none" strike="noStrike" dirty="0">
                <a:latin typeface="NewBaskervilleStd-Roman"/>
              </a:rPr>
              <a:t>You can use a </a:t>
            </a:r>
            <a:r>
              <a:rPr lang="en-IN" b="1" i="0" u="none" strike="noStrike" dirty="0">
                <a:latin typeface="NewBaskervilleStd-Bold"/>
              </a:rPr>
              <a:t>switch </a:t>
            </a:r>
            <a:r>
              <a:rPr lang="en-IN" b="1" i="0" u="none" strike="noStrike" dirty="0">
                <a:latin typeface="NewBaskervilleStd-Roman"/>
              </a:rPr>
              <a:t>as part of the statement sequence of an outer </a:t>
            </a:r>
            <a:r>
              <a:rPr lang="en-IN" b="1" i="0" u="none" strike="noStrike" dirty="0">
                <a:latin typeface="NewBaskervilleStd-Bold"/>
              </a:rPr>
              <a:t>switch</a:t>
            </a:r>
            <a:r>
              <a:rPr lang="en-IN" b="1" i="0" u="none" strike="noStrike" dirty="0">
                <a:latin typeface="NewBaskervilleStd-Roman"/>
              </a:rPr>
              <a:t>* This is called a </a:t>
            </a:r>
            <a:r>
              <a:rPr lang="en-IN" b="1" i="1" u="none" strike="noStrike" dirty="0">
                <a:latin typeface="NewBaskervilleStd-Italic"/>
              </a:rPr>
              <a:t>nested </a:t>
            </a:r>
            <a:r>
              <a:rPr lang="en-IN" b="1" i="0" u="none" strike="noStrike" dirty="0">
                <a:latin typeface="NewBaskervilleStd-Bold"/>
              </a:rPr>
              <a:t>switch</a:t>
            </a:r>
            <a:r>
              <a:rPr lang="en-IN" b="1" i="0" u="none" strike="noStrike" dirty="0">
                <a:latin typeface="NewBaskervilleStd-Roman"/>
              </a:rPr>
              <a:t>* Since a </a:t>
            </a:r>
            <a:r>
              <a:rPr lang="en-IN" b="1" i="0" u="none" strike="noStrike" dirty="0">
                <a:latin typeface="NewBaskervilleStd-Bold"/>
              </a:rPr>
              <a:t>switch </a:t>
            </a:r>
            <a:r>
              <a:rPr lang="en-IN" b="1" i="0" u="none" strike="noStrike" dirty="0">
                <a:latin typeface="NewBaskervilleStd-Roman"/>
              </a:rPr>
              <a:t>statement defines its own block, no conflicts arise between the </a:t>
            </a:r>
            <a:r>
              <a:rPr lang="en-IN" b="1" i="0" u="none" strike="noStrike" dirty="0">
                <a:latin typeface="NewBaskervilleStd-Bold"/>
              </a:rPr>
              <a:t>case </a:t>
            </a:r>
            <a:r>
              <a:rPr lang="en-IN" b="1" i="0" u="none" strike="noStrike" dirty="0">
                <a:latin typeface="NewBaskervilleStd-Roman"/>
              </a:rPr>
              <a:t>constants in the inner </a:t>
            </a:r>
            <a:r>
              <a:rPr lang="en-IN" b="1" i="0" u="none" strike="noStrike" dirty="0">
                <a:latin typeface="NewBaskervilleStd-Bold"/>
              </a:rPr>
              <a:t>switch </a:t>
            </a:r>
            <a:r>
              <a:rPr lang="en-IN" b="1" i="0" u="none" strike="noStrike" dirty="0">
                <a:latin typeface="NewBaskervilleStd-Roman"/>
              </a:rPr>
              <a:t>and those in the outer </a:t>
            </a:r>
            <a:r>
              <a:rPr lang="en-IN" b="1" i="0" u="none" strike="noStrike" dirty="0">
                <a:latin typeface="NewBaskervilleStd-Bold"/>
              </a:rPr>
              <a:t>switch</a:t>
            </a:r>
            <a:r>
              <a:rPr lang="en-IN" b="1" i="0" u="none" strike="noStrike" dirty="0">
                <a:latin typeface="NewBaskervilleStd-Roman"/>
              </a:rPr>
              <a:t>* For example, the following fragment is perfectly valid: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switch(count) {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case 1:     switch(target) </a:t>
            </a:r>
          </a:p>
          <a:p>
            <a:pPr marL="0" indent="0" algn="l">
              <a:buNone/>
            </a:pPr>
            <a:r>
              <a:rPr lang="en-IN" b="1" dirty="0">
                <a:latin typeface="CourierStd"/>
              </a:rPr>
              <a:t>            </a:t>
            </a:r>
            <a:r>
              <a:rPr lang="en-IN" b="1" i="0" u="none" strike="noStrike" dirty="0">
                <a:latin typeface="CourierStd"/>
              </a:rPr>
              <a:t>{ // nested switch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  case 0:   System*out*</a:t>
            </a:r>
            <a:r>
              <a:rPr lang="en-IN" b="1" i="0" u="none" strike="noStrike" dirty="0" err="1">
                <a:latin typeface="CourierStd"/>
              </a:rPr>
              <a:t>println</a:t>
            </a:r>
            <a:r>
              <a:rPr lang="en-IN" b="1" i="0" u="none" strike="noStrike" dirty="0">
                <a:latin typeface="CourierStd"/>
              </a:rPr>
              <a:t>("target is zero");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			break;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   case 1: // no conflicts with outer switch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		   System*out*</a:t>
            </a:r>
            <a:r>
              <a:rPr lang="en-IN" b="1" i="0" u="none" strike="noStrike" dirty="0" err="1">
                <a:latin typeface="CourierStd"/>
              </a:rPr>
              <a:t>println</a:t>
            </a:r>
            <a:r>
              <a:rPr lang="en-IN" b="1" i="0" u="none" strike="noStrike" dirty="0">
                <a:latin typeface="CourierStd"/>
              </a:rPr>
              <a:t>("target is one");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			break;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}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			break;</a:t>
            </a:r>
          </a:p>
          <a:p>
            <a:pPr marL="0" indent="0" algn="l">
              <a:buNone/>
            </a:pPr>
            <a:r>
              <a:rPr lang="en-IN" b="1" i="0" u="none" strike="noStrike" dirty="0">
                <a:latin typeface="CourierStd"/>
              </a:rPr>
              <a:t>case 2: //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9564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CB19-C09F-853A-E9BB-90B23F72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161" y="624110"/>
            <a:ext cx="9843452" cy="1280890"/>
          </a:xfrm>
        </p:spPr>
        <p:txBody>
          <a:bodyPr/>
          <a:lstStyle/>
          <a:p>
            <a:r>
              <a:rPr lang="en-IN" dirty="0">
                <a:latin typeface="NewBaskervilleStd-Roman"/>
              </a:rPr>
              <a:t>3</a:t>
            </a:r>
            <a:r>
              <a:rPr lang="en-IN" sz="3600" b="0" i="0" u="none" strike="noStrike" baseline="0" dirty="0">
                <a:latin typeface="NewBaskervilleStd-Roman"/>
              </a:rPr>
              <a:t> important features of the </a:t>
            </a:r>
            <a:r>
              <a:rPr lang="en-IN" sz="3600" b="1" i="0" u="none" strike="noStrike" baseline="0" dirty="0">
                <a:latin typeface="NewBaskervilleStd-Bold"/>
              </a:rPr>
              <a:t>switch </a:t>
            </a:r>
            <a:r>
              <a:rPr lang="en-IN" sz="3600" b="0" i="0" u="none" strike="noStrike" baseline="0" dirty="0">
                <a:latin typeface="NewBaskervilleStd-Roman"/>
              </a:rPr>
              <a:t>statement to note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5B865-C49C-C062-8A15-C5805DD5B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320" y="1760220"/>
            <a:ext cx="10087292" cy="415100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0" i="0" u="none" strike="noStrike" baseline="0" dirty="0">
                <a:latin typeface="NewBaskervilleStd-Roman"/>
              </a:rPr>
              <a:t>In summary, there are three important features of the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 to note: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• The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differs from the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in that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can only test for equality, whereas </a:t>
            </a:r>
            <a:r>
              <a:rPr lang="en-IN" sz="2400" b="1" i="0" u="none" strike="noStrike" baseline="0" dirty="0">
                <a:latin typeface="NewBaskervilleStd-Bold"/>
              </a:rPr>
              <a:t>if </a:t>
            </a:r>
            <a:r>
              <a:rPr lang="en-IN" sz="2400" b="0" i="0" u="none" strike="noStrike" baseline="0" dirty="0">
                <a:latin typeface="NewBaskervilleStd-Roman"/>
              </a:rPr>
              <a:t>can  evaluate any type of Boolean expression* That is, the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looks only for a match between the value of the expression and one of its </a:t>
            </a:r>
            <a:r>
              <a:rPr lang="en-IN" sz="2400" b="1" i="0" u="none" strike="noStrike" baseline="0" dirty="0">
                <a:latin typeface="NewBaskervilleStd-Bold"/>
              </a:rPr>
              <a:t>case </a:t>
            </a:r>
            <a:r>
              <a:rPr lang="en-IN" sz="2400" b="0" i="0" u="none" strike="noStrike" baseline="0" dirty="0">
                <a:latin typeface="NewBaskervilleStd-Roman"/>
              </a:rPr>
              <a:t>constants*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• No two </a:t>
            </a:r>
            <a:r>
              <a:rPr lang="en-IN" sz="2400" b="1" i="0" u="none" strike="noStrike" baseline="0" dirty="0">
                <a:latin typeface="NewBaskervilleStd-Bold"/>
              </a:rPr>
              <a:t>case </a:t>
            </a:r>
            <a:r>
              <a:rPr lang="en-IN" sz="2400" b="0" i="0" u="none" strike="noStrike" baseline="0" dirty="0">
                <a:latin typeface="NewBaskervilleStd-Roman"/>
              </a:rPr>
              <a:t>constants in the same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can have identical values* Of course, a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 and an enclosing outer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can have </a:t>
            </a:r>
            <a:r>
              <a:rPr lang="en-IN" sz="2400" b="1" i="0" u="none" strike="noStrike" baseline="0" dirty="0">
                <a:latin typeface="NewBaskervilleStd-Bold"/>
              </a:rPr>
              <a:t>case </a:t>
            </a:r>
            <a:r>
              <a:rPr lang="en-IN" sz="2400" b="0" i="0" u="none" strike="noStrike" baseline="0" dirty="0">
                <a:latin typeface="NewBaskervilleStd-Roman"/>
              </a:rPr>
              <a:t>constants in common*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• A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 is usually more efficient than a set of nested </a:t>
            </a:r>
            <a:r>
              <a:rPr lang="en-IN" sz="2400" b="1" i="0" u="none" strike="noStrike" baseline="0" dirty="0">
                <a:latin typeface="NewBaskervilleStd-Bold"/>
              </a:rPr>
              <a:t>if</a:t>
            </a:r>
            <a:r>
              <a:rPr lang="en-IN" sz="2400" b="0" i="0" u="none" strike="noStrike" baseline="0" dirty="0">
                <a:latin typeface="NewBaskervilleStd-Roman"/>
              </a:rPr>
              <a:t>s*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463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29A7-9E56-92A0-7B8D-E2C1DE41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Iteration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4412-799E-F2C2-6812-C167267F6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660" y="1219200"/>
            <a:ext cx="10033952" cy="56388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0" i="0" u="none" strike="noStrike" baseline="0" dirty="0">
                <a:latin typeface="NewBaskervilleStd-Roman"/>
              </a:rPr>
              <a:t>The </a:t>
            </a:r>
            <a:r>
              <a:rPr lang="en-IN" sz="2400" b="1" i="0" u="none" strike="noStrike" baseline="0" dirty="0">
                <a:latin typeface="NewBaskervilleStd-Bold"/>
              </a:rPr>
              <a:t>while </a:t>
            </a:r>
            <a:r>
              <a:rPr lang="en-IN" sz="2400" b="0" i="0" u="none" strike="noStrike" baseline="0" dirty="0">
                <a:latin typeface="NewBaskervilleStd-Roman"/>
              </a:rPr>
              <a:t>loop is Java’s most fundamental loop statement* It repeats a statement or block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while its controlling expression is true* Here is its general form: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while(</a:t>
            </a:r>
            <a:r>
              <a:rPr lang="en-IN" sz="2400" b="0" i="1" u="none" strike="noStrike" baseline="0" dirty="0">
                <a:latin typeface="NewBaskervilleStd-Italic"/>
              </a:rPr>
              <a:t>condition</a:t>
            </a:r>
            <a:r>
              <a:rPr lang="en-IN" sz="2400" b="0" i="0" u="none" strike="noStrike" baseline="0" dirty="0">
                <a:latin typeface="NewBaskervilleStd-Roman"/>
              </a:rPr>
              <a:t>) {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// body of loop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}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The </a:t>
            </a:r>
            <a:r>
              <a:rPr lang="en-IN" sz="2400" b="0" i="1" u="none" strike="noStrike" baseline="0" dirty="0">
                <a:latin typeface="NewBaskervilleStd-Italic"/>
              </a:rPr>
              <a:t>condition </a:t>
            </a:r>
            <a:r>
              <a:rPr lang="en-IN" sz="2400" b="0" i="0" u="none" strike="noStrike" baseline="0" dirty="0">
                <a:latin typeface="NewBaskervilleStd-Roman"/>
              </a:rPr>
              <a:t>can be any Boolean expression* The body of the loop will be executed as long as the conditional expression is true* When </a:t>
            </a:r>
            <a:r>
              <a:rPr lang="en-IN" sz="2400" b="0" i="1" u="none" strike="noStrike" baseline="0" dirty="0">
                <a:latin typeface="NewBaskervilleStd-Italic"/>
              </a:rPr>
              <a:t>condition </a:t>
            </a:r>
            <a:r>
              <a:rPr lang="en-IN" sz="2400" b="0" i="0" u="none" strike="noStrike" baseline="0" dirty="0">
                <a:latin typeface="NewBaskervilleStd-Roman"/>
              </a:rPr>
              <a:t>becomes false, control passes to the next line of code immediately following the loop* The curly braces are unnecessary if only a single statement is being repeated*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1021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A70B-151F-52BA-EE24-DFB205740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411" y="449579"/>
            <a:ext cx="7808259" cy="561056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Demonstrate the while loop*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While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public static void main(</a:t>
            </a:r>
            <a:r>
              <a:rPr lang="en-IN" sz="2400" b="1" i="0" u="none" strike="noStrike" baseline="0" dirty="0" err="1">
                <a:latin typeface="CourierStd"/>
              </a:rPr>
              <a:t>Strin</a:t>
            </a:r>
            <a:r>
              <a:rPr lang="en-IN" sz="2400" b="1" i="0" u="none" strike="noStrike" baseline="0" dirty="0">
                <a:latin typeface="CourierStd"/>
              </a:rPr>
              <a:t> 	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dirty="0">
                <a:latin typeface="CourierStd"/>
              </a:rPr>
              <a:t>  </a:t>
            </a:r>
            <a:r>
              <a:rPr lang="en-IN" sz="2400" b="1" i="0" u="none" strike="noStrike" baseline="0" dirty="0">
                <a:latin typeface="CourierStd"/>
              </a:rPr>
              <a:t>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int n = 10;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while(n &gt; 0)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System*out*</a:t>
            </a:r>
            <a:r>
              <a:rPr lang="en-IN" sz="2400" b="1" i="0" u="none" strike="noStrike" baseline="0" dirty="0" err="1">
                <a:latin typeface="CourierStd"/>
              </a:rPr>
              <a:t>println</a:t>
            </a:r>
            <a:r>
              <a:rPr lang="en-IN" sz="2400" b="1" i="0" u="none" strike="noStrike" baseline="0" dirty="0">
                <a:latin typeface="CourierStd"/>
              </a:rPr>
              <a:t>("tick " + n);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n--;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</a:p>
          <a:p>
            <a:pPr marL="0" indent="0" algn="l">
              <a:buNone/>
            </a:pP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7775D-8597-FE72-29CD-7CB80B4DFE64}"/>
              </a:ext>
            </a:extLst>
          </p:cNvPr>
          <p:cNvSpPr txBox="1"/>
          <p:nvPr/>
        </p:nvSpPr>
        <p:spPr>
          <a:xfrm>
            <a:off x="8713694" y="0"/>
            <a:ext cx="34783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When you run this program, it will “tick” ten times:</a:t>
            </a:r>
          </a:p>
          <a:p>
            <a:pPr marL="0" indent="0" algn="l">
              <a:buNone/>
            </a:pPr>
            <a:endParaRPr lang="en-IN" sz="2400" b="1" i="0" u="none" strike="noStrike" baseline="0" dirty="0">
              <a:latin typeface="NewBaskervilleStd-Roman"/>
            </a:endParaRP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10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9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8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7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6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5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4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3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2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tick 1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1087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485E-52B3-FA1A-54C0-FA5EF388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4CCC-1D64-6805-B14E-A1F362ED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094" y="2133600"/>
            <a:ext cx="10258518" cy="3777622"/>
          </a:xfrm>
        </p:spPr>
        <p:txBody>
          <a:bodyPr>
            <a:normAutofit/>
          </a:bodyPr>
          <a:lstStyle/>
          <a:p>
            <a:r>
              <a:rPr lang="en-IN" sz="2400" dirty="0"/>
              <a:t>What is the output of this code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int a = 10, b = 20;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while(a &gt; b)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System*out*</a:t>
            </a:r>
            <a:r>
              <a:rPr lang="en-IN" sz="2400" b="1" i="0" u="none" strike="noStrike" baseline="0" dirty="0" err="1">
                <a:latin typeface="CourierStd"/>
              </a:rPr>
              <a:t>println</a:t>
            </a:r>
            <a:r>
              <a:rPr lang="en-IN" sz="2400" b="1" i="0" u="none" strike="noStrike" baseline="0" dirty="0">
                <a:latin typeface="CourierStd"/>
              </a:rPr>
              <a:t>("This will not be displayed");</a:t>
            </a:r>
          </a:p>
          <a:p>
            <a:pPr marL="0" indent="0" algn="l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0033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485E-52B3-FA1A-54C0-FA5EF388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4CCC-1D64-6805-B14E-A1F362ED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094" y="2133600"/>
            <a:ext cx="10258518" cy="3777622"/>
          </a:xfrm>
        </p:spPr>
        <p:txBody>
          <a:bodyPr>
            <a:normAutofit/>
          </a:bodyPr>
          <a:lstStyle/>
          <a:p>
            <a:r>
              <a:rPr lang="en-IN" sz="2400" dirty="0"/>
              <a:t>What is the output of this code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int a = 10, b = 20;</a:t>
            </a:r>
            <a:endParaRPr lang="en-IN" sz="2400" b="1" dirty="0">
              <a:latin typeface="CourierStd"/>
            </a:endParaRP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while(a &lt; b)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System*out*</a:t>
            </a:r>
            <a:r>
              <a:rPr lang="en-IN" sz="2400" b="1" i="0" u="none" strike="noStrike" baseline="0" dirty="0" err="1">
                <a:latin typeface="CourierStd"/>
              </a:rPr>
              <a:t>println</a:t>
            </a:r>
            <a:r>
              <a:rPr lang="en-IN" sz="2400" b="1" i="0" u="none" strike="noStrike" baseline="0" dirty="0">
                <a:latin typeface="CourierStd"/>
              </a:rPr>
              <a:t>("This will be displayed");</a:t>
            </a:r>
            <a:endParaRPr lang="en-IN" sz="2400" b="1" dirty="0"/>
          </a:p>
          <a:p>
            <a:pPr marL="0" indent="0" algn="l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8986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F7CF-E28E-08A0-649C-1A86D3DC9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306" y="457200"/>
            <a:ext cx="9550306" cy="5454022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The target of a loop can be empty*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</a:t>
            </a:r>
            <a:r>
              <a:rPr lang="en-IN" sz="2400" b="1" i="0" u="none" strike="noStrike" baseline="0" dirty="0" err="1">
                <a:latin typeface="CourierStd"/>
              </a:rPr>
              <a:t>NoBody</a:t>
            </a:r>
            <a:r>
              <a:rPr lang="en-IN" sz="2400" b="1" i="0" u="none" strike="noStrike" baseline="0" dirty="0">
                <a:latin typeface="CourierStd"/>
              </a:rPr>
              <a:t>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int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, j;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= 100;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j = 200;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// find midpoint between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and j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while(++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&lt; --j); // no body in this loop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System*out*</a:t>
            </a:r>
            <a:r>
              <a:rPr lang="en-IN" sz="2400" b="1" i="0" u="none" strike="noStrike" baseline="0" dirty="0" err="1">
                <a:latin typeface="CourierStd"/>
              </a:rPr>
              <a:t>println</a:t>
            </a:r>
            <a:r>
              <a:rPr lang="en-IN" sz="2400" b="1" i="0" u="none" strike="noStrike" baseline="0" dirty="0">
                <a:latin typeface="CourierStd"/>
              </a:rPr>
              <a:t>("Midpoint is " +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83062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B613-C9FF-0DBD-A5E5-B0F8211E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do-while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80DD-D146-E16D-4E4F-43F4363D6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76" y="1317812"/>
            <a:ext cx="10787436" cy="4593410"/>
          </a:xfrm>
        </p:spPr>
        <p:txBody>
          <a:bodyPr>
            <a:normAutofit/>
          </a:bodyPr>
          <a:lstStyle/>
          <a:p>
            <a:pPr algn="l"/>
            <a:r>
              <a:rPr lang="en-IN" sz="2000" b="0" i="0" u="none" strike="noStrike" baseline="0" dirty="0">
                <a:latin typeface="NewBaskervilleStd-Roman"/>
              </a:rPr>
              <a:t>If the conditional expression controlling a </a:t>
            </a:r>
            <a:r>
              <a:rPr lang="en-IN" sz="2000" b="1" i="0" u="none" strike="noStrike" baseline="0" dirty="0">
                <a:latin typeface="NewBaskervilleStd-Bold"/>
              </a:rPr>
              <a:t>while </a:t>
            </a:r>
            <a:r>
              <a:rPr lang="en-IN" sz="2000" b="0" i="0" u="none" strike="noStrike" baseline="0" dirty="0">
                <a:latin typeface="NewBaskervilleStd-Roman"/>
              </a:rPr>
              <a:t>loop is initially false, then the body of the loop will not be executed at all* </a:t>
            </a: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However, sometimes it is desirable to execute the body of a loop at least once, even if the conditional expression is false to begin with* In other words, there are times when you would like to test the termination expression at the end of the loop rather than at the beginning*</a:t>
            </a:r>
          </a:p>
          <a:p>
            <a:pPr algn="l"/>
            <a:r>
              <a:rPr lang="en-IN" sz="2400" b="1" i="0" u="none" strike="noStrike" baseline="0" dirty="0">
                <a:latin typeface="NewBaskervilleStd-Roman"/>
              </a:rPr>
              <a:t>The do-while loop always executes its body at least once, because its conditional expression is at the bottom of the loop</a:t>
            </a:r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64262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C81B-F024-0575-7A7A-D14DA7E3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77" y="624110"/>
            <a:ext cx="9873036" cy="1280890"/>
          </a:xfrm>
        </p:spPr>
        <p:txBody>
          <a:bodyPr/>
          <a:lstStyle/>
          <a:p>
            <a:r>
              <a:rPr lang="en-IN" sz="3600" b="1" i="0" u="none" strike="noStrike" baseline="0" dirty="0">
                <a:latin typeface="NewBaskervilleStd-Bold"/>
              </a:rPr>
              <a:t>do-while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6B03-E7C5-A3D1-B370-015D56DB9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141" y="2133600"/>
            <a:ext cx="10016471" cy="377762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do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// body of loop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} while (</a:t>
            </a:r>
            <a:r>
              <a:rPr lang="en-IN" sz="2400" b="1" i="1" u="none" strike="noStrike" baseline="0" dirty="0">
                <a:latin typeface="NewBaskervilleStd-Italic"/>
              </a:rPr>
              <a:t>condition</a:t>
            </a:r>
            <a:r>
              <a:rPr lang="en-IN" sz="2400" b="1" i="0" u="none" strike="noStrike" baseline="0" dirty="0">
                <a:latin typeface="NewBaskervilleStd-Roman"/>
              </a:rPr>
              <a:t>);</a:t>
            </a:r>
          </a:p>
          <a:p>
            <a:pPr marL="0" indent="0" algn="l">
              <a:buNone/>
            </a:pPr>
            <a:endParaRPr lang="en-IN" sz="2400" b="1" i="0" u="none" strike="noStrike" baseline="0" dirty="0">
              <a:latin typeface="NewBaskervilleStd-Roman"/>
            </a:endParaRP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Each iteration of the </a:t>
            </a:r>
            <a:r>
              <a:rPr lang="en-IN" sz="2400" b="1" i="0" u="none" strike="noStrike" baseline="0" dirty="0">
                <a:latin typeface="NewBaskervilleStd-Bold"/>
              </a:rPr>
              <a:t>do-while </a:t>
            </a:r>
            <a:r>
              <a:rPr lang="en-IN" sz="2400" b="1" i="0" u="none" strike="noStrike" baseline="0" dirty="0">
                <a:latin typeface="NewBaskervilleStd-Roman"/>
              </a:rPr>
              <a:t>loop first executes the body of the loop and then evaluates the conditional expression* If this expression is true, the loop will repeat* Otherwise, the loop terminates* As with all of Java’s loops, </a:t>
            </a:r>
            <a:r>
              <a:rPr lang="en-IN" sz="2400" b="1" i="1" u="none" strike="noStrike" baseline="0" dirty="0">
                <a:latin typeface="NewBaskervilleStd-Italic"/>
              </a:rPr>
              <a:t>condition </a:t>
            </a:r>
            <a:r>
              <a:rPr lang="en-IN" sz="2400" b="1" i="0" u="none" strike="noStrike" baseline="0" dirty="0">
                <a:latin typeface="NewBaskervilleStd-Roman"/>
              </a:rPr>
              <a:t>must be a Boolean expression*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34709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908AB-4100-0BB9-126B-D05169D7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35" y="340659"/>
            <a:ext cx="9532377" cy="557056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Demonstrate the do-while loop*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</a:t>
            </a:r>
            <a:r>
              <a:rPr lang="en-IN" sz="2400" b="1" i="0" u="none" strike="noStrike" baseline="0" dirty="0" err="1">
                <a:latin typeface="CourierStd"/>
              </a:rPr>
              <a:t>DoWhile</a:t>
            </a:r>
            <a:r>
              <a:rPr lang="en-IN" sz="2400" b="1" i="0" u="none" strike="noStrike" baseline="0" dirty="0">
                <a:latin typeface="CourierStd"/>
              </a:rPr>
              <a:t>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{</a:t>
            </a:r>
            <a:r>
              <a:rPr lang="en-IN" sz="2400" b="1" dirty="0">
                <a:latin typeface="CourierStd"/>
              </a:rPr>
              <a:t>   </a:t>
            </a:r>
            <a:r>
              <a:rPr lang="en-IN" sz="2400" b="1" i="0" u="none" strike="noStrike" baseline="0" dirty="0">
                <a:latin typeface="CourierStd"/>
              </a:rPr>
              <a:t>int n = 10;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do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System*out*</a:t>
            </a:r>
            <a:r>
              <a:rPr lang="en-IN" sz="2400" b="1" i="0" u="none" strike="noStrike" baseline="0" dirty="0" err="1">
                <a:latin typeface="CourierStd"/>
              </a:rPr>
              <a:t>println</a:t>
            </a:r>
            <a:r>
              <a:rPr lang="en-IN" sz="2400" b="1" i="0" u="none" strike="noStrike" baseline="0" dirty="0">
                <a:latin typeface="CourierStd"/>
              </a:rPr>
              <a:t>("tick " + n);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n--;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} while(n &gt; 0);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88410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AC17-C70D-A3F5-E5BC-D24BBEDE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435" y="624110"/>
            <a:ext cx="9837177" cy="1280890"/>
          </a:xfrm>
        </p:spPr>
        <p:txBody>
          <a:bodyPr/>
          <a:lstStyle/>
          <a:p>
            <a:r>
              <a:rPr lang="en-IN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2A31-A1C9-AFB6-C299-925C2657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188" y="1479176"/>
            <a:ext cx="9774424" cy="4432046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Simple for Loop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b="1" i="0" u="none" strike="noStrike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inter-regular"/>
                <a:hlinkClick r:id="rId2"/>
              </a:rPr>
              <a:t>For-each</a:t>
            </a:r>
            <a:r>
              <a:rPr lang="en-IN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 or Enhanced for Loop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Labeled</a:t>
            </a:r>
            <a:r>
              <a:rPr lang="en-IN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for Loop</a:t>
            </a:r>
          </a:p>
          <a:p>
            <a:pPr marL="0" indent="0" algn="just">
              <a:buNone/>
            </a:pPr>
            <a:endParaRPr lang="en-IN" sz="28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-regular"/>
            </a:endParaRPr>
          </a:p>
          <a:p>
            <a:pPr marL="514350" indent="-514350">
              <a:buFont typeface="+mj-lt"/>
              <a:buAutoNum type="arabicPeriod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85646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40EC-1F38-F556-7DD6-8C25B8B8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5" y="624110"/>
            <a:ext cx="9783388" cy="747490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Java Simple for Loop</a:t>
            </a:r>
            <a:b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71D8-18DC-445B-BEC6-BB80EAE8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282" y="1228165"/>
            <a:ext cx="10052330" cy="4683057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bold"/>
              </a:rPr>
              <a:t>Initialization</a:t>
            </a:r>
            <a:r>
              <a:rPr lang="en-I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: It is the initial condition which is executed once when the loop starts* Here, we can initialize the variable, or we can use an already initialized variable* It is an optional condition*</a:t>
            </a:r>
          </a:p>
          <a:p>
            <a:pPr algn="just">
              <a:buFont typeface="+mj-lt"/>
              <a:buAutoNum type="arabicPeriod"/>
            </a:pP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bold"/>
              </a:rPr>
              <a:t>Condition</a:t>
            </a:r>
            <a:r>
              <a:rPr lang="en-I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: It is the second condition which is executed each time to test the condition of the loop* It continues execution until the condition is false* It must return </a:t>
            </a:r>
            <a:r>
              <a:rPr lang="en-IN" sz="24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boolean</a:t>
            </a:r>
            <a:r>
              <a:rPr lang="en-I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value either true or false* It is an optional condition*</a:t>
            </a:r>
          </a:p>
          <a:p>
            <a:pPr algn="just">
              <a:buFont typeface="+mj-lt"/>
              <a:buAutoNum type="arabicPeriod"/>
            </a:pP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bold"/>
              </a:rPr>
              <a:t>Increment/Decrement</a:t>
            </a:r>
            <a:r>
              <a:rPr lang="en-I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: It increments or decrements the variable value* It is an optional condition*</a:t>
            </a:r>
          </a:p>
          <a:p>
            <a:pPr algn="just">
              <a:buFont typeface="+mj-lt"/>
              <a:buAutoNum type="arabicPeriod"/>
            </a:pP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bold"/>
              </a:rPr>
              <a:t>Statement</a:t>
            </a:r>
            <a:r>
              <a:rPr lang="en-IN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: The statement of the loop is executed each time until the second condition is false*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28326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F925-B916-C0E0-9538-BCD0E06B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Java Simple for Loop</a:t>
            </a:r>
            <a:b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C62B5-BD2A-AFC0-49F1-E929CFAEF912}"/>
              </a:ext>
            </a:extLst>
          </p:cNvPr>
          <p:cNvSpPr txBox="1"/>
          <p:nvPr/>
        </p:nvSpPr>
        <p:spPr>
          <a:xfrm>
            <a:off x="1963271" y="1550894"/>
            <a:ext cx="99508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dirty="0"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(initialization; condition; increment/decrement)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3200" b="0" i="0" dirty="0">
                <a:solidFill>
                  <a:srgbClr val="008200"/>
                </a:solidFill>
                <a:effectLst/>
                <a:latin typeface="inter-regular"/>
              </a:rPr>
              <a:t>   //statement or code to be executed  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3200" dirty="0">
                <a:solidFill>
                  <a:srgbClr val="000000"/>
                </a:solidFill>
                <a:latin typeface="inter-regular"/>
              </a:rPr>
              <a:t>   //  statements</a:t>
            </a:r>
          </a:p>
          <a:p>
            <a:pPr algn="just"/>
            <a:r>
              <a:rPr lang="en-IN" sz="32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</p:spTree>
    <p:extLst>
      <p:ext uri="{BB962C8B-B14F-4D97-AF65-F5344CB8AC3E}">
        <p14:creationId xmlns:p14="http://schemas.microsoft.com/office/powerpoint/2010/main" val="56026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9B7A-8EB8-4026-D972-74C40D0D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666" y="216216"/>
            <a:ext cx="8911687" cy="128089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Java Nested for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D500-75EB-80E4-F915-F373A9676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059" y="941294"/>
            <a:ext cx="9550306" cy="44141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PyramidExample2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{ 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	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term=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6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marL="0" indent="0" algn="just">
              <a:buNone/>
            </a:pP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		for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i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;i&lt;=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term;i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++)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{    	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j=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term;j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&gt;=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i;j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--)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	{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	        System*out*print(</a:t>
            </a:r>
            <a:r>
              <a:rPr lang="en-IN" sz="2400" b="0" i="0" dirty="0">
                <a:solidFill>
                  <a:srgbClr val="0000FF"/>
                </a:solidFill>
                <a:effectLst/>
                <a:latin typeface="inter-regular"/>
              </a:rPr>
              <a:t>"* 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	}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	System*out*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println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();</a:t>
            </a:r>
            <a:r>
              <a:rPr lang="en-IN" sz="2400" b="0" i="0" dirty="0">
                <a:solidFill>
                  <a:srgbClr val="008200"/>
                </a:solidFill>
                <a:effectLst/>
                <a:latin typeface="inter-regular"/>
              </a:rPr>
              <a:t>//new line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	}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 }  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99813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A3FF-89B2-1B9C-92BF-365B80EE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Java for-each Loop</a:t>
            </a:r>
            <a:b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02977-EC5A-A396-4B6E-544261A82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188" y="1192305"/>
            <a:ext cx="9774424" cy="582705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 for-each loop is used to traverse array or collection in Java* It is easier to use than simple for loop because we don't need to increment value and use subscript notation*</a:t>
            </a:r>
          </a:p>
          <a:p>
            <a:pPr algn="just"/>
            <a:r>
              <a:rPr lang="en-IN" sz="2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It works on the basis of elements and not the index* It returns element one by one in the defined variable*</a:t>
            </a:r>
          </a:p>
          <a:p>
            <a:pPr algn="just"/>
            <a:r>
              <a:rPr lang="en-IN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bold"/>
              </a:rPr>
              <a:t>Syntax:</a:t>
            </a:r>
            <a:endParaRPr lang="en-IN" sz="2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inter-regular"/>
            </a:endParaRPr>
          </a:p>
          <a:p>
            <a:pPr marL="0" indent="0" algn="just">
              <a:buNone/>
            </a:pP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data_type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variable :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array_name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8200"/>
                </a:solidFill>
                <a:effectLst/>
                <a:latin typeface="inter-regular"/>
              </a:rPr>
              <a:t>	//code to be executed  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 //EXAMPLE 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arr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[]={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12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23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44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56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400" b="0" i="0" dirty="0">
                <a:solidFill>
                  <a:srgbClr val="C00000"/>
                </a:solidFill>
                <a:effectLst/>
                <a:latin typeface="inter-regular"/>
              </a:rPr>
              <a:t>78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};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8200"/>
                </a:solidFill>
                <a:effectLst/>
                <a:latin typeface="inter-regular"/>
              </a:rPr>
              <a:t>   //Printing array using for-each loop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     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4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 i:arr)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             System*out*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println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inter-regular"/>
              </a:rPr>
              <a:t>i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marL="0" indent="0" algn="just">
              <a:buNone/>
            </a:pPr>
            <a:endParaRPr lang="en-IN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IN" sz="2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inter-regular"/>
            </a:endParaRPr>
          </a:p>
          <a:p>
            <a:pPr marL="0" indent="0" algn="just">
              <a:buNone/>
            </a:pPr>
            <a:endParaRPr lang="en-IN" sz="2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55781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4FC1-B555-1F94-1E9C-6DDDEF8F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788" y="1054416"/>
            <a:ext cx="9164824" cy="5287112"/>
          </a:xfrm>
        </p:spPr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ForEachExample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  public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     {     </a:t>
            </a:r>
            <a:r>
              <a:rPr lang="en-IN" sz="2800" b="0" i="0" dirty="0">
                <a:solidFill>
                  <a:srgbClr val="008200"/>
                </a:solidFill>
                <a:effectLst/>
                <a:latin typeface="inter-regular"/>
              </a:rPr>
              <a:t>//Declaring an array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arr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[]={</a:t>
            </a:r>
            <a:r>
              <a:rPr lang="en-IN" sz="2800" b="0" i="0" dirty="0">
                <a:solidFill>
                  <a:srgbClr val="C00000"/>
                </a:solidFill>
                <a:effectLst/>
                <a:latin typeface="inter-regular"/>
              </a:rPr>
              <a:t>12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800" b="0" i="0" dirty="0">
                <a:solidFill>
                  <a:srgbClr val="C00000"/>
                </a:solidFill>
                <a:effectLst/>
                <a:latin typeface="inter-regular"/>
              </a:rPr>
              <a:t>23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800" b="0" i="0" dirty="0">
                <a:solidFill>
                  <a:srgbClr val="C00000"/>
                </a:solidFill>
                <a:effectLst/>
                <a:latin typeface="inter-regular"/>
              </a:rPr>
              <a:t>44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800" b="0" i="0" dirty="0">
                <a:solidFill>
                  <a:srgbClr val="C00000"/>
                </a:solidFill>
                <a:effectLst/>
                <a:latin typeface="inter-regular"/>
              </a:rPr>
              <a:t>56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sz="2800" b="0" i="0" dirty="0">
                <a:solidFill>
                  <a:srgbClr val="C00000"/>
                </a:solidFill>
                <a:effectLst/>
                <a:latin typeface="inter-regular"/>
              </a:rPr>
              <a:t>78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};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sz="2800" b="0" i="0" dirty="0">
                <a:solidFill>
                  <a:srgbClr val="008200"/>
                </a:solidFill>
                <a:effectLst/>
                <a:latin typeface="inter-regular"/>
              </a:rPr>
              <a:t>//Printing array using for-each loop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          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i:arr)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           {      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System.out</a:t>
            </a:r>
            <a:r>
              <a:rPr lang="en-IN" sz="2800" dirty="0" err="1">
                <a:solidFill>
                  <a:srgbClr val="000000"/>
                </a:solidFill>
                <a:latin typeface="inter-regular"/>
              </a:rPr>
              <a:t>.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println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2800" b="0" i="0" dirty="0" err="1">
                <a:solidFill>
                  <a:srgbClr val="000000"/>
                </a:solidFill>
                <a:effectLst/>
                <a:latin typeface="inter-regular"/>
              </a:rPr>
              <a:t>i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            }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       }  </a:t>
            </a:r>
          </a:p>
          <a:p>
            <a:pPr algn="just">
              <a:buFont typeface="+mj-lt"/>
              <a:buAutoNum type="arabicPeriod"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9784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6B43-438E-B50C-306E-1D98D007D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089" y="68298"/>
            <a:ext cx="8911687" cy="128089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Java </a:t>
            </a:r>
            <a:r>
              <a:rPr lang="en-IN" b="0" i="0" dirty="0" err="1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Labeled</a:t>
            </a:r>
            <a: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 For Loop</a:t>
            </a:r>
            <a:br>
              <a:rPr lang="en-IN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0A45-593D-9B57-A73F-0FEFDD3E9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224" y="627529"/>
            <a:ext cx="9783388" cy="60780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  <a:t>//A Java program to demonstrate the use of </a:t>
            </a:r>
            <a:r>
              <a:rPr lang="en-IN" sz="2000" b="1" dirty="0" err="1">
                <a:solidFill>
                  <a:srgbClr val="E65D00"/>
                </a:solidFill>
                <a:latin typeface="Courier New" panose="02070309020205020404" pitchFamily="49" charset="0"/>
              </a:rPr>
              <a:t>labeled</a:t>
            </a:r>
            <a: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  <a:t> for loop  </a:t>
            </a:r>
            <a:b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LabeledForExample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main(String[]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{   </a:t>
            </a:r>
            <a: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  <a:t>//Using Label for outer and for loop  </a:t>
            </a:r>
            <a:b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aa: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=1;i&lt;=3;i++)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{   bb: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j=1;j&lt;=3;j++)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{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==2 &amp;&amp; j==2)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{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break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aa;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}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System*out*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+j);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}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}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83834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8D98-A06E-79FE-C2C1-660ED2E2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B4E3E2-23D8-87C4-3AB0-4F36E7AF1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570987"/>
              </p:ext>
            </p:extLst>
          </p:nvPr>
        </p:nvGraphicFramePr>
        <p:xfrm>
          <a:off x="254524" y="86658"/>
          <a:ext cx="11774079" cy="6717489"/>
        </p:xfrm>
        <a:graphic>
          <a:graphicData uri="http://schemas.openxmlformats.org/drawingml/2006/table">
            <a:tbl>
              <a:tblPr/>
              <a:tblGrid>
                <a:gridCol w="1550253">
                  <a:extLst>
                    <a:ext uri="{9D8B030D-6E8A-4147-A177-3AD203B41FA5}">
                      <a16:colId xmlns:a16="http://schemas.microsoft.com/office/drawing/2014/main" val="2751979693"/>
                    </a:ext>
                  </a:extLst>
                </a:gridCol>
                <a:gridCol w="2891699">
                  <a:extLst>
                    <a:ext uri="{9D8B030D-6E8A-4147-A177-3AD203B41FA5}">
                      <a16:colId xmlns:a16="http://schemas.microsoft.com/office/drawing/2014/main" val="3222202286"/>
                    </a:ext>
                  </a:extLst>
                </a:gridCol>
                <a:gridCol w="3505550">
                  <a:extLst>
                    <a:ext uri="{9D8B030D-6E8A-4147-A177-3AD203B41FA5}">
                      <a16:colId xmlns:a16="http://schemas.microsoft.com/office/drawing/2014/main" val="3819958723"/>
                    </a:ext>
                  </a:extLst>
                </a:gridCol>
                <a:gridCol w="3826577">
                  <a:extLst>
                    <a:ext uri="{9D8B030D-6E8A-4147-A177-3AD203B41FA5}">
                      <a16:colId xmlns:a16="http://schemas.microsoft.com/office/drawing/2014/main" val="1547698253"/>
                    </a:ext>
                  </a:extLst>
                </a:gridCol>
              </a:tblGrid>
              <a:tr h="32775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C7CCBE"/>
                          </a:highlight>
                          <a:latin typeface="times new roman" panose="02020603050405020304" pitchFamily="18" charset="0"/>
                        </a:rPr>
                        <a:t>Comparison</a:t>
                      </a:r>
                    </a:p>
                  </a:txBody>
                  <a:tcPr marL="29365" marR="29365" marT="29365" marB="29365">
                    <a:lnL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000000"/>
                          </a:solidFill>
                          <a:effectLst/>
                          <a:highlight>
                            <a:srgbClr val="C7CCBE"/>
                          </a:highlight>
                          <a:latin typeface="times new roman" panose="02020603050405020304" pitchFamily="18" charset="0"/>
                        </a:rPr>
                        <a:t>for loop</a:t>
                      </a:r>
                    </a:p>
                  </a:txBody>
                  <a:tcPr marL="29365" marR="29365" marT="29365" marB="29365">
                    <a:lnL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C7CCBE"/>
                          </a:highlight>
                          <a:latin typeface="times new roman" panose="02020603050405020304" pitchFamily="18" charset="0"/>
                        </a:rPr>
                        <a:t>while loop</a:t>
                      </a:r>
                    </a:p>
                  </a:txBody>
                  <a:tcPr marL="29365" marR="29365" marT="29365" marB="29365">
                    <a:lnL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000000"/>
                          </a:solidFill>
                          <a:effectLst/>
                          <a:highlight>
                            <a:srgbClr val="C7CCBE"/>
                          </a:highlight>
                          <a:latin typeface="times new roman" panose="02020603050405020304" pitchFamily="18" charset="0"/>
                        </a:rPr>
                        <a:t>do-while loop</a:t>
                      </a:r>
                    </a:p>
                  </a:txBody>
                  <a:tcPr marL="29365" marR="29365" marT="29365" marB="29365">
                    <a:lnL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0CC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752766"/>
                  </a:ext>
                </a:extLst>
              </a:tr>
              <a:tr h="138830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Introduction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Java for loop is a control flow statement that iterates a part of the </a:t>
                      </a:r>
                      <a:r>
                        <a:rPr lang="en-IN" sz="1800" b="1" u="none" strike="noStrike" dirty="0">
                          <a:solidFill>
                            <a:srgbClr val="008000"/>
                          </a:solidFill>
                          <a:effectLst/>
                          <a:latin typeface="inter-regular"/>
                          <a:hlinkClick r:id="rId2"/>
                        </a:rPr>
                        <a:t>programs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multiple times*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Java while loop is a control flow statement that executes a part of the programs repeatedly on the basis of given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condition*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The Java do while loop is a control flow statement that executes a part of the programs at least once and the further execution depends upon the given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condition*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132637"/>
                  </a:ext>
                </a:extLst>
              </a:tr>
              <a:tr h="1154507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When to use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If the number of iteration is fixed, it is recommended to use for loop*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If the number of iteration is not fixed, it is recommended to use while loop*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If the number of iteration is not fixed and you must have to execute the loop at least once, it is recommended to use the do-while loop*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55801"/>
                  </a:ext>
                </a:extLst>
              </a:tr>
              <a:tr h="1015757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Syntax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for(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init;condition;incr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decr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 code to be executed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while(condition){</a:t>
                      </a:r>
                      <a:b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//code to be executed</a:t>
                      </a:r>
                      <a:b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do{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//code to be executed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}while(condition);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97416"/>
                  </a:ext>
                </a:extLst>
              </a:tr>
              <a:tr h="165826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Example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//for loop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for(int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=1;i&lt;=10;i++)</a:t>
                      </a:r>
                    </a:p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    System*out*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println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);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//while loop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=1;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while(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&lt;=10)</a:t>
                      </a:r>
                    </a:p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  System*out*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println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); 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++;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//do-while loop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int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=1;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do</a:t>
                      </a:r>
                    </a:p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{  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  System*out*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println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);   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++;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}while(</a:t>
                      </a:r>
                      <a:r>
                        <a:rPr lang="en-IN" sz="1800" b="1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</a:t>
                      </a: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&lt;=10);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472782"/>
                  </a:ext>
                </a:extLst>
              </a:tr>
              <a:tr h="1118351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Syntax for infinitive loop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for(;;){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//code to be executed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while(true){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//code to be executed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do{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//code to be executed</a:t>
                      </a:r>
                      <a:b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</a:br>
                      <a:r>
                        <a:rPr lang="en-IN" sz="1800" b="1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}while(true);</a:t>
                      </a:r>
                    </a:p>
                  </a:txBody>
                  <a:tcPr marL="19576" marR="19576" marT="19576" marB="19576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317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359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5BFB-9CE4-D3B7-D4D0-443FBA42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i="0" u="none" strike="noStrike" baseline="0" dirty="0">
                <a:latin typeface="DINMittelEFOP-Bold"/>
              </a:rPr>
              <a:t>Using the Comma</a:t>
            </a:r>
            <a:br>
              <a:rPr lang="en-IN" sz="3600" b="1" i="0" u="none" strike="noStrike" baseline="0" dirty="0">
                <a:latin typeface="DINMittelEFOP-Bold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385F-74CB-295C-67ED-D93AEAECA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0918"/>
            <a:ext cx="9523412" cy="4620304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There will be times when you will want to include more than one statement in the initialization and iteration portions of the </a:t>
            </a:r>
            <a:r>
              <a:rPr lang="en-IN" sz="2000" b="1" i="0" u="none" strike="noStrike" baseline="0" dirty="0">
                <a:latin typeface="NewBaskervilleStd-Bold"/>
              </a:rPr>
              <a:t>for </a:t>
            </a:r>
            <a:r>
              <a:rPr lang="en-IN" sz="2000" b="1" i="0" u="none" strike="noStrike" baseline="0" dirty="0">
                <a:latin typeface="NewBaskervilleStd-Roman"/>
              </a:rPr>
              <a:t>loop*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class Sample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{    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    </a:t>
            </a:r>
            <a:r>
              <a:rPr lang="en-IN" sz="2000" b="1" i="0" u="none" strike="noStrike" baseline="0" dirty="0">
                <a:latin typeface="CourierStd"/>
              </a:rPr>
              <a:t>{   int a, b;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b = 4;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for(a=1; a&lt;b; a++) 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        </a:t>
            </a:r>
            <a:r>
              <a:rPr lang="en-IN" sz="2000" b="1" i="0" u="none" strike="noStrike" baseline="0" dirty="0">
                <a:latin typeface="CourierStd"/>
              </a:rPr>
              <a:t>{ System*out*</a:t>
            </a:r>
            <a:r>
              <a:rPr lang="en-IN" sz="2000" b="1" i="0" u="none" strike="noStrike" baseline="0" dirty="0" err="1">
                <a:latin typeface="CourierStd"/>
              </a:rPr>
              <a:t>println</a:t>
            </a:r>
            <a:r>
              <a:rPr lang="en-IN" sz="2000" b="1" i="0" u="none" strike="noStrike" baseline="0" dirty="0">
                <a:latin typeface="CourierStd"/>
              </a:rPr>
              <a:t>("a = " + a);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  System*out*</a:t>
            </a:r>
            <a:r>
              <a:rPr lang="en-IN" sz="2000" b="1" i="0" u="none" strike="noStrike" baseline="0" dirty="0" err="1">
                <a:latin typeface="CourierStd"/>
              </a:rPr>
              <a:t>println</a:t>
            </a:r>
            <a:r>
              <a:rPr lang="en-IN" sz="2000" b="1" i="0" u="none" strike="noStrike" baseline="0" dirty="0">
                <a:latin typeface="CourierStd"/>
              </a:rPr>
              <a:t>("b = " + b);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  b--;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18030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B5D1-B481-1333-7D89-AFFA0858B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65" y="869576"/>
            <a:ext cx="9209647" cy="504164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// </a:t>
            </a:r>
            <a:r>
              <a:rPr lang="en-IN" sz="1800" b="0" i="0" u="none" strike="noStrike" baseline="0" dirty="0">
                <a:latin typeface="NewBaskervilleStd-Roman"/>
              </a:rPr>
              <a:t>Using the comma, the preceding </a:t>
            </a:r>
            <a:r>
              <a:rPr lang="en-IN" sz="1800" b="1" i="0" u="none" strike="noStrike" baseline="0" dirty="0">
                <a:latin typeface="NewBaskervilleStd-Bold"/>
              </a:rPr>
              <a:t>for </a:t>
            </a:r>
            <a:r>
              <a:rPr lang="en-IN" sz="1800" b="0" i="0" u="none" strike="noStrike" baseline="0" dirty="0">
                <a:latin typeface="NewBaskervilleStd-Roman"/>
              </a:rPr>
              <a:t>loop can be more efficiently coded, as shown here:</a:t>
            </a:r>
            <a:endParaRPr lang="en-IN" sz="2000" b="1" i="0" u="none" strike="noStrike" baseline="0" dirty="0">
              <a:latin typeface="CourierStd"/>
            </a:endParaRP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class Sample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{    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    </a:t>
            </a:r>
            <a:r>
              <a:rPr lang="en-IN" sz="2000" b="1" i="0" u="none" strike="noStrike" baseline="0" dirty="0">
                <a:latin typeface="CourierStd"/>
              </a:rPr>
              <a:t>{   int a, b;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for(a=1, b=4; a&lt;b; a++, b--) 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        </a:t>
            </a:r>
            <a:r>
              <a:rPr lang="en-IN" sz="2000" b="1" i="0" u="none" strike="noStrike" baseline="0" dirty="0">
                <a:latin typeface="CourierStd"/>
              </a:rPr>
              <a:t>{ System*out*</a:t>
            </a:r>
            <a:r>
              <a:rPr lang="en-IN" sz="2000" b="1" i="0" u="none" strike="noStrike" baseline="0" dirty="0" err="1">
                <a:latin typeface="CourierStd"/>
              </a:rPr>
              <a:t>println</a:t>
            </a:r>
            <a:r>
              <a:rPr lang="en-IN" sz="2000" b="1" i="0" u="none" strike="noStrike" baseline="0" dirty="0">
                <a:latin typeface="CourierStd"/>
              </a:rPr>
              <a:t>("a = " + a);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  System*out*</a:t>
            </a:r>
            <a:r>
              <a:rPr lang="en-IN" sz="2000" b="1" i="0" u="none" strike="noStrike" baseline="0" dirty="0" err="1">
                <a:latin typeface="CourierStd"/>
              </a:rPr>
              <a:t>println</a:t>
            </a:r>
            <a:r>
              <a:rPr lang="en-IN" sz="2000" b="1" i="0" u="none" strike="noStrike" baseline="0" dirty="0">
                <a:latin typeface="CourierStd"/>
              </a:rPr>
              <a:t>("b = " + b);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   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     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000" b="1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4151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E7CE-86DA-7672-5755-7003433E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07106"/>
          </a:xfrm>
        </p:spPr>
        <p:txBody>
          <a:bodyPr>
            <a:normAutofit fontScale="90000"/>
          </a:bodyPr>
          <a:lstStyle/>
          <a:p>
            <a:r>
              <a:rPr lang="en-IN" sz="3600" b="1" i="0" u="none" strike="noStrike" baseline="0" dirty="0">
                <a:latin typeface="DINMittelEFOP-Bold"/>
              </a:rPr>
              <a:t>Nested 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69D12-259C-F0EB-11C7-856FC186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080" y="1234911"/>
            <a:ext cx="9647532" cy="467631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Like all other programming languages, Java allows loops to be nested* That is, one loop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may be inside another* For example, here is a program that nests </a:t>
            </a:r>
            <a:r>
              <a:rPr lang="en-IN" sz="2000" b="1" i="0" u="none" strike="noStrike" baseline="0" dirty="0">
                <a:latin typeface="NewBaskervilleStd-Bold"/>
              </a:rPr>
              <a:t>for </a:t>
            </a:r>
            <a:r>
              <a:rPr lang="en-IN" sz="2000" b="1" i="0" u="none" strike="noStrike" baseline="0" dirty="0">
                <a:latin typeface="NewBaskervilleStd-Roman"/>
              </a:rPr>
              <a:t>loops: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// Loops may be nested*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class Nested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{  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   </a:t>
            </a:r>
            <a:r>
              <a:rPr lang="en-IN" sz="2000" b="1" i="0" u="none" strike="noStrike" baseline="0" dirty="0">
                <a:latin typeface="CourierStd"/>
              </a:rPr>
              <a:t>{  int </a:t>
            </a:r>
            <a:r>
              <a:rPr lang="en-IN" sz="2000" b="1" i="0" u="none" strike="noStrike" baseline="0" dirty="0" err="1">
                <a:latin typeface="CourierStd"/>
              </a:rPr>
              <a:t>i</a:t>
            </a:r>
            <a:r>
              <a:rPr lang="en-IN" sz="2000" b="1" i="0" u="none" strike="noStrike" baseline="0" dirty="0">
                <a:latin typeface="CourierStd"/>
              </a:rPr>
              <a:t>, j;</a:t>
            </a:r>
          </a:p>
          <a:p>
            <a:pPr marL="0" indent="0" algn="l">
              <a:buNone/>
            </a:pPr>
            <a:r>
              <a:rPr lang="nn-NO" sz="2000" b="1" i="0" u="none" strike="noStrike" baseline="0" dirty="0">
                <a:latin typeface="CourierStd"/>
              </a:rPr>
              <a:t>		for(i=0; i&lt;10; i++) </a:t>
            </a:r>
          </a:p>
          <a:p>
            <a:pPr marL="0" indent="0" algn="l">
              <a:buNone/>
            </a:pPr>
            <a:r>
              <a:rPr lang="nn-NO" sz="2000" b="1" dirty="0">
                <a:latin typeface="CourierStd"/>
              </a:rPr>
              <a:t>		</a:t>
            </a:r>
            <a:r>
              <a:rPr lang="nn-NO" sz="2000" b="1" i="0" u="none" strike="noStrike" baseline="0" dirty="0">
                <a:latin typeface="CourierStd"/>
              </a:rPr>
              <a:t>{    </a:t>
            </a:r>
            <a:r>
              <a:rPr lang="en-IN" sz="2000" b="1" i="0" u="none" strike="noStrike" baseline="0" dirty="0">
                <a:latin typeface="CourierStd"/>
              </a:rPr>
              <a:t>for(j=</a:t>
            </a:r>
            <a:r>
              <a:rPr lang="en-IN" sz="2000" b="1" i="0" u="none" strike="noStrike" baseline="0" dirty="0" err="1">
                <a:latin typeface="CourierStd"/>
              </a:rPr>
              <a:t>i</a:t>
            </a:r>
            <a:r>
              <a:rPr lang="en-IN" sz="2000" b="1" i="0" u="none" strike="noStrike" baseline="0" dirty="0">
                <a:latin typeface="CourierStd"/>
              </a:rPr>
              <a:t>; j&lt;10; </a:t>
            </a:r>
            <a:r>
              <a:rPr lang="en-IN" sz="2000" b="1" i="0" u="none" strike="noStrike" baseline="0" dirty="0" err="1">
                <a:latin typeface="CourierStd"/>
              </a:rPr>
              <a:t>j++</a:t>
            </a:r>
            <a:r>
              <a:rPr lang="en-IN" sz="2000" b="1" i="0" u="none" strike="noStrike" baseline="0" dirty="0">
                <a:latin typeface="CourierStd"/>
              </a:rPr>
              <a:t>)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     System*out*print(“ * ");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</a:t>
            </a:r>
            <a:r>
              <a:rPr lang="en-IN" sz="2000" b="1" dirty="0">
                <a:latin typeface="CourierStd"/>
              </a:rPr>
              <a:t> </a:t>
            </a:r>
            <a:r>
              <a:rPr lang="en-IN" sz="2000" b="1" i="0" u="none" strike="noStrike" baseline="0" dirty="0">
                <a:latin typeface="CourierStd"/>
              </a:rPr>
              <a:t>System*out*</a:t>
            </a:r>
            <a:r>
              <a:rPr lang="en-IN" sz="2000" b="1" i="0" u="none" strike="noStrike" baseline="0" dirty="0" err="1">
                <a:latin typeface="CourierStd"/>
              </a:rPr>
              <a:t>println</a:t>
            </a:r>
            <a:r>
              <a:rPr lang="en-IN" sz="2000" b="1" i="0" u="none" strike="noStrike" baseline="0" dirty="0">
                <a:latin typeface="CourierStd"/>
              </a:rPr>
              <a:t>();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70744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1A12F-35CD-CA74-2467-CE7F70C51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177" y="565608"/>
            <a:ext cx="9402435" cy="534561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IN" sz="2400" b="0" i="0" u="none" strike="noStrike" baseline="0" dirty="0">
                <a:latin typeface="NewBaskervilleStd-Roman"/>
              </a:rPr>
              <a:t>The output produced by this program is shown here: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**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*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33056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765B-0011-CDD5-32A2-7B2E93C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52203"/>
          </a:xfrm>
        </p:spPr>
        <p:txBody>
          <a:bodyPr>
            <a:noAutofit/>
          </a:bodyPr>
          <a:lstStyle/>
          <a:p>
            <a:r>
              <a:rPr lang="en-IN" sz="3200" b="1" i="0" u="none" strike="noStrike" baseline="0" dirty="0">
                <a:latin typeface="DINMittelEFOP-Bold"/>
              </a:rPr>
              <a:t>Jump Statements  </a:t>
            </a:r>
            <a:br>
              <a:rPr lang="en-IN" sz="3200" b="1" i="0" u="none" strike="noStrike" baseline="0" dirty="0">
                <a:latin typeface="DINMittelEFOP-Bold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2FF1-AABB-D5F8-686E-3EE04332B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859" y="1376312"/>
            <a:ext cx="8915400" cy="4769963"/>
          </a:xfrm>
        </p:spPr>
        <p:txBody>
          <a:bodyPr>
            <a:norm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Java supports three jump statements: </a:t>
            </a:r>
            <a:r>
              <a:rPr lang="en-IN" sz="2400" b="1" i="0" u="none" strike="noStrike" baseline="0" dirty="0">
                <a:latin typeface="NewBaskervilleStd-Bold"/>
              </a:rPr>
              <a:t>break</a:t>
            </a:r>
            <a:r>
              <a:rPr lang="en-IN" sz="2400" b="0" i="0" u="none" strike="noStrike" baseline="0" dirty="0">
                <a:latin typeface="NewBaskervilleStd-Roman"/>
              </a:rPr>
              <a:t>, </a:t>
            </a:r>
            <a:r>
              <a:rPr lang="en-IN" sz="2400" b="1" i="0" u="none" strike="noStrike" baseline="0" dirty="0">
                <a:latin typeface="NewBaskervilleStd-Bold"/>
              </a:rPr>
              <a:t>continue</a:t>
            </a:r>
            <a:r>
              <a:rPr lang="en-IN" sz="2400" b="0" i="0" u="none" strike="noStrike" baseline="0" dirty="0">
                <a:latin typeface="NewBaskervilleStd-Roman"/>
              </a:rPr>
              <a:t>, and </a:t>
            </a:r>
            <a:r>
              <a:rPr lang="en-IN" sz="2400" b="1" i="0" u="none" strike="noStrike" baseline="0" dirty="0">
                <a:latin typeface="NewBaskervilleStd-Bold"/>
              </a:rPr>
              <a:t>return</a:t>
            </a:r>
            <a:r>
              <a:rPr lang="en-IN" sz="2400" b="0" i="0" u="none" strike="noStrike" baseline="0" dirty="0">
                <a:latin typeface="NewBaskervilleStd-Roman"/>
              </a:rPr>
              <a:t>. These statements transfer control to another part of your program.</a:t>
            </a:r>
          </a:p>
          <a:p>
            <a:pPr algn="l"/>
            <a:r>
              <a:rPr lang="en-IN" sz="2400" b="1" i="0" u="none" strike="noStrike" baseline="0" dirty="0">
                <a:latin typeface="DINMittelEFOP-Bold"/>
              </a:rPr>
              <a:t>Using break : </a:t>
            </a:r>
            <a:r>
              <a:rPr lang="en-IN" sz="2400" b="0" i="0" u="none" strike="noStrike" baseline="0" dirty="0">
                <a:latin typeface="NewBaskervilleStd-Roman"/>
              </a:rPr>
              <a:t>In Java, the </a:t>
            </a:r>
            <a:r>
              <a:rPr lang="en-IN" sz="2400" b="1" i="0" u="none" strike="noStrike" baseline="0" dirty="0">
                <a:latin typeface="NewBaskervilleStd-Bold"/>
              </a:rPr>
              <a:t>break </a:t>
            </a:r>
            <a:r>
              <a:rPr lang="en-IN" sz="2400" b="0" i="0" u="none" strike="noStrike" baseline="0" dirty="0">
                <a:latin typeface="NewBaskervilleStd-Roman"/>
              </a:rPr>
              <a:t>statement has three uses. First, as you have seen, it terminates a statement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sequence in a </a:t>
            </a:r>
            <a:r>
              <a:rPr lang="en-IN" sz="2400" b="1" i="0" u="none" strike="noStrike" baseline="0" dirty="0">
                <a:latin typeface="NewBaskervilleStd-Bold"/>
              </a:rPr>
              <a:t>switch </a:t>
            </a:r>
            <a:r>
              <a:rPr lang="en-IN" sz="2400" b="0" i="0" u="none" strike="noStrike" baseline="0" dirty="0">
                <a:latin typeface="NewBaskervilleStd-Roman"/>
              </a:rPr>
              <a:t>statement. Second, it can be used to exit a loop. Third, it can be used as a “civilized” form of </a:t>
            </a:r>
            <a:r>
              <a:rPr lang="en-IN" sz="2400" b="0" i="0" u="none" strike="noStrike" baseline="0" dirty="0" err="1">
                <a:latin typeface="NewBaskervilleStd-Roman"/>
              </a:rPr>
              <a:t>goto</a:t>
            </a:r>
            <a:r>
              <a:rPr lang="en-IN" sz="2400" b="0" i="0" u="none" strike="noStrike" baseline="0" dirty="0">
                <a:latin typeface="NewBaskervilleStd-Roman"/>
              </a:rPr>
              <a:t>.</a:t>
            </a:r>
            <a:endParaRPr lang="en-IN" sz="2400" b="1" i="0" u="none" strike="noStrike" baseline="0" dirty="0">
              <a:latin typeface="NewBaskervilleStd-Roman"/>
            </a:endParaRPr>
          </a:p>
          <a:p>
            <a:pPr algn="l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63470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1312-085D-09C2-C629-F8D09FC1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break to Exit a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BF6F-F49C-189F-FFD9-B71F7631D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410" y="1211344"/>
            <a:ext cx="9958616" cy="5646656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IN" sz="2400" b="0" i="0" u="none" strike="noStrike" baseline="0" dirty="0">
                <a:latin typeface="NewBaskervilleStd-Roman"/>
              </a:rPr>
              <a:t>By using </a:t>
            </a:r>
            <a:r>
              <a:rPr lang="en-IN" sz="2400" b="1" i="0" u="none" strike="noStrike" baseline="0" dirty="0">
                <a:latin typeface="NewBaskervilleStd-Bold"/>
              </a:rPr>
              <a:t>break</a:t>
            </a:r>
            <a:r>
              <a:rPr lang="en-IN" sz="2400" b="0" i="0" u="none" strike="noStrike" baseline="0" dirty="0">
                <a:latin typeface="NewBaskervilleStd-Roman"/>
              </a:rPr>
              <a:t>, you can force immediate termination of a loop, bypassing the conditional expression and any remaining code in the body of the loop. When a </a:t>
            </a:r>
            <a:r>
              <a:rPr lang="en-IN" sz="2400" b="1" i="0" u="none" strike="noStrike" baseline="0" dirty="0">
                <a:latin typeface="NewBaskervilleStd-Bold"/>
              </a:rPr>
              <a:t>break </a:t>
            </a:r>
            <a:r>
              <a:rPr lang="en-IN" sz="2400" b="0" i="0" u="none" strike="noStrike" baseline="0" dirty="0">
                <a:latin typeface="NewBaskervilleStd-Roman"/>
              </a:rPr>
              <a:t>statement is encountered inside a loop, the loop is terminated and program control resumes at the next statement following the loop.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// Using break to exit a loop.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class </a:t>
            </a:r>
            <a:r>
              <a:rPr lang="en-IN" sz="2000" b="1" i="0" u="none" strike="noStrike" baseline="0" dirty="0" err="1">
                <a:latin typeface="CourierStd"/>
              </a:rPr>
              <a:t>BreakLoop</a:t>
            </a:r>
            <a:r>
              <a:rPr lang="en-IN" sz="2000" b="1" i="0" u="none" strike="noStrike" baseline="0" dirty="0">
                <a:latin typeface="CourierStd"/>
              </a:rPr>
              <a:t> {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{</a:t>
            </a:r>
          </a:p>
          <a:p>
            <a:pPr marL="0" indent="0" algn="l">
              <a:buNone/>
            </a:pPr>
            <a:r>
              <a:rPr lang="nn-NO" sz="2000" b="1" i="0" u="none" strike="noStrike" baseline="0" dirty="0">
                <a:latin typeface="CourierStd"/>
              </a:rPr>
              <a:t>		for(int i=0; i&lt;100; i++) {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if(</a:t>
            </a:r>
            <a:r>
              <a:rPr lang="en-IN" sz="2000" b="1" i="0" u="none" strike="noStrike" baseline="0" dirty="0" err="1">
                <a:latin typeface="CourierStd"/>
              </a:rPr>
              <a:t>i</a:t>
            </a:r>
            <a:r>
              <a:rPr lang="en-IN" sz="2000" b="1" i="0" u="none" strike="noStrike" baseline="0" dirty="0">
                <a:latin typeface="CourierStd"/>
              </a:rPr>
              <a:t> == 10) break; // terminate loop if </a:t>
            </a:r>
            <a:r>
              <a:rPr lang="en-IN" sz="2000" b="1" i="0" u="none" strike="noStrike" baseline="0" dirty="0" err="1">
                <a:latin typeface="CourierStd"/>
              </a:rPr>
              <a:t>i</a:t>
            </a:r>
            <a:r>
              <a:rPr lang="en-IN" sz="2000" b="1" i="0" u="none" strike="noStrike" baseline="0" dirty="0">
                <a:latin typeface="CourierStd"/>
              </a:rPr>
              <a:t> is 10</a:t>
            </a:r>
          </a:p>
          <a:p>
            <a:pPr marL="0" indent="0" algn="l">
              <a:buNone/>
            </a:pPr>
            <a:r>
              <a:rPr lang="nn-NO" sz="2000" b="1" i="0" u="none" strike="noStrike" baseline="0" dirty="0">
                <a:latin typeface="CourierStd"/>
              </a:rPr>
              <a:t>				System.out.println("i: " + i);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</a:t>
            </a:r>
            <a:r>
              <a:rPr lang="en-IN" sz="2000" b="1" i="0" u="none" strike="noStrike" baseline="0" dirty="0" err="1">
                <a:latin typeface="CourierStd"/>
              </a:rPr>
              <a:t>System.out.println</a:t>
            </a:r>
            <a:r>
              <a:rPr lang="en-IN" sz="2000" b="1" i="0" u="none" strike="noStrike" baseline="0" dirty="0">
                <a:latin typeface="CourierStd"/>
              </a:rPr>
              <a:t>("Loop complete.");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38400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A702-E524-ACA1-8713-050DC4865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008" y="0"/>
            <a:ext cx="8911687" cy="1280890"/>
          </a:xfrm>
        </p:spPr>
        <p:txBody>
          <a:bodyPr/>
          <a:lstStyle/>
          <a:p>
            <a:r>
              <a:rPr lang="en-IN" dirty="0"/>
              <a:t>Inside block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6C68-F2B9-6BEE-5B98-FA2526264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848" y="537327"/>
            <a:ext cx="10118872" cy="6740166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b="1" i="0" u="none" strike="noStrike" baseline="0" dirty="0">
                <a:latin typeface="NewBaskervilleStd-Roman"/>
              </a:rPr>
              <a:t>When used inside a set of nested loops, the </a:t>
            </a:r>
            <a:r>
              <a:rPr lang="en-IN" sz="2000" b="1" i="0" u="none" strike="noStrike" baseline="0" dirty="0">
                <a:latin typeface="NewBaskervilleStd-Bold"/>
              </a:rPr>
              <a:t>break </a:t>
            </a:r>
            <a:r>
              <a:rPr lang="en-IN" sz="2000" b="1" i="0" u="none" strike="noStrike" baseline="0" dirty="0">
                <a:latin typeface="NewBaskervilleStd-Roman"/>
              </a:rPr>
              <a:t>statement will only break out of the innermost loop. For example: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// Using break with nested loops.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class BreakLoop3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{	public static void main(String </a:t>
            </a:r>
            <a:r>
              <a:rPr lang="en-IN" sz="2000" b="1" i="0" u="none" strike="noStrike" baseline="0" dirty="0" err="1">
                <a:latin typeface="CourierStd"/>
              </a:rPr>
              <a:t>args</a:t>
            </a:r>
            <a:r>
              <a:rPr lang="en-IN" sz="20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{    </a:t>
            </a:r>
            <a:r>
              <a:rPr lang="nn-NO" sz="2000" b="1" i="0" u="none" strike="noStrike" baseline="0" dirty="0">
                <a:latin typeface="CourierStd"/>
              </a:rPr>
              <a:t>for(int i=0; i&lt;3; i++) </a:t>
            </a:r>
          </a:p>
          <a:p>
            <a:pPr marL="0" indent="0" algn="l">
              <a:buNone/>
            </a:pPr>
            <a:r>
              <a:rPr lang="nn-NO" sz="2000" b="1" i="0" u="none" strike="noStrike" baseline="0" dirty="0">
                <a:latin typeface="CourierStd"/>
              </a:rPr>
              <a:t>         {    </a:t>
            </a:r>
            <a:r>
              <a:rPr lang="en-IN" sz="2000" b="1" i="0" u="none" strike="noStrike" baseline="0" dirty="0" err="1">
                <a:latin typeface="CourierStd"/>
              </a:rPr>
              <a:t>System.out.print</a:t>
            </a:r>
            <a:r>
              <a:rPr lang="en-IN" sz="2000" b="1" i="0" u="none" strike="noStrike" baseline="0" dirty="0">
                <a:latin typeface="CourierStd"/>
              </a:rPr>
              <a:t>("Pass " + </a:t>
            </a:r>
            <a:r>
              <a:rPr lang="en-IN" sz="2000" b="1" i="0" u="none" strike="noStrike" baseline="0" dirty="0" err="1">
                <a:latin typeface="CourierStd"/>
              </a:rPr>
              <a:t>i</a:t>
            </a:r>
            <a:r>
              <a:rPr lang="en-IN" sz="2000" b="1" i="0" u="none" strike="noStrike" baseline="0" dirty="0">
                <a:latin typeface="CourierStd"/>
              </a:rPr>
              <a:t> + ": ");</a:t>
            </a:r>
          </a:p>
          <a:p>
            <a:pPr marL="0" indent="0" algn="l">
              <a:buNone/>
            </a:pPr>
            <a:r>
              <a:rPr lang="en-IN" sz="2000" b="1" dirty="0">
                <a:latin typeface="CourierStd"/>
              </a:rPr>
              <a:t>	</a:t>
            </a:r>
            <a:r>
              <a:rPr lang="en-IN" sz="2000" b="1" i="0" u="none" strike="noStrike" baseline="0" dirty="0">
                <a:latin typeface="CourierStd"/>
              </a:rPr>
              <a:t>			for(int j=0; j&lt;100; </a:t>
            </a:r>
            <a:r>
              <a:rPr lang="en-IN" sz="2000" b="1" i="0" u="none" strike="noStrike" baseline="0" dirty="0" err="1">
                <a:latin typeface="CourierStd"/>
              </a:rPr>
              <a:t>j++</a:t>
            </a:r>
            <a:r>
              <a:rPr lang="en-IN" sz="2000" b="1" i="0" u="none" strike="noStrike" baseline="0" dirty="0">
                <a:latin typeface="CourierStd"/>
              </a:rPr>
              <a:t>) 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	{    if(j == 10) break; // terminate loop if j is 10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	     </a:t>
            </a:r>
            <a:r>
              <a:rPr lang="en-IN" sz="2000" b="1" i="0" u="none" strike="noStrike" baseline="0" dirty="0" err="1">
                <a:latin typeface="CourierStd"/>
              </a:rPr>
              <a:t>System.out.print</a:t>
            </a:r>
            <a:r>
              <a:rPr lang="en-IN" sz="2000" b="1" i="0" u="none" strike="noStrike" baseline="0" dirty="0">
                <a:latin typeface="CourierStd"/>
              </a:rPr>
              <a:t>(j + " ");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	</a:t>
            </a:r>
            <a:r>
              <a:rPr lang="en-IN" sz="2000" b="1" i="0" u="none" strike="noStrike" baseline="0" dirty="0" err="1">
                <a:latin typeface="CourierStd"/>
              </a:rPr>
              <a:t>System.out.println</a:t>
            </a:r>
            <a:r>
              <a:rPr lang="en-IN" sz="2000" b="1" i="0" u="none" strike="noStrike" baseline="0" dirty="0">
                <a:latin typeface="CourierStd"/>
              </a:rPr>
              <a:t>();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		}</a:t>
            </a:r>
            <a:r>
              <a:rPr lang="en-IN" sz="2000" b="1" i="0" u="none" strike="noStrike" baseline="0" dirty="0" err="1">
                <a:latin typeface="CourierStd"/>
              </a:rPr>
              <a:t>System.out.println</a:t>
            </a:r>
            <a:r>
              <a:rPr lang="en-IN" sz="2000" b="1" i="0" u="none" strike="noStrike" baseline="0" dirty="0">
                <a:latin typeface="CourierStd"/>
              </a:rPr>
              <a:t>("Loops complete.");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000" b="1" i="0" u="none" strike="noStrike" baseline="0" dirty="0">
                <a:latin typeface="CourierStd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26554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03C85-ADFE-BCAD-31CB-320949EAB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520" y="282804"/>
            <a:ext cx="9704092" cy="562841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0" i="0" u="none" strike="noStrike" baseline="0" dirty="0">
                <a:latin typeface="NewBaskervilleStd-Roman"/>
              </a:rPr>
              <a:t>This program generates the following output:</a:t>
            </a:r>
          </a:p>
          <a:p>
            <a:pPr marL="0" indent="0" algn="l">
              <a:buNone/>
            </a:pPr>
            <a:r>
              <a:rPr lang="nb-NO" sz="2400" b="0" i="0" u="none" strike="noStrike" baseline="0" dirty="0">
                <a:latin typeface="CourierStd"/>
              </a:rPr>
              <a:t>Pass 0: 0 1 2 3 4 5 6 7 8 9</a:t>
            </a:r>
          </a:p>
          <a:p>
            <a:pPr marL="0" indent="0" algn="l">
              <a:buNone/>
            </a:pPr>
            <a:r>
              <a:rPr lang="nb-NO" sz="2400" b="0" i="0" u="none" strike="noStrike" baseline="0" dirty="0">
                <a:latin typeface="CourierStd"/>
              </a:rPr>
              <a:t>Pass 1: 0 1 2 3 4 5 6 7 8 9</a:t>
            </a:r>
          </a:p>
          <a:p>
            <a:pPr marL="0" indent="0" algn="l">
              <a:buNone/>
            </a:pPr>
            <a:r>
              <a:rPr lang="nb-NO" sz="2400" b="0" i="0" u="none" strike="noStrike" baseline="0" dirty="0">
                <a:latin typeface="CourierStd"/>
              </a:rPr>
              <a:t>Pass 2: 0 1 2 3 4 5 6 7 8 9</a:t>
            </a:r>
          </a:p>
          <a:p>
            <a:pPr marL="0" indent="0" algn="l">
              <a:buNone/>
            </a:pPr>
            <a:r>
              <a:rPr lang="en-IN" sz="2400" b="0" i="0" u="none" strike="noStrike" baseline="0" dirty="0">
                <a:latin typeface="CourierStd"/>
              </a:rPr>
              <a:t>Loops complete.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2670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DA9A-B7AE-FD16-DE81-312586E1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10801"/>
          </a:xfrm>
        </p:spPr>
        <p:txBody>
          <a:bodyPr>
            <a:normAutofit/>
          </a:bodyPr>
          <a:lstStyle/>
          <a:p>
            <a:r>
              <a:rPr lang="en-IN" sz="2400" b="0" i="0" u="none" strike="noStrike" baseline="0" dirty="0">
                <a:latin typeface="NewBaskervilleStd-Roman"/>
              </a:rPr>
              <a:t>The general form of the </a:t>
            </a:r>
            <a:r>
              <a:rPr lang="en-IN" sz="2400" b="0" i="0" u="none" strike="noStrike" baseline="0" dirty="0" err="1">
                <a:latin typeface="NewBaskervilleStd-Roman"/>
              </a:rPr>
              <a:t>labeled</a:t>
            </a:r>
            <a:r>
              <a:rPr lang="en-IN" sz="2400" b="0" i="0" u="none" strike="noStrike" baseline="0" dirty="0">
                <a:latin typeface="NewBaskervilleStd-Roman"/>
              </a:rPr>
              <a:t> </a:t>
            </a:r>
            <a:r>
              <a:rPr lang="en-IN" sz="2400" b="1" i="0" u="none" strike="noStrike" baseline="0" dirty="0">
                <a:latin typeface="NewBaskervilleStd-Bold"/>
              </a:rPr>
              <a:t>break </a:t>
            </a:r>
            <a:r>
              <a:rPr lang="en-IN" sz="2400" b="0" i="0" u="none" strike="noStrike" baseline="0" dirty="0">
                <a:latin typeface="NewBaskervilleStd-Roman"/>
              </a:rPr>
              <a:t>statement is </a:t>
            </a:r>
            <a:r>
              <a:rPr lang="en-IN" sz="2800" b="0" i="0" u="none" strike="noStrike" baseline="0" dirty="0">
                <a:solidFill>
                  <a:srgbClr val="FF0000"/>
                </a:solidFill>
                <a:latin typeface="NewBaskervilleStd-Roman"/>
              </a:rPr>
              <a:t>break </a:t>
            </a:r>
            <a:r>
              <a:rPr lang="en-IN" sz="2800" b="0" i="1" u="none" strike="noStrike" baseline="0" dirty="0">
                <a:solidFill>
                  <a:srgbClr val="FF0000"/>
                </a:solidFill>
                <a:latin typeface="NewBaskervilleStd-Italic"/>
              </a:rPr>
              <a:t>label</a:t>
            </a:r>
            <a:r>
              <a:rPr lang="en-IN" sz="2800" b="0" i="0" u="none" strike="noStrike" baseline="0" dirty="0">
                <a:solidFill>
                  <a:srgbClr val="FF0000"/>
                </a:solidFill>
                <a:latin typeface="NewBaskervilleStd-Roman"/>
              </a:rPr>
              <a:t>;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8823E-99D3-6AF4-FEB1-5A8B73D2E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470" y="1234911"/>
            <a:ext cx="10127530" cy="467631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class Break {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public static void main(String </a:t>
            </a:r>
            <a:r>
              <a:rPr lang="en-IN" b="0" i="0" u="none" strike="noStrike" baseline="0" dirty="0" err="1">
                <a:latin typeface="CourierStd"/>
              </a:rPr>
              <a:t>args</a:t>
            </a:r>
            <a:r>
              <a:rPr lang="en-IN" b="0" i="0" u="none" strike="noStrike" baseline="0" dirty="0">
                <a:latin typeface="CourierStd"/>
              </a:rPr>
              <a:t>[]) {</a:t>
            </a:r>
          </a:p>
          <a:p>
            <a:pPr marL="0" indent="0" algn="l">
              <a:buNone/>
            </a:pPr>
            <a:r>
              <a:rPr lang="en-IN" b="0" i="0" u="none" strike="noStrike" baseline="0" dirty="0" err="1">
                <a:latin typeface="CourierStd"/>
              </a:rPr>
              <a:t>boolean</a:t>
            </a:r>
            <a:r>
              <a:rPr lang="en-IN" b="0" i="0" u="none" strike="noStrike" baseline="0" dirty="0">
                <a:latin typeface="CourierStd"/>
              </a:rPr>
              <a:t> t = true;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first: {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second: {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third: { </a:t>
            </a:r>
            <a:r>
              <a:rPr lang="en-IN" b="0" i="0" u="none" strike="noStrike" baseline="0" dirty="0" err="1">
                <a:latin typeface="CourierStd"/>
              </a:rPr>
              <a:t>System.out.println</a:t>
            </a:r>
            <a:r>
              <a:rPr lang="en-IN" b="0" i="0" u="none" strike="noStrike" baseline="0" dirty="0">
                <a:latin typeface="CourierStd"/>
              </a:rPr>
              <a:t>("Before the break.");	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		  if(t) break second; // break out of second block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		  </a:t>
            </a:r>
            <a:r>
              <a:rPr lang="en-IN" b="0" i="0" u="none" strike="noStrike" baseline="0" dirty="0" err="1">
                <a:latin typeface="CourierStd"/>
              </a:rPr>
              <a:t>System.out.println</a:t>
            </a:r>
            <a:r>
              <a:rPr lang="en-IN" b="0" i="0" u="none" strike="noStrike" baseline="0" dirty="0">
                <a:latin typeface="CourierStd"/>
              </a:rPr>
              <a:t>("This won't execute");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	}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	</a:t>
            </a:r>
            <a:r>
              <a:rPr lang="en-IN" b="0" i="0" u="none" strike="noStrike" baseline="0" dirty="0" err="1">
                <a:latin typeface="CourierStd"/>
              </a:rPr>
              <a:t>System.out.println</a:t>
            </a:r>
            <a:r>
              <a:rPr lang="en-IN" b="0" i="0" u="none" strike="noStrike" baseline="0" dirty="0">
                <a:latin typeface="CourierStd"/>
              </a:rPr>
              <a:t>("This won't execute");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	}</a:t>
            </a:r>
            <a:r>
              <a:rPr lang="en-IN" b="0" i="0" u="none" strike="noStrike" baseline="0" dirty="0" err="1">
                <a:latin typeface="CourierStd"/>
              </a:rPr>
              <a:t>System.out.println</a:t>
            </a:r>
            <a:r>
              <a:rPr lang="en-IN" b="0" i="0" u="none" strike="noStrike" baseline="0" dirty="0">
                <a:latin typeface="CourierStd"/>
              </a:rPr>
              <a:t>("This is after second block.");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  }</a:t>
            </a:r>
          </a:p>
          <a:p>
            <a:pPr marL="0" indent="0" algn="l">
              <a:buNone/>
            </a:pPr>
            <a:r>
              <a:rPr lang="en-IN" b="0" i="0" u="none" strike="noStrike" baseline="0" dirty="0">
                <a:latin typeface="CourierStd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508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E2F7-8EC3-3B99-51F5-761AF4E55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750" y="210531"/>
            <a:ext cx="9882450" cy="684071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Using break to exit from nested loops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BreakLoop4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{  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{  outer: for(int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=0;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&lt;3;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++)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{  </a:t>
            </a:r>
            <a:r>
              <a:rPr lang="en-IN" sz="2400" b="1" i="0" u="none" strike="noStrike" baseline="0" dirty="0" err="1">
                <a:latin typeface="CourierStd"/>
              </a:rPr>
              <a:t>System.out.print</a:t>
            </a:r>
            <a:r>
              <a:rPr lang="en-IN" sz="2400" b="1" i="0" u="none" strike="noStrike" baseline="0" dirty="0">
                <a:latin typeface="CourierStd"/>
              </a:rPr>
              <a:t>("Pass " +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+ ":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 for(int j=0; j&lt;100; </a:t>
            </a:r>
            <a:r>
              <a:rPr lang="en-IN" sz="2400" b="1" i="0" u="none" strike="noStrike" baseline="0" dirty="0" err="1">
                <a:latin typeface="CourierStd"/>
              </a:rPr>
              <a:t>j++</a:t>
            </a:r>
            <a:r>
              <a:rPr lang="en-IN" sz="2400" b="1" i="0" u="none" strike="noStrike" baseline="0" dirty="0">
                <a:latin typeface="CourierStd"/>
              </a:rPr>
              <a:t>)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		if(j == 10) break outer; </a:t>
            </a:r>
            <a:r>
              <a:rPr lang="en-IN" sz="1400" b="1" i="0" u="none" strike="noStrike" baseline="0" dirty="0">
                <a:latin typeface="CourierStd"/>
              </a:rPr>
              <a:t>// exit both loops 							</a:t>
            </a:r>
            <a:r>
              <a:rPr lang="en-IN" sz="2400" b="1" i="0" u="none" strike="noStrike" baseline="0" dirty="0" err="1">
                <a:latin typeface="CourierStd"/>
              </a:rPr>
              <a:t>System.out.print</a:t>
            </a:r>
            <a:r>
              <a:rPr lang="en-IN" sz="2400" b="1" i="0" u="none" strike="noStrike" baseline="0" dirty="0">
                <a:latin typeface="CourierStd"/>
              </a:rPr>
              <a:t>(j + "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    } 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("This will not print");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  }  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("Loops complete.");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47896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BD56-935B-956E-75B6-45595804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53CA-F712-926B-4897-4954B7936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69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F90D-4FE8-51F0-45D8-06E24D49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361" y="0"/>
            <a:ext cx="9619251" cy="591122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// This program contains an error.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class 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BreakErr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   public static void main(String 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args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[])</a:t>
            </a:r>
          </a:p>
          <a:p>
            <a:pPr marL="0" indent="0" algn="l">
              <a:buNone/>
            </a:pPr>
            <a:r>
              <a:rPr lang="en-IN" sz="2400" b="1" dirty="0">
                <a:latin typeface="Century Gothic" panose="020B0502020202020204" pitchFamily="34" charset="0"/>
              </a:rPr>
              <a:t>  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{     </a:t>
            </a:r>
            <a:r>
              <a:rPr lang="nn-NO" sz="2400" b="1" i="0" u="none" strike="noStrike" baseline="0" dirty="0">
                <a:latin typeface="Century Gothic" panose="020B0502020202020204" pitchFamily="34" charset="0"/>
              </a:rPr>
              <a:t>one: for(int i=0; i&lt;3; i++) </a:t>
            </a:r>
          </a:p>
          <a:p>
            <a:pPr marL="0" indent="0" algn="l">
              <a:buNone/>
            </a:pPr>
            <a:r>
              <a:rPr lang="nn-NO" sz="2400" b="1" dirty="0">
                <a:latin typeface="Century Gothic" panose="020B0502020202020204" pitchFamily="34" charset="0"/>
              </a:rPr>
              <a:t>        </a:t>
            </a:r>
            <a:r>
              <a:rPr lang="nn-NO" sz="2400" b="1" i="0" u="none" strike="noStrike" baseline="0" dirty="0">
                <a:latin typeface="Century Gothic" panose="020B0502020202020204" pitchFamily="34" charset="0"/>
              </a:rPr>
              <a:t>{      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System.out.print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("Pass " + 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i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+ ":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        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        for(int j=0; j&lt;100; 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j++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) </a:t>
            </a:r>
          </a:p>
          <a:p>
            <a:pPr marL="0" indent="0" algn="l">
              <a:buNone/>
            </a:pPr>
            <a:r>
              <a:rPr lang="en-IN" sz="2400" b="1" dirty="0">
                <a:latin typeface="Century Gothic" panose="020B0502020202020204" pitchFamily="34" charset="0"/>
              </a:rPr>
              <a:t>          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{      if(j == 10) break one; // WRONG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			</a:t>
            </a:r>
            <a:r>
              <a:rPr lang="en-IN" sz="2400" b="1" i="0" u="none" strike="noStrike" baseline="0" dirty="0" err="1">
                <a:latin typeface="Century Gothic" panose="020B0502020202020204" pitchFamily="34" charset="0"/>
              </a:rPr>
              <a:t>System.out.print</a:t>
            </a: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(j + "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	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entury Gothic" panose="020B0502020202020204" pitchFamily="34" charset="0"/>
              </a:rPr>
              <a:t>}</a:t>
            </a:r>
            <a:endParaRPr lang="en-IN" sz="2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303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0F4E-0714-0A08-0D3E-8CD36D0B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75BD-09B3-9DA9-D3A0-7C1C39FD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1540188"/>
            <a:ext cx="10116925" cy="5317811"/>
          </a:xfrm>
        </p:spPr>
        <p:txBody>
          <a:bodyPr>
            <a:normAutofit/>
          </a:bodyPr>
          <a:lstStyle/>
          <a:p>
            <a:r>
              <a:rPr lang="en-IN" sz="2800" b="0" i="0" u="none" strike="noStrike" baseline="0" dirty="0">
                <a:latin typeface="NewBaskervilleStd-Roman"/>
              </a:rPr>
              <a:t>Sometimes it is useful to force an early iteration of a loop. That is, you might want to continue running the loop but stop processing the remainder of the code in its body for this particular iteration. </a:t>
            </a:r>
          </a:p>
          <a:p>
            <a:r>
              <a:rPr lang="en-IN" sz="2800" b="0" i="0" u="none" strike="noStrike" baseline="0" dirty="0">
                <a:latin typeface="NewBaskervilleStd-Roman"/>
              </a:rPr>
              <a:t>This is, in effect, a </a:t>
            </a:r>
            <a:r>
              <a:rPr lang="en-IN" sz="2800" b="0" i="0" u="none" strike="noStrike" baseline="0" dirty="0" err="1">
                <a:latin typeface="NewBaskervilleStd-Roman"/>
              </a:rPr>
              <a:t>goto</a:t>
            </a:r>
            <a:r>
              <a:rPr lang="en-IN" sz="2800" b="0" i="0" u="none" strike="noStrike" baseline="0" dirty="0">
                <a:latin typeface="NewBaskervilleStd-Roman"/>
              </a:rPr>
              <a:t> just past the body of the loop, to the loop’s end. The continue statement performs such an action.</a:t>
            </a:r>
          </a:p>
        </p:txBody>
      </p:sp>
    </p:spTree>
    <p:extLst>
      <p:ext uri="{BB962C8B-B14F-4D97-AF65-F5344CB8AC3E}">
        <p14:creationId xmlns:p14="http://schemas.microsoft.com/office/powerpoint/2010/main" val="1013248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A52D-90C0-B07F-8A1A-3EA52E47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1031" y="556181"/>
            <a:ext cx="9383581" cy="657991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Demonstrate continue.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Continue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{   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dirty="0">
                <a:latin typeface="CourierStd"/>
              </a:rPr>
              <a:t>   </a:t>
            </a:r>
            <a:r>
              <a:rPr lang="en-IN" sz="2400" b="1" i="0" u="none" strike="noStrike" baseline="0" dirty="0">
                <a:latin typeface="CourierStd"/>
              </a:rPr>
              <a:t>{   </a:t>
            </a:r>
            <a:r>
              <a:rPr lang="nn-NO" sz="2400" b="1" i="0" u="none" strike="noStrike" baseline="0" dirty="0">
                <a:latin typeface="CourierStd"/>
              </a:rPr>
              <a:t>for(int i=0; i&lt;10; i++) </a:t>
            </a:r>
          </a:p>
          <a:p>
            <a:pPr marL="0" indent="0" algn="l">
              <a:buNone/>
            </a:pPr>
            <a:r>
              <a:rPr lang="nn-NO" sz="2400" b="1" dirty="0">
                <a:latin typeface="CourierStd"/>
              </a:rPr>
              <a:t>       </a:t>
            </a:r>
            <a:r>
              <a:rPr lang="nn-NO" sz="2400" b="1" i="0" u="none" strike="noStrike" baseline="0" dirty="0">
                <a:latin typeface="CourierStd"/>
              </a:rPr>
              <a:t>{   </a:t>
            </a:r>
            <a:r>
              <a:rPr lang="en-IN" sz="2400" b="1" i="0" u="none" strike="noStrike" baseline="0" dirty="0" err="1">
                <a:latin typeface="CourierStd"/>
              </a:rPr>
              <a:t>System.out.print</a:t>
            </a:r>
            <a:r>
              <a:rPr lang="en-IN" sz="2400" b="1" i="0" u="none" strike="noStrike" baseline="0" dirty="0">
                <a:latin typeface="CourierStd"/>
              </a:rPr>
              <a:t>(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 + "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	 if (i%2 == 0) continue;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	 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(“ 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3200" b="1" dirty="0"/>
          </a:p>
          <a:p>
            <a:pPr marL="0" indent="0">
              <a:buNone/>
            </a:pPr>
            <a:endParaRPr lang="en-IN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0766F-4874-D2DB-174F-606D7B0710CB}"/>
              </a:ext>
            </a:extLst>
          </p:cNvPr>
          <p:cNvSpPr/>
          <p:nvPr/>
        </p:nvSpPr>
        <p:spPr>
          <a:xfrm>
            <a:off x="9134573" y="4374037"/>
            <a:ext cx="2130458" cy="2375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3200" b="1" i="0" u="none" strike="noStrike" baseline="0" dirty="0">
                <a:latin typeface="CourierStd"/>
              </a:rPr>
              <a:t>0 1</a:t>
            </a:r>
          </a:p>
          <a:p>
            <a:pPr algn="l"/>
            <a:r>
              <a:rPr lang="en-IN" sz="3200" b="1" i="0" u="none" strike="noStrike" baseline="0" dirty="0">
                <a:latin typeface="CourierStd"/>
              </a:rPr>
              <a:t>2 3</a:t>
            </a:r>
          </a:p>
          <a:p>
            <a:pPr algn="l"/>
            <a:r>
              <a:rPr lang="en-IN" sz="3200" b="1" i="0" u="none" strike="noStrike" baseline="0" dirty="0">
                <a:latin typeface="CourierStd"/>
              </a:rPr>
              <a:t>4 5</a:t>
            </a:r>
          </a:p>
          <a:p>
            <a:pPr algn="l"/>
            <a:r>
              <a:rPr lang="en-IN" sz="3200" b="1" i="0" u="none" strike="noStrike" baseline="0" dirty="0">
                <a:latin typeface="CourierStd"/>
              </a:rPr>
              <a:t>6 7</a:t>
            </a:r>
          </a:p>
          <a:p>
            <a:pPr algn="l"/>
            <a:r>
              <a:rPr lang="en-IN" sz="3200" b="1" i="0" u="none" strike="noStrike" baseline="0" dirty="0">
                <a:latin typeface="CourierStd"/>
              </a:rPr>
              <a:t>8 9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14499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E5DCA-DBE6-9495-F2A0-BE7FA3F9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189" y="408495"/>
            <a:ext cx="9901304" cy="6350524"/>
          </a:xfrm>
        </p:spPr>
        <p:txBody>
          <a:bodyPr>
            <a:normAutofit/>
          </a:bodyPr>
          <a:lstStyle/>
          <a:p>
            <a:pPr algn="l"/>
            <a:r>
              <a:rPr lang="en-IN" sz="2800" b="0" i="0" u="none" strike="noStrike" baseline="0" dirty="0">
                <a:latin typeface="NewBaskervilleStd-Roman"/>
              </a:rPr>
              <a:t>As with the </a:t>
            </a:r>
            <a:r>
              <a:rPr lang="en-IN" sz="2800" b="1" i="0" u="none" strike="noStrike" baseline="0" dirty="0">
                <a:latin typeface="NewBaskervilleStd-Bold"/>
              </a:rPr>
              <a:t>break </a:t>
            </a:r>
            <a:r>
              <a:rPr lang="en-IN" sz="2800" b="0" i="0" u="none" strike="noStrike" baseline="0" dirty="0">
                <a:latin typeface="NewBaskervilleStd-Roman"/>
              </a:rPr>
              <a:t>statement, </a:t>
            </a:r>
            <a:r>
              <a:rPr lang="en-IN" sz="2800" b="1" i="0" u="none" strike="noStrike" baseline="0" dirty="0">
                <a:latin typeface="NewBaskervilleStd-Bold"/>
              </a:rPr>
              <a:t>continue </a:t>
            </a:r>
            <a:r>
              <a:rPr lang="en-IN" sz="2800" b="0" i="0" u="none" strike="noStrike" baseline="0" dirty="0">
                <a:latin typeface="NewBaskervilleStd-Roman"/>
              </a:rPr>
              <a:t>may specify a label to describe which enclosing loop to continue. </a:t>
            </a:r>
          </a:p>
          <a:p>
            <a:pPr algn="l"/>
            <a:endParaRPr lang="en-IN" sz="2800" dirty="0">
              <a:latin typeface="NewBaskervilleStd-Roman"/>
            </a:endParaRPr>
          </a:p>
          <a:p>
            <a:pPr algn="l"/>
            <a:r>
              <a:rPr lang="en-IN" sz="2800" b="0" i="0" u="none" strike="noStrike" baseline="0" dirty="0">
                <a:latin typeface="NewBaskervilleStd-Roman"/>
              </a:rPr>
              <a:t>Here is an example program that uses </a:t>
            </a:r>
            <a:r>
              <a:rPr lang="en-IN" sz="2800" b="1" i="0" u="none" strike="noStrike" baseline="0" dirty="0">
                <a:latin typeface="NewBaskervilleStd-Bold"/>
              </a:rPr>
              <a:t>continue </a:t>
            </a:r>
            <a:r>
              <a:rPr lang="en-IN" sz="2800" b="0" i="0" u="none" strike="noStrike" baseline="0" dirty="0">
                <a:latin typeface="NewBaskervilleStd-Roman"/>
              </a:rPr>
              <a:t>to print a triangular multiplication table for 0 through 9: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37107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CB01-45B0-EFBC-0746-EAE61C7B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37" y="329939"/>
            <a:ext cx="9873775" cy="6268824"/>
          </a:xfrm>
        </p:spPr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CourierStd"/>
              </a:rPr>
              <a:t>// Using continue with a label.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class </a:t>
            </a:r>
            <a:r>
              <a:rPr lang="en-IN" sz="2400" b="1" i="0" u="none" strike="noStrike" baseline="0" dirty="0" err="1">
                <a:latin typeface="CourierStd"/>
              </a:rPr>
              <a:t>ContinueLabel</a:t>
            </a:r>
            <a:r>
              <a:rPr lang="en-IN" sz="2400" b="1" i="0" u="none" strike="noStrike" baseline="0" dirty="0">
                <a:latin typeface="CourierStd"/>
              </a:rPr>
              <a:t> 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{</a:t>
            </a:r>
            <a:r>
              <a:rPr lang="en-IN" sz="2400" b="1" dirty="0">
                <a:latin typeface="CourierStd"/>
              </a:rPr>
              <a:t>   </a:t>
            </a:r>
            <a:r>
              <a:rPr lang="en-IN" sz="2400" b="1" i="0" u="none" strike="noStrike" baseline="0" dirty="0">
                <a:latin typeface="CourierStd"/>
              </a:rPr>
              <a:t>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    { outer: for (int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=0;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&lt;10;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++) 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            {   for(int j=0; j&lt;10; </a:t>
            </a:r>
            <a:r>
              <a:rPr lang="en-IN" sz="2400" b="1" i="0" u="none" strike="noStrike" baseline="0" dirty="0" err="1">
                <a:latin typeface="CourierStd"/>
              </a:rPr>
              <a:t>j++</a:t>
            </a:r>
            <a:r>
              <a:rPr lang="en-IN" sz="2400" b="1" i="0" u="none" strike="noStrike" baseline="0" dirty="0">
                <a:latin typeface="CourierStd"/>
              </a:rPr>
              <a:t>) 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                {  if(j &gt; </a:t>
            </a:r>
            <a:r>
              <a:rPr lang="en-IN" sz="2400" b="1" i="0" u="none" strike="noStrike" baseline="0" dirty="0" err="1">
                <a:latin typeface="CourierStd"/>
              </a:rPr>
              <a:t>i</a:t>
            </a:r>
            <a:r>
              <a:rPr lang="en-IN" sz="2400" b="1" i="0" u="none" strike="noStrike" baseline="0" dirty="0">
                <a:latin typeface="CourierStd"/>
              </a:rPr>
              <a:t>) 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                   {  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();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								continue outer;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						  }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					 </a:t>
            </a:r>
            <a:r>
              <a:rPr lang="nn-NO" sz="2400" b="1" i="0" u="none" strike="noStrike" baseline="0" dirty="0">
                <a:latin typeface="CourierStd"/>
              </a:rPr>
              <a:t>System.out.print(" " + (i * j));</a:t>
            </a:r>
            <a:br>
              <a:rPr lang="nn-NO" sz="2400" b="1" i="0" u="none" strike="noStrike" baseline="0" dirty="0">
                <a:latin typeface="CourierStd"/>
              </a:rPr>
            </a:br>
            <a:r>
              <a:rPr lang="nn-NO" sz="2400" b="1" i="0" u="none" strike="noStrike" baseline="0" dirty="0">
                <a:latin typeface="CourierStd"/>
              </a:rPr>
              <a:t>					</a:t>
            </a:r>
            <a:r>
              <a:rPr lang="en-IN" sz="2400" b="1" i="0" u="none" strike="noStrike" baseline="0" dirty="0">
                <a:latin typeface="CourierStd"/>
              </a:rPr>
              <a:t>}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	}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	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();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	}</a:t>
            </a:r>
            <a:br>
              <a:rPr lang="en-IN" sz="2400" b="1" i="0" u="none" strike="noStrike" baseline="0" dirty="0">
                <a:latin typeface="CourierStd"/>
              </a:rPr>
            </a:b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619617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DC1CB-8C00-2E38-E91C-FE3413466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532" y="273377"/>
            <a:ext cx="9770080" cy="649506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The </a:t>
            </a:r>
            <a:r>
              <a:rPr lang="en-IN" sz="2400" b="1" i="0" u="none" strike="noStrike" baseline="0" dirty="0">
                <a:latin typeface="NewBaskervilleStd-Bold"/>
              </a:rPr>
              <a:t>continue </a:t>
            </a:r>
            <a:r>
              <a:rPr lang="en-IN" sz="2400" b="1" i="0" u="none" strike="noStrike" baseline="0" dirty="0">
                <a:latin typeface="NewBaskervilleStd-Roman"/>
              </a:rPr>
              <a:t>statement in this example terminates the loop counting </a:t>
            </a:r>
            <a:r>
              <a:rPr lang="en-IN" sz="2400" b="1" i="0" u="none" strike="noStrike" baseline="0" dirty="0">
                <a:latin typeface="NewBaskervilleStd-Bold"/>
              </a:rPr>
              <a:t>j </a:t>
            </a:r>
            <a:r>
              <a:rPr lang="en-IN" sz="2400" b="1" i="0" u="none" strike="noStrike" baseline="0" dirty="0">
                <a:latin typeface="NewBaskervilleStd-Roman"/>
              </a:rPr>
              <a:t>and continues with the next iteration of the loop counting </a:t>
            </a:r>
            <a:r>
              <a:rPr lang="en-IN" sz="2400" b="1" i="0" u="none" strike="noStrike" baseline="0" dirty="0" err="1">
                <a:latin typeface="NewBaskervilleStd-Bold"/>
              </a:rPr>
              <a:t>i</a:t>
            </a:r>
            <a:r>
              <a:rPr lang="en-IN" sz="2400" b="1" i="0" u="none" strike="noStrike" baseline="0" dirty="0">
                <a:latin typeface="NewBaskervilleStd-Roman"/>
              </a:rPr>
              <a:t>. Here is the output of this program: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0 1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0 2 4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0 3 6 9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0 4 8 12 16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0 5 10 15 20 25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0 6 12 18 24 30 36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0 7 14 21 28 35 42 49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0 8 16 24 32 40 48 56 64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0 9 18 27 36 45 54 63 72 81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16398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C2B6-CC5B-B9A6-1DD6-30F6858D0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88439"/>
            <a:ext cx="8911687" cy="855898"/>
          </a:xfrm>
        </p:spPr>
        <p:txBody>
          <a:bodyPr/>
          <a:lstStyle/>
          <a:p>
            <a:r>
              <a:rPr lang="en-IN" dirty="0"/>
              <a:t>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1B25-18C2-C635-5E00-990B78D2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473" y="1376313"/>
            <a:ext cx="10213140" cy="54816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800" b="0" i="0" u="none" strike="noStrike" baseline="0" dirty="0">
                <a:latin typeface="NewBaskervilleStd-Roman"/>
              </a:rPr>
              <a:t>The last control statement is </a:t>
            </a:r>
            <a:r>
              <a:rPr lang="en-IN" sz="2800" b="1" i="0" u="none" strike="noStrike" baseline="0" dirty="0">
                <a:latin typeface="NewBaskervilleStd-Bold"/>
              </a:rPr>
              <a:t>return</a:t>
            </a:r>
            <a:r>
              <a:rPr lang="en-IN" sz="2800" b="0" i="0" u="none" strike="noStrike" baseline="0" dirty="0">
                <a:latin typeface="NewBaskervilleStd-Roman"/>
              </a:rPr>
              <a:t>. </a:t>
            </a:r>
          </a:p>
          <a:p>
            <a:pPr algn="l"/>
            <a:r>
              <a:rPr lang="en-IN" sz="2800" b="0" i="0" u="none" strike="noStrike" baseline="0" dirty="0">
                <a:latin typeface="NewBaskervilleStd-Roman"/>
              </a:rPr>
              <a:t>The </a:t>
            </a:r>
            <a:r>
              <a:rPr lang="en-IN" sz="2800" b="1" i="0" u="none" strike="noStrike" baseline="0" dirty="0">
                <a:latin typeface="NewBaskervilleStd-Bold"/>
              </a:rPr>
              <a:t>return </a:t>
            </a:r>
            <a:r>
              <a:rPr lang="en-IN" sz="2800" b="0" i="0" u="none" strike="noStrike" baseline="0" dirty="0">
                <a:latin typeface="NewBaskervilleStd-Roman"/>
              </a:rPr>
              <a:t>statement is used to explicitly return from a method. That is, it causes program control to transfer back to the caller of the method.  As</a:t>
            </a:r>
            <a:r>
              <a:rPr lang="en-IN" sz="2800" dirty="0">
                <a:latin typeface="NewBaskervilleStd-Roman"/>
              </a:rPr>
              <a:t> </a:t>
            </a:r>
            <a:r>
              <a:rPr lang="en-IN" sz="2800" b="0" i="0" u="none" strike="noStrike" baseline="0" dirty="0">
                <a:latin typeface="NewBaskervilleStd-Roman"/>
              </a:rPr>
              <a:t>such, it is categorized as a jump statement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Demonstrate return.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Return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{  public static void main(String </a:t>
            </a:r>
            <a:r>
              <a:rPr lang="en-IN" sz="2400" b="1" i="0" u="none" strike="noStrike" baseline="0" dirty="0" err="1">
                <a:latin typeface="CourierStd"/>
              </a:rPr>
              <a:t>args</a:t>
            </a:r>
            <a:r>
              <a:rPr lang="en-IN" sz="2400" b="1" i="0" u="none" strike="noStrike" baseline="0" dirty="0">
                <a:latin typeface="CourierStd"/>
              </a:rPr>
              <a:t>[]) </a:t>
            </a:r>
          </a:p>
          <a:p>
            <a:pPr marL="0" indent="0" algn="l">
              <a:buNone/>
            </a:pPr>
            <a:r>
              <a:rPr lang="en-IN" sz="2400" b="1" dirty="0">
                <a:latin typeface="CourierStd"/>
              </a:rPr>
              <a:t>  </a:t>
            </a:r>
            <a:r>
              <a:rPr lang="en-IN" sz="2400" b="1" i="0" u="none" strike="noStrike" baseline="0" dirty="0">
                <a:latin typeface="CourierStd"/>
              </a:rPr>
              <a:t>{   </a:t>
            </a:r>
            <a:r>
              <a:rPr lang="en-IN" sz="2400" b="1" i="0" u="none" strike="noStrike" baseline="0" dirty="0" err="1">
                <a:latin typeface="CourierStd"/>
              </a:rPr>
              <a:t>boolean</a:t>
            </a:r>
            <a:r>
              <a:rPr lang="en-IN" sz="2400" b="1" i="0" u="none" strike="noStrike" baseline="0" dirty="0">
                <a:latin typeface="CourierStd"/>
              </a:rPr>
              <a:t> t = true;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("Before the return.");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if(t) return; // return to caller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	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("This won't execute.");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14351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69D9-1669-27CE-0C03-5CD8AED4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B1E81-CDEF-DD8C-F9FB-651EB52A1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3865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10318</TotalTime>
  <Words>4628</Words>
  <Application>Microsoft Office PowerPoint</Application>
  <PresentationFormat>Widescreen</PresentationFormat>
  <Paragraphs>452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Arial</vt:lpstr>
      <vt:lpstr>Century Gothic</vt:lpstr>
      <vt:lpstr>Courier New</vt:lpstr>
      <vt:lpstr>CourierStd</vt:lpstr>
      <vt:lpstr>DINMittelEFOP-Bold</vt:lpstr>
      <vt:lpstr>erdana</vt:lpstr>
      <vt:lpstr>inter-bold</vt:lpstr>
      <vt:lpstr>inter-regular</vt:lpstr>
      <vt:lpstr>NewBaskervilleStd-Bold</vt:lpstr>
      <vt:lpstr>NewBaskervilleStd-Italic</vt:lpstr>
      <vt:lpstr>NewBaskervilleStd-Roman</vt:lpstr>
      <vt:lpstr>times new roman</vt:lpstr>
      <vt:lpstr>Wingdings 3</vt:lpstr>
      <vt:lpstr>Wisp</vt:lpstr>
      <vt:lpstr>OOPs  with Java Chapter 5 Control statements</vt:lpstr>
      <vt:lpstr>Control statements</vt:lpstr>
      <vt:lpstr>Selection statements - if and switch</vt:lpstr>
      <vt:lpstr>If – selection statement</vt:lpstr>
      <vt:lpstr>PowerPoint Presentation</vt:lpstr>
      <vt:lpstr>PowerPoint Presentation</vt:lpstr>
      <vt:lpstr>PowerPoint Presentation</vt:lpstr>
      <vt:lpstr>PowerPoint Presentation</vt:lpstr>
      <vt:lpstr>switch statement</vt:lpstr>
      <vt:lpstr>PowerPoint Presentation</vt:lpstr>
      <vt:lpstr>PowerPoint Presentation</vt:lpstr>
      <vt:lpstr>PowerPoint Presentation</vt:lpstr>
      <vt:lpstr>Nested switch Statements</vt:lpstr>
      <vt:lpstr>3 important features of the switch statement to note</vt:lpstr>
      <vt:lpstr>Iteration Statements</vt:lpstr>
      <vt:lpstr>PowerPoint Presentation</vt:lpstr>
      <vt:lpstr>PowerPoint Presentation</vt:lpstr>
      <vt:lpstr>PowerPoint Presentation</vt:lpstr>
      <vt:lpstr>PowerPoint Presentation</vt:lpstr>
      <vt:lpstr>do-while</vt:lpstr>
      <vt:lpstr>do-while</vt:lpstr>
      <vt:lpstr>PowerPoint Presentation</vt:lpstr>
      <vt:lpstr>For Loop</vt:lpstr>
      <vt:lpstr>Java Simple for Loop </vt:lpstr>
      <vt:lpstr>Java Simple for Loop </vt:lpstr>
      <vt:lpstr>Java Nested for Loop</vt:lpstr>
      <vt:lpstr>Java for-each Loop </vt:lpstr>
      <vt:lpstr>PowerPoint Presentation</vt:lpstr>
      <vt:lpstr>Java Labeled For Loop </vt:lpstr>
      <vt:lpstr>PowerPoint Presentation</vt:lpstr>
      <vt:lpstr>Using the Comma </vt:lpstr>
      <vt:lpstr>PowerPoint Presentation</vt:lpstr>
      <vt:lpstr>Nested Loops</vt:lpstr>
      <vt:lpstr>PowerPoint Presentation</vt:lpstr>
      <vt:lpstr>Jump Statements   </vt:lpstr>
      <vt:lpstr>Using break to Exit a Loop</vt:lpstr>
      <vt:lpstr>Inside block </vt:lpstr>
      <vt:lpstr>PowerPoint Presentation</vt:lpstr>
      <vt:lpstr>The general form of the labeled break statement is break label;</vt:lpstr>
      <vt:lpstr>PowerPoint Presentation</vt:lpstr>
      <vt:lpstr>PowerPoint Presentation</vt:lpstr>
      <vt:lpstr>PowerPoint Presentation</vt:lpstr>
      <vt:lpstr>Using continue</vt:lpstr>
      <vt:lpstr>PowerPoint Presentation</vt:lpstr>
      <vt:lpstr>PowerPoint Presentation</vt:lpstr>
      <vt:lpstr>// Using continue with a label. class ContinueLabel  {   public static void main(String args[])      { outer: for (int i=0; i&lt;10; i++)              {   for(int j=0; j&lt;10; j++)                  {  if(j &gt; i)                     {  System.out.println();          continue outer;          }        System.out.print(" " + (i * j));      }   }   System.out.println();  } }</vt:lpstr>
      <vt:lpstr>PowerPoint Presentation</vt:lpstr>
      <vt:lpstr>return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ganga holi</dc:creator>
  <cp:lastModifiedBy>ganga holi</cp:lastModifiedBy>
  <cp:revision>88</cp:revision>
  <dcterms:created xsi:type="dcterms:W3CDTF">2023-11-30T17:44:15Z</dcterms:created>
  <dcterms:modified xsi:type="dcterms:W3CDTF">2024-09-12T18:06:10Z</dcterms:modified>
</cp:coreProperties>
</file>